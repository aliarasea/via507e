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28" r:id="rId3"/>
    <p:sldId id="257" r:id="rId4"/>
    <p:sldId id="259" r:id="rId5"/>
    <p:sldId id="260" r:id="rId6"/>
    <p:sldId id="334" r:id="rId7"/>
    <p:sldId id="336" r:id="rId8"/>
    <p:sldId id="266" r:id="rId9"/>
    <p:sldId id="262" r:id="rId10"/>
    <p:sldId id="263" r:id="rId11"/>
    <p:sldId id="267" r:id="rId12"/>
    <p:sldId id="337" r:id="rId13"/>
    <p:sldId id="338" r:id="rId14"/>
    <p:sldId id="268" r:id="rId15"/>
    <p:sldId id="339" r:id="rId16"/>
    <p:sldId id="269" r:id="rId17"/>
    <p:sldId id="270" r:id="rId18"/>
    <p:sldId id="271" r:id="rId19"/>
    <p:sldId id="272" r:id="rId20"/>
    <p:sldId id="273" r:id="rId21"/>
    <p:sldId id="274" r:id="rId22"/>
    <p:sldId id="275" r:id="rId23"/>
    <p:sldId id="276" r:id="rId24"/>
    <p:sldId id="277" r:id="rId25"/>
    <p:sldId id="281" r:id="rId26"/>
    <p:sldId id="282" r:id="rId27"/>
    <p:sldId id="283" r:id="rId28"/>
    <p:sldId id="285" r:id="rId29"/>
    <p:sldId id="286" r:id="rId30"/>
    <p:sldId id="314" r:id="rId31"/>
    <p:sldId id="344" r:id="rId32"/>
    <p:sldId id="345" r:id="rId33"/>
    <p:sldId id="346" r:id="rId34"/>
    <p:sldId id="347" r:id="rId35"/>
    <p:sldId id="348" r:id="rId36"/>
    <p:sldId id="349" r:id="rId37"/>
    <p:sldId id="766" r:id="rId38"/>
    <p:sldId id="767" r:id="rId39"/>
    <p:sldId id="768" r:id="rId40"/>
    <p:sldId id="771" r:id="rId41"/>
    <p:sldId id="772" r:id="rId42"/>
    <p:sldId id="770" r:id="rId43"/>
    <p:sldId id="769" r:id="rId44"/>
    <p:sldId id="773" r:id="rId45"/>
    <p:sldId id="774" r:id="rId46"/>
    <p:sldId id="775" r:id="rId47"/>
    <p:sldId id="776" r:id="rId48"/>
    <p:sldId id="777" r:id="rId49"/>
    <p:sldId id="778" r:id="rId50"/>
    <p:sldId id="779" r:id="rId51"/>
    <p:sldId id="780" r:id="rId52"/>
    <p:sldId id="781" r:id="rId53"/>
    <p:sldId id="299" r:id="rId54"/>
    <p:sldId id="326" r:id="rId55"/>
    <p:sldId id="327" r:id="rId56"/>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C5E0B4"/>
    <a:srgbClr val="0043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72"/>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02265-1F21-4BE8-AE87-4F76FEDB1F7C}" type="datetimeFigureOut">
              <a:rPr lang="en-US" smtClean="0"/>
              <a:t>10/11/2024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3A208-E792-499F-9D6D-AC8FC94E1589}" type="slidenum">
              <a:rPr lang="en-US" smtClean="0"/>
              <a:t>‹#›</a:t>
            </a:fld>
            <a:endParaRPr lang="en-US"/>
          </a:p>
        </p:txBody>
      </p:sp>
    </p:spTree>
    <p:extLst>
      <p:ext uri="{BB962C8B-B14F-4D97-AF65-F5344CB8AC3E}">
        <p14:creationId xmlns:p14="http://schemas.microsoft.com/office/powerpoint/2010/main" val="64301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C3A208-E792-499F-9D6D-AC8FC94E1589}" type="slidenum">
              <a:rPr lang="en-US" smtClean="0"/>
              <a:t>32</a:t>
            </a:fld>
            <a:endParaRPr lang="en-US"/>
          </a:p>
        </p:txBody>
      </p:sp>
    </p:spTree>
    <p:extLst>
      <p:ext uri="{BB962C8B-B14F-4D97-AF65-F5344CB8AC3E}">
        <p14:creationId xmlns:p14="http://schemas.microsoft.com/office/powerpoint/2010/main" val="918004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7601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799261"/>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ITU - Business Analytics - Mehmet Yasin Ulukuş</a:t>
            </a:r>
          </a:p>
        </p:txBody>
      </p:sp>
    </p:spTree>
    <p:extLst>
      <p:ext uri="{BB962C8B-B14F-4D97-AF65-F5344CB8AC3E}">
        <p14:creationId xmlns:p14="http://schemas.microsoft.com/office/powerpoint/2010/main" val="3927406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389529"/>
            <a:ext cx="10515600" cy="49211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7" name="Rectangle 6"/>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70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281328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452375"/>
            <a:ext cx="5181600" cy="472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8" name="Rectangle 7"/>
          <p:cNvSpPr/>
          <p:nvPr userDrawn="1"/>
        </p:nvSpPr>
        <p:spPr>
          <a:xfrm>
            <a:off x="838200" y="1272988"/>
            <a:ext cx="105156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539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en-US"/>
              <a:t>ITU - Business Analytics - Mehmet Yasin Ulukuş</a:t>
            </a: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75854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ITU - Business Analytics - Mehmet Yasin Ulukuş</a:t>
            </a: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26112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ITU - Business Analytics - Mehmet Yasin Ulukuş</a:t>
            </a: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52652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2695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ITU - Business Analytics - Mehmet Yasin Ulukuş</a:t>
            </a: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390177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144497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ITU - Business Analytics - Mehmet Yasin Ulukuş</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B8CEC50-FB80-41CE-A79E-F7845887658C}" type="slidenum">
              <a:rPr lang="en-US" smtClean="0"/>
              <a:t>‹#›</a:t>
            </a:fld>
            <a:endParaRPr lang="en-US"/>
          </a:p>
        </p:txBody>
      </p:sp>
    </p:spTree>
    <p:extLst>
      <p:ext uri="{BB962C8B-B14F-4D97-AF65-F5344CB8AC3E}">
        <p14:creationId xmlns:p14="http://schemas.microsoft.com/office/powerpoint/2010/main" val="287141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Yasin Cou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04B0-B4FD-470E-9F94-D0A011F15760}"/>
              </a:ext>
            </a:extLst>
          </p:cNvPr>
          <p:cNvSpPr>
            <a:spLocks noGrp="1"/>
          </p:cNvSpPr>
          <p:nvPr>
            <p:ph type="title"/>
          </p:nvPr>
        </p:nvSpPr>
        <p:spPr>
          <a:xfrm>
            <a:off x="914400" y="228600"/>
            <a:ext cx="10363200" cy="1219200"/>
          </a:xfrm>
        </p:spPr>
        <p:txBody>
          <a:bodyPr/>
          <a:lstStyle>
            <a:lvl1pPr>
              <a:defRPr b="1"/>
            </a:lvl1pPr>
          </a:lstStyle>
          <a:p>
            <a:r>
              <a:rPr lang="en-US" dirty="0"/>
              <a:t>Click to edit Master title style</a:t>
            </a:r>
          </a:p>
        </p:txBody>
      </p:sp>
      <p:sp>
        <p:nvSpPr>
          <p:cNvPr id="3" name="Text Placeholder 2">
            <a:extLst>
              <a:ext uri="{FF2B5EF4-FFF2-40B4-BE49-F238E27FC236}">
                <a16:creationId xmlns:a16="http://schemas.microsoft.com/office/drawing/2014/main" id="{2ED0AB8B-4994-4C71-8D45-4CD65A31D1BE}"/>
              </a:ext>
            </a:extLst>
          </p:cNvPr>
          <p:cNvSpPr>
            <a:spLocks noGrp="1"/>
          </p:cNvSpPr>
          <p:nvPr>
            <p:ph type="body" sz="half" idx="1"/>
          </p:nvPr>
        </p:nvSpPr>
        <p:spPr>
          <a:xfrm>
            <a:off x="914400" y="1524000"/>
            <a:ext cx="1036320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E96C7-E505-44D6-B1D8-B942E2771FA2}"/>
              </a:ext>
            </a:extLst>
          </p:cNvPr>
          <p:cNvSpPr>
            <a:spLocks noGrp="1" noChangeArrowheads="1"/>
          </p:cNvSpPr>
          <p:nvPr>
            <p:ph type="dt" sz="half" idx="10"/>
          </p:nvPr>
        </p:nvSpPr>
        <p:spPr>
          <a:xfrm>
            <a:off x="838200" y="6356352"/>
            <a:ext cx="2743200" cy="365125"/>
          </a:xfrm>
          <a:prstGeom prst="rect">
            <a:avLst/>
          </a:prstGeom>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60D3006-5145-4CA3-840D-F763F6748174}"/>
              </a:ext>
            </a:extLst>
          </p:cNvPr>
          <p:cNvSpPr>
            <a:spLocks noGrp="1" noChangeArrowheads="1"/>
          </p:cNvSpPr>
          <p:nvPr>
            <p:ph type="ftr" sz="quarter" idx="11"/>
          </p:nvPr>
        </p:nvSpPr>
        <p:spPr>
          <a:ln/>
        </p:spPr>
        <p:txBody>
          <a:bodyPr/>
          <a:lstStyle>
            <a:lvl1pPr>
              <a:defRPr/>
            </a:lvl1pPr>
          </a:lstStyle>
          <a:p>
            <a:pPr>
              <a:defRPr/>
            </a:pPr>
            <a:r>
              <a:rPr lang="en-US" altLang="en-US"/>
              <a:t>ITU - Business Analytics - Mehmet Yasin Ulukuş</a:t>
            </a:r>
            <a:endParaRPr lang="en-US" altLang="en-US" i="0" dirty="0"/>
          </a:p>
        </p:txBody>
      </p:sp>
      <p:sp>
        <p:nvSpPr>
          <p:cNvPr id="7" name="Slide Number Placeholder 6">
            <a:extLst>
              <a:ext uri="{FF2B5EF4-FFF2-40B4-BE49-F238E27FC236}">
                <a16:creationId xmlns:a16="http://schemas.microsoft.com/office/drawing/2014/main" id="{0AE0426F-2674-44A3-BDE8-AFE74A7FD6E1}"/>
              </a:ext>
            </a:extLst>
          </p:cNvPr>
          <p:cNvSpPr>
            <a:spLocks noGrp="1" noChangeArrowheads="1"/>
          </p:cNvSpPr>
          <p:nvPr>
            <p:ph type="sldNum" sz="quarter" idx="12"/>
          </p:nvPr>
        </p:nvSpPr>
        <p:spPr>
          <a:xfrm>
            <a:off x="8610600" y="6356352"/>
            <a:ext cx="2743200" cy="365125"/>
          </a:xfrm>
          <a:prstGeom prst="rect">
            <a:avLst/>
          </a:prstGeom>
          <a:ln/>
        </p:spPr>
        <p:txBody>
          <a:bodyPr/>
          <a:lstStyle>
            <a:lvl1pPr>
              <a:defRPr/>
            </a:lvl1pPr>
          </a:lstStyle>
          <a:p>
            <a:pPr>
              <a:defRPr/>
            </a:pPr>
            <a:fld id="{B0B4E47A-8363-4036-90DE-956001968EA4}" type="slidenum">
              <a:rPr lang="en-US" altLang="en-US" smtClean="0"/>
              <a:pPr>
                <a:defRPr/>
              </a:pPr>
              <a:t>‹#›</a:t>
            </a:fld>
            <a:endParaRPr lang="en-US" altLang="en-US" dirty="0"/>
          </a:p>
        </p:txBody>
      </p:sp>
      <p:sp>
        <p:nvSpPr>
          <p:cNvPr id="8" name="Rectangle 7">
            <a:extLst>
              <a:ext uri="{FF2B5EF4-FFF2-40B4-BE49-F238E27FC236}">
                <a16:creationId xmlns:a16="http://schemas.microsoft.com/office/drawing/2014/main" id="{D15A3947-35DA-44C0-8632-B6A13D2C2431}"/>
              </a:ext>
            </a:extLst>
          </p:cNvPr>
          <p:cNvSpPr/>
          <p:nvPr userDrawn="1"/>
        </p:nvSpPr>
        <p:spPr>
          <a:xfrm>
            <a:off x="711200" y="1295401"/>
            <a:ext cx="10058400" cy="45719"/>
          </a:xfrm>
          <a:prstGeom prst="rect">
            <a:avLst/>
          </a:prstGeom>
          <a:solidFill>
            <a:srgbClr val="12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59543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90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389529"/>
            <a:ext cx="10515600" cy="478743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437A"/>
                </a:solidFill>
              </a:defRPr>
            </a:lvl1pPr>
          </a:lstStyle>
          <a:p>
            <a:r>
              <a:rPr lang="en-US"/>
              <a:t>ITU - Business Analytics - Mehmet Yasin Ulukuş</a:t>
            </a:r>
            <a:endParaRPr lang="en-US" dirty="0"/>
          </a:p>
        </p:txBody>
      </p:sp>
      <p:pic>
        <p:nvPicPr>
          <p:cNvPr id="7" name="Picture 6"/>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983625" y="6176963"/>
            <a:ext cx="1082869" cy="609331"/>
          </a:xfrm>
          <a:prstGeom prst="rect">
            <a:avLst/>
          </a:prstGeom>
        </p:spPr>
      </p:pic>
    </p:spTree>
    <p:extLst>
      <p:ext uri="{BB962C8B-B14F-4D97-AF65-F5344CB8AC3E}">
        <p14:creationId xmlns:p14="http://schemas.microsoft.com/office/powerpoint/2010/main" val="374073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rgbClr val="00437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dirty="0"/>
              <a:t>Business Analytics</a:t>
            </a:r>
            <a:endParaRPr lang="en-US" dirty="0"/>
          </a:p>
        </p:txBody>
      </p:sp>
      <p:sp>
        <p:nvSpPr>
          <p:cNvPr id="3" name="Subtitle 2"/>
          <p:cNvSpPr>
            <a:spLocks noGrp="1"/>
          </p:cNvSpPr>
          <p:nvPr>
            <p:ph type="subTitle" idx="1"/>
          </p:nvPr>
        </p:nvSpPr>
        <p:spPr/>
        <p:txBody>
          <a:bodyPr/>
          <a:lstStyle/>
          <a:p>
            <a:r>
              <a:rPr lang="tr-TR" dirty="0"/>
              <a:t>Dr. Mehmet Yasin Ulukuş</a:t>
            </a:r>
          </a:p>
          <a:p>
            <a:r>
              <a:rPr lang="tr-TR" dirty="0"/>
              <a:t>Lecture 2</a:t>
            </a:r>
          </a:p>
          <a:p>
            <a:r>
              <a:rPr lang="tr-TR" dirty="0"/>
              <a:t>Graphical Solution Technique – Sensitivity Analysis – Excel Solver </a:t>
            </a:r>
            <a:endParaRPr lang="en-US" dirty="0"/>
          </a:p>
        </p:txBody>
      </p:sp>
      <p:sp>
        <p:nvSpPr>
          <p:cNvPr id="4" name="Footer Placeholder 3"/>
          <p:cNvSpPr>
            <a:spLocks noGrp="1"/>
          </p:cNvSpPr>
          <p:nvPr>
            <p:ph type="ftr" sz="quarter" idx="11"/>
          </p:nvPr>
        </p:nvSpPr>
        <p:spPr/>
        <p:txBody>
          <a:bodyPr/>
          <a:lstStyle/>
          <a:p>
            <a:r>
              <a:rPr lang="en-US"/>
              <a:t>ITU - Business Analytics - Mehmet Yasin Ulukuş</a:t>
            </a:r>
            <a:endParaRPr lang="en-US" dirty="0"/>
          </a:p>
        </p:txBody>
      </p:sp>
    </p:spTree>
    <p:extLst>
      <p:ext uri="{BB962C8B-B14F-4D97-AF65-F5344CB8AC3E}">
        <p14:creationId xmlns:p14="http://schemas.microsoft.com/office/powerpoint/2010/main" val="3533089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Analytical Geometry Revisited</a:t>
            </a:r>
          </a:p>
        </p:txBody>
      </p:sp>
      <p:sp>
        <p:nvSpPr>
          <p:cNvPr id="3" name="Content Placeholder 2"/>
          <p:cNvSpPr>
            <a:spLocks noGrp="1"/>
          </p:cNvSpPr>
          <p:nvPr>
            <p:ph idx="1"/>
          </p:nvPr>
        </p:nvSpPr>
        <p:spPr/>
        <p:txBody>
          <a:bodyPr/>
          <a:lstStyle/>
          <a:p>
            <a:r>
              <a:rPr lang="en-US" sz="2400" dirty="0"/>
              <a:t>What does an inequality mean? </a:t>
            </a:r>
          </a:p>
          <a:p>
            <a:r>
              <a:rPr lang="en-US" sz="2400" dirty="0"/>
              <a:t>For example: 𝑥+𝑦≤2</a:t>
            </a:r>
          </a:p>
          <a:p>
            <a:r>
              <a:rPr lang="en-US" sz="2400" dirty="0"/>
              <a:t>A half space!</a:t>
            </a:r>
          </a:p>
          <a:p>
            <a:pPr marL="114300" indent="0">
              <a:buNone/>
            </a:pPr>
            <a:endParaRPr lang="en-US" dirty="0"/>
          </a:p>
          <a:p>
            <a:pPr marL="114300" indent="0">
              <a:buNone/>
            </a:pPr>
            <a:endParaRPr lang="en-US" dirty="0"/>
          </a:p>
          <a:p>
            <a:pPr marL="114300" indent="0">
              <a:buNone/>
            </a:pPr>
            <a:endParaRPr lang="en-US" dirty="0"/>
          </a:p>
        </p:txBody>
      </p:sp>
      <p:sp>
        <p:nvSpPr>
          <p:cNvPr id="6" name="Footer Placeholder 5">
            <a:extLst>
              <a:ext uri="{FF2B5EF4-FFF2-40B4-BE49-F238E27FC236}">
                <a16:creationId xmlns:a16="http://schemas.microsoft.com/office/drawing/2014/main" id="{0F6E40FB-BAD4-47B7-A91C-54E24C4ADAA1}"/>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4" name="Picture 3" descr="Screen Shot 2016-10-04 at 1.18.05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600" y="2677126"/>
            <a:ext cx="5657077" cy="3525986"/>
          </a:xfrm>
          <a:prstGeom prst="rect">
            <a:avLst/>
          </a:prstGeom>
        </p:spPr>
      </p:pic>
    </p:spTree>
    <p:extLst>
      <p:ext uri="{BB962C8B-B14F-4D97-AF65-F5344CB8AC3E}">
        <p14:creationId xmlns:p14="http://schemas.microsoft.com/office/powerpoint/2010/main" val="299758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Wyndor</a:t>
            </a:r>
            <a:r>
              <a:rPr lang="en-US" dirty="0"/>
              <a:t> Glass Co Example</a:t>
            </a:r>
          </a:p>
        </p:txBody>
      </p:sp>
      <p:sp>
        <p:nvSpPr>
          <p:cNvPr id="4" name="Content Placeholder 3"/>
          <p:cNvSpPr>
            <a:spLocks noGrp="1"/>
          </p:cNvSpPr>
          <p:nvPr>
            <p:ph idx="1"/>
          </p:nvPr>
        </p:nvSpPr>
        <p:spPr/>
        <p:txBody>
          <a:bodyPr>
            <a:normAutofit/>
          </a:bodyPr>
          <a:lstStyle/>
          <a:p>
            <a:pPr marL="0" indent="0">
              <a:buNone/>
            </a:pPr>
            <a:r>
              <a:rPr lang="en-US" sz="2000" dirty="0"/>
              <a:t>The WYNDOR GLASS CO. produces </a:t>
            </a:r>
            <a:r>
              <a:rPr lang="tr-TR" sz="2000" dirty="0"/>
              <a:t>two types of glasses. </a:t>
            </a:r>
            <a:r>
              <a:rPr lang="en-US" sz="2000" dirty="0"/>
              <a:t>Product 1 requires some of the production capacity in Plants 1 and 3, but none in Plant</a:t>
            </a:r>
            <a:r>
              <a:rPr lang="tr-TR" sz="2000" dirty="0"/>
              <a:t> </a:t>
            </a:r>
            <a:r>
              <a:rPr lang="en-US" sz="2000" dirty="0"/>
              <a:t>2. Product 2 needs only Plants 2 and 3. The marketing division has concluded that the</a:t>
            </a:r>
            <a:r>
              <a:rPr lang="tr-TR" sz="2000" dirty="0"/>
              <a:t> </a:t>
            </a:r>
            <a:r>
              <a:rPr lang="en-US" sz="2000" dirty="0"/>
              <a:t>company could sell as much of either product as could be produced by these plants. However,</a:t>
            </a:r>
            <a:r>
              <a:rPr lang="tr-TR" sz="2000" dirty="0"/>
              <a:t> </a:t>
            </a:r>
            <a:r>
              <a:rPr lang="en-US" sz="2000" dirty="0"/>
              <a:t>because both products would be competing for the same production capacity in Plant</a:t>
            </a:r>
            <a:r>
              <a:rPr lang="tr-TR" sz="2000" dirty="0"/>
              <a:t> </a:t>
            </a:r>
            <a:r>
              <a:rPr lang="en-US" sz="2000" dirty="0"/>
              <a:t>3, it is not clear which mix of the two products would be most profitable. Therefore, an</a:t>
            </a:r>
            <a:r>
              <a:rPr lang="tr-TR" sz="2000" dirty="0"/>
              <a:t> </a:t>
            </a:r>
            <a:r>
              <a:rPr lang="en-US" sz="2000" dirty="0"/>
              <a:t>OR team has been formed to study this question</a:t>
            </a:r>
            <a:r>
              <a:rPr lang="tr-TR" sz="2000" dirty="0"/>
              <a:t> and came up with the following information. </a:t>
            </a:r>
            <a:endParaRPr lang="en-US" sz="2000" dirty="0"/>
          </a:p>
        </p:txBody>
      </p:sp>
      <p:sp>
        <p:nvSpPr>
          <p:cNvPr id="3" name="Footer Placeholder 2">
            <a:extLst>
              <a:ext uri="{FF2B5EF4-FFF2-40B4-BE49-F238E27FC236}">
                <a16:creationId xmlns:a16="http://schemas.microsoft.com/office/drawing/2014/main" id="{7F585460-3B07-4929-A867-A21E1F9AC54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a:extLst>
              <a:ext uri="{FF2B5EF4-FFF2-40B4-BE49-F238E27FC236}">
                <a16:creationId xmlns:a16="http://schemas.microsoft.com/office/drawing/2014/main" id="{F5E45B7C-8476-4501-BDDA-6D339522CCF8}"/>
              </a:ext>
            </a:extLst>
          </p:cNvPr>
          <p:cNvPicPr>
            <a:picLocks noChangeAspect="1"/>
          </p:cNvPicPr>
          <p:nvPr/>
        </p:nvPicPr>
        <p:blipFill rotWithShape="1">
          <a:blip r:embed="rId2"/>
          <a:srcRect t="12341"/>
          <a:stretch/>
        </p:blipFill>
        <p:spPr>
          <a:xfrm>
            <a:off x="1714499" y="3443941"/>
            <a:ext cx="8306076" cy="2912409"/>
          </a:xfrm>
          <a:prstGeom prst="rect">
            <a:avLst/>
          </a:prstGeom>
        </p:spPr>
      </p:pic>
    </p:spTree>
    <p:extLst>
      <p:ext uri="{BB962C8B-B14F-4D97-AF65-F5344CB8AC3E}">
        <p14:creationId xmlns:p14="http://schemas.microsoft.com/office/powerpoint/2010/main" val="91820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Wyndor</a:t>
            </a:r>
            <a:r>
              <a:rPr lang="en-US" dirty="0"/>
              <a:t> Glass Co LP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tr-TR" sz="2200" dirty="0"/>
                  <a:t>Decision variables:</a:t>
                </a:r>
              </a:p>
              <a:p>
                <a:pPr marL="0" indent="0">
                  <a:buNone/>
                </a:pPr>
                <a14:m>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𝑥</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m:t>
                    </m:r>
                  </m:oMath>
                </a14:m>
                <a:r>
                  <a:rPr lang="tr-TR" sz="2200" dirty="0"/>
                  <a:t> Number of batches of product 1 produced per week</a:t>
                </a:r>
              </a:p>
              <a:p>
                <a:pPr marL="0" indent="0">
                  <a:buNone/>
                </a:pPr>
                <a14:m>
                  <m:oMath xmlns:m="http://schemas.openxmlformats.org/officeDocument/2006/math">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b="0" i="1" smtClean="0">
                            <a:latin typeface="Cambria Math" panose="02040503050406030204" pitchFamily="18" charset="0"/>
                          </a:rPr>
                          <m:t>2</m:t>
                        </m:r>
                      </m:sub>
                    </m:sSub>
                    <m:r>
                      <a:rPr lang="tr-TR" sz="2200" i="1">
                        <a:latin typeface="Cambria Math" panose="02040503050406030204" pitchFamily="18" charset="0"/>
                      </a:rPr>
                      <m:t>=</m:t>
                    </m:r>
                  </m:oMath>
                </a14:m>
                <a:r>
                  <a:rPr lang="tr-TR" sz="2200" dirty="0"/>
                  <a:t> Number of batches of product 2 produced per week</a:t>
                </a:r>
              </a:p>
              <a:p>
                <a:pPr marL="0" indent="0">
                  <a:buNone/>
                </a:pPr>
                <a:endParaRPr lang="tr-TR" sz="2200" dirty="0"/>
              </a:p>
              <a:p>
                <a:pPr marL="0" indent="0">
                  <a:buNone/>
                </a:pPr>
                <a:endParaRPr lang="tr-T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54" t="-1611"/>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E99CBBE6-2AA9-4BAE-84E5-54D171FBB0C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617790331"/>
                  </p:ext>
                </p:extLst>
              </p:nvPr>
            </p:nvGraphicFramePr>
            <p:xfrm>
              <a:off x="3747080" y="3155699"/>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12</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18</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617790331"/>
                  </p:ext>
                </p:extLst>
              </p:nvPr>
            </p:nvGraphicFramePr>
            <p:xfrm>
              <a:off x="3747080" y="3155699"/>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endParaRPr lang="tr-TR"/>
                        </a:p>
                      </a:txBody>
                      <a:tcPr>
                        <a:blipFill>
                          <a:blip r:embed="rId3"/>
                          <a:stretch>
                            <a:fillRect t="-9333" r="-194309" b="-432000"/>
                          </a:stretch>
                        </a:blipFill>
                      </a:tcPr>
                    </a:tc>
                    <a:tc>
                      <a:txBody>
                        <a:bodyPr/>
                        <a:lstStyle/>
                        <a:p>
                          <a:endParaRPr lang="tr-TR"/>
                        </a:p>
                      </a:txBody>
                      <a:tcPr>
                        <a:blipFill>
                          <a:blip r:embed="rId3"/>
                          <a:stretch>
                            <a:fillRect l="-195238" t="-9333" r="-279365" b="-432000"/>
                          </a:stretch>
                        </a:blipFill>
                      </a:tcPr>
                    </a:tc>
                    <a:tc>
                      <a:txBody>
                        <a:bodyPr/>
                        <a:lstStyle/>
                        <a:p>
                          <a:endParaRPr lang="tr-TR"/>
                        </a:p>
                      </a:txBody>
                      <a:tcPr>
                        <a:blipFill>
                          <a:blip r:embed="rId3"/>
                          <a:stretch>
                            <a:fillRect l="-238462" t="-9333" r="-125641" b="-432000"/>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3"/>
                          <a:stretch>
                            <a:fillRect l="-195238" t="-109333" r="-279365" b="-332000"/>
                          </a:stretch>
                        </a:blipFill>
                      </a:tcPr>
                    </a:tc>
                    <a:tc>
                      <a:txBody>
                        <a:bodyPr/>
                        <a:lstStyle/>
                        <a:p>
                          <a:pPr algn="r"/>
                          <a:endParaRPr lang="en-US" sz="2400" b="0" dirty="0"/>
                        </a:p>
                      </a:txBody>
                      <a:tcPr/>
                    </a:tc>
                    <a:tc>
                      <a:txBody>
                        <a:bodyPr/>
                        <a:lstStyle/>
                        <a:p>
                          <a:endParaRPr lang="tr-TR"/>
                        </a:p>
                      </a:txBody>
                      <a:tcPr>
                        <a:blipFill>
                          <a:blip r:embed="rId3"/>
                          <a:stretch>
                            <a:fillRect l="-668354" t="-109333" r="-148101" b="-332000"/>
                          </a:stretch>
                        </a:blipFill>
                      </a:tcPr>
                    </a:tc>
                    <a:tc>
                      <a:txBody>
                        <a:bodyPr/>
                        <a:lstStyle/>
                        <a:p>
                          <a:r>
                            <a:rPr lang="tr-TR" sz="2400" b="0" dirty="0" smtClean="0"/>
                            <a:t>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pPr algn="r"/>
                          <a:endParaRPr lang="en-US" sz="2400" b="0" dirty="0"/>
                        </a:p>
                      </a:txBody>
                      <a:tcPr/>
                    </a:tc>
                    <a:tc>
                      <a:txBody>
                        <a:bodyPr/>
                        <a:lstStyle/>
                        <a:p>
                          <a:endParaRPr lang="tr-TR"/>
                        </a:p>
                      </a:txBody>
                      <a:tcPr>
                        <a:blipFill>
                          <a:blip r:embed="rId3"/>
                          <a:stretch>
                            <a:fillRect l="-238462" t="-206579" r="-125641" b="-227632"/>
                          </a:stretch>
                        </a:blipFill>
                      </a:tcPr>
                    </a:tc>
                    <a:tc>
                      <a:txBody>
                        <a:bodyPr/>
                        <a:lstStyle/>
                        <a:p>
                          <a:endParaRPr lang="tr-TR"/>
                        </a:p>
                      </a:txBody>
                      <a:tcPr>
                        <a:blipFill>
                          <a:blip r:embed="rId3"/>
                          <a:stretch>
                            <a:fillRect l="-668354" t="-206579" r="-148101" b="-227632"/>
                          </a:stretch>
                        </a:blipFill>
                      </a:tcPr>
                    </a:tc>
                    <a:tc>
                      <a:txBody>
                        <a:bodyPr/>
                        <a:lstStyle/>
                        <a:p>
                          <a:r>
                            <a:rPr lang="tr-TR" sz="2400" b="0" dirty="0" smtClean="0"/>
                            <a:t>12</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3"/>
                          <a:stretch>
                            <a:fillRect l="-195238" t="-310667" r="-279365" b="-130667"/>
                          </a:stretch>
                        </a:blipFill>
                      </a:tcPr>
                    </a:tc>
                    <a:tc>
                      <a:txBody>
                        <a:bodyPr/>
                        <a:lstStyle/>
                        <a:p>
                          <a:endParaRPr lang="tr-TR"/>
                        </a:p>
                      </a:txBody>
                      <a:tcPr>
                        <a:blipFill>
                          <a:blip r:embed="rId3"/>
                          <a:stretch>
                            <a:fillRect l="-238462" t="-310667" r="-125641" b="-130667"/>
                          </a:stretch>
                        </a:blipFill>
                      </a:tcPr>
                    </a:tc>
                    <a:tc>
                      <a:txBody>
                        <a:bodyPr/>
                        <a:lstStyle/>
                        <a:p>
                          <a:endParaRPr lang="tr-TR"/>
                        </a:p>
                      </a:txBody>
                      <a:tcPr>
                        <a:blipFill>
                          <a:blip r:embed="rId3"/>
                          <a:stretch>
                            <a:fillRect l="-668354" t="-310667" r="-148101" b="-130667"/>
                          </a:stretch>
                        </a:blipFill>
                      </a:tcPr>
                    </a:tc>
                    <a:tc>
                      <a:txBody>
                        <a:bodyPr/>
                        <a:lstStyle/>
                        <a:p>
                          <a:r>
                            <a:rPr lang="tr-TR" sz="2400" b="0" dirty="0" smtClean="0"/>
                            <a:t>18</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3"/>
                          <a:stretch>
                            <a:fillRect l="-195238" t="-410667" r="-279365" b="-30667"/>
                          </a:stretch>
                        </a:blipFill>
                      </a:tcPr>
                    </a:tc>
                    <a:tc>
                      <a:txBody>
                        <a:bodyPr/>
                        <a:lstStyle/>
                        <a:p>
                          <a:endParaRPr lang="tr-TR"/>
                        </a:p>
                      </a:txBody>
                      <a:tcPr>
                        <a:blipFill>
                          <a:blip r:embed="rId3"/>
                          <a:stretch>
                            <a:fillRect l="-238462" t="-410667" r="-125641" b="-30667"/>
                          </a:stretch>
                        </a:blipFill>
                      </a:tcPr>
                    </a:tc>
                    <a:tc>
                      <a:txBody>
                        <a:bodyPr/>
                        <a:lstStyle/>
                        <a:p>
                          <a:endParaRPr lang="tr-TR"/>
                        </a:p>
                      </a:txBody>
                      <a:tcPr>
                        <a:blipFill>
                          <a:blip r:embed="rId3"/>
                          <a:stretch>
                            <a:fillRect l="-668354" t="-410667" r="-148101" b="-30667"/>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2707631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3079FBB-C9E0-4192-95C8-63703465D054}"/>
                  </a:ext>
                </a:extLst>
              </p:cNvPr>
              <p:cNvSpPr txBox="1"/>
              <p:nvPr/>
            </p:nvSpPr>
            <p:spPr>
              <a:xfrm>
                <a:off x="6748577" y="1828800"/>
                <a:ext cx="4320301"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t>Dimensions represent variables</a:t>
                </a:r>
                <a:endParaRPr lang="tr-TR" sz="2200" dirty="0"/>
              </a:p>
              <a:p>
                <a:pPr marL="342900" indent="-342900">
                  <a:buFont typeface="Arial" panose="020B0604020202020204" pitchFamily="34" charset="0"/>
                  <a:buChar char="•"/>
                </a:pPr>
                <a:r>
                  <a:rPr lang="tr-TR" sz="2200" dirty="0"/>
                  <a:t>Let’s consider non-negativity and first constraint</a:t>
                </a:r>
              </a:p>
              <a:p>
                <a:pPr/>
                <a14:m>
                  <m:oMathPara xmlns:m="http://schemas.openxmlformats.org/officeDocument/2006/math">
                    <m:oMathParaPr>
                      <m:jc m:val="centerGroup"/>
                    </m:oMathParaPr>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𝑥</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≥0, </m:t>
                      </m:r>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𝑥</m:t>
                          </m:r>
                        </m:e>
                        <m:sub>
                          <m:r>
                            <a:rPr lang="tr-TR" sz="2200" b="0" i="1" smtClean="0">
                              <a:latin typeface="Cambria Math" panose="02040503050406030204" pitchFamily="18" charset="0"/>
                            </a:rPr>
                            <m:t>2</m:t>
                          </m:r>
                        </m:sub>
                      </m:sSub>
                      <m:r>
                        <a:rPr lang="tr-TR" sz="2200" b="0" i="1" smtClean="0">
                          <a:latin typeface="Cambria Math" panose="02040503050406030204" pitchFamily="18" charset="0"/>
                        </a:rPr>
                        <m:t>≥0,</m:t>
                      </m:r>
                    </m:oMath>
                  </m:oMathPara>
                </a14:m>
                <a:endParaRPr lang="tr-TR" sz="22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sz="2200" b="0" i="1" smtClean="0">
                              <a:latin typeface="Cambria Math" panose="02040503050406030204" pitchFamily="18" charset="0"/>
                            </a:rPr>
                          </m:ctrlPr>
                        </m:sSubPr>
                        <m:e>
                          <m:r>
                            <a:rPr lang="tr-TR" sz="2200" b="0" i="1" smtClean="0">
                              <a:latin typeface="Cambria Math" panose="02040503050406030204" pitchFamily="18" charset="0"/>
                            </a:rPr>
                            <m:t>𝑥</m:t>
                          </m:r>
                        </m:e>
                        <m:sub>
                          <m:r>
                            <a:rPr lang="tr-TR" sz="2200" b="0" i="1" smtClean="0">
                              <a:latin typeface="Cambria Math" panose="02040503050406030204" pitchFamily="18" charset="0"/>
                            </a:rPr>
                            <m:t>1</m:t>
                          </m:r>
                        </m:sub>
                      </m:sSub>
                      <m:r>
                        <a:rPr lang="tr-TR" sz="2200" b="0" i="1" smtClean="0">
                          <a:latin typeface="Cambria Math" panose="02040503050406030204" pitchFamily="18" charset="0"/>
                        </a:rPr>
                        <m:t>≤4</m:t>
                      </m:r>
                    </m:oMath>
                  </m:oMathPara>
                </a14:m>
                <a:endParaRPr lang="tr-TR" sz="2200" dirty="0"/>
              </a:p>
              <a:p>
                <a:pPr marL="342900" indent="-342900">
                  <a:buFont typeface="Arial" panose="020B0604020202020204" pitchFamily="34" charset="0"/>
                  <a:buChar char="•"/>
                </a:pPr>
                <a:r>
                  <a:rPr lang="tr-TR" sz="2200" dirty="0"/>
                  <a:t>Shaded area shows values of </a:t>
                </a:r>
                <a14:m>
                  <m:oMath xmlns:m="http://schemas.openxmlformats.org/officeDocument/2006/math">
                    <m:d>
                      <m:dPr>
                        <m:ctrlPr>
                          <a:rPr lang="tr-TR" sz="2200" i="1">
                            <a:latin typeface="Cambria Math" panose="02040503050406030204" pitchFamily="18" charset="0"/>
                          </a:rPr>
                        </m:ctrlPr>
                      </m:dPr>
                      <m:e>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i="1">
                                <a:latin typeface="Cambria Math" panose="02040503050406030204" pitchFamily="18" charset="0"/>
                              </a:rPr>
                              <m:t>1</m:t>
                            </m:r>
                          </m:sub>
                        </m:sSub>
                        <m:r>
                          <a:rPr lang="tr-TR" sz="2200" i="1">
                            <a:latin typeface="Cambria Math" panose="02040503050406030204" pitchFamily="18" charset="0"/>
                          </a:rPr>
                          <m:t>,</m:t>
                        </m:r>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i="1">
                                <a:latin typeface="Cambria Math" panose="02040503050406030204" pitchFamily="18" charset="0"/>
                              </a:rPr>
                              <m:t>2</m:t>
                            </m:r>
                          </m:sub>
                        </m:sSub>
                      </m:e>
                    </m:d>
                  </m:oMath>
                </a14:m>
                <a:r>
                  <a:rPr lang="tr-TR" sz="2200" dirty="0"/>
                  <a:t> allowed by above constraints</a:t>
                </a:r>
              </a:p>
              <a:p>
                <a:pPr marL="342900" indent="-342900">
                  <a:buFont typeface="Arial" panose="020B0604020202020204" pitchFamily="34" charset="0"/>
                  <a:buChar char="•"/>
                </a:pPr>
                <a:r>
                  <a:rPr lang="tr-TR" sz="2200" dirty="0"/>
                  <a:t>Now let’s add second constraint </a:t>
                </a:r>
              </a:p>
              <a:p>
                <a:pPr/>
                <a14:m>
                  <m:oMathPara xmlns:m="http://schemas.openxmlformats.org/officeDocument/2006/math">
                    <m:oMathParaPr>
                      <m:jc m:val="centerGroup"/>
                    </m:oMathParaPr>
                    <m:oMath xmlns:m="http://schemas.openxmlformats.org/officeDocument/2006/math">
                      <m:r>
                        <a:rPr lang="tr-TR" sz="2200" i="1">
                          <a:latin typeface="Cambria Math" panose="02040503050406030204" pitchFamily="18" charset="0"/>
                        </a:rPr>
                        <m:t>2</m:t>
                      </m:r>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i="1">
                              <a:latin typeface="Cambria Math" panose="02040503050406030204" pitchFamily="18" charset="0"/>
                            </a:rPr>
                            <m:t>2</m:t>
                          </m:r>
                        </m:sub>
                      </m:sSub>
                      <m:r>
                        <a:rPr lang="tr-TR" sz="2200" i="1">
                          <a:latin typeface="Cambria Math" panose="02040503050406030204" pitchFamily="18" charset="0"/>
                        </a:rPr>
                        <m:t>≤12</m:t>
                      </m:r>
                    </m:oMath>
                  </m:oMathPara>
                </a14:m>
                <a:endParaRPr lang="tr-TR" sz="2200" dirty="0"/>
              </a:p>
            </p:txBody>
          </p:sp>
        </mc:Choice>
        <mc:Fallback xmlns="">
          <p:sp>
            <p:nvSpPr>
              <p:cNvPr id="12" name="TextBox 11">
                <a:extLst>
                  <a:ext uri="{FF2B5EF4-FFF2-40B4-BE49-F238E27FC236}">
                    <a16:creationId xmlns:a16="http://schemas.microsoft.com/office/drawing/2014/main" id="{23079FBB-C9E0-4192-95C8-63703465D054}"/>
                  </a:ext>
                </a:extLst>
              </p:cNvPr>
              <p:cNvSpPr txBox="1">
                <a:spLocks noRot="1" noChangeAspect="1" noMove="1" noResize="1" noEditPoints="1" noAdjustHandles="1" noChangeArrowheads="1" noChangeShapeType="1" noTextEdit="1"/>
              </p:cNvSpPr>
              <p:nvPr/>
            </p:nvSpPr>
            <p:spPr>
              <a:xfrm>
                <a:off x="6748577" y="1828800"/>
                <a:ext cx="4320301" cy="3477875"/>
              </a:xfrm>
              <a:prstGeom prst="rect">
                <a:avLst/>
              </a:prstGeom>
              <a:blipFill>
                <a:blip r:embed="rId2"/>
                <a:stretch>
                  <a:fillRect l="-1551" t="-1226" r="-1834"/>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dirty="0"/>
              <a:t>Feasible Region</a:t>
            </a:r>
          </a:p>
        </p:txBody>
      </p:sp>
      <p:sp>
        <p:nvSpPr>
          <p:cNvPr id="9" name="Footer Placeholder 8">
            <a:extLst>
              <a:ext uri="{FF2B5EF4-FFF2-40B4-BE49-F238E27FC236}">
                <a16:creationId xmlns:a16="http://schemas.microsoft.com/office/drawing/2014/main" id="{625CD8A9-443F-4A58-9A0E-B6F1040FCF29}"/>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3" name="Picture 2"/>
          <p:cNvPicPr>
            <a:picLocks noChangeAspect="1"/>
          </p:cNvPicPr>
          <p:nvPr/>
        </p:nvPicPr>
        <p:blipFill>
          <a:blip r:embed="rId3"/>
          <a:stretch>
            <a:fillRect/>
          </a:stretch>
        </p:blipFill>
        <p:spPr>
          <a:xfrm>
            <a:off x="1075911" y="1631176"/>
            <a:ext cx="4549153" cy="4528723"/>
          </a:xfrm>
          <a:prstGeom prst="rect">
            <a:avLst/>
          </a:prstGeom>
        </p:spPr>
      </p:pic>
      <p:cxnSp>
        <p:nvCxnSpPr>
          <p:cNvPr id="7" name="Straight Connector 6"/>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493520" y="2005583"/>
            <a:ext cx="1378888" cy="3806571"/>
          </a:xfrm>
          <a:prstGeom prst="rect">
            <a:avLst/>
          </a:prstGeom>
          <a:solidFill>
            <a:schemeClr val="bg1">
              <a:lumMod val="6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3" name="Rectangle 12"/>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6154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Feasible Region</a:t>
            </a:r>
          </a:p>
        </p:txBody>
      </p:sp>
      <p:sp>
        <p:nvSpPr>
          <p:cNvPr id="9" name="Footer Placeholder 8">
            <a:extLst>
              <a:ext uri="{FF2B5EF4-FFF2-40B4-BE49-F238E27FC236}">
                <a16:creationId xmlns:a16="http://schemas.microsoft.com/office/drawing/2014/main" id="{625CD8A9-443F-4A58-9A0E-B6F1040FCF29}"/>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3079FBB-C9E0-4192-95C8-63703465D054}"/>
                  </a:ext>
                </a:extLst>
              </p:cNvPr>
              <p:cNvSpPr txBox="1"/>
              <p:nvPr/>
            </p:nvSpPr>
            <p:spPr>
              <a:xfrm>
                <a:off x="6748577" y="1828800"/>
                <a:ext cx="4320301" cy="1785104"/>
              </a:xfrm>
              <a:prstGeom prst="rect">
                <a:avLst/>
              </a:prstGeom>
              <a:noFill/>
            </p:spPr>
            <p:txBody>
              <a:bodyPr wrap="square" rtlCol="0">
                <a:spAutoFit/>
              </a:bodyPr>
              <a:lstStyle/>
              <a:p>
                <a:pPr marL="342900" indent="-342900">
                  <a:buFont typeface="Arial" panose="020B0604020202020204" pitchFamily="34" charset="0"/>
                  <a:buChar char="•"/>
                </a:pPr>
                <a:r>
                  <a:rPr lang="tr-TR" sz="2200" dirty="0"/>
                  <a:t>All points in the shaded region satisfies non-negativity and first two constraints. </a:t>
                </a:r>
              </a:p>
              <a:p>
                <a:pPr marL="342900" indent="-342900">
                  <a:buFont typeface="Arial" panose="020B0604020202020204" pitchFamily="34" charset="0"/>
                  <a:buChar char="•"/>
                </a:pPr>
                <a:r>
                  <a:rPr lang="tr-TR" sz="2200" dirty="0"/>
                  <a:t>Now the third costraint</a:t>
                </a:r>
              </a:p>
              <a:p>
                <a:pPr/>
                <a14:m>
                  <m:oMathPara xmlns:m="http://schemas.openxmlformats.org/officeDocument/2006/math">
                    <m:oMathParaPr>
                      <m:jc m:val="centerGroup"/>
                    </m:oMathParaPr>
                    <m:oMath xmlns:m="http://schemas.openxmlformats.org/officeDocument/2006/math">
                      <m:r>
                        <a:rPr lang="tr-TR" sz="2200" i="1">
                          <a:latin typeface="Cambria Math" panose="02040503050406030204" pitchFamily="18" charset="0"/>
                        </a:rPr>
                        <m:t>3</m:t>
                      </m:r>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i="1">
                              <a:latin typeface="Cambria Math" panose="02040503050406030204" pitchFamily="18" charset="0"/>
                            </a:rPr>
                            <m:t>1</m:t>
                          </m:r>
                        </m:sub>
                      </m:sSub>
                      <m:r>
                        <a:rPr lang="tr-TR" sz="2200" i="1">
                          <a:latin typeface="Cambria Math" panose="02040503050406030204" pitchFamily="18" charset="0"/>
                        </a:rPr>
                        <m:t>+2</m:t>
                      </m:r>
                      <m:sSub>
                        <m:sSubPr>
                          <m:ctrlPr>
                            <a:rPr lang="tr-TR" sz="2200" i="1">
                              <a:latin typeface="Cambria Math" panose="02040503050406030204" pitchFamily="18" charset="0"/>
                            </a:rPr>
                          </m:ctrlPr>
                        </m:sSubPr>
                        <m:e>
                          <m:r>
                            <a:rPr lang="tr-TR" sz="2200" i="1">
                              <a:latin typeface="Cambria Math" panose="02040503050406030204" pitchFamily="18" charset="0"/>
                            </a:rPr>
                            <m:t>𝑥</m:t>
                          </m:r>
                        </m:e>
                        <m:sub>
                          <m:r>
                            <a:rPr lang="tr-TR" sz="2200" i="1">
                              <a:latin typeface="Cambria Math" panose="02040503050406030204" pitchFamily="18" charset="0"/>
                            </a:rPr>
                            <m:t>2</m:t>
                          </m:r>
                        </m:sub>
                      </m:sSub>
                      <m:r>
                        <a:rPr lang="tr-TR" sz="2200" i="1">
                          <a:latin typeface="Cambria Math" panose="02040503050406030204" pitchFamily="18" charset="0"/>
                        </a:rPr>
                        <m:t>≤18</m:t>
                      </m:r>
                    </m:oMath>
                  </m:oMathPara>
                </a14:m>
                <a:endParaRPr lang="tr-TR" sz="2200" dirty="0"/>
              </a:p>
            </p:txBody>
          </p:sp>
        </mc:Choice>
        <mc:Fallback xmlns="">
          <p:sp>
            <p:nvSpPr>
              <p:cNvPr id="8" name="TextBox 7">
                <a:extLst>
                  <a:ext uri="{FF2B5EF4-FFF2-40B4-BE49-F238E27FC236}">
                    <a16:creationId xmlns:a16="http://schemas.microsoft.com/office/drawing/2014/main" id="{23079FBB-C9E0-4192-95C8-63703465D054}"/>
                  </a:ext>
                </a:extLst>
              </p:cNvPr>
              <p:cNvSpPr txBox="1">
                <a:spLocks noRot="1" noChangeAspect="1" noMove="1" noResize="1" noEditPoints="1" noAdjustHandles="1" noChangeArrowheads="1" noChangeShapeType="1" noTextEdit="1"/>
              </p:cNvSpPr>
              <p:nvPr/>
            </p:nvSpPr>
            <p:spPr>
              <a:xfrm>
                <a:off x="6748577" y="1828800"/>
                <a:ext cx="4320301" cy="1785104"/>
              </a:xfrm>
              <a:prstGeom prst="rect">
                <a:avLst/>
              </a:prstGeom>
              <a:blipFill>
                <a:blip r:embed="rId2"/>
                <a:stretch>
                  <a:fillRect l="-1551" t="-238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1075911" y="1631176"/>
            <a:ext cx="4549153" cy="4528723"/>
          </a:xfrm>
          <a:prstGeom prst="rect">
            <a:avLst/>
          </a:prstGeom>
        </p:spPr>
      </p:pic>
      <p:cxnSp>
        <p:nvCxnSpPr>
          <p:cNvPr id="7" name="Straight Connector 6"/>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487424" y="3657600"/>
            <a:ext cx="1386889" cy="2157984"/>
          </a:xfrm>
          <a:custGeom>
            <a:avLst/>
            <a:gdLst>
              <a:gd name="connsiteX0" fmla="*/ 0 w 1378888"/>
              <a:gd name="connsiteY0" fmla="*/ 0 h 2145792"/>
              <a:gd name="connsiteX1" fmla="*/ 1378888 w 1378888"/>
              <a:gd name="connsiteY1" fmla="*/ 0 h 2145792"/>
              <a:gd name="connsiteX2" fmla="*/ 1378888 w 1378888"/>
              <a:gd name="connsiteY2" fmla="*/ 2145792 h 2145792"/>
              <a:gd name="connsiteX3" fmla="*/ 0 w 1378888"/>
              <a:gd name="connsiteY3" fmla="*/ 2145792 h 2145792"/>
              <a:gd name="connsiteX4" fmla="*/ 0 w 1378888"/>
              <a:gd name="connsiteY4" fmla="*/ 0 h 2145792"/>
              <a:gd name="connsiteX0" fmla="*/ 6096 w 1384984"/>
              <a:gd name="connsiteY0" fmla="*/ 0 h 2157984"/>
              <a:gd name="connsiteX1" fmla="*/ 1384984 w 1384984"/>
              <a:gd name="connsiteY1" fmla="*/ 0 h 2157984"/>
              <a:gd name="connsiteX2" fmla="*/ 1384984 w 1384984"/>
              <a:gd name="connsiteY2" fmla="*/ 2145792 h 2157984"/>
              <a:gd name="connsiteX3" fmla="*/ 0 w 1384984"/>
              <a:gd name="connsiteY3" fmla="*/ 2157984 h 2157984"/>
              <a:gd name="connsiteX4" fmla="*/ 6096 w 1384984"/>
              <a:gd name="connsiteY4" fmla="*/ 0 h 2157984"/>
              <a:gd name="connsiteX0" fmla="*/ 6096 w 1386889"/>
              <a:gd name="connsiteY0" fmla="*/ 0 h 2157984"/>
              <a:gd name="connsiteX1" fmla="*/ 1384984 w 1386889"/>
              <a:gd name="connsiteY1" fmla="*/ 0 h 2157984"/>
              <a:gd name="connsiteX2" fmla="*/ 1386889 w 1386889"/>
              <a:gd name="connsiteY2" fmla="*/ 2153412 h 2157984"/>
              <a:gd name="connsiteX3" fmla="*/ 0 w 1386889"/>
              <a:gd name="connsiteY3" fmla="*/ 2157984 h 2157984"/>
              <a:gd name="connsiteX4" fmla="*/ 6096 w 1386889"/>
              <a:gd name="connsiteY4" fmla="*/ 0 h 2157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6889" h="2157984">
                <a:moveTo>
                  <a:pt x="6096" y="0"/>
                </a:moveTo>
                <a:lnTo>
                  <a:pt x="1384984" y="0"/>
                </a:lnTo>
                <a:lnTo>
                  <a:pt x="1386889" y="2153412"/>
                </a:lnTo>
                <a:lnTo>
                  <a:pt x="0" y="2157984"/>
                </a:lnTo>
                <a:lnTo>
                  <a:pt x="6096" y="0"/>
                </a:lnTo>
                <a:close/>
              </a:path>
            </a:pathLst>
          </a:custGeom>
          <a:solidFill>
            <a:schemeClr val="bg1">
              <a:lumMod val="6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5" name="Rectangle 14"/>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16" name="Rectangle 15"/>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5918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Feasible Region</a:t>
            </a:r>
          </a:p>
        </p:txBody>
      </p:sp>
      <p:sp>
        <p:nvSpPr>
          <p:cNvPr id="9" name="Footer Placeholder 8">
            <a:extLst>
              <a:ext uri="{FF2B5EF4-FFF2-40B4-BE49-F238E27FC236}">
                <a16:creationId xmlns:a16="http://schemas.microsoft.com/office/drawing/2014/main" id="{625CD8A9-443F-4A58-9A0E-B6F1040FCF29}"/>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pSp>
        <p:nvGrpSpPr>
          <p:cNvPr id="23" name="Group 22"/>
          <p:cNvGrpSpPr/>
          <p:nvPr/>
        </p:nvGrpSpPr>
        <p:grpSpPr>
          <a:xfrm>
            <a:off x="1075911" y="1631176"/>
            <a:ext cx="4549153" cy="4617224"/>
            <a:chOff x="1075911" y="1631176"/>
            <a:chExt cx="4549153" cy="4617224"/>
          </a:xfrm>
        </p:grpSpPr>
        <p:grpSp>
          <p:nvGrpSpPr>
            <p:cNvPr id="22" name="Group 21"/>
            <p:cNvGrpSpPr/>
            <p:nvPr/>
          </p:nvGrpSpPr>
          <p:grpSpPr>
            <a:xfrm>
              <a:off x="1075911" y="1631176"/>
              <a:ext cx="4549153" cy="4617224"/>
              <a:chOff x="1075911" y="1631176"/>
              <a:chExt cx="4549153" cy="4617224"/>
            </a:xfrm>
          </p:grpSpPr>
          <p:pic>
            <p:nvPicPr>
              <p:cNvPr id="3" name="Picture 2"/>
              <p:cNvPicPr>
                <a:picLocks noChangeAspect="1"/>
              </p:cNvPicPr>
              <p:nvPr/>
            </p:nvPicPr>
            <p:blipFill>
              <a:blip r:embed="rId2"/>
              <a:stretch>
                <a:fillRect/>
              </a:stretch>
            </p:blipFill>
            <p:spPr>
              <a:xfrm>
                <a:off x="1075911" y="1631176"/>
                <a:ext cx="4549153" cy="4528723"/>
              </a:xfrm>
              <a:prstGeom prst="rect">
                <a:avLst/>
              </a:prstGeom>
            </p:spPr>
          </p:pic>
          <p:cxnSp>
            <p:nvCxnSpPr>
              <p:cNvPr id="7" name="Straight Connector 6"/>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5" name="Rectangle 14"/>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16" name="Rectangle 15"/>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4"/>
                    <a:stretch>
                      <a:fillRect/>
                    </a:stretch>
                  </a:blipFill>
                </p:spPr>
                <p:txBody>
                  <a:bodyPr/>
                  <a:lstStyle/>
                  <a:p>
                    <a:r>
                      <a:rPr lang="en-US">
                        <a:noFill/>
                      </a:rPr>
                      <a:t> </a:t>
                    </a:r>
                  </a:p>
                </p:txBody>
              </p:sp>
            </mc:Fallback>
          </mc:AlternateContent>
          <p:cxnSp>
            <p:nvCxnSpPr>
              <p:cNvPr id="5" name="Straight Connector 4"/>
              <p:cNvCxnSpPr/>
              <p:nvPr/>
            </p:nvCxnSpPr>
            <p:spPr>
              <a:xfrm>
                <a:off x="1310640" y="2326640"/>
                <a:ext cx="2560320" cy="3921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3318160" y="5282189"/>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+2</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=18</m:t>
                          </m:r>
                        </m:oMath>
                      </m:oMathPara>
                    </a14:m>
                    <a:endParaRPr lang="en-US" sz="1400" dirty="0"/>
                  </a:p>
                </p:txBody>
              </p:sp>
            </mc:Choice>
            <mc:Fallback xmlns="">
              <p:sp>
                <p:nvSpPr>
                  <p:cNvPr id="17" name="Rectangle 16"/>
                  <p:cNvSpPr>
                    <a:spLocks noRot="1" noChangeAspect="1" noMove="1" noResize="1" noEditPoints="1" noAdjustHandles="1" noChangeArrowheads="1" noChangeShapeType="1" noTextEdit="1"/>
                  </p:cNvSpPr>
                  <p:nvPr/>
                </p:nvSpPr>
                <p:spPr>
                  <a:xfrm>
                    <a:off x="3318160" y="5282189"/>
                    <a:ext cx="1421415" cy="307777"/>
                  </a:xfrm>
                  <a:prstGeom prst="rect">
                    <a:avLst/>
                  </a:prstGeom>
                  <a:blipFill>
                    <a:blip r:embed="rId5"/>
                    <a:stretch>
                      <a:fillRect/>
                    </a:stretch>
                  </a:blipFill>
                </p:spPr>
                <p:txBody>
                  <a:bodyPr/>
                  <a:lstStyle/>
                  <a:p>
                    <a:r>
                      <a:rPr lang="en-US">
                        <a:noFill/>
                      </a:rPr>
                      <a:t> </a:t>
                    </a:r>
                  </a:p>
                </p:txBody>
              </p:sp>
            </mc:Fallback>
          </mc:AlternateContent>
        </p:grpSp>
        <p:sp>
          <p:nvSpPr>
            <p:cNvPr id="14" name="Freeform 13"/>
            <p:cNvSpPr/>
            <p:nvPr/>
          </p:nvSpPr>
          <p:spPr>
            <a:xfrm>
              <a:off x="1490980" y="3660140"/>
              <a:ext cx="1381985" cy="2151380"/>
            </a:xfrm>
            <a:custGeom>
              <a:avLst/>
              <a:gdLst>
                <a:gd name="connsiteX0" fmla="*/ 0 w 1371600"/>
                <a:gd name="connsiteY0" fmla="*/ 2148840 h 2153920"/>
                <a:gd name="connsiteX1" fmla="*/ 5080 w 1371600"/>
                <a:gd name="connsiteY1" fmla="*/ 5080 h 2153920"/>
                <a:gd name="connsiteX2" fmla="*/ 685800 w 1371600"/>
                <a:gd name="connsiteY2" fmla="*/ 0 h 2153920"/>
                <a:gd name="connsiteX3" fmla="*/ 1371600 w 1371600"/>
                <a:gd name="connsiteY3" fmla="*/ 1076960 h 2153920"/>
                <a:gd name="connsiteX4" fmla="*/ 1366520 w 1371600"/>
                <a:gd name="connsiteY4" fmla="*/ 2153920 h 2153920"/>
                <a:gd name="connsiteX5" fmla="*/ 0 w 1371600"/>
                <a:gd name="connsiteY5" fmla="*/ 2148840 h 2153920"/>
                <a:gd name="connsiteX0" fmla="*/ 0 w 1374140"/>
                <a:gd name="connsiteY0" fmla="*/ 2153920 h 2153920"/>
                <a:gd name="connsiteX1" fmla="*/ 7620 w 1374140"/>
                <a:gd name="connsiteY1" fmla="*/ 5080 h 2153920"/>
                <a:gd name="connsiteX2" fmla="*/ 688340 w 1374140"/>
                <a:gd name="connsiteY2" fmla="*/ 0 h 2153920"/>
                <a:gd name="connsiteX3" fmla="*/ 1374140 w 1374140"/>
                <a:gd name="connsiteY3" fmla="*/ 1076960 h 2153920"/>
                <a:gd name="connsiteX4" fmla="*/ 1369060 w 1374140"/>
                <a:gd name="connsiteY4" fmla="*/ 2153920 h 2153920"/>
                <a:gd name="connsiteX5" fmla="*/ 0 w 1374140"/>
                <a:gd name="connsiteY5" fmla="*/ 2153920 h 2153920"/>
                <a:gd name="connsiteX0" fmla="*/ 0 w 1384446"/>
                <a:gd name="connsiteY0" fmla="*/ 2153920 h 2156460"/>
                <a:gd name="connsiteX1" fmla="*/ 7620 w 1384446"/>
                <a:gd name="connsiteY1" fmla="*/ 5080 h 2156460"/>
                <a:gd name="connsiteX2" fmla="*/ 688340 w 1384446"/>
                <a:gd name="connsiteY2" fmla="*/ 0 h 2156460"/>
                <a:gd name="connsiteX3" fmla="*/ 1374140 w 1384446"/>
                <a:gd name="connsiteY3" fmla="*/ 1076960 h 2156460"/>
                <a:gd name="connsiteX4" fmla="*/ 1384300 w 1384446"/>
                <a:gd name="connsiteY4" fmla="*/ 2156460 h 2156460"/>
                <a:gd name="connsiteX5" fmla="*/ 0 w 1384446"/>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74420 h 2156460"/>
                <a:gd name="connsiteX4" fmla="*/ 1384300 w 1384477"/>
                <a:gd name="connsiteY4" fmla="*/ 2156460 h 2156460"/>
                <a:gd name="connsiteX5" fmla="*/ 0 w 1384477"/>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64260 h 2156460"/>
                <a:gd name="connsiteX4" fmla="*/ 1384300 w 1384477"/>
                <a:gd name="connsiteY4" fmla="*/ 2156460 h 2156460"/>
                <a:gd name="connsiteX5" fmla="*/ 0 w 1384477"/>
                <a:gd name="connsiteY5" fmla="*/ 2153920 h 2156460"/>
                <a:gd name="connsiteX0" fmla="*/ 0 w 1381985"/>
                <a:gd name="connsiteY0" fmla="*/ 2153920 h 2153920"/>
                <a:gd name="connsiteX1" fmla="*/ 7620 w 1381985"/>
                <a:gd name="connsiteY1" fmla="*/ 5080 h 2153920"/>
                <a:gd name="connsiteX2" fmla="*/ 688340 w 1381985"/>
                <a:gd name="connsiteY2" fmla="*/ 0 h 2153920"/>
                <a:gd name="connsiteX3" fmla="*/ 1376680 w 1381985"/>
                <a:gd name="connsiteY3" fmla="*/ 1064260 h 2153920"/>
                <a:gd name="connsiteX4" fmla="*/ 1381760 w 1381985"/>
                <a:gd name="connsiteY4" fmla="*/ 2151380 h 2153920"/>
                <a:gd name="connsiteX5" fmla="*/ 0 w 1381985"/>
                <a:gd name="connsiteY5" fmla="*/ 2153920 h 2153920"/>
                <a:gd name="connsiteX0" fmla="*/ 0 w 1381985"/>
                <a:gd name="connsiteY0" fmla="*/ 2151380 h 2151380"/>
                <a:gd name="connsiteX1" fmla="*/ 7620 w 1381985"/>
                <a:gd name="connsiteY1" fmla="*/ 2540 h 2151380"/>
                <a:gd name="connsiteX2" fmla="*/ 690880 w 1381985"/>
                <a:gd name="connsiteY2" fmla="*/ 0 h 2151380"/>
                <a:gd name="connsiteX3" fmla="*/ 1376680 w 1381985"/>
                <a:gd name="connsiteY3" fmla="*/ 1061720 h 2151380"/>
                <a:gd name="connsiteX4" fmla="*/ 1381760 w 1381985"/>
                <a:gd name="connsiteY4" fmla="*/ 2148840 h 2151380"/>
                <a:gd name="connsiteX5" fmla="*/ 0 w 1381985"/>
                <a:gd name="connsiteY5" fmla="*/ 2151380 h 215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985" h="2151380">
                  <a:moveTo>
                    <a:pt x="0" y="2151380"/>
                  </a:moveTo>
                  <a:cubicBezTo>
                    <a:pt x="1693" y="1436793"/>
                    <a:pt x="5927" y="717127"/>
                    <a:pt x="7620" y="2540"/>
                  </a:cubicBezTo>
                  <a:lnTo>
                    <a:pt x="690880" y="0"/>
                  </a:lnTo>
                  <a:lnTo>
                    <a:pt x="1376680" y="1061720"/>
                  </a:lnTo>
                  <a:cubicBezTo>
                    <a:pt x="1374987" y="1420707"/>
                    <a:pt x="1383453" y="1789853"/>
                    <a:pt x="1381760" y="2148840"/>
                  </a:cubicBezTo>
                  <a:lnTo>
                    <a:pt x="0" y="2151380"/>
                  </a:lnTo>
                  <a:close/>
                </a:path>
              </a:pathLst>
            </a:custGeom>
            <a:solidFill>
              <a:srgbClr val="BFBFB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23079FBB-C9E0-4192-95C8-63703465D054}"/>
              </a:ext>
            </a:extLst>
          </p:cNvPr>
          <p:cNvSpPr txBox="1"/>
          <p:nvPr/>
        </p:nvSpPr>
        <p:spPr>
          <a:xfrm>
            <a:off x="6748577" y="1828800"/>
            <a:ext cx="4320301" cy="3785652"/>
          </a:xfrm>
          <a:prstGeom prst="rect">
            <a:avLst/>
          </a:prstGeom>
          <a:noFill/>
        </p:spPr>
        <p:txBody>
          <a:bodyPr wrap="square" rtlCol="0">
            <a:spAutoFit/>
          </a:bodyPr>
          <a:lstStyle/>
          <a:p>
            <a:pPr marL="342900" indent="-342900">
              <a:buFont typeface="Arial" panose="020B0604020202020204" pitchFamily="34" charset="0"/>
              <a:buChar char="•"/>
            </a:pPr>
            <a:r>
              <a:rPr lang="en-US" sz="2400" b="1" dirty="0"/>
              <a:t>Feasible Region: </a:t>
            </a:r>
            <a:r>
              <a:rPr lang="en-US" sz="2400" dirty="0"/>
              <a:t>The set of all points satisfying all constraints</a:t>
            </a:r>
            <a:r>
              <a:rPr lang="tr-TR" sz="2400" dirty="0"/>
              <a:t> (shaded area)</a:t>
            </a:r>
          </a:p>
          <a:p>
            <a:pPr marL="342900" indent="-342900">
              <a:buFont typeface="Arial" panose="020B0604020202020204" pitchFamily="34" charset="0"/>
              <a:buChar char="•"/>
            </a:pPr>
            <a:r>
              <a:rPr lang="tr-TR" sz="2400" dirty="0"/>
              <a:t>All points falling within the feasible region is a feasible solution (infinitely many solutions)</a:t>
            </a:r>
          </a:p>
          <a:p>
            <a:pPr marL="342900" indent="-342900">
              <a:buFont typeface="Arial" panose="020B0604020202020204" pitchFamily="34" charset="0"/>
              <a:buChar char="•"/>
            </a:pPr>
            <a:r>
              <a:rPr lang="tr-TR" sz="2400" dirty="0"/>
              <a:t>But we need to find the best one!</a:t>
            </a:r>
          </a:p>
          <a:p>
            <a:pPr marL="342900" indent="-342900">
              <a:buFont typeface="Arial" panose="020B0604020202020204" pitchFamily="34" charset="0"/>
              <a:buChar char="•"/>
            </a:pPr>
            <a:r>
              <a:rPr lang="tr-TR" sz="2400" dirty="0"/>
              <a:t>How? </a:t>
            </a:r>
            <a:endParaRPr lang="en-US" sz="2400" dirty="0"/>
          </a:p>
        </p:txBody>
      </p:sp>
    </p:spTree>
    <p:extLst>
      <p:ext uri="{BB962C8B-B14F-4D97-AF65-F5344CB8AC3E}">
        <p14:creationId xmlns:p14="http://schemas.microsoft.com/office/powerpoint/2010/main" val="407239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p:cNvGrpSpPr/>
          <p:nvPr/>
        </p:nvGrpSpPr>
        <p:grpSpPr>
          <a:xfrm>
            <a:off x="1075911" y="1631176"/>
            <a:ext cx="4549153" cy="4617224"/>
            <a:chOff x="1075911" y="1631176"/>
            <a:chExt cx="4549153" cy="4617224"/>
          </a:xfrm>
        </p:grpSpPr>
        <p:grpSp>
          <p:nvGrpSpPr>
            <p:cNvPr id="56" name="Group 55"/>
            <p:cNvGrpSpPr/>
            <p:nvPr/>
          </p:nvGrpSpPr>
          <p:grpSpPr>
            <a:xfrm>
              <a:off x="1075911" y="1631176"/>
              <a:ext cx="4549153" cy="4617224"/>
              <a:chOff x="1075911" y="1631176"/>
              <a:chExt cx="4549153" cy="4617224"/>
            </a:xfrm>
          </p:grpSpPr>
          <p:pic>
            <p:nvPicPr>
              <p:cNvPr id="58" name="Picture 57"/>
              <p:cNvPicPr>
                <a:picLocks noChangeAspect="1"/>
              </p:cNvPicPr>
              <p:nvPr/>
            </p:nvPicPr>
            <p:blipFill>
              <a:blip r:embed="rId2"/>
              <a:stretch>
                <a:fillRect/>
              </a:stretch>
            </p:blipFill>
            <p:spPr>
              <a:xfrm>
                <a:off x="1075911" y="1631176"/>
                <a:ext cx="4549153" cy="4528723"/>
              </a:xfrm>
              <a:prstGeom prst="rect">
                <a:avLst/>
              </a:prstGeom>
            </p:spPr>
          </p:pic>
          <p:cxnSp>
            <p:nvCxnSpPr>
              <p:cNvPr id="59" name="Straight Connector 58"/>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Rectangle 60"/>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61" name="Rectangle 60"/>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62" name="Rectangle 61"/>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4"/>
                    <a:stretch>
                      <a:fillRect/>
                    </a:stretch>
                  </a:blipFill>
                </p:spPr>
                <p:txBody>
                  <a:bodyPr/>
                  <a:lstStyle/>
                  <a:p>
                    <a:r>
                      <a:rPr lang="en-US">
                        <a:noFill/>
                      </a:rPr>
                      <a:t> </a:t>
                    </a:r>
                  </a:p>
                </p:txBody>
              </p:sp>
            </mc:Fallback>
          </mc:AlternateContent>
          <p:cxnSp>
            <p:nvCxnSpPr>
              <p:cNvPr id="63" name="Straight Connector 62"/>
              <p:cNvCxnSpPr/>
              <p:nvPr/>
            </p:nvCxnSpPr>
            <p:spPr>
              <a:xfrm>
                <a:off x="1310640" y="2326640"/>
                <a:ext cx="2560320" cy="3921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tangle 63"/>
                  <p:cNvSpPr/>
                  <p:nvPr/>
                </p:nvSpPr>
                <p:spPr>
                  <a:xfrm>
                    <a:off x="3318160" y="5282189"/>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+2</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=18</m:t>
                          </m:r>
                        </m:oMath>
                      </m:oMathPara>
                    </a14:m>
                    <a:endParaRPr lang="en-US" sz="1400" dirty="0"/>
                  </a:p>
                </p:txBody>
              </p:sp>
            </mc:Choice>
            <mc:Fallback xmlns="">
              <p:sp>
                <p:nvSpPr>
                  <p:cNvPr id="64" name="Rectangle 63"/>
                  <p:cNvSpPr>
                    <a:spLocks noRot="1" noChangeAspect="1" noMove="1" noResize="1" noEditPoints="1" noAdjustHandles="1" noChangeArrowheads="1" noChangeShapeType="1" noTextEdit="1"/>
                  </p:cNvSpPr>
                  <p:nvPr/>
                </p:nvSpPr>
                <p:spPr>
                  <a:xfrm>
                    <a:off x="3318160" y="5282189"/>
                    <a:ext cx="1421415" cy="307777"/>
                  </a:xfrm>
                  <a:prstGeom prst="rect">
                    <a:avLst/>
                  </a:prstGeom>
                  <a:blipFill>
                    <a:blip r:embed="rId5"/>
                    <a:stretch>
                      <a:fillRect/>
                    </a:stretch>
                  </a:blipFill>
                </p:spPr>
                <p:txBody>
                  <a:bodyPr/>
                  <a:lstStyle/>
                  <a:p>
                    <a:r>
                      <a:rPr lang="en-US">
                        <a:noFill/>
                      </a:rPr>
                      <a:t> </a:t>
                    </a:r>
                  </a:p>
                </p:txBody>
              </p:sp>
            </mc:Fallback>
          </mc:AlternateContent>
        </p:grpSp>
        <p:sp>
          <p:nvSpPr>
            <p:cNvPr id="57" name="Freeform 56"/>
            <p:cNvSpPr/>
            <p:nvPr/>
          </p:nvSpPr>
          <p:spPr>
            <a:xfrm>
              <a:off x="1490980" y="3660140"/>
              <a:ext cx="1381985" cy="2151380"/>
            </a:xfrm>
            <a:custGeom>
              <a:avLst/>
              <a:gdLst>
                <a:gd name="connsiteX0" fmla="*/ 0 w 1371600"/>
                <a:gd name="connsiteY0" fmla="*/ 2148840 h 2153920"/>
                <a:gd name="connsiteX1" fmla="*/ 5080 w 1371600"/>
                <a:gd name="connsiteY1" fmla="*/ 5080 h 2153920"/>
                <a:gd name="connsiteX2" fmla="*/ 685800 w 1371600"/>
                <a:gd name="connsiteY2" fmla="*/ 0 h 2153920"/>
                <a:gd name="connsiteX3" fmla="*/ 1371600 w 1371600"/>
                <a:gd name="connsiteY3" fmla="*/ 1076960 h 2153920"/>
                <a:gd name="connsiteX4" fmla="*/ 1366520 w 1371600"/>
                <a:gd name="connsiteY4" fmla="*/ 2153920 h 2153920"/>
                <a:gd name="connsiteX5" fmla="*/ 0 w 1371600"/>
                <a:gd name="connsiteY5" fmla="*/ 2148840 h 2153920"/>
                <a:gd name="connsiteX0" fmla="*/ 0 w 1374140"/>
                <a:gd name="connsiteY0" fmla="*/ 2153920 h 2153920"/>
                <a:gd name="connsiteX1" fmla="*/ 7620 w 1374140"/>
                <a:gd name="connsiteY1" fmla="*/ 5080 h 2153920"/>
                <a:gd name="connsiteX2" fmla="*/ 688340 w 1374140"/>
                <a:gd name="connsiteY2" fmla="*/ 0 h 2153920"/>
                <a:gd name="connsiteX3" fmla="*/ 1374140 w 1374140"/>
                <a:gd name="connsiteY3" fmla="*/ 1076960 h 2153920"/>
                <a:gd name="connsiteX4" fmla="*/ 1369060 w 1374140"/>
                <a:gd name="connsiteY4" fmla="*/ 2153920 h 2153920"/>
                <a:gd name="connsiteX5" fmla="*/ 0 w 1374140"/>
                <a:gd name="connsiteY5" fmla="*/ 2153920 h 2153920"/>
                <a:gd name="connsiteX0" fmla="*/ 0 w 1384446"/>
                <a:gd name="connsiteY0" fmla="*/ 2153920 h 2156460"/>
                <a:gd name="connsiteX1" fmla="*/ 7620 w 1384446"/>
                <a:gd name="connsiteY1" fmla="*/ 5080 h 2156460"/>
                <a:gd name="connsiteX2" fmla="*/ 688340 w 1384446"/>
                <a:gd name="connsiteY2" fmla="*/ 0 h 2156460"/>
                <a:gd name="connsiteX3" fmla="*/ 1374140 w 1384446"/>
                <a:gd name="connsiteY3" fmla="*/ 1076960 h 2156460"/>
                <a:gd name="connsiteX4" fmla="*/ 1384300 w 1384446"/>
                <a:gd name="connsiteY4" fmla="*/ 2156460 h 2156460"/>
                <a:gd name="connsiteX5" fmla="*/ 0 w 1384446"/>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74420 h 2156460"/>
                <a:gd name="connsiteX4" fmla="*/ 1384300 w 1384477"/>
                <a:gd name="connsiteY4" fmla="*/ 2156460 h 2156460"/>
                <a:gd name="connsiteX5" fmla="*/ 0 w 1384477"/>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64260 h 2156460"/>
                <a:gd name="connsiteX4" fmla="*/ 1384300 w 1384477"/>
                <a:gd name="connsiteY4" fmla="*/ 2156460 h 2156460"/>
                <a:gd name="connsiteX5" fmla="*/ 0 w 1384477"/>
                <a:gd name="connsiteY5" fmla="*/ 2153920 h 2156460"/>
                <a:gd name="connsiteX0" fmla="*/ 0 w 1381985"/>
                <a:gd name="connsiteY0" fmla="*/ 2153920 h 2153920"/>
                <a:gd name="connsiteX1" fmla="*/ 7620 w 1381985"/>
                <a:gd name="connsiteY1" fmla="*/ 5080 h 2153920"/>
                <a:gd name="connsiteX2" fmla="*/ 688340 w 1381985"/>
                <a:gd name="connsiteY2" fmla="*/ 0 h 2153920"/>
                <a:gd name="connsiteX3" fmla="*/ 1376680 w 1381985"/>
                <a:gd name="connsiteY3" fmla="*/ 1064260 h 2153920"/>
                <a:gd name="connsiteX4" fmla="*/ 1381760 w 1381985"/>
                <a:gd name="connsiteY4" fmla="*/ 2151380 h 2153920"/>
                <a:gd name="connsiteX5" fmla="*/ 0 w 1381985"/>
                <a:gd name="connsiteY5" fmla="*/ 2153920 h 2153920"/>
                <a:gd name="connsiteX0" fmla="*/ 0 w 1381985"/>
                <a:gd name="connsiteY0" fmla="*/ 2151380 h 2151380"/>
                <a:gd name="connsiteX1" fmla="*/ 7620 w 1381985"/>
                <a:gd name="connsiteY1" fmla="*/ 2540 h 2151380"/>
                <a:gd name="connsiteX2" fmla="*/ 690880 w 1381985"/>
                <a:gd name="connsiteY2" fmla="*/ 0 h 2151380"/>
                <a:gd name="connsiteX3" fmla="*/ 1376680 w 1381985"/>
                <a:gd name="connsiteY3" fmla="*/ 1061720 h 2151380"/>
                <a:gd name="connsiteX4" fmla="*/ 1381760 w 1381985"/>
                <a:gd name="connsiteY4" fmla="*/ 2148840 h 2151380"/>
                <a:gd name="connsiteX5" fmla="*/ 0 w 1381985"/>
                <a:gd name="connsiteY5" fmla="*/ 2151380 h 215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985" h="2151380">
                  <a:moveTo>
                    <a:pt x="0" y="2151380"/>
                  </a:moveTo>
                  <a:cubicBezTo>
                    <a:pt x="1693" y="1436793"/>
                    <a:pt x="5927" y="717127"/>
                    <a:pt x="7620" y="2540"/>
                  </a:cubicBezTo>
                  <a:lnTo>
                    <a:pt x="690880" y="0"/>
                  </a:lnTo>
                  <a:lnTo>
                    <a:pt x="1376680" y="1061720"/>
                  </a:lnTo>
                  <a:cubicBezTo>
                    <a:pt x="1374987" y="1420707"/>
                    <a:pt x="1383453" y="1789853"/>
                    <a:pt x="1381760" y="2148840"/>
                  </a:cubicBezTo>
                  <a:lnTo>
                    <a:pt x="0" y="2151380"/>
                  </a:lnTo>
                  <a:close/>
                </a:path>
              </a:pathLst>
            </a:custGeom>
            <a:solidFill>
              <a:srgbClr val="BFBFB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Finding Optimal Solution</a:t>
            </a:r>
          </a:p>
        </p:txBody>
      </p:sp>
      <p:sp>
        <p:nvSpPr>
          <p:cNvPr id="6" name="Footer Placeholder 5">
            <a:extLst>
              <a:ext uri="{FF2B5EF4-FFF2-40B4-BE49-F238E27FC236}">
                <a16:creationId xmlns:a16="http://schemas.microsoft.com/office/drawing/2014/main" id="{90DB68BE-5C65-4A89-8703-B0D97F852D3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8" name="Oval 7">
            <a:extLst>
              <a:ext uri="{FF2B5EF4-FFF2-40B4-BE49-F238E27FC236}">
                <a16:creationId xmlns:a16="http://schemas.microsoft.com/office/drawing/2014/main" id="{8B4F6D62-D1AB-4F47-BE89-9E9EC98C8B9F}"/>
              </a:ext>
            </a:extLst>
          </p:cNvPr>
          <p:cNvSpPr/>
          <p:nvPr/>
        </p:nvSpPr>
        <p:spPr>
          <a:xfrm>
            <a:off x="2105494" y="3574133"/>
            <a:ext cx="152400" cy="152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314C795-D3B2-4300-B0FE-09D691944CEB}"/>
              </a:ext>
            </a:extLst>
          </p:cNvPr>
          <p:cNvCxnSpPr/>
          <p:nvPr/>
        </p:nvCxnSpPr>
        <p:spPr>
          <a:xfrm flipV="1">
            <a:off x="2654563" y="5269930"/>
            <a:ext cx="142875" cy="1905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38200" y="4363969"/>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90333" y="4332447"/>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b="0" i="1" dirty="0" smtClean="0">
                          <a:latin typeface="Cambria Math" panose="02040503050406030204" pitchFamily="18" charset="0"/>
                        </a:rPr>
                        <m:t>1</m:t>
                      </m:r>
                      <m:r>
                        <a:rPr lang="en-US" sz="1400" b="0" i="1" dirty="0" smtClean="0">
                          <a:latin typeface="Cambria Math" panose="02040503050406030204" pitchFamily="18" charset="0"/>
                        </a:rPr>
                        <m:t>5</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+5</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18" name="Rectangle 17"/>
              <p:cNvSpPr>
                <a:spLocks noRot="1" noChangeAspect="1" noMove="1" noResize="1" noEditPoints="1" noAdjustHandles="1" noChangeArrowheads="1" noChangeShapeType="1" noTextEdit="1"/>
              </p:cNvSpPr>
              <p:nvPr/>
            </p:nvSpPr>
            <p:spPr>
              <a:xfrm>
                <a:off x="-90333" y="4332447"/>
                <a:ext cx="1366129"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25368" y="3840046"/>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b="0" i="1" dirty="0" smtClean="0">
                          <a:latin typeface="Cambria Math" panose="02040503050406030204" pitchFamily="18" charset="0"/>
                        </a:rPr>
                        <m:t>20</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+5</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20" name="Rectangle 19"/>
              <p:cNvSpPr>
                <a:spLocks noRot="1" noChangeAspect="1" noMove="1" noResize="1" noEditPoints="1" noAdjustHandles="1" noChangeArrowheads="1" noChangeShapeType="1" noTextEdit="1"/>
              </p:cNvSpPr>
              <p:nvPr/>
            </p:nvSpPr>
            <p:spPr>
              <a:xfrm>
                <a:off x="-25368" y="3840046"/>
                <a:ext cx="1366129" cy="307777"/>
              </a:xfrm>
              <a:prstGeom prst="rect">
                <a:avLst/>
              </a:prstGeom>
              <a:blipFill>
                <a:blip r:embed="rId7"/>
                <a:stretch>
                  <a:fillRect/>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B314C795-D3B2-4300-B0FE-09D691944CEB}"/>
              </a:ext>
            </a:extLst>
          </p:cNvPr>
          <p:cNvCxnSpPr/>
          <p:nvPr/>
        </p:nvCxnSpPr>
        <p:spPr>
          <a:xfrm flipV="1">
            <a:off x="2247543" y="4592925"/>
            <a:ext cx="142875" cy="1905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p:cNvSpPr/>
              <p:nvPr/>
            </p:nvSpPr>
            <p:spPr>
              <a:xfrm>
                <a:off x="-47602" y="2658667"/>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i="1" dirty="0" smtClean="0">
                          <a:latin typeface="Cambria Math" panose="02040503050406030204" pitchFamily="18" charset="0"/>
                        </a:rPr>
                        <m:t>3</m:t>
                      </m:r>
                      <m:r>
                        <a:rPr lang="tr-TR" sz="1400" b="0" i="1" dirty="0" smtClean="0">
                          <a:latin typeface="Cambria Math" panose="02040503050406030204" pitchFamily="18" charset="0"/>
                        </a:rPr>
                        <m:t>6</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+5</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68" name="Rectangle 67"/>
              <p:cNvSpPr>
                <a:spLocks noRot="1" noChangeAspect="1" noMove="1" noResize="1" noEditPoints="1" noAdjustHandles="1" noChangeArrowheads="1" noChangeShapeType="1" noTextEdit="1"/>
              </p:cNvSpPr>
              <p:nvPr/>
            </p:nvSpPr>
            <p:spPr>
              <a:xfrm>
                <a:off x="-47602" y="2658667"/>
                <a:ext cx="1366129"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23079FBB-C9E0-4192-95C8-63703465D054}"/>
                  </a:ext>
                </a:extLst>
              </p:cNvPr>
              <p:cNvSpPr txBox="1"/>
              <p:nvPr/>
            </p:nvSpPr>
            <p:spPr>
              <a:xfrm>
                <a:off x="6748577" y="1828800"/>
                <a:ext cx="4320301"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t>The optimal solution can be found by sliding the profit function </a:t>
                </a:r>
                <a14:m>
                  <m:oMath xmlns:m="http://schemas.openxmlformats.org/officeDocument/2006/math">
                    <m:r>
                      <a:rPr lang="en-US" sz="2200" i="1" dirty="0" smtClean="0">
                        <a:latin typeface="Cambria Math" panose="02040503050406030204" pitchFamily="18" charset="0"/>
                      </a:rPr>
                      <m:t>𝑧</m:t>
                    </m:r>
                    <m:r>
                      <a:rPr lang="en-US" sz="2200" i="1" dirty="0" smtClean="0">
                        <a:latin typeface="Cambria Math" panose="02040503050406030204" pitchFamily="18" charset="0"/>
                      </a:rPr>
                      <m:t> = 3</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𝑥</m:t>
                        </m:r>
                      </m:e>
                      <m:sub>
                        <m:r>
                          <a:rPr lang="en-US" sz="2200" i="1" dirty="0" smtClean="0">
                            <a:latin typeface="Cambria Math" panose="02040503050406030204" pitchFamily="18" charset="0"/>
                          </a:rPr>
                          <m:t>1</m:t>
                        </m:r>
                      </m:sub>
                    </m:sSub>
                    <m:r>
                      <a:rPr lang="en-US" sz="2200" i="1" dirty="0" smtClean="0">
                        <a:latin typeface="Cambria Math" panose="02040503050406030204" pitchFamily="18" charset="0"/>
                      </a:rPr>
                      <m:t>+5</m:t>
                    </m:r>
                    <m:sSub>
                      <m:sSubPr>
                        <m:ctrlPr>
                          <a:rPr lang="tr-TR" sz="2200" b="0" i="1" dirty="0" smtClean="0">
                            <a:latin typeface="Cambria Math" panose="02040503050406030204" pitchFamily="18" charset="0"/>
                          </a:rPr>
                        </m:ctrlPr>
                      </m:sSubPr>
                      <m:e>
                        <m:r>
                          <a:rPr lang="en-US" sz="2200" i="1" dirty="0" smtClean="0">
                            <a:latin typeface="Cambria Math" panose="02040503050406030204" pitchFamily="18" charset="0"/>
                          </a:rPr>
                          <m:t>𝑥</m:t>
                        </m:r>
                      </m:e>
                      <m:sub>
                        <m:r>
                          <a:rPr lang="en-US" sz="2200" i="1" dirty="0" smtClean="0">
                            <a:latin typeface="Cambria Math" panose="02040503050406030204" pitchFamily="18" charset="0"/>
                          </a:rPr>
                          <m:t>2</m:t>
                        </m:r>
                      </m:sub>
                    </m:sSub>
                  </m:oMath>
                </a14:m>
                <a:r>
                  <a:rPr lang="tr-TR" sz="2200" dirty="0"/>
                  <a:t> </a:t>
                </a:r>
                <a:r>
                  <a:rPr lang="en-US" sz="2200" dirty="0"/>
                  <a:t>for increasing values of </a:t>
                </a:r>
                <a14:m>
                  <m:oMath xmlns:m="http://schemas.openxmlformats.org/officeDocument/2006/math">
                    <m:r>
                      <a:rPr lang="en-US" sz="2200" i="1" dirty="0" smtClean="0">
                        <a:latin typeface="Cambria Math" panose="02040503050406030204" pitchFamily="18" charset="0"/>
                      </a:rPr>
                      <m:t>𝑧</m:t>
                    </m:r>
                  </m:oMath>
                </a14:m>
                <a:r>
                  <a:rPr lang="en-US" sz="2200" dirty="0"/>
                  <a:t>. </a:t>
                </a:r>
                <a:endParaRPr lang="tr-TR" sz="2200" dirty="0"/>
              </a:p>
              <a:p>
                <a:pPr marL="342900" indent="-342900">
                  <a:buFont typeface="Arial" panose="020B0604020202020204" pitchFamily="34" charset="0"/>
                  <a:buChar char="•"/>
                </a:pPr>
                <a:r>
                  <a:rPr lang="tr-TR" sz="2200" dirty="0"/>
                  <a:t>T</a:t>
                </a:r>
                <a:r>
                  <a:rPr lang="en-US" sz="2200" dirty="0"/>
                  <a:t>he lines we obtain as such are called </a:t>
                </a:r>
                <a:r>
                  <a:rPr lang="en-US" sz="2200" b="1" dirty="0" err="1"/>
                  <a:t>iso</a:t>
                </a:r>
                <a:r>
                  <a:rPr lang="en-US" sz="2200" b="1" dirty="0"/>
                  <a:t>-profit lines</a:t>
                </a:r>
                <a:r>
                  <a:rPr lang="en-US" sz="2200" dirty="0"/>
                  <a:t> or contour lines</a:t>
                </a:r>
                <a:r>
                  <a:rPr lang="tr-TR" sz="2200" dirty="0"/>
                  <a:t>.</a:t>
                </a:r>
              </a:p>
              <a:p>
                <a:pPr marL="342900" indent="-342900">
                  <a:buFont typeface="Arial" panose="020B0604020202020204" pitchFamily="34" charset="0"/>
                  <a:buChar char="•"/>
                </a:pPr>
                <a:r>
                  <a:rPr lang="tr-TR" sz="2200" dirty="0"/>
                  <a:t>The optimal solution is </a:t>
                </a:r>
                <a:endParaRPr lang="tr-TR" sz="22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tr-TR" sz="2200" b="0" i="1" smtClean="0">
                              <a:latin typeface="Cambria Math" panose="02040503050406030204" pitchFamily="18" charset="0"/>
                            </a:rPr>
                          </m:ctrlPr>
                        </m:sSubSupPr>
                        <m:e>
                          <m:r>
                            <a:rPr lang="tr-TR" sz="2200" b="0" i="1" smtClean="0">
                              <a:latin typeface="Cambria Math" panose="02040503050406030204" pitchFamily="18" charset="0"/>
                            </a:rPr>
                            <m:t>𝑥</m:t>
                          </m:r>
                        </m:e>
                        <m:sub>
                          <m:r>
                            <a:rPr lang="tr-TR" sz="2200" b="0" i="1" smtClean="0">
                              <a:latin typeface="Cambria Math" panose="02040503050406030204" pitchFamily="18" charset="0"/>
                            </a:rPr>
                            <m:t>1</m:t>
                          </m:r>
                        </m:sub>
                        <m:sup>
                          <m:r>
                            <a:rPr lang="tr-TR" sz="2200" b="0" i="1" smtClean="0">
                              <a:latin typeface="Cambria Math" panose="02040503050406030204" pitchFamily="18" charset="0"/>
                            </a:rPr>
                            <m:t>∗</m:t>
                          </m:r>
                        </m:sup>
                      </m:sSubSup>
                      <m:r>
                        <a:rPr lang="tr-TR" sz="2200" b="0" i="1" smtClean="0">
                          <a:latin typeface="Cambria Math" panose="02040503050406030204" pitchFamily="18" charset="0"/>
                        </a:rPr>
                        <m:t>=2, </m:t>
                      </m:r>
                      <m:sSubSup>
                        <m:sSubSupPr>
                          <m:ctrlPr>
                            <a:rPr lang="tr-TR" sz="2200" b="0" i="1" smtClean="0">
                              <a:latin typeface="Cambria Math" panose="02040503050406030204" pitchFamily="18" charset="0"/>
                            </a:rPr>
                          </m:ctrlPr>
                        </m:sSubSupPr>
                        <m:e>
                          <m:r>
                            <a:rPr lang="tr-TR" sz="2200" b="0" i="1" smtClean="0">
                              <a:latin typeface="Cambria Math" panose="02040503050406030204" pitchFamily="18" charset="0"/>
                            </a:rPr>
                            <m:t>𝑥</m:t>
                          </m:r>
                        </m:e>
                        <m:sub>
                          <m:r>
                            <a:rPr lang="tr-TR" sz="2200" b="0" i="1" smtClean="0">
                              <a:latin typeface="Cambria Math" panose="02040503050406030204" pitchFamily="18" charset="0"/>
                            </a:rPr>
                            <m:t>2</m:t>
                          </m:r>
                        </m:sub>
                        <m:sup>
                          <m:r>
                            <a:rPr lang="tr-TR" sz="2200" b="0" i="1" smtClean="0">
                              <a:latin typeface="Cambria Math" panose="02040503050406030204" pitchFamily="18" charset="0"/>
                            </a:rPr>
                            <m:t>∗</m:t>
                          </m:r>
                        </m:sup>
                      </m:sSubSup>
                      <m:r>
                        <a:rPr lang="tr-TR" sz="2200" b="0" i="0" smtClean="0">
                          <a:latin typeface="Cambria Math" panose="02040503050406030204" pitchFamily="18" charset="0"/>
                        </a:rPr>
                        <m:t>=6</m:t>
                      </m:r>
                    </m:oMath>
                  </m:oMathPara>
                </a14:m>
                <a:endParaRPr lang="tr-TR" sz="2200" b="0" dirty="0"/>
              </a:p>
              <a:p>
                <a:pPr marL="342900" indent="-342900">
                  <a:buFont typeface="Arial" panose="020B0604020202020204" pitchFamily="34" charset="0"/>
                  <a:buChar char="•"/>
                </a:pPr>
                <a:r>
                  <a:rPr lang="tr-TR" sz="2200" b="0" dirty="0"/>
                  <a:t>The optimal value of </a:t>
                </a:r>
                <a14:m>
                  <m:oMath xmlns:m="http://schemas.openxmlformats.org/officeDocument/2006/math">
                    <m:sSup>
                      <m:sSupPr>
                        <m:ctrlPr>
                          <a:rPr lang="tr-TR" sz="2200" b="0" i="1" smtClean="0">
                            <a:latin typeface="Cambria Math" panose="02040503050406030204" pitchFamily="18" charset="0"/>
                          </a:rPr>
                        </m:ctrlPr>
                      </m:sSupPr>
                      <m:e>
                        <m:r>
                          <a:rPr lang="tr-TR" sz="2200" b="0" i="1" smtClean="0">
                            <a:latin typeface="Cambria Math" panose="02040503050406030204" pitchFamily="18" charset="0"/>
                          </a:rPr>
                          <m:t>𝑧</m:t>
                        </m:r>
                      </m:e>
                      <m:sup>
                        <m:r>
                          <a:rPr lang="tr-TR" sz="2200" b="0" i="1" smtClean="0">
                            <a:latin typeface="Cambria Math" panose="02040503050406030204" pitchFamily="18" charset="0"/>
                          </a:rPr>
                          <m:t>∗</m:t>
                        </m:r>
                      </m:sup>
                    </m:sSup>
                    <m:r>
                      <a:rPr lang="tr-TR" sz="2200" b="0" i="1" smtClean="0">
                        <a:latin typeface="Cambria Math" panose="02040503050406030204" pitchFamily="18" charset="0"/>
                      </a:rPr>
                      <m:t>=36</m:t>
                    </m:r>
                  </m:oMath>
                </a14:m>
                <a:r>
                  <a:rPr lang="tr-TR" sz="2200" b="0" dirty="0"/>
                  <a:t>.</a:t>
                </a:r>
              </a:p>
            </p:txBody>
          </p:sp>
        </mc:Choice>
        <mc:Fallback xmlns="">
          <p:sp>
            <p:nvSpPr>
              <p:cNvPr id="69" name="TextBox 68">
                <a:extLst>
                  <a:ext uri="{FF2B5EF4-FFF2-40B4-BE49-F238E27FC236}">
                    <a16:creationId xmlns:a16="http://schemas.microsoft.com/office/drawing/2014/main" id="{23079FBB-C9E0-4192-95C8-63703465D054}"/>
                  </a:ext>
                </a:extLst>
              </p:cNvPr>
              <p:cNvSpPr txBox="1">
                <a:spLocks noRot="1" noChangeAspect="1" noMove="1" noResize="1" noEditPoints="1" noAdjustHandles="1" noChangeArrowheads="1" noChangeShapeType="1" noTextEdit="1"/>
              </p:cNvSpPr>
              <p:nvPr/>
            </p:nvSpPr>
            <p:spPr>
              <a:xfrm>
                <a:off x="6748577" y="1828800"/>
                <a:ext cx="4320301" cy="3477875"/>
              </a:xfrm>
              <a:prstGeom prst="rect">
                <a:avLst/>
              </a:prstGeom>
              <a:blipFill>
                <a:blip r:embed="rId9"/>
                <a:stretch>
                  <a:fillRect l="-1551" t="-1226" b="-2452"/>
                </a:stretch>
              </a:blipFill>
            </p:spPr>
            <p:txBody>
              <a:bodyPr/>
              <a:lstStyle/>
              <a:p>
                <a:r>
                  <a:rPr lang="en-US">
                    <a:noFill/>
                  </a:rPr>
                  <a:t> </a:t>
                </a:r>
              </a:p>
            </p:txBody>
          </p:sp>
        </mc:Fallback>
      </mc:AlternateContent>
      <p:cxnSp>
        <p:nvCxnSpPr>
          <p:cNvPr id="70" name="Straight Connector 69"/>
          <p:cNvCxnSpPr/>
          <p:nvPr/>
        </p:nvCxnSpPr>
        <p:spPr>
          <a:xfrm>
            <a:off x="1098145" y="4109394"/>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098145" y="2993165"/>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8A2B897-F005-4FA7-B6FD-540BC23956CC}"/>
              </a:ext>
            </a:extLst>
          </p:cNvPr>
          <p:cNvCxnSpPr/>
          <p:nvPr/>
        </p:nvCxnSpPr>
        <p:spPr>
          <a:xfrm flipV="1">
            <a:off x="1957498" y="5174669"/>
            <a:ext cx="142875" cy="1905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7E1E5D4-8CF1-49C1-9FBA-4C5037D5AD72}"/>
              </a:ext>
            </a:extLst>
          </p:cNvPr>
          <p:cNvCxnSpPr/>
          <p:nvPr/>
        </p:nvCxnSpPr>
        <p:spPr>
          <a:xfrm>
            <a:off x="873044" y="4726853"/>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F8429DD1-A923-43CF-A196-25A17F31E805}"/>
                  </a:ext>
                </a:extLst>
              </p:cNvPr>
              <p:cNvSpPr/>
              <p:nvPr/>
            </p:nvSpPr>
            <p:spPr>
              <a:xfrm>
                <a:off x="-45283" y="4816793"/>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b="0" i="1" dirty="0" smtClean="0">
                          <a:latin typeface="Cambria Math" panose="02040503050406030204" pitchFamily="18" charset="0"/>
                        </a:rPr>
                        <m:t>1</m:t>
                      </m:r>
                      <m:r>
                        <a:rPr lang="en-US" sz="1400" b="0" i="1" dirty="0" smtClean="0">
                          <a:latin typeface="Cambria Math" panose="02040503050406030204" pitchFamily="18" charset="0"/>
                        </a:rPr>
                        <m:t>0</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+5</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28" name="Rectangle 27">
                <a:extLst>
                  <a:ext uri="{FF2B5EF4-FFF2-40B4-BE49-F238E27FC236}">
                    <a16:creationId xmlns:a16="http://schemas.microsoft.com/office/drawing/2014/main" id="{F8429DD1-A923-43CF-A196-25A17F31E805}"/>
                  </a:ext>
                </a:extLst>
              </p:cNvPr>
              <p:cNvSpPr>
                <a:spLocks noRot="1" noChangeAspect="1" noMove="1" noResize="1" noEditPoints="1" noAdjustHandles="1" noChangeArrowheads="1" noChangeShapeType="1" noTextEdit="1"/>
              </p:cNvSpPr>
              <p:nvPr/>
            </p:nvSpPr>
            <p:spPr>
              <a:xfrm>
                <a:off x="-45283" y="4816793"/>
                <a:ext cx="1366129" cy="307777"/>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828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p:bldP spid="20" grpId="0"/>
      <p:bldP spid="68" grpId="0"/>
      <p:bldP spid="69"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075911" y="1631176"/>
            <a:ext cx="4549153" cy="4617224"/>
            <a:chOff x="1075911" y="1631176"/>
            <a:chExt cx="4549153" cy="4617224"/>
          </a:xfrm>
        </p:grpSpPr>
        <p:grpSp>
          <p:nvGrpSpPr>
            <p:cNvPr id="14" name="Group 13"/>
            <p:cNvGrpSpPr/>
            <p:nvPr/>
          </p:nvGrpSpPr>
          <p:grpSpPr>
            <a:xfrm>
              <a:off x="1075911" y="1631176"/>
              <a:ext cx="4549153" cy="4617224"/>
              <a:chOff x="1075911" y="1631176"/>
              <a:chExt cx="4549153" cy="4617224"/>
            </a:xfrm>
          </p:grpSpPr>
          <p:pic>
            <p:nvPicPr>
              <p:cNvPr id="16" name="Picture 15"/>
              <p:cNvPicPr>
                <a:picLocks noChangeAspect="1"/>
              </p:cNvPicPr>
              <p:nvPr/>
            </p:nvPicPr>
            <p:blipFill>
              <a:blip r:embed="rId2"/>
              <a:stretch>
                <a:fillRect/>
              </a:stretch>
            </p:blipFill>
            <p:spPr>
              <a:xfrm>
                <a:off x="1075911" y="1631176"/>
                <a:ext cx="4549153" cy="4528723"/>
              </a:xfrm>
              <a:prstGeom prst="rect">
                <a:avLst/>
              </a:prstGeom>
            </p:spPr>
          </p:pic>
          <p:cxnSp>
            <p:nvCxnSpPr>
              <p:cNvPr id="17" name="Straight Connector 16"/>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9" name="Rectangle 18"/>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20" name="Rectangle 19"/>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4"/>
                    <a:stretch>
                      <a:fillRect/>
                    </a:stretch>
                  </a:blipFill>
                </p:spPr>
                <p:txBody>
                  <a:bodyPr/>
                  <a:lstStyle/>
                  <a:p>
                    <a:r>
                      <a:rPr lang="en-US">
                        <a:noFill/>
                      </a:rPr>
                      <a:t> </a:t>
                    </a:r>
                  </a:p>
                </p:txBody>
              </p:sp>
            </mc:Fallback>
          </mc:AlternateContent>
          <p:cxnSp>
            <p:nvCxnSpPr>
              <p:cNvPr id="22" name="Straight Connector 21"/>
              <p:cNvCxnSpPr/>
              <p:nvPr/>
            </p:nvCxnSpPr>
            <p:spPr>
              <a:xfrm>
                <a:off x="1310640" y="2326640"/>
                <a:ext cx="2560320" cy="3921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p:cNvSpPr/>
                  <p:nvPr/>
                </p:nvSpPr>
                <p:spPr>
                  <a:xfrm>
                    <a:off x="3318160" y="5282189"/>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+2</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=18</m:t>
                          </m:r>
                        </m:oMath>
                      </m:oMathPara>
                    </a14:m>
                    <a:endParaRPr lang="en-US" sz="1400" dirty="0"/>
                  </a:p>
                </p:txBody>
              </p:sp>
            </mc:Choice>
            <mc:Fallback xmlns="">
              <p:sp>
                <p:nvSpPr>
                  <p:cNvPr id="23" name="Rectangle 22"/>
                  <p:cNvSpPr>
                    <a:spLocks noRot="1" noChangeAspect="1" noMove="1" noResize="1" noEditPoints="1" noAdjustHandles="1" noChangeArrowheads="1" noChangeShapeType="1" noTextEdit="1"/>
                  </p:cNvSpPr>
                  <p:nvPr/>
                </p:nvSpPr>
                <p:spPr>
                  <a:xfrm>
                    <a:off x="3318160" y="5282189"/>
                    <a:ext cx="1421415" cy="307777"/>
                  </a:xfrm>
                  <a:prstGeom prst="rect">
                    <a:avLst/>
                  </a:prstGeom>
                  <a:blipFill>
                    <a:blip r:embed="rId5"/>
                    <a:stretch>
                      <a:fillRect/>
                    </a:stretch>
                  </a:blipFill>
                </p:spPr>
                <p:txBody>
                  <a:bodyPr/>
                  <a:lstStyle/>
                  <a:p>
                    <a:r>
                      <a:rPr lang="en-US">
                        <a:noFill/>
                      </a:rPr>
                      <a:t> </a:t>
                    </a:r>
                  </a:p>
                </p:txBody>
              </p:sp>
            </mc:Fallback>
          </mc:AlternateContent>
        </p:grpSp>
        <p:sp>
          <p:nvSpPr>
            <p:cNvPr id="15" name="Freeform 14"/>
            <p:cNvSpPr/>
            <p:nvPr/>
          </p:nvSpPr>
          <p:spPr>
            <a:xfrm>
              <a:off x="1490980" y="3660140"/>
              <a:ext cx="1381985" cy="2151380"/>
            </a:xfrm>
            <a:custGeom>
              <a:avLst/>
              <a:gdLst>
                <a:gd name="connsiteX0" fmla="*/ 0 w 1371600"/>
                <a:gd name="connsiteY0" fmla="*/ 2148840 h 2153920"/>
                <a:gd name="connsiteX1" fmla="*/ 5080 w 1371600"/>
                <a:gd name="connsiteY1" fmla="*/ 5080 h 2153920"/>
                <a:gd name="connsiteX2" fmla="*/ 685800 w 1371600"/>
                <a:gd name="connsiteY2" fmla="*/ 0 h 2153920"/>
                <a:gd name="connsiteX3" fmla="*/ 1371600 w 1371600"/>
                <a:gd name="connsiteY3" fmla="*/ 1076960 h 2153920"/>
                <a:gd name="connsiteX4" fmla="*/ 1366520 w 1371600"/>
                <a:gd name="connsiteY4" fmla="*/ 2153920 h 2153920"/>
                <a:gd name="connsiteX5" fmla="*/ 0 w 1371600"/>
                <a:gd name="connsiteY5" fmla="*/ 2148840 h 2153920"/>
                <a:gd name="connsiteX0" fmla="*/ 0 w 1374140"/>
                <a:gd name="connsiteY0" fmla="*/ 2153920 h 2153920"/>
                <a:gd name="connsiteX1" fmla="*/ 7620 w 1374140"/>
                <a:gd name="connsiteY1" fmla="*/ 5080 h 2153920"/>
                <a:gd name="connsiteX2" fmla="*/ 688340 w 1374140"/>
                <a:gd name="connsiteY2" fmla="*/ 0 h 2153920"/>
                <a:gd name="connsiteX3" fmla="*/ 1374140 w 1374140"/>
                <a:gd name="connsiteY3" fmla="*/ 1076960 h 2153920"/>
                <a:gd name="connsiteX4" fmla="*/ 1369060 w 1374140"/>
                <a:gd name="connsiteY4" fmla="*/ 2153920 h 2153920"/>
                <a:gd name="connsiteX5" fmla="*/ 0 w 1374140"/>
                <a:gd name="connsiteY5" fmla="*/ 2153920 h 2153920"/>
                <a:gd name="connsiteX0" fmla="*/ 0 w 1384446"/>
                <a:gd name="connsiteY0" fmla="*/ 2153920 h 2156460"/>
                <a:gd name="connsiteX1" fmla="*/ 7620 w 1384446"/>
                <a:gd name="connsiteY1" fmla="*/ 5080 h 2156460"/>
                <a:gd name="connsiteX2" fmla="*/ 688340 w 1384446"/>
                <a:gd name="connsiteY2" fmla="*/ 0 h 2156460"/>
                <a:gd name="connsiteX3" fmla="*/ 1374140 w 1384446"/>
                <a:gd name="connsiteY3" fmla="*/ 1076960 h 2156460"/>
                <a:gd name="connsiteX4" fmla="*/ 1384300 w 1384446"/>
                <a:gd name="connsiteY4" fmla="*/ 2156460 h 2156460"/>
                <a:gd name="connsiteX5" fmla="*/ 0 w 1384446"/>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74420 h 2156460"/>
                <a:gd name="connsiteX4" fmla="*/ 1384300 w 1384477"/>
                <a:gd name="connsiteY4" fmla="*/ 2156460 h 2156460"/>
                <a:gd name="connsiteX5" fmla="*/ 0 w 1384477"/>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64260 h 2156460"/>
                <a:gd name="connsiteX4" fmla="*/ 1384300 w 1384477"/>
                <a:gd name="connsiteY4" fmla="*/ 2156460 h 2156460"/>
                <a:gd name="connsiteX5" fmla="*/ 0 w 1384477"/>
                <a:gd name="connsiteY5" fmla="*/ 2153920 h 2156460"/>
                <a:gd name="connsiteX0" fmla="*/ 0 w 1381985"/>
                <a:gd name="connsiteY0" fmla="*/ 2153920 h 2153920"/>
                <a:gd name="connsiteX1" fmla="*/ 7620 w 1381985"/>
                <a:gd name="connsiteY1" fmla="*/ 5080 h 2153920"/>
                <a:gd name="connsiteX2" fmla="*/ 688340 w 1381985"/>
                <a:gd name="connsiteY2" fmla="*/ 0 h 2153920"/>
                <a:gd name="connsiteX3" fmla="*/ 1376680 w 1381985"/>
                <a:gd name="connsiteY3" fmla="*/ 1064260 h 2153920"/>
                <a:gd name="connsiteX4" fmla="*/ 1381760 w 1381985"/>
                <a:gd name="connsiteY4" fmla="*/ 2151380 h 2153920"/>
                <a:gd name="connsiteX5" fmla="*/ 0 w 1381985"/>
                <a:gd name="connsiteY5" fmla="*/ 2153920 h 2153920"/>
                <a:gd name="connsiteX0" fmla="*/ 0 w 1381985"/>
                <a:gd name="connsiteY0" fmla="*/ 2151380 h 2151380"/>
                <a:gd name="connsiteX1" fmla="*/ 7620 w 1381985"/>
                <a:gd name="connsiteY1" fmla="*/ 2540 h 2151380"/>
                <a:gd name="connsiteX2" fmla="*/ 690880 w 1381985"/>
                <a:gd name="connsiteY2" fmla="*/ 0 h 2151380"/>
                <a:gd name="connsiteX3" fmla="*/ 1376680 w 1381985"/>
                <a:gd name="connsiteY3" fmla="*/ 1061720 h 2151380"/>
                <a:gd name="connsiteX4" fmla="*/ 1381760 w 1381985"/>
                <a:gd name="connsiteY4" fmla="*/ 2148840 h 2151380"/>
                <a:gd name="connsiteX5" fmla="*/ 0 w 1381985"/>
                <a:gd name="connsiteY5" fmla="*/ 2151380 h 215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985" h="2151380">
                  <a:moveTo>
                    <a:pt x="0" y="2151380"/>
                  </a:moveTo>
                  <a:cubicBezTo>
                    <a:pt x="1693" y="1436793"/>
                    <a:pt x="5927" y="717127"/>
                    <a:pt x="7620" y="2540"/>
                  </a:cubicBezTo>
                  <a:lnTo>
                    <a:pt x="690880" y="0"/>
                  </a:lnTo>
                  <a:lnTo>
                    <a:pt x="1376680" y="1061720"/>
                  </a:lnTo>
                  <a:cubicBezTo>
                    <a:pt x="1374987" y="1420707"/>
                    <a:pt x="1383453" y="1789853"/>
                    <a:pt x="1381760" y="2148840"/>
                  </a:cubicBezTo>
                  <a:lnTo>
                    <a:pt x="0" y="2151380"/>
                  </a:lnTo>
                  <a:close/>
                </a:path>
              </a:pathLst>
            </a:custGeom>
            <a:solidFill>
              <a:srgbClr val="BFBFB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normAutofit/>
          </a:bodyPr>
          <a:lstStyle/>
          <a:p>
            <a:r>
              <a:rPr lang="en-US" dirty="0"/>
              <a:t>Extreme Points – Binding Constraints</a:t>
            </a:r>
          </a:p>
        </p:txBody>
      </p:sp>
      <p:sp>
        <p:nvSpPr>
          <p:cNvPr id="4" name="Footer Placeholder 3">
            <a:extLst>
              <a:ext uri="{FF2B5EF4-FFF2-40B4-BE49-F238E27FC236}">
                <a16:creationId xmlns:a16="http://schemas.microsoft.com/office/drawing/2014/main" id="{37458343-D346-493A-9BDE-A2B9ACB2A3CE}"/>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Oval 2">
            <a:extLst>
              <a:ext uri="{FF2B5EF4-FFF2-40B4-BE49-F238E27FC236}">
                <a16:creationId xmlns:a16="http://schemas.microsoft.com/office/drawing/2014/main" id="{D11C5527-0AD7-4431-B841-FA093296BFB5}"/>
              </a:ext>
            </a:extLst>
          </p:cNvPr>
          <p:cNvSpPr/>
          <p:nvPr/>
        </p:nvSpPr>
        <p:spPr>
          <a:xfrm>
            <a:off x="1407385" y="3586069"/>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B4F6D62-D1AB-4F47-BE89-9E9EC98C8B9F}"/>
              </a:ext>
            </a:extLst>
          </p:cNvPr>
          <p:cNvSpPr/>
          <p:nvPr/>
        </p:nvSpPr>
        <p:spPr>
          <a:xfrm>
            <a:off x="2100412" y="3582671"/>
            <a:ext cx="152400" cy="1524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Oval 8">
            <a:extLst>
              <a:ext uri="{FF2B5EF4-FFF2-40B4-BE49-F238E27FC236}">
                <a16:creationId xmlns:a16="http://schemas.microsoft.com/office/drawing/2014/main" id="{C818ED37-D129-4C76-84C2-9B30E225B60A}"/>
              </a:ext>
            </a:extLst>
          </p:cNvPr>
          <p:cNvSpPr/>
          <p:nvPr/>
        </p:nvSpPr>
        <p:spPr>
          <a:xfrm>
            <a:off x="2782542" y="465582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BC209F3-1B09-4D73-AA02-88403BDB0068}"/>
              </a:ext>
            </a:extLst>
          </p:cNvPr>
          <p:cNvSpPr/>
          <p:nvPr/>
        </p:nvSpPr>
        <p:spPr>
          <a:xfrm>
            <a:off x="2794819" y="57277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06E934D-1D61-4DD0-A1EE-35DF68F146A2}"/>
              </a:ext>
            </a:extLst>
          </p:cNvPr>
          <p:cNvSpPr/>
          <p:nvPr/>
        </p:nvSpPr>
        <p:spPr>
          <a:xfrm>
            <a:off x="1414780" y="572623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3079FBB-C9E0-4192-95C8-63703465D054}"/>
              </a:ext>
            </a:extLst>
          </p:cNvPr>
          <p:cNvSpPr txBox="1"/>
          <p:nvPr/>
        </p:nvSpPr>
        <p:spPr>
          <a:xfrm>
            <a:off x="6748577" y="1828800"/>
            <a:ext cx="4320301" cy="3416320"/>
          </a:xfrm>
          <a:prstGeom prst="rect">
            <a:avLst/>
          </a:prstGeom>
          <a:noFill/>
        </p:spPr>
        <p:txBody>
          <a:bodyPr wrap="square" rtlCol="0">
            <a:spAutoFit/>
          </a:bodyPr>
          <a:lstStyle/>
          <a:p>
            <a:pPr marL="342900" indent="-342900">
              <a:buFont typeface="Arial" panose="020B0604020202020204" pitchFamily="34" charset="0"/>
              <a:buChar char="•"/>
            </a:pPr>
            <a:r>
              <a:rPr lang="en-US" sz="2400" b="1" dirty="0"/>
              <a:t>Extreme Points: </a:t>
            </a:r>
            <a:r>
              <a:rPr lang="en-US" sz="2400" dirty="0"/>
              <a:t>Corner points that are the intersection of boundary lines</a:t>
            </a:r>
          </a:p>
          <a:p>
            <a:pPr marL="342900" indent="-342900">
              <a:buFont typeface="Arial" panose="020B0604020202020204" pitchFamily="34" charset="0"/>
              <a:buChar char="•"/>
            </a:pPr>
            <a:r>
              <a:rPr lang="en-US" sz="2400" dirty="0"/>
              <a:t>LP problem has finite number of extreme points</a:t>
            </a:r>
          </a:p>
          <a:p>
            <a:pPr marL="342900" indent="-342900">
              <a:buFont typeface="Arial" panose="020B0604020202020204" pitchFamily="34" charset="0"/>
              <a:buChar char="•"/>
            </a:pPr>
            <a:r>
              <a:rPr lang="en-US" sz="2400" dirty="0"/>
              <a:t>There exists an optimal solution at an extreme point</a:t>
            </a:r>
          </a:p>
          <a:p>
            <a:pPr marL="342900" indent="-342900">
              <a:buFont typeface="Arial" panose="020B0604020202020204" pitchFamily="34" charset="0"/>
              <a:buChar char="•"/>
            </a:pPr>
            <a:r>
              <a:rPr lang="en-US" sz="2400" dirty="0"/>
              <a:t>Feasible Region is a convex set</a:t>
            </a:r>
          </a:p>
          <a:p>
            <a:endParaRPr lang="en-US" sz="2400" dirty="0"/>
          </a:p>
        </p:txBody>
      </p:sp>
    </p:spTree>
    <p:extLst>
      <p:ext uri="{BB962C8B-B14F-4D97-AF65-F5344CB8AC3E}">
        <p14:creationId xmlns:p14="http://schemas.microsoft.com/office/powerpoint/2010/main" val="334763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3" name="Content Placeholder 2"/>
          <p:cNvSpPr>
            <a:spLocks noGrp="1"/>
          </p:cNvSpPr>
          <p:nvPr>
            <p:ph idx="1"/>
          </p:nvPr>
        </p:nvSpPr>
        <p:spPr/>
        <p:txBody>
          <a:bodyPr>
            <a:normAutofit/>
          </a:bodyPr>
          <a:lstStyle/>
          <a:p>
            <a:pPr marL="114300" indent="0">
              <a:buNone/>
            </a:pPr>
            <a:r>
              <a:rPr lang="en-US" b="1" dirty="0">
                <a:solidFill>
                  <a:srgbClr val="FF6700"/>
                </a:solidFill>
              </a:rPr>
              <a:t>DEFINITION 4: CONVEX AND NON-CONVEX (CONCAVE) SETS</a:t>
            </a:r>
            <a:endParaRPr lang="en-US" dirty="0"/>
          </a:p>
          <a:p>
            <a:r>
              <a:rPr lang="en-US" dirty="0"/>
              <a:t>Set of points </a:t>
            </a:r>
            <a:r>
              <a:rPr lang="en-US" b="1" i="1" dirty="0"/>
              <a:t>S </a:t>
            </a:r>
            <a:r>
              <a:rPr lang="en-US" dirty="0"/>
              <a:t>is called a convex set if the line segment joining any pair of points in </a:t>
            </a:r>
            <a:r>
              <a:rPr lang="en-US" b="1" i="1" dirty="0"/>
              <a:t>S </a:t>
            </a:r>
            <a:r>
              <a:rPr lang="en-US" dirty="0"/>
              <a:t>is wholly contained in </a:t>
            </a:r>
            <a:r>
              <a:rPr lang="en-US" b="1" i="1" dirty="0"/>
              <a:t>S</a:t>
            </a:r>
            <a:r>
              <a:rPr lang="en-US" dirty="0"/>
              <a:t>. </a:t>
            </a:r>
          </a:p>
        </p:txBody>
      </p:sp>
      <p:sp>
        <p:nvSpPr>
          <p:cNvPr id="4" name="Footer Placeholder 3">
            <a:extLst>
              <a:ext uri="{FF2B5EF4-FFF2-40B4-BE49-F238E27FC236}">
                <a16:creationId xmlns:a16="http://schemas.microsoft.com/office/drawing/2014/main" id="{911770D3-ECC6-4CFC-9AC2-2965824C99F6}"/>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5" name="Picture 4"/>
          <p:cNvPicPr>
            <a:picLocks noChangeAspect="1"/>
          </p:cNvPicPr>
          <p:nvPr/>
        </p:nvPicPr>
        <p:blipFill>
          <a:blip r:embed="rId2"/>
          <a:stretch>
            <a:fillRect/>
          </a:stretch>
        </p:blipFill>
        <p:spPr>
          <a:xfrm>
            <a:off x="1419225" y="3343276"/>
            <a:ext cx="8538352" cy="2280931"/>
          </a:xfrm>
          <a:prstGeom prst="rect">
            <a:avLst/>
          </a:prstGeom>
        </p:spPr>
      </p:pic>
    </p:spTree>
    <p:extLst>
      <p:ext uri="{BB962C8B-B14F-4D97-AF65-F5344CB8AC3E}">
        <p14:creationId xmlns:p14="http://schemas.microsoft.com/office/powerpoint/2010/main" val="1762770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Infeasible Solution</a:t>
            </a:r>
          </a:p>
        </p:txBody>
      </p:sp>
      <p:sp>
        <p:nvSpPr>
          <p:cNvPr id="4" name="Content Placeholder 3"/>
          <p:cNvSpPr>
            <a:spLocks noGrp="1"/>
          </p:cNvSpPr>
          <p:nvPr>
            <p:ph idx="1"/>
          </p:nvPr>
        </p:nvSpPr>
        <p:spPr/>
        <p:txBody>
          <a:bodyPr/>
          <a:lstStyle/>
          <a:p>
            <a:r>
              <a:rPr lang="en-US" dirty="0"/>
              <a:t>Add a new constraint saying the new products requires to provide at least $50,000 profit </a:t>
            </a:r>
            <a:endParaRPr lang="tr-TR" dirty="0"/>
          </a:p>
          <a:p>
            <a:r>
              <a:rPr lang="tr-TR" dirty="0"/>
              <a:t>The new model is</a:t>
            </a:r>
            <a:endParaRPr lang="en-US" dirty="0"/>
          </a:p>
          <a:p>
            <a:endParaRPr lang="en-US" dirty="0"/>
          </a:p>
        </p:txBody>
      </p:sp>
      <p:sp>
        <p:nvSpPr>
          <p:cNvPr id="9" name="Footer Placeholder 8">
            <a:extLst>
              <a:ext uri="{FF2B5EF4-FFF2-40B4-BE49-F238E27FC236}">
                <a16:creationId xmlns:a16="http://schemas.microsoft.com/office/drawing/2014/main" id="{6383687F-67EA-4307-9D02-FCBF7BCF432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454748851"/>
                  </p:ext>
                </p:extLst>
              </p:nvPr>
            </p:nvGraphicFramePr>
            <p:xfrm>
              <a:off x="3892840" y="2891382"/>
              <a:ext cx="4406320" cy="27432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12</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18</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50</a:t>
                          </a:r>
                          <a:endParaRPr lang="en-US" sz="2400" b="0" dirty="0"/>
                        </a:p>
                      </a:txBody>
                      <a:tcPr/>
                    </a:tc>
                    <a:extLst>
                      <a:ext uri="{0D108BD9-81ED-4DB2-BD59-A6C34878D82A}">
                        <a16:rowId xmlns:a16="http://schemas.microsoft.com/office/drawing/2014/main" val="240233350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454748851"/>
                  </p:ext>
                </p:extLst>
              </p:nvPr>
            </p:nvGraphicFramePr>
            <p:xfrm>
              <a:off x="3892840" y="2891382"/>
              <a:ext cx="4406320" cy="27432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endParaRPr lang="tr-TR"/>
                        </a:p>
                      </a:txBody>
                      <a:tcPr>
                        <a:blipFill>
                          <a:blip r:embed="rId2"/>
                          <a:stretch>
                            <a:fillRect t="-10667" r="-194309" b="-530667"/>
                          </a:stretch>
                        </a:blipFill>
                      </a:tcPr>
                    </a:tc>
                    <a:tc>
                      <a:txBody>
                        <a:bodyPr/>
                        <a:lstStyle/>
                        <a:p>
                          <a:endParaRPr lang="tr-TR"/>
                        </a:p>
                      </a:txBody>
                      <a:tcPr>
                        <a:blipFill>
                          <a:blip r:embed="rId2"/>
                          <a:stretch>
                            <a:fillRect l="-195238" t="-10667" r="-279365" b="-530667"/>
                          </a:stretch>
                        </a:blipFill>
                      </a:tcPr>
                    </a:tc>
                    <a:tc>
                      <a:txBody>
                        <a:bodyPr/>
                        <a:lstStyle/>
                        <a:p>
                          <a:endParaRPr lang="tr-TR"/>
                        </a:p>
                      </a:txBody>
                      <a:tcPr>
                        <a:blipFill>
                          <a:blip r:embed="rId2"/>
                          <a:stretch>
                            <a:fillRect l="-238462" t="-10667" r="-125641" b="-530667"/>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195238" t="-110667" r="-279365" b="-430667"/>
                          </a:stretch>
                        </a:blipFill>
                      </a:tcPr>
                    </a:tc>
                    <a:tc>
                      <a:txBody>
                        <a:bodyPr/>
                        <a:lstStyle/>
                        <a:p>
                          <a:pPr algn="r"/>
                          <a:endParaRPr lang="en-US" sz="2400" b="0" dirty="0"/>
                        </a:p>
                      </a:txBody>
                      <a:tcPr/>
                    </a:tc>
                    <a:tc>
                      <a:txBody>
                        <a:bodyPr/>
                        <a:lstStyle/>
                        <a:p>
                          <a:endParaRPr lang="tr-TR"/>
                        </a:p>
                      </a:txBody>
                      <a:tcPr>
                        <a:blipFill>
                          <a:blip r:embed="rId2"/>
                          <a:stretch>
                            <a:fillRect l="-668354" t="-110667" r="-148101" b="-430667"/>
                          </a:stretch>
                        </a:blipFill>
                      </a:tcPr>
                    </a:tc>
                    <a:tc>
                      <a:txBody>
                        <a:bodyPr/>
                        <a:lstStyle/>
                        <a:p>
                          <a:r>
                            <a:rPr lang="tr-TR" sz="2400" b="0" dirty="0" smtClean="0"/>
                            <a:t>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pPr algn="r"/>
                          <a:endParaRPr lang="en-US" sz="2400" b="0" dirty="0"/>
                        </a:p>
                      </a:txBody>
                      <a:tcPr/>
                    </a:tc>
                    <a:tc>
                      <a:txBody>
                        <a:bodyPr/>
                        <a:lstStyle/>
                        <a:p>
                          <a:endParaRPr lang="tr-TR"/>
                        </a:p>
                      </a:txBody>
                      <a:tcPr>
                        <a:blipFill>
                          <a:blip r:embed="rId2"/>
                          <a:stretch>
                            <a:fillRect l="-238462" t="-207895" r="-125641" b="-325000"/>
                          </a:stretch>
                        </a:blipFill>
                      </a:tcPr>
                    </a:tc>
                    <a:tc>
                      <a:txBody>
                        <a:bodyPr/>
                        <a:lstStyle/>
                        <a:p>
                          <a:endParaRPr lang="tr-TR"/>
                        </a:p>
                      </a:txBody>
                      <a:tcPr>
                        <a:blipFill>
                          <a:blip r:embed="rId2"/>
                          <a:stretch>
                            <a:fillRect l="-668354" t="-207895" r="-148101" b="-325000"/>
                          </a:stretch>
                        </a:blipFill>
                      </a:tcPr>
                    </a:tc>
                    <a:tc>
                      <a:txBody>
                        <a:bodyPr/>
                        <a:lstStyle/>
                        <a:p>
                          <a:r>
                            <a:rPr lang="tr-TR" sz="2400" b="0" dirty="0" smtClean="0"/>
                            <a:t>12</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195238" t="-312000" r="-279365" b="-229333"/>
                          </a:stretch>
                        </a:blipFill>
                      </a:tcPr>
                    </a:tc>
                    <a:tc>
                      <a:txBody>
                        <a:bodyPr/>
                        <a:lstStyle/>
                        <a:p>
                          <a:endParaRPr lang="tr-TR"/>
                        </a:p>
                      </a:txBody>
                      <a:tcPr>
                        <a:blipFill>
                          <a:blip r:embed="rId2"/>
                          <a:stretch>
                            <a:fillRect l="-238462" t="-312000" r="-125641" b="-229333"/>
                          </a:stretch>
                        </a:blipFill>
                      </a:tcPr>
                    </a:tc>
                    <a:tc>
                      <a:txBody>
                        <a:bodyPr/>
                        <a:lstStyle/>
                        <a:p>
                          <a:endParaRPr lang="tr-TR"/>
                        </a:p>
                      </a:txBody>
                      <a:tcPr>
                        <a:blipFill>
                          <a:blip r:embed="rId2"/>
                          <a:stretch>
                            <a:fillRect l="-668354" t="-312000" r="-148101" b="-229333"/>
                          </a:stretch>
                        </a:blipFill>
                      </a:tcPr>
                    </a:tc>
                    <a:tc>
                      <a:txBody>
                        <a:bodyPr/>
                        <a:lstStyle/>
                        <a:p>
                          <a:r>
                            <a:rPr lang="tr-TR" sz="2400" b="0" dirty="0" smtClean="0"/>
                            <a:t>18</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95238" t="-412000" r="-279365" b="-129333"/>
                          </a:stretch>
                        </a:blipFill>
                      </a:tcPr>
                    </a:tc>
                    <a:tc>
                      <a:txBody>
                        <a:bodyPr/>
                        <a:lstStyle/>
                        <a:p>
                          <a:endParaRPr lang="tr-TR"/>
                        </a:p>
                      </a:txBody>
                      <a:tcPr>
                        <a:blipFill>
                          <a:blip r:embed="rId2"/>
                          <a:stretch>
                            <a:fillRect l="-238462" t="-412000" r="-125641" b="-129333"/>
                          </a:stretch>
                        </a:blipFill>
                      </a:tcPr>
                    </a:tc>
                    <a:tc>
                      <a:txBody>
                        <a:bodyPr/>
                        <a:lstStyle/>
                        <a:p>
                          <a:endParaRPr lang="tr-TR"/>
                        </a:p>
                      </a:txBody>
                      <a:tcPr>
                        <a:blipFill>
                          <a:blip r:embed="rId2"/>
                          <a:stretch>
                            <a:fillRect l="-668354" t="-412000" r="-148101" b="-129333"/>
                          </a:stretch>
                        </a:blipFill>
                      </a:tcPr>
                    </a:tc>
                    <a:tc>
                      <a:txBody>
                        <a:bodyPr/>
                        <a:lstStyle/>
                        <a:p>
                          <a:r>
                            <a:rPr lang="tr-TR" sz="2400" b="0" dirty="0" smtClean="0"/>
                            <a:t>50</a:t>
                          </a:r>
                          <a:endParaRPr lang="en-US" sz="2400" b="0" dirty="0"/>
                        </a:p>
                      </a:txBody>
                      <a:tcPr/>
                    </a:tc>
                    <a:extLst>
                      <a:ext uri="{0D108BD9-81ED-4DB2-BD59-A6C34878D82A}">
                        <a16:rowId xmlns:a16="http://schemas.microsoft.com/office/drawing/2014/main" val="2402333505"/>
                      </a:ext>
                    </a:extLst>
                  </a:tr>
                  <a:tr h="457200">
                    <a:tc>
                      <a:txBody>
                        <a:bodyPr/>
                        <a:lstStyle/>
                        <a:p>
                          <a:endParaRPr lang="en-US" sz="2400" dirty="0"/>
                        </a:p>
                      </a:txBody>
                      <a:tcPr/>
                    </a:tc>
                    <a:tc>
                      <a:txBody>
                        <a:bodyPr/>
                        <a:lstStyle/>
                        <a:p>
                          <a:endParaRPr lang="tr-TR"/>
                        </a:p>
                      </a:txBody>
                      <a:tcPr>
                        <a:blipFill>
                          <a:blip r:embed="rId2"/>
                          <a:stretch>
                            <a:fillRect l="-195238" t="-512000" r="-279365" b="-29333"/>
                          </a:stretch>
                        </a:blipFill>
                      </a:tcPr>
                    </a:tc>
                    <a:tc>
                      <a:txBody>
                        <a:bodyPr/>
                        <a:lstStyle/>
                        <a:p>
                          <a:endParaRPr lang="tr-TR"/>
                        </a:p>
                      </a:txBody>
                      <a:tcPr>
                        <a:blipFill>
                          <a:blip r:embed="rId2"/>
                          <a:stretch>
                            <a:fillRect l="-238462" t="-512000" r="-125641" b="-29333"/>
                          </a:stretch>
                        </a:blipFill>
                      </a:tcPr>
                    </a:tc>
                    <a:tc>
                      <a:txBody>
                        <a:bodyPr/>
                        <a:lstStyle/>
                        <a:p>
                          <a:endParaRPr lang="tr-TR"/>
                        </a:p>
                      </a:txBody>
                      <a:tcPr>
                        <a:blipFill>
                          <a:blip r:embed="rId2"/>
                          <a:stretch>
                            <a:fillRect l="-668354" t="-512000" r="-148101" b="-29333"/>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173789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Infeasible Solution</a:t>
            </a:r>
          </a:p>
        </p:txBody>
      </p:sp>
      <p:sp>
        <p:nvSpPr>
          <p:cNvPr id="9" name="Footer Placeholder 8">
            <a:extLst>
              <a:ext uri="{FF2B5EF4-FFF2-40B4-BE49-F238E27FC236}">
                <a16:creationId xmlns:a16="http://schemas.microsoft.com/office/drawing/2014/main" id="{6383687F-67EA-4307-9D02-FCBF7BCF432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grpSp>
        <p:nvGrpSpPr>
          <p:cNvPr id="8" name="Group 7"/>
          <p:cNvGrpSpPr/>
          <p:nvPr/>
        </p:nvGrpSpPr>
        <p:grpSpPr>
          <a:xfrm>
            <a:off x="1075911" y="1631176"/>
            <a:ext cx="4549153" cy="4617224"/>
            <a:chOff x="1075911" y="1631176"/>
            <a:chExt cx="4549153" cy="4617224"/>
          </a:xfrm>
        </p:grpSpPr>
        <p:pic>
          <p:nvPicPr>
            <p:cNvPr id="11" name="Picture 10"/>
            <p:cNvPicPr>
              <a:picLocks noChangeAspect="1"/>
            </p:cNvPicPr>
            <p:nvPr/>
          </p:nvPicPr>
          <p:blipFill>
            <a:blip r:embed="rId2"/>
            <a:stretch>
              <a:fillRect/>
            </a:stretch>
          </p:blipFill>
          <p:spPr>
            <a:xfrm>
              <a:off x="1075911" y="1631176"/>
              <a:ext cx="4549153" cy="4528723"/>
            </a:xfrm>
            <a:prstGeom prst="rect">
              <a:avLst/>
            </a:prstGeom>
          </p:spPr>
        </p:pic>
        <p:cxnSp>
          <p:nvCxnSpPr>
            <p:cNvPr id="12" name="Straight Connector 11"/>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4" name="Rectangle 13"/>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15" name="Rectangle 14"/>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4"/>
                  <a:stretch>
                    <a:fillRect/>
                  </a:stretch>
                </a:blipFill>
              </p:spPr>
              <p:txBody>
                <a:bodyPr/>
                <a:lstStyle/>
                <a:p>
                  <a:r>
                    <a:rPr lang="en-US">
                      <a:noFill/>
                    </a:rPr>
                    <a:t> </a:t>
                  </a:r>
                </a:p>
              </p:txBody>
            </p:sp>
          </mc:Fallback>
        </mc:AlternateContent>
        <p:cxnSp>
          <p:nvCxnSpPr>
            <p:cNvPr id="16" name="Straight Connector 15"/>
            <p:cNvCxnSpPr/>
            <p:nvPr/>
          </p:nvCxnSpPr>
          <p:spPr>
            <a:xfrm>
              <a:off x="1310640" y="2326640"/>
              <a:ext cx="2560320" cy="3921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3318160" y="5282189"/>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+2</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=18</m:t>
                        </m:r>
                      </m:oMath>
                    </m:oMathPara>
                  </a14:m>
                  <a:endParaRPr lang="en-US" sz="1400" dirty="0"/>
                </a:p>
              </p:txBody>
            </p:sp>
          </mc:Choice>
          <mc:Fallback xmlns="">
            <p:sp>
              <p:nvSpPr>
                <p:cNvPr id="17" name="Rectangle 16"/>
                <p:cNvSpPr>
                  <a:spLocks noRot="1" noChangeAspect="1" noMove="1" noResize="1" noEditPoints="1" noAdjustHandles="1" noChangeArrowheads="1" noChangeShapeType="1" noTextEdit="1"/>
                </p:cNvSpPr>
                <p:nvPr/>
              </p:nvSpPr>
              <p:spPr>
                <a:xfrm>
                  <a:off x="3318160" y="5282189"/>
                  <a:ext cx="1421415" cy="307777"/>
                </a:xfrm>
                <a:prstGeom prst="rect">
                  <a:avLst/>
                </a:prstGeom>
                <a:blipFill>
                  <a:blip r:embed="rId5"/>
                  <a:stretch>
                    <a:fillRect/>
                  </a:stretch>
                </a:blipFill>
              </p:spPr>
              <p:txBody>
                <a:bodyPr/>
                <a:lstStyle/>
                <a:p>
                  <a:r>
                    <a:rPr lang="en-US">
                      <a:noFill/>
                    </a:rPr>
                    <a:t> </a:t>
                  </a:r>
                </a:p>
              </p:txBody>
            </p:sp>
          </mc:Fallback>
        </mc:AlternateContent>
      </p:grpSp>
      <p:cxnSp>
        <p:nvCxnSpPr>
          <p:cNvPr id="26" name="Straight Connector 25"/>
          <p:cNvCxnSpPr>
            <a:cxnSpLocks noChangeAspect="1"/>
          </p:cNvCxnSpPr>
          <p:nvPr/>
        </p:nvCxnSpPr>
        <p:spPr>
          <a:xfrm>
            <a:off x="1445431" y="2174693"/>
            <a:ext cx="5985797" cy="360000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828800" y="3657600"/>
            <a:ext cx="10160" cy="3367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2306740" y="4266159"/>
            <a:ext cx="247776" cy="1936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flipV="1">
            <a:off x="2590800" y="5282189"/>
            <a:ext cx="267943"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231284" y="2430196"/>
            <a:ext cx="150913" cy="2042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3079FBB-C9E0-4192-95C8-63703465D054}"/>
              </a:ext>
            </a:extLst>
          </p:cNvPr>
          <p:cNvSpPr txBox="1"/>
          <p:nvPr/>
        </p:nvSpPr>
        <p:spPr>
          <a:xfrm>
            <a:off x="6748577" y="1828800"/>
            <a:ext cx="4320301" cy="3477875"/>
          </a:xfrm>
          <a:prstGeom prst="rect">
            <a:avLst/>
          </a:prstGeom>
          <a:noFill/>
        </p:spPr>
        <p:txBody>
          <a:bodyPr wrap="square" rtlCol="0">
            <a:spAutoFit/>
          </a:bodyPr>
          <a:lstStyle/>
          <a:p>
            <a:pPr marL="342900" indent="-342900">
              <a:buFont typeface="Arial" panose="020B0604020202020204" pitchFamily="34" charset="0"/>
              <a:buChar char="•"/>
            </a:pPr>
            <a:r>
              <a:rPr lang="tr-TR" sz="2200" dirty="0"/>
              <a:t>The constraints are conflicting with each other.</a:t>
            </a:r>
          </a:p>
          <a:p>
            <a:pPr marL="342900" indent="-342900">
              <a:buFont typeface="Arial" panose="020B0604020202020204" pitchFamily="34" charset="0"/>
              <a:buChar char="•"/>
            </a:pPr>
            <a:r>
              <a:rPr lang="tr-TR" sz="2200" b="0" dirty="0"/>
              <a:t>There is no intersection between the regions.</a:t>
            </a:r>
          </a:p>
          <a:p>
            <a:pPr marL="342900" indent="-342900">
              <a:buFont typeface="Arial" panose="020B0604020202020204" pitchFamily="34" charset="0"/>
              <a:buChar char="•"/>
            </a:pPr>
            <a:r>
              <a:rPr lang="tr-TR" sz="2200" dirty="0"/>
              <a:t>No feasible solution, hence the problem is infeasible.</a:t>
            </a:r>
          </a:p>
          <a:p>
            <a:pPr marL="342900" indent="-342900">
              <a:buFont typeface="Arial" panose="020B0604020202020204" pitchFamily="34" charset="0"/>
              <a:buChar char="•"/>
            </a:pPr>
            <a:r>
              <a:rPr lang="tr-TR" sz="2200" dirty="0"/>
              <a:t>Note that optimal solution is always one of the feasible solutions, thus no optimal solution here as well.</a:t>
            </a:r>
            <a:endParaRPr lang="tr-TR" sz="2200" b="0" dirty="0"/>
          </a:p>
        </p:txBody>
      </p:sp>
      <mc:AlternateContent xmlns:mc="http://schemas.openxmlformats.org/markup-compatibility/2006" xmlns:a14="http://schemas.microsoft.com/office/drawing/2010/main">
        <mc:Choice Requires="a14">
          <p:sp>
            <p:nvSpPr>
              <p:cNvPr id="41" name="Rectangle 40"/>
              <p:cNvSpPr/>
              <p:nvPr/>
            </p:nvSpPr>
            <p:spPr>
              <a:xfrm>
                <a:off x="3160252" y="3903240"/>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+5</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=50</m:t>
                      </m:r>
                    </m:oMath>
                  </m:oMathPara>
                </a14:m>
                <a:endParaRPr lang="en-US" sz="1400" dirty="0"/>
              </a:p>
            </p:txBody>
          </p:sp>
        </mc:Choice>
        <mc:Fallback xmlns="">
          <p:sp>
            <p:nvSpPr>
              <p:cNvPr id="41" name="Rectangle 40"/>
              <p:cNvSpPr>
                <a:spLocks noRot="1" noChangeAspect="1" noMove="1" noResize="1" noEditPoints="1" noAdjustHandles="1" noChangeArrowheads="1" noChangeShapeType="1" noTextEdit="1"/>
              </p:cNvSpPr>
              <p:nvPr/>
            </p:nvSpPr>
            <p:spPr>
              <a:xfrm>
                <a:off x="3160252" y="3903240"/>
                <a:ext cx="1421415" cy="30777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829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Optimal Solutions</a:t>
            </a:r>
          </a:p>
        </p:txBody>
      </p:sp>
      <p:sp>
        <p:nvSpPr>
          <p:cNvPr id="4" name="Content Placeholder 3"/>
          <p:cNvSpPr>
            <a:spLocks noGrp="1"/>
          </p:cNvSpPr>
          <p:nvPr>
            <p:ph idx="1"/>
          </p:nvPr>
        </p:nvSpPr>
        <p:spPr/>
        <p:txBody>
          <a:bodyPr/>
          <a:lstStyle/>
          <a:p>
            <a:r>
              <a:rPr lang="tr-TR" dirty="0"/>
              <a:t>What if we earn a profit of 2K instead of 5K from product two? </a:t>
            </a:r>
          </a:p>
          <a:p>
            <a:r>
              <a:rPr lang="tr-TR" dirty="0"/>
              <a:t>The new model is</a:t>
            </a:r>
            <a:endParaRPr lang="en-US" dirty="0"/>
          </a:p>
          <a:p>
            <a:endParaRPr lang="en-US" dirty="0"/>
          </a:p>
        </p:txBody>
      </p:sp>
      <p:sp>
        <p:nvSpPr>
          <p:cNvPr id="9" name="Footer Placeholder 8">
            <a:extLst>
              <a:ext uri="{FF2B5EF4-FFF2-40B4-BE49-F238E27FC236}">
                <a16:creationId xmlns:a16="http://schemas.microsoft.com/office/drawing/2014/main" id="{6383687F-67EA-4307-9D02-FCBF7BCF432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367959544"/>
                  </p:ext>
                </p:extLst>
              </p:nvPr>
            </p:nvGraphicFramePr>
            <p:xfrm>
              <a:off x="3892840" y="2921862"/>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12</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18</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367959544"/>
                  </p:ext>
                </p:extLst>
              </p:nvPr>
            </p:nvGraphicFramePr>
            <p:xfrm>
              <a:off x="3892840" y="2921862"/>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endParaRPr lang="tr-TR"/>
                        </a:p>
                      </a:txBody>
                      <a:tcPr>
                        <a:blipFill>
                          <a:blip r:embed="rId2"/>
                          <a:stretch>
                            <a:fillRect t="-10667" r="-194309" b="-430667"/>
                          </a:stretch>
                        </a:blipFill>
                      </a:tcPr>
                    </a:tc>
                    <a:tc>
                      <a:txBody>
                        <a:bodyPr/>
                        <a:lstStyle/>
                        <a:p>
                          <a:endParaRPr lang="tr-TR"/>
                        </a:p>
                      </a:txBody>
                      <a:tcPr>
                        <a:blipFill>
                          <a:blip r:embed="rId2"/>
                          <a:stretch>
                            <a:fillRect l="-195238" t="-10667" r="-279365" b="-430667"/>
                          </a:stretch>
                        </a:blipFill>
                      </a:tcPr>
                    </a:tc>
                    <a:tc>
                      <a:txBody>
                        <a:bodyPr/>
                        <a:lstStyle/>
                        <a:p>
                          <a:endParaRPr lang="tr-TR"/>
                        </a:p>
                      </a:txBody>
                      <a:tcPr>
                        <a:blipFill>
                          <a:blip r:embed="rId2"/>
                          <a:stretch>
                            <a:fillRect l="-238462" t="-10667" r="-125641" b="-430667"/>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195238" t="-110667" r="-279365" b="-330667"/>
                          </a:stretch>
                        </a:blipFill>
                      </a:tcPr>
                    </a:tc>
                    <a:tc>
                      <a:txBody>
                        <a:bodyPr/>
                        <a:lstStyle/>
                        <a:p>
                          <a:pPr algn="r"/>
                          <a:endParaRPr lang="en-US" sz="2400" b="0" dirty="0"/>
                        </a:p>
                      </a:txBody>
                      <a:tcPr/>
                    </a:tc>
                    <a:tc>
                      <a:txBody>
                        <a:bodyPr/>
                        <a:lstStyle/>
                        <a:p>
                          <a:endParaRPr lang="tr-TR"/>
                        </a:p>
                      </a:txBody>
                      <a:tcPr>
                        <a:blipFill>
                          <a:blip r:embed="rId2"/>
                          <a:stretch>
                            <a:fillRect l="-668354" t="-110667" r="-148101" b="-330667"/>
                          </a:stretch>
                        </a:blipFill>
                      </a:tcPr>
                    </a:tc>
                    <a:tc>
                      <a:txBody>
                        <a:bodyPr/>
                        <a:lstStyle/>
                        <a:p>
                          <a:r>
                            <a:rPr lang="tr-TR" sz="2400" b="0" dirty="0" smtClean="0"/>
                            <a:t>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pPr algn="r"/>
                          <a:endParaRPr lang="en-US" sz="2400" b="0" dirty="0"/>
                        </a:p>
                      </a:txBody>
                      <a:tcPr/>
                    </a:tc>
                    <a:tc>
                      <a:txBody>
                        <a:bodyPr/>
                        <a:lstStyle/>
                        <a:p>
                          <a:endParaRPr lang="tr-TR"/>
                        </a:p>
                      </a:txBody>
                      <a:tcPr>
                        <a:blipFill>
                          <a:blip r:embed="rId2"/>
                          <a:stretch>
                            <a:fillRect l="-238462" t="-207895" r="-125641" b="-226316"/>
                          </a:stretch>
                        </a:blipFill>
                      </a:tcPr>
                    </a:tc>
                    <a:tc>
                      <a:txBody>
                        <a:bodyPr/>
                        <a:lstStyle/>
                        <a:p>
                          <a:endParaRPr lang="tr-TR"/>
                        </a:p>
                      </a:txBody>
                      <a:tcPr>
                        <a:blipFill>
                          <a:blip r:embed="rId2"/>
                          <a:stretch>
                            <a:fillRect l="-668354" t="-207895" r="-148101" b="-226316"/>
                          </a:stretch>
                        </a:blipFill>
                      </a:tcPr>
                    </a:tc>
                    <a:tc>
                      <a:txBody>
                        <a:bodyPr/>
                        <a:lstStyle/>
                        <a:p>
                          <a:r>
                            <a:rPr lang="tr-TR" sz="2400" b="0" dirty="0" smtClean="0"/>
                            <a:t>12</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195238" t="-312000" r="-279365" b="-129333"/>
                          </a:stretch>
                        </a:blipFill>
                      </a:tcPr>
                    </a:tc>
                    <a:tc>
                      <a:txBody>
                        <a:bodyPr/>
                        <a:lstStyle/>
                        <a:p>
                          <a:endParaRPr lang="tr-TR"/>
                        </a:p>
                      </a:txBody>
                      <a:tcPr>
                        <a:blipFill>
                          <a:blip r:embed="rId2"/>
                          <a:stretch>
                            <a:fillRect l="-238462" t="-312000" r="-125641" b="-129333"/>
                          </a:stretch>
                        </a:blipFill>
                      </a:tcPr>
                    </a:tc>
                    <a:tc>
                      <a:txBody>
                        <a:bodyPr/>
                        <a:lstStyle/>
                        <a:p>
                          <a:endParaRPr lang="tr-TR"/>
                        </a:p>
                      </a:txBody>
                      <a:tcPr>
                        <a:blipFill>
                          <a:blip r:embed="rId2"/>
                          <a:stretch>
                            <a:fillRect l="-668354" t="-312000" r="-148101" b="-129333"/>
                          </a:stretch>
                        </a:blipFill>
                      </a:tcPr>
                    </a:tc>
                    <a:tc>
                      <a:txBody>
                        <a:bodyPr/>
                        <a:lstStyle/>
                        <a:p>
                          <a:r>
                            <a:rPr lang="tr-TR" sz="2400" b="0" dirty="0" smtClean="0"/>
                            <a:t>18</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95238" t="-412000" r="-279365" b="-29333"/>
                          </a:stretch>
                        </a:blipFill>
                      </a:tcPr>
                    </a:tc>
                    <a:tc>
                      <a:txBody>
                        <a:bodyPr/>
                        <a:lstStyle/>
                        <a:p>
                          <a:endParaRPr lang="tr-TR"/>
                        </a:p>
                      </a:txBody>
                      <a:tcPr>
                        <a:blipFill>
                          <a:blip r:embed="rId2"/>
                          <a:stretch>
                            <a:fillRect l="-238462" t="-412000" r="-125641" b="-29333"/>
                          </a:stretch>
                        </a:blipFill>
                      </a:tcPr>
                    </a:tc>
                    <a:tc>
                      <a:txBody>
                        <a:bodyPr/>
                        <a:lstStyle/>
                        <a:p>
                          <a:endParaRPr lang="tr-TR"/>
                        </a:p>
                      </a:txBody>
                      <a:tcPr>
                        <a:blipFill>
                          <a:blip r:embed="rId2"/>
                          <a:stretch>
                            <a:fillRect l="-668354" t="-412000" r="-148101" b="-29333"/>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2423378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075911" y="1631176"/>
            <a:ext cx="4549153" cy="4617224"/>
            <a:chOff x="1075911" y="1631176"/>
            <a:chExt cx="4549153" cy="4617224"/>
          </a:xfrm>
        </p:grpSpPr>
        <p:grpSp>
          <p:nvGrpSpPr>
            <p:cNvPr id="11" name="Group 10"/>
            <p:cNvGrpSpPr/>
            <p:nvPr/>
          </p:nvGrpSpPr>
          <p:grpSpPr>
            <a:xfrm>
              <a:off x="1075911" y="1631176"/>
              <a:ext cx="4549153" cy="4617224"/>
              <a:chOff x="1075911" y="1631176"/>
              <a:chExt cx="4549153" cy="4617224"/>
            </a:xfrm>
          </p:grpSpPr>
          <p:pic>
            <p:nvPicPr>
              <p:cNvPr id="13" name="Picture 12"/>
              <p:cNvPicPr>
                <a:picLocks noChangeAspect="1"/>
              </p:cNvPicPr>
              <p:nvPr/>
            </p:nvPicPr>
            <p:blipFill>
              <a:blip r:embed="rId2"/>
              <a:stretch>
                <a:fillRect/>
              </a:stretch>
            </p:blipFill>
            <p:spPr>
              <a:xfrm>
                <a:off x="1075911" y="1631176"/>
                <a:ext cx="4549153" cy="4528723"/>
              </a:xfrm>
              <a:prstGeom prst="rect">
                <a:avLst/>
              </a:prstGeom>
            </p:spPr>
          </p:pic>
          <p:cxnSp>
            <p:nvCxnSpPr>
              <p:cNvPr id="14" name="Straight Connector 13"/>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075911" y="3657600"/>
                <a:ext cx="356566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16" name="Rectangle 15"/>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4641574" y="3460015"/>
                    <a:ext cx="93455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=12</m:t>
                          </m:r>
                        </m:oMath>
                      </m:oMathPara>
                    </a14:m>
                    <a:endParaRPr lang="en-US" sz="1400" dirty="0"/>
                  </a:p>
                </p:txBody>
              </p:sp>
            </mc:Choice>
            <mc:Fallback xmlns="">
              <p:sp>
                <p:nvSpPr>
                  <p:cNvPr id="17" name="Rectangle 16"/>
                  <p:cNvSpPr>
                    <a:spLocks noRot="1" noChangeAspect="1" noMove="1" noResize="1" noEditPoints="1" noAdjustHandles="1" noChangeArrowheads="1" noChangeShapeType="1" noTextEdit="1"/>
                  </p:cNvSpPr>
                  <p:nvPr/>
                </p:nvSpPr>
                <p:spPr>
                  <a:xfrm>
                    <a:off x="4641574" y="3460015"/>
                    <a:ext cx="934551" cy="307777"/>
                  </a:xfrm>
                  <a:prstGeom prst="rect">
                    <a:avLst/>
                  </a:prstGeom>
                  <a:blipFill>
                    <a:blip r:embed="rId4"/>
                    <a:stretch>
                      <a:fillRect/>
                    </a:stretch>
                  </a:blipFill>
                </p:spPr>
                <p:txBody>
                  <a:bodyPr/>
                  <a:lstStyle/>
                  <a:p>
                    <a:r>
                      <a:rPr lang="en-US">
                        <a:noFill/>
                      </a:rPr>
                      <a:t> </a:t>
                    </a:r>
                  </a:p>
                </p:txBody>
              </p:sp>
            </mc:Fallback>
          </mc:AlternateContent>
          <p:cxnSp>
            <p:nvCxnSpPr>
              <p:cNvPr id="18" name="Straight Connector 17"/>
              <p:cNvCxnSpPr/>
              <p:nvPr/>
            </p:nvCxnSpPr>
            <p:spPr>
              <a:xfrm>
                <a:off x="1310640" y="2326640"/>
                <a:ext cx="2560320" cy="3921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3318160" y="5282189"/>
                    <a:ext cx="1421415"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3</m:t>
                          </m:r>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+2</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rPr>
                            <m:t>=18</m:t>
                          </m:r>
                        </m:oMath>
                      </m:oMathPara>
                    </a14:m>
                    <a:endParaRPr lang="en-US" sz="1400" dirty="0"/>
                  </a:p>
                </p:txBody>
              </p:sp>
            </mc:Choice>
            <mc:Fallback xmlns="">
              <p:sp>
                <p:nvSpPr>
                  <p:cNvPr id="19" name="Rectangle 18"/>
                  <p:cNvSpPr>
                    <a:spLocks noRot="1" noChangeAspect="1" noMove="1" noResize="1" noEditPoints="1" noAdjustHandles="1" noChangeArrowheads="1" noChangeShapeType="1" noTextEdit="1"/>
                  </p:cNvSpPr>
                  <p:nvPr/>
                </p:nvSpPr>
                <p:spPr>
                  <a:xfrm>
                    <a:off x="3318160" y="5282189"/>
                    <a:ext cx="1421415" cy="307777"/>
                  </a:xfrm>
                  <a:prstGeom prst="rect">
                    <a:avLst/>
                  </a:prstGeom>
                  <a:blipFill>
                    <a:blip r:embed="rId5"/>
                    <a:stretch>
                      <a:fillRect/>
                    </a:stretch>
                  </a:blipFill>
                </p:spPr>
                <p:txBody>
                  <a:bodyPr/>
                  <a:lstStyle/>
                  <a:p>
                    <a:r>
                      <a:rPr lang="en-US">
                        <a:noFill/>
                      </a:rPr>
                      <a:t> </a:t>
                    </a:r>
                  </a:p>
                </p:txBody>
              </p:sp>
            </mc:Fallback>
          </mc:AlternateContent>
        </p:grpSp>
        <p:sp>
          <p:nvSpPr>
            <p:cNvPr id="12" name="Freeform 11"/>
            <p:cNvSpPr/>
            <p:nvPr/>
          </p:nvSpPr>
          <p:spPr>
            <a:xfrm>
              <a:off x="1490980" y="3660140"/>
              <a:ext cx="1381985" cy="2151380"/>
            </a:xfrm>
            <a:custGeom>
              <a:avLst/>
              <a:gdLst>
                <a:gd name="connsiteX0" fmla="*/ 0 w 1371600"/>
                <a:gd name="connsiteY0" fmla="*/ 2148840 h 2153920"/>
                <a:gd name="connsiteX1" fmla="*/ 5080 w 1371600"/>
                <a:gd name="connsiteY1" fmla="*/ 5080 h 2153920"/>
                <a:gd name="connsiteX2" fmla="*/ 685800 w 1371600"/>
                <a:gd name="connsiteY2" fmla="*/ 0 h 2153920"/>
                <a:gd name="connsiteX3" fmla="*/ 1371600 w 1371600"/>
                <a:gd name="connsiteY3" fmla="*/ 1076960 h 2153920"/>
                <a:gd name="connsiteX4" fmla="*/ 1366520 w 1371600"/>
                <a:gd name="connsiteY4" fmla="*/ 2153920 h 2153920"/>
                <a:gd name="connsiteX5" fmla="*/ 0 w 1371600"/>
                <a:gd name="connsiteY5" fmla="*/ 2148840 h 2153920"/>
                <a:gd name="connsiteX0" fmla="*/ 0 w 1374140"/>
                <a:gd name="connsiteY0" fmla="*/ 2153920 h 2153920"/>
                <a:gd name="connsiteX1" fmla="*/ 7620 w 1374140"/>
                <a:gd name="connsiteY1" fmla="*/ 5080 h 2153920"/>
                <a:gd name="connsiteX2" fmla="*/ 688340 w 1374140"/>
                <a:gd name="connsiteY2" fmla="*/ 0 h 2153920"/>
                <a:gd name="connsiteX3" fmla="*/ 1374140 w 1374140"/>
                <a:gd name="connsiteY3" fmla="*/ 1076960 h 2153920"/>
                <a:gd name="connsiteX4" fmla="*/ 1369060 w 1374140"/>
                <a:gd name="connsiteY4" fmla="*/ 2153920 h 2153920"/>
                <a:gd name="connsiteX5" fmla="*/ 0 w 1374140"/>
                <a:gd name="connsiteY5" fmla="*/ 2153920 h 2153920"/>
                <a:gd name="connsiteX0" fmla="*/ 0 w 1384446"/>
                <a:gd name="connsiteY0" fmla="*/ 2153920 h 2156460"/>
                <a:gd name="connsiteX1" fmla="*/ 7620 w 1384446"/>
                <a:gd name="connsiteY1" fmla="*/ 5080 h 2156460"/>
                <a:gd name="connsiteX2" fmla="*/ 688340 w 1384446"/>
                <a:gd name="connsiteY2" fmla="*/ 0 h 2156460"/>
                <a:gd name="connsiteX3" fmla="*/ 1374140 w 1384446"/>
                <a:gd name="connsiteY3" fmla="*/ 1076960 h 2156460"/>
                <a:gd name="connsiteX4" fmla="*/ 1384300 w 1384446"/>
                <a:gd name="connsiteY4" fmla="*/ 2156460 h 2156460"/>
                <a:gd name="connsiteX5" fmla="*/ 0 w 1384446"/>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74420 h 2156460"/>
                <a:gd name="connsiteX4" fmla="*/ 1384300 w 1384477"/>
                <a:gd name="connsiteY4" fmla="*/ 2156460 h 2156460"/>
                <a:gd name="connsiteX5" fmla="*/ 0 w 1384477"/>
                <a:gd name="connsiteY5" fmla="*/ 2153920 h 2156460"/>
                <a:gd name="connsiteX0" fmla="*/ 0 w 1384477"/>
                <a:gd name="connsiteY0" fmla="*/ 2153920 h 2156460"/>
                <a:gd name="connsiteX1" fmla="*/ 7620 w 1384477"/>
                <a:gd name="connsiteY1" fmla="*/ 5080 h 2156460"/>
                <a:gd name="connsiteX2" fmla="*/ 688340 w 1384477"/>
                <a:gd name="connsiteY2" fmla="*/ 0 h 2156460"/>
                <a:gd name="connsiteX3" fmla="*/ 1376680 w 1384477"/>
                <a:gd name="connsiteY3" fmla="*/ 1064260 h 2156460"/>
                <a:gd name="connsiteX4" fmla="*/ 1384300 w 1384477"/>
                <a:gd name="connsiteY4" fmla="*/ 2156460 h 2156460"/>
                <a:gd name="connsiteX5" fmla="*/ 0 w 1384477"/>
                <a:gd name="connsiteY5" fmla="*/ 2153920 h 2156460"/>
                <a:gd name="connsiteX0" fmla="*/ 0 w 1381985"/>
                <a:gd name="connsiteY0" fmla="*/ 2153920 h 2153920"/>
                <a:gd name="connsiteX1" fmla="*/ 7620 w 1381985"/>
                <a:gd name="connsiteY1" fmla="*/ 5080 h 2153920"/>
                <a:gd name="connsiteX2" fmla="*/ 688340 w 1381985"/>
                <a:gd name="connsiteY2" fmla="*/ 0 h 2153920"/>
                <a:gd name="connsiteX3" fmla="*/ 1376680 w 1381985"/>
                <a:gd name="connsiteY3" fmla="*/ 1064260 h 2153920"/>
                <a:gd name="connsiteX4" fmla="*/ 1381760 w 1381985"/>
                <a:gd name="connsiteY4" fmla="*/ 2151380 h 2153920"/>
                <a:gd name="connsiteX5" fmla="*/ 0 w 1381985"/>
                <a:gd name="connsiteY5" fmla="*/ 2153920 h 2153920"/>
                <a:gd name="connsiteX0" fmla="*/ 0 w 1381985"/>
                <a:gd name="connsiteY0" fmla="*/ 2151380 h 2151380"/>
                <a:gd name="connsiteX1" fmla="*/ 7620 w 1381985"/>
                <a:gd name="connsiteY1" fmla="*/ 2540 h 2151380"/>
                <a:gd name="connsiteX2" fmla="*/ 690880 w 1381985"/>
                <a:gd name="connsiteY2" fmla="*/ 0 h 2151380"/>
                <a:gd name="connsiteX3" fmla="*/ 1376680 w 1381985"/>
                <a:gd name="connsiteY3" fmla="*/ 1061720 h 2151380"/>
                <a:gd name="connsiteX4" fmla="*/ 1381760 w 1381985"/>
                <a:gd name="connsiteY4" fmla="*/ 2148840 h 2151380"/>
                <a:gd name="connsiteX5" fmla="*/ 0 w 1381985"/>
                <a:gd name="connsiteY5" fmla="*/ 2151380 h 215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985" h="2151380">
                  <a:moveTo>
                    <a:pt x="0" y="2151380"/>
                  </a:moveTo>
                  <a:cubicBezTo>
                    <a:pt x="1693" y="1436793"/>
                    <a:pt x="5927" y="717127"/>
                    <a:pt x="7620" y="2540"/>
                  </a:cubicBezTo>
                  <a:lnTo>
                    <a:pt x="690880" y="0"/>
                  </a:lnTo>
                  <a:lnTo>
                    <a:pt x="1376680" y="1061720"/>
                  </a:lnTo>
                  <a:cubicBezTo>
                    <a:pt x="1374987" y="1420707"/>
                    <a:pt x="1383453" y="1789853"/>
                    <a:pt x="1381760" y="2148840"/>
                  </a:cubicBezTo>
                  <a:lnTo>
                    <a:pt x="0" y="2151380"/>
                  </a:lnTo>
                  <a:close/>
                </a:path>
              </a:pathLst>
            </a:custGeom>
            <a:solidFill>
              <a:srgbClr val="BFBFB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Multiple Optimal Solutions</a:t>
            </a:r>
          </a:p>
        </p:txBody>
      </p:sp>
      <p:sp>
        <p:nvSpPr>
          <p:cNvPr id="8" name="Footer Placeholder 7">
            <a:extLst>
              <a:ext uri="{FF2B5EF4-FFF2-40B4-BE49-F238E27FC236}">
                <a16:creationId xmlns:a16="http://schemas.microsoft.com/office/drawing/2014/main" id="{F4C7A81F-7B07-4B51-82FF-6A4FFDAF4021}"/>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9" name="Straight Connector 8"/>
          <p:cNvCxnSpPr/>
          <p:nvPr/>
        </p:nvCxnSpPr>
        <p:spPr>
          <a:xfrm>
            <a:off x="1118304" y="4196080"/>
            <a:ext cx="1338731" cy="205232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p:cNvSpPr/>
              <p:nvPr/>
            </p:nvSpPr>
            <p:spPr>
              <a:xfrm>
                <a:off x="-55489" y="4287520"/>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i="1" dirty="0">
                          <a:latin typeface="Cambria Math" panose="02040503050406030204" pitchFamily="18" charset="0"/>
                        </a:rPr>
                        <m:t>6</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m:t>
                      </m:r>
                      <m:r>
                        <a:rPr lang="tr-TR" sz="1400" b="0" i="1" dirty="0" smtClean="0">
                          <a:latin typeface="Cambria Math" panose="02040503050406030204" pitchFamily="18" charset="0"/>
                        </a:rPr>
                        <m:t>2</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21" name="Rectangle 20"/>
              <p:cNvSpPr>
                <a:spLocks noRot="1" noChangeAspect="1" noMove="1" noResize="1" noEditPoints="1" noAdjustHandles="1" noChangeArrowheads="1" noChangeShapeType="1" noTextEdit="1"/>
              </p:cNvSpPr>
              <p:nvPr/>
            </p:nvSpPr>
            <p:spPr>
              <a:xfrm>
                <a:off x="-55489" y="4287520"/>
                <a:ext cx="1366129" cy="307777"/>
              </a:xfrm>
              <a:prstGeom prst="rect">
                <a:avLst/>
              </a:prstGeom>
              <a:blipFill>
                <a:blip r:embed="rId6"/>
                <a:stretch>
                  <a:fillRect/>
                </a:stretch>
              </a:blipFill>
            </p:spPr>
            <p:txBody>
              <a:bodyPr/>
              <a:lstStyle/>
              <a:p>
                <a:r>
                  <a:rPr lang="en-US">
                    <a:noFill/>
                  </a:rPr>
                  <a:t> </a:t>
                </a:r>
              </a:p>
            </p:txBody>
          </p:sp>
        </mc:Fallback>
      </mc:AlternateContent>
      <p:cxnSp>
        <p:nvCxnSpPr>
          <p:cNvPr id="22" name="Straight Connector 21"/>
          <p:cNvCxnSpPr/>
          <p:nvPr/>
        </p:nvCxnSpPr>
        <p:spPr>
          <a:xfrm>
            <a:off x="1866561" y="3167780"/>
            <a:ext cx="1338731" cy="205232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p:cNvSpPr/>
              <p:nvPr/>
            </p:nvSpPr>
            <p:spPr>
              <a:xfrm>
                <a:off x="1808446" y="2890158"/>
                <a:ext cx="1366129"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400" i="1" dirty="0" smtClean="0">
                          <a:latin typeface="Cambria Math" panose="02040503050406030204" pitchFamily="18" charset="0"/>
                        </a:rPr>
                        <m:t>1</m:t>
                      </m:r>
                      <m:r>
                        <a:rPr lang="tr-TR" sz="1400" b="0" i="1" dirty="0" smtClean="0">
                          <a:latin typeface="Cambria Math" panose="02040503050406030204" pitchFamily="18" charset="0"/>
                        </a:rPr>
                        <m:t>8</m:t>
                      </m:r>
                      <m:r>
                        <a:rPr lang="en-US" sz="1400" i="1" dirty="0">
                          <a:latin typeface="Cambria Math" panose="02040503050406030204" pitchFamily="18" charset="0"/>
                        </a:rPr>
                        <m:t>=3</m:t>
                      </m:r>
                      <m:r>
                        <a:rPr lang="en-US" sz="1400" i="1" dirty="0">
                          <a:latin typeface="Cambria Math" panose="02040503050406030204" pitchFamily="18" charset="0"/>
                        </a:rPr>
                        <m:t>𝑥</m:t>
                      </m:r>
                      <m:r>
                        <a:rPr lang="en-US" sz="1400" i="1" baseline="-25000" dirty="0">
                          <a:latin typeface="Cambria Math" panose="02040503050406030204" pitchFamily="18" charset="0"/>
                        </a:rPr>
                        <m:t>1</m:t>
                      </m:r>
                      <m:r>
                        <a:rPr lang="en-US" sz="1400" i="1" dirty="0">
                          <a:latin typeface="Cambria Math" panose="02040503050406030204" pitchFamily="18" charset="0"/>
                        </a:rPr>
                        <m:t>+</m:t>
                      </m:r>
                      <m:r>
                        <a:rPr lang="tr-TR" sz="1400" b="0" i="1" dirty="0" smtClean="0">
                          <a:latin typeface="Cambria Math" panose="02040503050406030204" pitchFamily="18" charset="0"/>
                        </a:rPr>
                        <m:t>2</m:t>
                      </m:r>
                      <m:r>
                        <a:rPr lang="en-US" sz="1400" i="1" dirty="0">
                          <a:latin typeface="Cambria Math" panose="02040503050406030204" pitchFamily="18" charset="0"/>
                        </a:rPr>
                        <m:t>𝑥</m:t>
                      </m:r>
                      <m:r>
                        <a:rPr lang="en-US" sz="1400" i="1" baseline="-25000" dirty="0">
                          <a:latin typeface="Cambria Math" panose="02040503050406030204" pitchFamily="18" charset="0"/>
                        </a:rPr>
                        <m:t>2</m:t>
                      </m:r>
                    </m:oMath>
                  </m:oMathPara>
                </a14:m>
                <a:endParaRPr lang="en-US" sz="1400" dirty="0"/>
              </a:p>
            </p:txBody>
          </p:sp>
        </mc:Choice>
        <mc:Fallback xmlns="">
          <p:sp>
            <p:nvSpPr>
              <p:cNvPr id="23" name="Rectangle 22"/>
              <p:cNvSpPr>
                <a:spLocks noRot="1" noChangeAspect="1" noMove="1" noResize="1" noEditPoints="1" noAdjustHandles="1" noChangeArrowheads="1" noChangeShapeType="1" noTextEdit="1"/>
              </p:cNvSpPr>
              <p:nvPr/>
            </p:nvSpPr>
            <p:spPr>
              <a:xfrm>
                <a:off x="1808446" y="2890158"/>
                <a:ext cx="1366129" cy="307777"/>
              </a:xfrm>
              <a:prstGeom prst="rect">
                <a:avLst/>
              </a:prstGeom>
              <a:blipFill>
                <a:blip r:embed="rId7"/>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3079FBB-C9E0-4192-95C8-63703465D054}"/>
              </a:ext>
            </a:extLst>
          </p:cNvPr>
          <p:cNvSpPr txBox="1"/>
          <p:nvPr/>
        </p:nvSpPr>
        <p:spPr>
          <a:xfrm>
            <a:off x="6748577" y="1828800"/>
            <a:ext cx="4320301" cy="4524315"/>
          </a:xfrm>
          <a:prstGeom prst="rect">
            <a:avLst/>
          </a:prstGeom>
          <a:noFill/>
        </p:spPr>
        <p:txBody>
          <a:bodyPr wrap="square" rtlCol="0">
            <a:spAutoFit/>
          </a:bodyPr>
          <a:lstStyle/>
          <a:p>
            <a:pPr marL="342900" indent="-342900">
              <a:buFont typeface="Arial" panose="020B0604020202020204" pitchFamily="34" charset="0"/>
              <a:buChar char="•"/>
            </a:pPr>
            <a:r>
              <a:rPr lang="tr-TR" sz="2400" dirty="0"/>
              <a:t>Note that the iso-profit lines leave the feasible region not from a single point but a line segment. </a:t>
            </a:r>
          </a:p>
          <a:p>
            <a:pPr marL="342900" indent="-342900">
              <a:buFont typeface="Arial" panose="020B0604020202020204" pitchFamily="34" charset="0"/>
              <a:buChar char="•"/>
            </a:pPr>
            <a:r>
              <a:rPr lang="tr-TR" sz="2400" dirty="0"/>
              <a:t>All points along the line segment is optimal.</a:t>
            </a:r>
          </a:p>
          <a:p>
            <a:pPr marL="342900" indent="-342900">
              <a:buFont typeface="Arial" panose="020B0604020202020204" pitchFamily="34" charset="0"/>
              <a:buChar char="•"/>
            </a:pPr>
            <a:r>
              <a:rPr lang="tr-TR" sz="2400" dirty="0"/>
              <a:t>We have infinitely many optimal solutions, all have an optimal value of 18</a:t>
            </a:r>
          </a:p>
          <a:p>
            <a:pPr marL="342900" indent="-342900">
              <a:buFont typeface="Arial" panose="020B0604020202020204" pitchFamily="34" charset="0"/>
              <a:buChar char="•"/>
            </a:pPr>
            <a:r>
              <a:rPr lang="tr-TR" sz="2400" dirty="0"/>
              <a:t>Two extreme points (2,6) and (4,3) are among infinitely many optimal solutions.</a:t>
            </a:r>
            <a:endParaRPr lang="en-US" sz="2400" dirty="0"/>
          </a:p>
        </p:txBody>
      </p:sp>
    </p:spTree>
    <p:extLst>
      <p:ext uri="{BB962C8B-B14F-4D97-AF65-F5344CB8AC3E}">
        <p14:creationId xmlns:p14="http://schemas.microsoft.com/office/powerpoint/2010/main" val="35146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Optimal Solutions</a:t>
            </a:r>
          </a:p>
        </p:txBody>
      </p:sp>
      <p:sp>
        <p:nvSpPr>
          <p:cNvPr id="4" name="Content Placeholder 3"/>
          <p:cNvSpPr>
            <a:spLocks noGrp="1"/>
          </p:cNvSpPr>
          <p:nvPr>
            <p:ph idx="1"/>
          </p:nvPr>
        </p:nvSpPr>
        <p:spPr/>
        <p:txBody>
          <a:bodyPr/>
          <a:lstStyle/>
          <a:p>
            <a:r>
              <a:rPr lang="tr-TR" dirty="0"/>
              <a:t>What if we didn’t have the second and third constraints?</a:t>
            </a:r>
          </a:p>
          <a:p>
            <a:r>
              <a:rPr lang="tr-TR" dirty="0"/>
              <a:t>The new model is</a:t>
            </a:r>
            <a:endParaRPr lang="en-US" dirty="0"/>
          </a:p>
          <a:p>
            <a:endParaRPr lang="en-US" dirty="0"/>
          </a:p>
        </p:txBody>
      </p:sp>
      <p:sp>
        <p:nvSpPr>
          <p:cNvPr id="9" name="Footer Placeholder 8">
            <a:extLst>
              <a:ext uri="{FF2B5EF4-FFF2-40B4-BE49-F238E27FC236}">
                <a16:creationId xmlns:a16="http://schemas.microsoft.com/office/drawing/2014/main" id="{6383687F-67EA-4307-9D02-FCBF7BCF432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mc:Choice xmlns:a14="http://schemas.microsoft.com/office/drawing/2010/main" Requires="a14">
          <p:graphicFrame>
            <p:nvGraphicFramePr>
              <p:cNvPr id="7" name="Table 6"/>
              <p:cNvGraphicFramePr>
                <a:graphicFrameLocks noGrp="1"/>
              </p:cNvGraphicFramePr>
              <p:nvPr>
                <p:extLst>
                  <p:ext uri="{D42A27DB-BD31-4B8C-83A1-F6EECF244321}">
                    <p14:modId xmlns:p14="http://schemas.microsoft.com/office/powerpoint/2010/main" val="389616473"/>
                  </p:ext>
                </p:extLst>
              </p:nvPr>
            </p:nvGraphicFramePr>
            <p:xfrm>
              <a:off x="3892840" y="2921862"/>
              <a:ext cx="4406320" cy="13716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en-US"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p:graphicFrame>
            <p:nvGraphicFramePr>
              <p:cNvPr id="7" name="Table 6"/>
              <p:cNvGraphicFramePr>
                <a:graphicFrameLocks noGrp="1"/>
              </p:cNvGraphicFramePr>
              <p:nvPr>
                <p:extLst>
                  <p:ext uri="{D42A27DB-BD31-4B8C-83A1-F6EECF244321}">
                    <p14:modId xmlns:p14="http://schemas.microsoft.com/office/powerpoint/2010/main" val="389616473"/>
                  </p:ext>
                </p:extLst>
              </p:nvPr>
            </p:nvGraphicFramePr>
            <p:xfrm>
              <a:off x="3892840" y="2921862"/>
              <a:ext cx="4406320" cy="13716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endParaRPr lang="en-US"/>
                        </a:p>
                      </a:txBody>
                      <a:tcPr>
                        <a:blipFill>
                          <a:blip r:embed="rId2"/>
                          <a:stretch>
                            <a:fillRect t="-10667" r="-194309" b="-230667"/>
                          </a:stretch>
                        </a:blipFill>
                      </a:tcPr>
                    </a:tc>
                    <a:tc>
                      <a:txBody>
                        <a:bodyPr/>
                        <a:lstStyle/>
                        <a:p>
                          <a:endParaRPr lang="en-US"/>
                        </a:p>
                      </a:txBody>
                      <a:tcPr>
                        <a:blipFill>
                          <a:blip r:embed="rId2"/>
                          <a:stretch>
                            <a:fillRect l="-195238" t="-10667" r="-279365" b="-230667"/>
                          </a:stretch>
                        </a:blipFill>
                      </a:tcPr>
                    </a:tc>
                    <a:tc>
                      <a:txBody>
                        <a:bodyPr/>
                        <a:lstStyle/>
                        <a:p>
                          <a:endParaRPr lang="en-US"/>
                        </a:p>
                      </a:txBody>
                      <a:tcPr>
                        <a:blipFill>
                          <a:blip r:embed="rId2"/>
                          <a:stretch>
                            <a:fillRect l="-238462" t="-10667" r="-125641" b="-230667"/>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en-US"/>
                        </a:p>
                      </a:txBody>
                      <a:tcPr>
                        <a:blipFill>
                          <a:blip r:embed="rId2"/>
                          <a:stretch>
                            <a:fillRect l="-195238" t="-109211" r="-279365" b="-127632"/>
                          </a:stretch>
                        </a:blipFill>
                      </a:tcPr>
                    </a:tc>
                    <a:tc>
                      <a:txBody>
                        <a:bodyPr/>
                        <a:lstStyle/>
                        <a:p>
                          <a:pPr algn="r"/>
                          <a:endParaRPr lang="en-US" sz="2400" b="0" dirty="0"/>
                        </a:p>
                      </a:txBody>
                      <a:tcPr/>
                    </a:tc>
                    <a:tc>
                      <a:txBody>
                        <a:bodyPr/>
                        <a:lstStyle/>
                        <a:p>
                          <a:endParaRPr lang="en-US"/>
                        </a:p>
                      </a:txBody>
                      <a:tcPr>
                        <a:blipFill>
                          <a:blip r:embed="rId2"/>
                          <a:stretch>
                            <a:fillRect l="-668354" t="-109211" r="-148101" b="-127632"/>
                          </a:stretch>
                        </a:blipFill>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en-US"/>
                        </a:p>
                      </a:txBody>
                      <a:tcPr>
                        <a:blipFill>
                          <a:blip r:embed="rId2"/>
                          <a:stretch>
                            <a:fillRect l="-195238" t="-212000" r="-279365" b="-29333"/>
                          </a:stretch>
                        </a:blipFill>
                      </a:tcPr>
                    </a:tc>
                    <a:tc>
                      <a:txBody>
                        <a:bodyPr/>
                        <a:lstStyle/>
                        <a:p>
                          <a:endParaRPr lang="en-US"/>
                        </a:p>
                      </a:txBody>
                      <a:tcPr>
                        <a:blipFill>
                          <a:blip r:embed="rId2"/>
                          <a:stretch>
                            <a:fillRect l="-238462" t="-212000" r="-125641" b="-29333"/>
                          </a:stretch>
                        </a:blipFill>
                      </a:tcPr>
                    </a:tc>
                    <a:tc>
                      <a:txBody>
                        <a:bodyPr/>
                        <a:lstStyle/>
                        <a:p>
                          <a:endParaRPr lang="en-US"/>
                        </a:p>
                      </a:txBody>
                      <a:tcPr>
                        <a:blipFill>
                          <a:blip r:embed="rId2"/>
                          <a:stretch>
                            <a:fillRect l="-668354" t="-212000" r="-148101" b="-29333"/>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2472682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1075911" y="1631176"/>
            <a:ext cx="4549153" cy="4528723"/>
          </a:xfrm>
          <a:prstGeom prst="rect">
            <a:avLst/>
          </a:prstGeom>
        </p:spPr>
      </p:pic>
      <p:sp>
        <p:nvSpPr>
          <p:cNvPr id="24" name="Rectangle 23"/>
          <p:cNvSpPr/>
          <p:nvPr/>
        </p:nvSpPr>
        <p:spPr>
          <a:xfrm>
            <a:off x="1493520" y="2005583"/>
            <a:ext cx="1378888" cy="3806571"/>
          </a:xfrm>
          <a:prstGeom prst="rect">
            <a:avLst/>
          </a:prstGeom>
          <a:solidFill>
            <a:schemeClr val="bg1">
              <a:lumMod val="6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Unbounded Solutions</a:t>
            </a:r>
          </a:p>
        </p:txBody>
      </p:sp>
      <p:sp>
        <p:nvSpPr>
          <p:cNvPr id="16" name="Footer Placeholder 15">
            <a:extLst>
              <a:ext uri="{FF2B5EF4-FFF2-40B4-BE49-F238E27FC236}">
                <a16:creationId xmlns:a16="http://schemas.microsoft.com/office/drawing/2014/main" id="{702A1C14-8041-4627-BABA-EDB65BAD52C3}"/>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6" name="Straight Arrow Connector 5">
            <a:extLst>
              <a:ext uri="{FF2B5EF4-FFF2-40B4-BE49-F238E27FC236}">
                <a16:creationId xmlns:a16="http://schemas.microsoft.com/office/drawing/2014/main" id="{48AF9038-742A-46C0-A03A-25A8A929D7C3}"/>
              </a:ext>
            </a:extLst>
          </p:cNvPr>
          <p:cNvCxnSpPr/>
          <p:nvPr/>
        </p:nvCxnSpPr>
        <p:spPr>
          <a:xfrm flipV="1">
            <a:off x="3055464" y="5465734"/>
            <a:ext cx="152400" cy="1839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3E76954-3D7C-4187-908A-1F159BDF753F}"/>
              </a:ext>
            </a:extLst>
          </p:cNvPr>
          <p:cNvCxnSpPr/>
          <p:nvPr/>
        </p:nvCxnSpPr>
        <p:spPr>
          <a:xfrm flipV="1">
            <a:off x="3012059" y="4752313"/>
            <a:ext cx="152400" cy="1839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892B0E-B409-4ABF-B909-3DA13DF6AB69}"/>
              </a:ext>
            </a:extLst>
          </p:cNvPr>
          <p:cNvCxnSpPr/>
          <p:nvPr/>
        </p:nvCxnSpPr>
        <p:spPr>
          <a:xfrm flipV="1">
            <a:off x="3144980" y="3729258"/>
            <a:ext cx="152400" cy="1839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1DB341-3AC9-4821-B860-4C86F05C6F7D}"/>
              </a:ext>
            </a:extLst>
          </p:cNvPr>
          <p:cNvCxnSpPr/>
          <p:nvPr/>
        </p:nvCxnSpPr>
        <p:spPr>
          <a:xfrm flipV="1">
            <a:off x="3279038" y="2920992"/>
            <a:ext cx="152400" cy="1839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2872408" y="1828800"/>
            <a:ext cx="7952" cy="43310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p:cNvSpPr/>
              <p:nvPr/>
            </p:nvSpPr>
            <p:spPr>
              <a:xfrm>
                <a:off x="2880360" y="1809132"/>
                <a:ext cx="73161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b="0" i="1" smtClean="0">
                          <a:latin typeface="Cambria Math" panose="02040503050406030204" pitchFamily="18" charset="0"/>
                        </a:rPr>
                        <m:t>=</m:t>
                      </m:r>
                      <m:r>
                        <a:rPr lang="tr-TR" sz="1400" i="1">
                          <a:latin typeface="Cambria Math" panose="02040503050406030204" pitchFamily="18" charset="0"/>
                        </a:rPr>
                        <m:t>4</m:t>
                      </m:r>
                    </m:oMath>
                  </m:oMathPara>
                </a14:m>
                <a:endParaRPr lang="en-US" sz="1400" dirty="0"/>
              </a:p>
            </p:txBody>
          </p:sp>
        </mc:Choice>
        <mc:Fallback xmlns="">
          <p:sp>
            <p:nvSpPr>
              <p:cNvPr id="25" name="Rectangle 24"/>
              <p:cNvSpPr>
                <a:spLocks noRot="1" noChangeAspect="1" noMove="1" noResize="1" noEditPoints="1" noAdjustHandles="1" noChangeArrowheads="1" noChangeShapeType="1" noTextEdit="1"/>
              </p:cNvSpPr>
              <p:nvPr/>
            </p:nvSpPr>
            <p:spPr>
              <a:xfrm>
                <a:off x="2880360" y="1809132"/>
                <a:ext cx="731611" cy="307777"/>
              </a:xfrm>
              <a:prstGeom prst="rect">
                <a:avLst/>
              </a:prstGeom>
              <a:blipFill>
                <a:blip r:embed="rId3"/>
                <a:stretch>
                  <a:fillRect/>
                </a:stretch>
              </a:blipFill>
            </p:spPr>
            <p:txBody>
              <a:bodyPr/>
              <a:lstStyle/>
              <a:p>
                <a:r>
                  <a:rPr lang="en-US">
                    <a:noFill/>
                  </a:rPr>
                  <a:t> </a:t>
                </a:r>
              </a:p>
            </p:txBody>
          </p:sp>
        </mc:Fallback>
      </mc:AlternateContent>
      <p:cxnSp>
        <p:nvCxnSpPr>
          <p:cNvPr id="26" name="Straight Connector 25"/>
          <p:cNvCxnSpPr/>
          <p:nvPr/>
        </p:nvCxnSpPr>
        <p:spPr>
          <a:xfrm>
            <a:off x="811291" y="4343769"/>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38713" y="3715295"/>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075911" y="2695720"/>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213109" y="1862715"/>
            <a:ext cx="2770109" cy="166600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3079FBB-C9E0-4192-95C8-63703465D054}"/>
                  </a:ext>
                </a:extLst>
              </p:cNvPr>
              <p:cNvSpPr txBox="1"/>
              <p:nvPr/>
            </p:nvSpPr>
            <p:spPr>
              <a:xfrm>
                <a:off x="6748577" y="1828800"/>
                <a:ext cx="4320301" cy="4154984"/>
              </a:xfrm>
              <a:prstGeom prst="rect">
                <a:avLst/>
              </a:prstGeom>
              <a:noFill/>
            </p:spPr>
            <p:txBody>
              <a:bodyPr wrap="square" rtlCol="0">
                <a:spAutoFit/>
              </a:bodyPr>
              <a:lstStyle/>
              <a:p>
                <a:pPr marL="342900" indent="-342900">
                  <a:buFont typeface="Arial" panose="020B0604020202020204" pitchFamily="34" charset="0"/>
                  <a:buChar char="•"/>
                </a:pPr>
                <a:r>
                  <a:rPr lang="tr-TR" sz="2400" dirty="0"/>
                  <a:t>The problem would have no optimal solutions, because </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r>
                  <a:rPr lang="tr-TR" sz="2400" dirty="0"/>
                  <a:t> could be increased indefinitely.</a:t>
                </a:r>
              </a:p>
              <a:p>
                <a:pPr marL="342900" indent="-342900">
                  <a:buFont typeface="Arial" panose="020B0604020202020204" pitchFamily="34" charset="0"/>
                  <a:buChar char="•"/>
                </a:pPr>
                <a:r>
                  <a:rPr lang="tr-TR" sz="2400" dirty="0"/>
                  <a:t>The problem is unbounded.</a:t>
                </a:r>
              </a:p>
              <a:p>
                <a:pPr marL="342900" indent="-342900">
                  <a:buFont typeface="Arial" panose="020B0604020202020204" pitchFamily="34" charset="0"/>
                  <a:buChar char="•"/>
                </a:pPr>
                <a:r>
                  <a:rPr lang="tr-TR" sz="2400" dirty="0"/>
                  <a:t>Note: If you have an unbounded problem, most probably you forgot some constraints, since generally we don’t have unbounded problems in real life. </a:t>
                </a:r>
              </a:p>
            </p:txBody>
          </p:sp>
        </mc:Choice>
        <mc:Fallback xmlns="">
          <p:sp>
            <p:nvSpPr>
              <p:cNvPr id="31" name="TextBox 30">
                <a:extLst>
                  <a:ext uri="{FF2B5EF4-FFF2-40B4-BE49-F238E27FC236}">
                    <a16:creationId xmlns:a16="http://schemas.microsoft.com/office/drawing/2014/main" id="{23079FBB-C9E0-4192-95C8-63703465D054}"/>
                  </a:ext>
                </a:extLst>
              </p:cNvPr>
              <p:cNvSpPr txBox="1">
                <a:spLocks noRot="1" noChangeAspect="1" noMove="1" noResize="1" noEditPoints="1" noAdjustHandles="1" noChangeArrowheads="1" noChangeShapeType="1" noTextEdit="1"/>
              </p:cNvSpPr>
              <p:nvPr/>
            </p:nvSpPr>
            <p:spPr>
              <a:xfrm>
                <a:off x="6748577" y="1828800"/>
                <a:ext cx="4320301" cy="4154984"/>
              </a:xfrm>
              <a:prstGeom prst="rect">
                <a:avLst/>
              </a:prstGeom>
              <a:blipFill>
                <a:blip r:embed="rId4"/>
                <a:stretch>
                  <a:fillRect l="-1834" t="-1173" r="-3103" b="-2346"/>
                </a:stretch>
              </a:blipFill>
            </p:spPr>
            <p:txBody>
              <a:bodyPr/>
              <a:lstStyle/>
              <a:p>
                <a:r>
                  <a:rPr lang="en-US">
                    <a:noFill/>
                  </a:rPr>
                  <a:t> </a:t>
                </a:r>
              </a:p>
            </p:txBody>
          </p:sp>
        </mc:Fallback>
      </mc:AlternateContent>
    </p:spTree>
    <p:extLst>
      <p:ext uri="{BB962C8B-B14F-4D97-AF65-F5344CB8AC3E}">
        <p14:creationId xmlns:p14="http://schemas.microsoft.com/office/powerpoint/2010/main" val="4242975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Insights Gained - Graphical Method</a:t>
            </a:r>
          </a:p>
        </p:txBody>
      </p:sp>
      <p:sp>
        <p:nvSpPr>
          <p:cNvPr id="3" name="Content Placeholder 2"/>
          <p:cNvSpPr>
            <a:spLocks noGrp="1"/>
          </p:cNvSpPr>
          <p:nvPr>
            <p:ph idx="1"/>
          </p:nvPr>
        </p:nvSpPr>
        <p:spPr/>
        <p:txBody>
          <a:bodyPr>
            <a:normAutofit fontScale="92500" lnSpcReduction="20000"/>
          </a:bodyPr>
          <a:lstStyle/>
          <a:p>
            <a:r>
              <a:rPr lang="en-US" sz="3000" dirty="0"/>
              <a:t>Unfortunately graphical methods cannot be extended handle problems with more than three variables (each dimension for one variable)</a:t>
            </a:r>
          </a:p>
          <a:p>
            <a:r>
              <a:rPr lang="en-US" sz="3000" dirty="0"/>
              <a:t>Understanding graphical method provides critical insights</a:t>
            </a:r>
          </a:p>
          <a:p>
            <a:r>
              <a:rPr lang="en-US" sz="3000" dirty="0"/>
              <a:t>Feasible region have a particular geometry, always a convex polytope (no matter the size and problem parameters). </a:t>
            </a:r>
            <a:endParaRPr lang="tr-TR" sz="3000" dirty="0"/>
          </a:p>
          <a:p>
            <a:r>
              <a:rPr lang="en-US" sz="3000" dirty="0"/>
              <a:t>The optimal solutions are always at the corner points, or extreme points.</a:t>
            </a:r>
          </a:p>
          <a:p>
            <a:r>
              <a:rPr lang="en-US" sz="3000" dirty="0"/>
              <a:t>Simplex algorithm exploits this property and moves around the extreme points to find the optimal solution</a:t>
            </a:r>
          </a:p>
          <a:p>
            <a:r>
              <a:rPr lang="en-US" sz="3000" dirty="0"/>
              <a:t>If multiple optimal solutions exist, then it has at least two extreme point optimal solutions</a:t>
            </a:r>
          </a:p>
          <a:p>
            <a:r>
              <a:rPr lang="en-US" sz="3000" dirty="0"/>
              <a:t>Slope of the objective function determines the optimal solution</a:t>
            </a:r>
          </a:p>
          <a:p>
            <a:endParaRPr lang="en-US" sz="3000" dirty="0"/>
          </a:p>
          <a:p>
            <a:endParaRPr lang="en-US" sz="3200" dirty="0"/>
          </a:p>
          <a:p>
            <a:pPr marL="114300" indent="0">
              <a:buNone/>
            </a:pPr>
            <a:endParaRPr lang="en-US" dirty="0"/>
          </a:p>
          <a:p>
            <a:pPr marL="114300" indent="0">
              <a:buNone/>
            </a:pPr>
            <a:endParaRPr lang="en-US" dirty="0"/>
          </a:p>
          <a:p>
            <a:pPr marL="114300" indent="0">
              <a:buNone/>
            </a:pPr>
            <a:endParaRPr lang="en-US" dirty="0"/>
          </a:p>
        </p:txBody>
      </p:sp>
      <p:sp>
        <p:nvSpPr>
          <p:cNvPr id="6" name="Footer Placeholder 5">
            <a:extLst>
              <a:ext uri="{FF2B5EF4-FFF2-40B4-BE49-F238E27FC236}">
                <a16:creationId xmlns:a16="http://schemas.microsoft.com/office/drawing/2014/main" id="{C3FC87AC-A541-4D93-8946-110246D2FEBF}"/>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732619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7" name="Picture 6">
            <a:extLst>
              <a:ext uri="{FF2B5EF4-FFF2-40B4-BE49-F238E27FC236}">
                <a16:creationId xmlns:a16="http://schemas.microsoft.com/office/drawing/2014/main" id="{68E19D48-607F-4B7B-8FFB-9835D4020634}"/>
              </a:ext>
            </a:extLst>
          </p:cNvPr>
          <p:cNvPicPr>
            <a:picLocks noChangeAspect="1"/>
          </p:cNvPicPr>
          <p:nvPr/>
        </p:nvPicPr>
        <p:blipFill>
          <a:blip r:embed="rId2"/>
          <a:stretch>
            <a:fillRect/>
          </a:stretch>
        </p:blipFill>
        <p:spPr>
          <a:xfrm>
            <a:off x="2286000" y="1371601"/>
            <a:ext cx="6705600" cy="4580095"/>
          </a:xfrm>
          <a:prstGeom prst="rect">
            <a:avLst/>
          </a:prstGeom>
        </p:spPr>
      </p:pic>
    </p:spTree>
    <p:extLst>
      <p:ext uri="{BB962C8B-B14F-4D97-AF65-F5344CB8AC3E}">
        <p14:creationId xmlns:p14="http://schemas.microsoft.com/office/powerpoint/2010/main" val="270033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1152525" y="1406837"/>
            <a:ext cx="9906000" cy="769441"/>
          </a:xfrm>
          <a:prstGeom prst="rect">
            <a:avLst/>
          </a:prstGeom>
          <a:noFill/>
        </p:spPr>
        <p:txBody>
          <a:bodyPr wrap="square" rtlCol="0">
            <a:spAutoFit/>
          </a:bodyPr>
          <a:lstStyle/>
          <a:p>
            <a:pPr marL="285750" indent="-285750">
              <a:buFont typeface="Arial" panose="020B0604020202020204" pitchFamily="34" charset="0"/>
              <a:buChar char="•"/>
            </a:pPr>
            <a:r>
              <a:rPr lang="en-US" sz="2200" dirty="0"/>
              <a:t>Write the constraints and objective functions using formulas as shown below</a:t>
            </a:r>
          </a:p>
          <a:p>
            <a:pPr marL="285750" indent="-285750">
              <a:buFont typeface="Arial" panose="020B0604020202020204" pitchFamily="34" charset="0"/>
              <a:buChar char="•"/>
            </a:pPr>
            <a:r>
              <a:rPr lang="en-US" sz="2200" dirty="0"/>
              <a:t>Initial values for decision variables can be set to 0</a:t>
            </a:r>
          </a:p>
        </p:txBody>
      </p:sp>
      <p:pic>
        <p:nvPicPr>
          <p:cNvPr id="7" name="Picture 6"/>
          <p:cNvPicPr>
            <a:picLocks noChangeAspect="1"/>
          </p:cNvPicPr>
          <p:nvPr/>
        </p:nvPicPr>
        <p:blipFill>
          <a:blip r:embed="rId2"/>
          <a:stretch>
            <a:fillRect/>
          </a:stretch>
        </p:blipFill>
        <p:spPr>
          <a:xfrm>
            <a:off x="5586413" y="2419336"/>
            <a:ext cx="5767387" cy="2724711"/>
          </a:xfrm>
          <a:prstGeom prst="rect">
            <a:avLst/>
          </a:prstGeom>
        </p:spPr>
      </p:pic>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617812635"/>
                  </p:ext>
                </p:extLst>
              </p:nvPr>
            </p:nvGraphicFramePr>
            <p:xfrm>
              <a:off x="1180093" y="2858047"/>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5</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a:t>
                          </a:r>
                          <a:endParaRPr lang="en-US" sz="24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12</a:t>
                          </a:r>
                          <a:endParaRPr lang="en-US" sz="24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18</a:t>
                          </a:r>
                          <a:endParaRPr lang="en-US" sz="24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617812635"/>
                  </p:ext>
                </p:extLst>
              </p:nvPr>
            </p:nvGraphicFramePr>
            <p:xfrm>
              <a:off x="1180093" y="2858047"/>
              <a:ext cx="4406320" cy="2286000"/>
            </p:xfrm>
            <a:graphic>
              <a:graphicData uri="http://schemas.openxmlformats.org/drawingml/2006/table">
                <a:tbl>
                  <a:tblPr firstRow="1" bandRow="1">
                    <a:tableStyleId>{2D5ABB26-0587-4C30-8999-92F81FD0307C}</a:tableStyleId>
                  </a:tblPr>
                  <a:tblGrid>
                    <a:gridCol w="1494346">
                      <a:extLst>
                        <a:ext uri="{9D8B030D-6E8A-4147-A177-3AD203B41FA5}">
                          <a16:colId xmlns:a16="http://schemas.microsoft.com/office/drawing/2014/main" val="3888021187"/>
                        </a:ext>
                      </a:extLst>
                    </a:gridCol>
                    <a:gridCol w="771271">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4365">
                      <a:extLst>
                        <a:ext uri="{9D8B030D-6E8A-4147-A177-3AD203B41FA5}">
                          <a16:colId xmlns:a16="http://schemas.microsoft.com/office/drawing/2014/main" val="3407547115"/>
                        </a:ext>
                      </a:extLst>
                    </a:gridCol>
                  </a:tblGrid>
                  <a:tr h="457200">
                    <a:tc>
                      <a:txBody>
                        <a:bodyPr/>
                        <a:lstStyle/>
                        <a:p>
                          <a:endParaRPr lang="tr-TR"/>
                        </a:p>
                      </a:txBody>
                      <a:tcPr>
                        <a:blipFill>
                          <a:blip r:embed="rId3"/>
                          <a:stretch>
                            <a:fillRect t="-9333" r="-194309" b="-432000"/>
                          </a:stretch>
                        </a:blipFill>
                      </a:tcPr>
                    </a:tc>
                    <a:tc>
                      <a:txBody>
                        <a:bodyPr/>
                        <a:lstStyle/>
                        <a:p>
                          <a:endParaRPr lang="tr-TR"/>
                        </a:p>
                      </a:txBody>
                      <a:tcPr>
                        <a:blipFill>
                          <a:blip r:embed="rId3"/>
                          <a:stretch>
                            <a:fillRect l="-195238" t="-9333" r="-279365" b="-432000"/>
                          </a:stretch>
                        </a:blipFill>
                      </a:tcPr>
                    </a:tc>
                    <a:tc>
                      <a:txBody>
                        <a:bodyPr/>
                        <a:lstStyle/>
                        <a:p>
                          <a:endParaRPr lang="tr-TR"/>
                        </a:p>
                      </a:txBody>
                      <a:tcPr>
                        <a:blipFill>
                          <a:blip r:embed="rId3"/>
                          <a:stretch>
                            <a:fillRect l="-238462" t="-9333" r="-125641" b="-432000"/>
                          </a:stretch>
                        </a:blipFill>
                      </a:tcPr>
                    </a:tc>
                    <a:tc>
                      <a:txBody>
                        <a:bodyPr/>
                        <a:lstStyle/>
                        <a:p>
                          <a:endParaRPr lang="en-US" sz="2400" b="0"/>
                        </a:p>
                      </a:txBody>
                      <a:tcPr/>
                    </a:tc>
                    <a:tc>
                      <a:txBody>
                        <a:bodyPr/>
                        <a:lstStyle/>
                        <a:p>
                          <a:endParaRPr lang="en-US" sz="24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3"/>
                          <a:stretch>
                            <a:fillRect l="-195238" t="-109333" r="-279365" b="-332000"/>
                          </a:stretch>
                        </a:blipFill>
                      </a:tcPr>
                    </a:tc>
                    <a:tc>
                      <a:txBody>
                        <a:bodyPr/>
                        <a:lstStyle/>
                        <a:p>
                          <a:pPr algn="r"/>
                          <a:endParaRPr lang="en-US" sz="2400" b="0" dirty="0"/>
                        </a:p>
                      </a:txBody>
                      <a:tcPr/>
                    </a:tc>
                    <a:tc>
                      <a:txBody>
                        <a:bodyPr/>
                        <a:lstStyle/>
                        <a:p>
                          <a:endParaRPr lang="tr-TR"/>
                        </a:p>
                      </a:txBody>
                      <a:tcPr>
                        <a:blipFill>
                          <a:blip r:embed="rId3"/>
                          <a:stretch>
                            <a:fillRect l="-668354" t="-109333" r="-148101" b="-332000"/>
                          </a:stretch>
                        </a:blipFill>
                      </a:tcPr>
                    </a:tc>
                    <a:tc>
                      <a:txBody>
                        <a:bodyPr/>
                        <a:lstStyle/>
                        <a:p>
                          <a:r>
                            <a:rPr lang="tr-TR" sz="2400" b="0" dirty="0" smtClean="0"/>
                            <a:t>4</a:t>
                          </a:r>
                          <a:endParaRPr lang="en-US" sz="24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pPr algn="r"/>
                          <a:endParaRPr lang="en-US" sz="2400" b="0" dirty="0"/>
                        </a:p>
                      </a:txBody>
                      <a:tcPr/>
                    </a:tc>
                    <a:tc>
                      <a:txBody>
                        <a:bodyPr/>
                        <a:lstStyle/>
                        <a:p>
                          <a:endParaRPr lang="tr-TR"/>
                        </a:p>
                      </a:txBody>
                      <a:tcPr>
                        <a:blipFill>
                          <a:blip r:embed="rId3"/>
                          <a:stretch>
                            <a:fillRect l="-238462" t="-206579" r="-125641" b="-227632"/>
                          </a:stretch>
                        </a:blipFill>
                      </a:tcPr>
                    </a:tc>
                    <a:tc>
                      <a:txBody>
                        <a:bodyPr/>
                        <a:lstStyle/>
                        <a:p>
                          <a:endParaRPr lang="tr-TR"/>
                        </a:p>
                      </a:txBody>
                      <a:tcPr>
                        <a:blipFill>
                          <a:blip r:embed="rId3"/>
                          <a:stretch>
                            <a:fillRect l="-668354" t="-206579" r="-148101" b="-227632"/>
                          </a:stretch>
                        </a:blipFill>
                      </a:tcPr>
                    </a:tc>
                    <a:tc>
                      <a:txBody>
                        <a:bodyPr/>
                        <a:lstStyle/>
                        <a:p>
                          <a:r>
                            <a:rPr lang="tr-TR" sz="2400" b="0" dirty="0" smtClean="0"/>
                            <a:t>12</a:t>
                          </a:r>
                          <a:endParaRPr lang="en-US" sz="24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3"/>
                          <a:stretch>
                            <a:fillRect l="-195238" t="-310667" r="-279365" b="-130667"/>
                          </a:stretch>
                        </a:blipFill>
                      </a:tcPr>
                    </a:tc>
                    <a:tc>
                      <a:txBody>
                        <a:bodyPr/>
                        <a:lstStyle/>
                        <a:p>
                          <a:endParaRPr lang="tr-TR"/>
                        </a:p>
                      </a:txBody>
                      <a:tcPr>
                        <a:blipFill>
                          <a:blip r:embed="rId3"/>
                          <a:stretch>
                            <a:fillRect l="-238462" t="-310667" r="-125641" b="-130667"/>
                          </a:stretch>
                        </a:blipFill>
                      </a:tcPr>
                    </a:tc>
                    <a:tc>
                      <a:txBody>
                        <a:bodyPr/>
                        <a:lstStyle/>
                        <a:p>
                          <a:endParaRPr lang="tr-TR"/>
                        </a:p>
                      </a:txBody>
                      <a:tcPr>
                        <a:blipFill>
                          <a:blip r:embed="rId3"/>
                          <a:stretch>
                            <a:fillRect l="-668354" t="-310667" r="-148101" b="-130667"/>
                          </a:stretch>
                        </a:blipFill>
                      </a:tcPr>
                    </a:tc>
                    <a:tc>
                      <a:txBody>
                        <a:bodyPr/>
                        <a:lstStyle/>
                        <a:p>
                          <a:r>
                            <a:rPr lang="tr-TR" sz="2400" b="0" dirty="0" smtClean="0"/>
                            <a:t>18</a:t>
                          </a:r>
                          <a:endParaRPr lang="en-US" sz="24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3"/>
                          <a:stretch>
                            <a:fillRect l="-195238" t="-410667" r="-279365" b="-30667"/>
                          </a:stretch>
                        </a:blipFill>
                      </a:tcPr>
                    </a:tc>
                    <a:tc>
                      <a:txBody>
                        <a:bodyPr/>
                        <a:lstStyle/>
                        <a:p>
                          <a:endParaRPr lang="tr-TR"/>
                        </a:p>
                      </a:txBody>
                      <a:tcPr>
                        <a:blipFill>
                          <a:blip r:embed="rId3"/>
                          <a:stretch>
                            <a:fillRect l="-238462" t="-410667" r="-125641" b="-30667"/>
                          </a:stretch>
                        </a:blipFill>
                      </a:tcPr>
                    </a:tc>
                    <a:tc>
                      <a:txBody>
                        <a:bodyPr/>
                        <a:lstStyle/>
                        <a:p>
                          <a:endParaRPr lang="tr-TR"/>
                        </a:p>
                      </a:txBody>
                      <a:tcPr>
                        <a:blipFill>
                          <a:blip r:embed="rId3"/>
                          <a:stretch>
                            <a:fillRect l="-668354" t="-410667" r="-148101" b="-30667"/>
                          </a:stretch>
                        </a:blipFill>
                      </a:tcPr>
                    </a:tc>
                    <a:tc>
                      <a:txBody>
                        <a:bodyPr/>
                        <a:lstStyle/>
                        <a:p>
                          <a:r>
                            <a:rPr lang="tr-TR" sz="2400" b="0" dirty="0"/>
                            <a:t>0</a:t>
                          </a:r>
                          <a:endParaRPr lang="en-US" sz="24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4086192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952500" y="1456281"/>
            <a:ext cx="5200650" cy="430887"/>
          </a:xfrm>
          <a:prstGeom prst="rect">
            <a:avLst/>
          </a:prstGeom>
          <a:noFill/>
        </p:spPr>
        <p:txBody>
          <a:bodyPr wrap="square" rtlCol="0">
            <a:spAutoFit/>
          </a:bodyPr>
          <a:lstStyle/>
          <a:p>
            <a:pPr marL="285750" indent="-285750">
              <a:buFont typeface="Arial" panose="020B0604020202020204" pitchFamily="34" charset="0"/>
              <a:buChar char="•"/>
            </a:pPr>
            <a:r>
              <a:rPr lang="tr-TR" sz="2200" dirty="0"/>
              <a:t>Go to Data Tab and </a:t>
            </a:r>
            <a:r>
              <a:rPr lang="en-US" sz="2200" dirty="0"/>
              <a:t>Open Solver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75" y="2031631"/>
            <a:ext cx="10499761" cy="4035793"/>
          </a:xfrm>
          <a:prstGeom prst="rect">
            <a:avLst/>
          </a:prstGeom>
        </p:spPr>
      </p:pic>
    </p:spTree>
    <p:extLst>
      <p:ext uri="{BB962C8B-B14F-4D97-AF65-F5344CB8AC3E}">
        <p14:creationId xmlns:p14="http://schemas.microsoft.com/office/powerpoint/2010/main" val="657305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838200" y="1507208"/>
            <a:ext cx="4933950"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t>Set Objective = Objective function cell</a:t>
            </a:r>
            <a:r>
              <a:rPr lang="tr-TR" sz="2200" dirty="0"/>
              <a:t>.</a:t>
            </a:r>
            <a:endParaRPr lang="en-US" sz="2200" dirty="0"/>
          </a:p>
          <a:p>
            <a:pPr marL="285750" indent="-285750">
              <a:buFont typeface="Arial" panose="020B0604020202020204" pitchFamily="34" charset="0"/>
              <a:buChar char="•"/>
            </a:pPr>
            <a:r>
              <a:rPr lang="en-US" sz="2200" dirty="0"/>
              <a:t>Set to Maximization or minimization depending on the problem</a:t>
            </a:r>
            <a:r>
              <a:rPr lang="tr-TR" sz="2200" dirty="0"/>
              <a:t>.</a:t>
            </a:r>
            <a:endParaRPr lang="en-US" sz="2200" dirty="0"/>
          </a:p>
          <a:p>
            <a:pPr marL="285750" indent="-285750">
              <a:buFont typeface="Arial" panose="020B0604020202020204" pitchFamily="34" charset="0"/>
              <a:buChar char="•"/>
            </a:pPr>
            <a:r>
              <a:rPr lang="en-US" sz="2200" dirty="0"/>
              <a:t>By changing variable cells will be your decision variables</a:t>
            </a:r>
            <a:r>
              <a:rPr lang="tr-TR" sz="2200" dirty="0"/>
              <a:t>.</a:t>
            </a:r>
            <a:endParaRPr lang="en-US" sz="2200" dirty="0"/>
          </a:p>
          <a:p>
            <a:pPr marL="285750" indent="-285750">
              <a:buFont typeface="Arial" panose="020B0604020202020204" pitchFamily="34" charset="0"/>
              <a:buChar char="•"/>
            </a:pPr>
            <a:r>
              <a:rPr lang="en-US" sz="2200" dirty="0"/>
              <a:t>Solving methods should be Simplex LP</a:t>
            </a:r>
            <a:r>
              <a:rPr lang="tr-TR" sz="2200" dirty="0"/>
              <a:t>.</a:t>
            </a:r>
          </a:p>
          <a:p>
            <a:pPr marL="285750" indent="-285750">
              <a:buFont typeface="Arial" panose="020B0604020202020204" pitchFamily="34" charset="0"/>
              <a:buChar char="•"/>
            </a:pPr>
            <a:r>
              <a:rPr lang="en-US" sz="2200" dirty="0"/>
              <a:t>To add constraints click add</a:t>
            </a:r>
          </a:p>
        </p:txBody>
      </p:sp>
      <p:pic>
        <p:nvPicPr>
          <p:cNvPr id="5" name="Picture 4"/>
          <p:cNvPicPr>
            <a:picLocks noChangeAspect="1"/>
          </p:cNvPicPr>
          <p:nvPr/>
        </p:nvPicPr>
        <p:blipFill>
          <a:blip r:embed="rId2"/>
          <a:stretch>
            <a:fillRect/>
          </a:stretch>
        </p:blipFill>
        <p:spPr>
          <a:xfrm>
            <a:off x="6023135" y="1393825"/>
            <a:ext cx="5330665" cy="4962525"/>
          </a:xfrm>
          <a:prstGeom prst="rect">
            <a:avLst/>
          </a:prstGeom>
        </p:spPr>
      </p:pic>
    </p:spTree>
    <p:extLst>
      <p:ext uri="{BB962C8B-B14F-4D97-AF65-F5344CB8AC3E}">
        <p14:creationId xmlns:p14="http://schemas.microsoft.com/office/powerpoint/2010/main" val="2796247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752474" y="1783343"/>
            <a:ext cx="3733801" cy="1785104"/>
          </a:xfrm>
          <a:prstGeom prst="rect">
            <a:avLst/>
          </a:prstGeom>
          <a:noFill/>
        </p:spPr>
        <p:txBody>
          <a:bodyPr wrap="square" rtlCol="0">
            <a:spAutoFit/>
          </a:bodyPr>
          <a:lstStyle/>
          <a:p>
            <a:pPr marL="285750" indent="-285750">
              <a:buFont typeface="Arial" panose="020B0604020202020204" pitchFamily="34" charset="0"/>
              <a:buChar char="•"/>
            </a:pPr>
            <a:r>
              <a:rPr lang="en-US" sz="2200" dirty="0"/>
              <a:t>Choose cells</a:t>
            </a:r>
            <a:r>
              <a:rPr lang="tr-TR" sz="2200" dirty="0"/>
              <a:t>.</a:t>
            </a:r>
            <a:endParaRPr lang="en-US" sz="2200" dirty="0"/>
          </a:p>
          <a:p>
            <a:pPr marL="285750" indent="-285750">
              <a:buFont typeface="Arial" panose="020B0604020202020204" pitchFamily="34" charset="0"/>
              <a:buChar char="•"/>
            </a:pPr>
            <a:r>
              <a:rPr lang="en-US" sz="2200" dirty="0"/>
              <a:t>Cells on the left will be the ones with formulas</a:t>
            </a:r>
            <a:r>
              <a:rPr lang="tr-TR" sz="2200" dirty="0"/>
              <a:t>.</a:t>
            </a:r>
          </a:p>
          <a:p>
            <a:pPr marL="285750" indent="-285750">
              <a:buFont typeface="Arial" panose="020B0604020202020204" pitchFamily="34" charset="0"/>
              <a:buChar char="•"/>
            </a:pPr>
            <a:r>
              <a:rPr lang="tr-TR" sz="2200" dirty="0"/>
              <a:t>You can also add constraints one by one.</a:t>
            </a:r>
            <a:endParaRPr lang="en-US" sz="2200" dirty="0"/>
          </a:p>
        </p:txBody>
      </p:sp>
      <p:pic>
        <p:nvPicPr>
          <p:cNvPr id="7" name="Picture 6"/>
          <p:cNvPicPr>
            <a:picLocks noChangeAspect="1"/>
          </p:cNvPicPr>
          <p:nvPr/>
        </p:nvPicPr>
        <p:blipFill>
          <a:blip r:embed="rId2"/>
          <a:stretch>
            <a:fillRect/>
          </a:stretch>
        </p:blipFill>
        <p:spPr>
          <a:xfrm>
            <a:off x="4566088" y="1566676"/>
            <a:ext cx="6957119" cy="3576824"/>
          </a:xfrm>
          <a:prstGeom prst="rect">
            <a:avLst/>
          </a:prstGeom>
        </p:spPr>
      </p:pic>
      <p:sp>
        <p:nvSpPr>
          <p:cNvPr id="8" name="Rectangle 7"/>
          <p:cNvSpPr/>
          <p:nvPr/>
        </p:nvSpPr>
        <p:spPr>
          <a:xfrm>
            <a:off x="8629650" y="2113322"/>
            <a:ext cx="895350" cy="14954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8" idx="2"/>
          </p:cNvCxnSpPr>
          <p:nvPr/>
        </p:nvCxnSpPr>
        <p:spPr>
          <a:xfrm flipH="1">
            <a:off x="8015287" y="3608747"/>
            <a:ext cx="1062038" cy="75370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5" idx="2"/>
          </p:cNvCxnSpPr>
          <p:nvPr/>
        </p:nvCxnSpPr>
        <p:spPr>
          <a:xfrm flipH="1">
            <a:off x="10220325" y="3608747"/>
            <a:ext cx="595314" cy="5466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0367964" y="2113322"/>
            <a:ext cx="895350" cy="14954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361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904875" y="1307067"/>
            <a:ext cx="3962400" cy="430887"/>
          </a:xfrm>
          <a:prstGeom prst="rect">
            <a:avLst/>
          </a:prstGeom>
          <a:noFill/>
        </p:spPr>
        <p:txBody>
          <a:bodyPr wrap="square" rtlCol="0">
            <a:spAutoFit/>
          </a:bodyPr>
          <a:lstStyle/>
          <a:p>
            <a:pPr marL="285750" indent="-285750">
              <a:buFont typeface="Arial" panose="020B0604020202020204" pitchFamily="34" charset="0"/>
              <a:buChar char="•"/>
            </a:pPr>
            <a:r>
              <a:rPr lang="en-US" sz="2200" dirty="0"/>
              <a:t>Click Solve</a:t>
            </a:r>
          </a:p>
        </p:txBody>
      </p:sp>
      <p:pic>
        <p:nvPicPr>
          <p:cNvPr id="7" name="Picture 6"/>
          <p:cNvPicPr>
            <a:picLocks noChangeAspect="1"/>
          </p:cNvPicPr>
          <p:nvPr/>
        </p:nvPicPr>
        <p:blipFill>
          <a:blip r:embed="rId2"/>
          <a:stretch>
            <a:fillRect/>
          </a:stretch>
        </p:blipFill>
        <p:spPr>
          <a:xfrm>
            <a:off x="3136057" y="1374775"/>
            <a:ext cx="5326905" cy="4981575"/>
          </a:xfrm>
          <a:prstGeom prst="rect">
            <a:avLst/>
          </a:prstGeom>
        </p:spPr>
      </p:pic>
    </p:spTree>
    <p:extLst>
      <p:ext uri="{BB962C8B-B14F-4D97-AF65-F5344CB8AC3E}">
        <p14:creationId xmlns:p14="http://schemas.microsoft.com/office/powerpoint/2010/main" val="577411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67B6AF-3D63-42BC-B93B-2A74A3D79214}"/>
              </a:ext>
            </a:extLst>
          </p:cNvPr>
          <p:cNvSpPr>
            <a:spLocks noGrp="1"/>
          </p:cNvSpPr>
          <p:nvPr>
            <p:ph type="title"/>
          </p:nvPr>
        </p:nvSpPr>
        <p:spPr/>
        <p:txBody>
          <a:bodyPr>
            <a:normAutofit/>
          </a:bodyPr>
          <a:lstStyle/>
          <a:p>
            <a:r>
              <a:rPr lang="en-US" dirty="0"/>
              <a:t>Example – </a:t>
            </a:r>
            <a:r>
              <a:rPr lang="tr-TR" dirty="0"/>
              <a:t>Wyndco</a:t>
            </a:r>
            <a:r>
              <a:rPr lang="en-US" dirty="0"/>
              <a:t> – EXCEL SOLVER</a:t>
            </a:r>
          </a:p>
        </p:txBody>
      </p:sp>
      <p:sp>
        <p:nvSpPr>
          <p:cNvPr id="4" name="Footer Placeholder 3">
            <a:extLst>
              <a:ext uri="{FF2B5EF4-FFF2-40B4-BE49-F238E27FC236}">
                <a16:creationId xmlns:a16="http://schemas.microsoft.com/office/drawing/2014/main" id="{96584165-DFF7-4896-B9AE-002BE80E302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3" name="TextBox 2">
            <a:extLst>
              <a:ext uri="{FF2B5EF4-FFF2-40B4-BE49-F238E27FC236}">
                <a16:creationId xmlns:a16="http://schemas.microsoft.com/office/drawing/2014/main" id="{DF46DD4F-CA76-4B37-A621-5C423EC99700}"/>
              </a:ext>
            </a:extLst>
          </p:cNvPr>
          <p:cNvSpPr txBox="1"/>
          <p:nvPr/>
        </p:nvSpPr>
        <p:spPr>
          <a:xfrm>
            <a:off x="1057274" y="1428750"/>
            <a:ext cx="4810125" cy="430887"/>
          </a:xfrm>
          <a:prstGeom prst="rect">
            <a:avLst/>
          </a:prstGeom>
          <a:noFill/>
        </p:spPr>
        <p:txBody>
          <a:bodyPr wrap="square" rtlCol="0">
            <a:spAutoFit/>
          </a:bodyPr>
          <a:lstStyle/>
          <a:p>
            <a:pPr marL="285750" indent="-285750">
              <a:buFont typeface="Arial" panose="020B0604020202020204" pitchFamily="34" charset="0"/>
              <a:buChar char="•"/>
            </a:pPr>
            <a:r>
              <a:rPr lang="en-US" sz="2200" dirty="0"/>
              <a:t>Solver found </a:t>
            </a:r>
            <a:r>
              <a:rPr lang="tr-TR" sz="2200" dirty="0"/>
              <a:t>an</a:t>
            </a:r>
            <a:r>
              <a:rPr lang="en-US" sz="2200" dirty="0"/>
              <a:t> optimal solution</a:t>
            </a:r>
          </a:p>
        </p:txBody>
      </p:sp>
      <p:pic>
        <p:nvPicPr>
          <p:cNvPr id="7" name="Picture 6"/>
          <p:cNvPicPr>
            <a:picLocks noChangeAspect="1"/>
          </p:cNvPicPr>
          <p:nvPr/>
        </p:nvPicPr>
        <p:blipFill>
          <a:blip r:embed="rId2"/>
          <a:stretch>
            <a:fillRect/>
          </a:stretch>
        </p:blipFill>
        <p:spPr>
          <a:xfrm>
            <a:off x="1943100" y="2101772"/>
            <a:ext cx="8005762" cy="3956127"/>
          </a:xfrm>
          <a:prstGeom prst="rect">
            <a:avLst/>
          </a:prstGeom>
        </p:spPr>
      </p:pic>
    </p:spTree>
    <p:extLst>
      <p:ext uri="{BB962C8B-B14F-4D97-AF65-F5344CB8AC3E}">
        <p14:creationId xmlns:p14="http://schemas.microsoft.com/office/powerpoint/2010/main" val="823439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A3A1910-29B4-49A8-820D-B89971BE5713}"/>
              </a:ext>
            </a:extLst>
          </p:cNvPr>
          <p:cNvSpPr>
            <a:spLocks noGrp="1"/>
          </p:cNvSpPr>
          <p:nvPr>
            <p:ph type="title"/>
          </p:nvPr>
        </p:nvSpPr>
        <p:spPr/>
        <p:txBody>
          <a:bodyPr/>
          <a:lstStyle/>
          <a:p>
            <a:r>
              <a:rPr lang="en-US" dirty="0"/>
              <a:t>SENSITIVITY ANALYSIS </a:t>
            </a:r>
          </a:p>
        </p:txBody>
      </p:sp>
      <p:sp>
        <p:nvSpPr>
          <p:cNvPr id="3" name="Content Placeholder 2"/>
          <p:cNvSpPr>
            <a:spLocks noGrp="1"/>
          </p:cNvSpPr>
          <p:nvPr>
            <p:ph idx="1"/>
          </p:nvPr>
        </p:nvSpPr>
        <p:spPr/>
        <p:txBody>
          <a:bodyPr>
            <a:normAutofit lnSpcReduction="10000"/>
          </a:bodyPr>
          <a:lstStyle/>
          <a:p>
            <a:r>
              <a:rPr lang="en-US" dirty="0"/>
              <a:t>An LP model should be considered as a snapshot of a real situation in which the model parameters assume static values.</a:t>
            </a:r>
          </a:p>
          <a:p>
            <a:r>
              <a:rPr lang="en-US" dirty="0"/>
              <a:t>It would be desirable to study the effect of changing the values of the model parameters. </a:t>
            </a:r>
          </a:p>
          <a:p>
            <a:r>
              <a:rPr lang="en-US" dirty="0"/>
              <a:t>This is called the </a:t>
            </a:r>
            <a:r>
              <a:rPr lang="en-US" b="1" dirty="0"/>
              <a:t>sensitivity analysis</a:t>
            </a:r>
            <a:r>
              <a:rPr lang="en-US" dirty="0"/>
              <a:t>. </a:t>
            </a:r>
          </a:p>
          <a:p>
            <a:r>
              <a:rPr lang="en-US" dirty="0"/>
              <a:t>It will provide answers to some questions frequently asked by the managers such as: </a:t>
            </a:r>
          </a:p>
          <a:p>
            <a:pPr lvl="1"/>
            <a:r>
              <a:rPr lang="en-US" dirty="0"/>
              <a:t>What is the highest amount of money I will be willing to pay for an extra hour of labor?</a:t>
            </a:r>
          </a:p>
          <a:p>
            <a:pPr lvl="1"/>
            <a:r>
              <a:rPr lang="en-US" dirty="0"/>
              <a:t>How will the change in the selling price of a product effect the total revenues?</a:t>
            </a:r>
          </a:p>
          <a:p>
            <a:pPr lvl="1"/>
            <a:r>
              <a:rPr lang="en-US" dirty="0"/>
              <a:t>Would it be profitable if we had higher amount of the raw material to manufacture more products? </a:t>
            </a:r>
          </a:p>
        </p:txBody>
      </p:sp>
      <p:sp>
        <p:nvSpPr>
          <p:cNvPr id="4" name="Footer Placeholder 3">
            <a:extLst>
              <a:ext uri="{FF2B5EF4-FFF2-40B4-BE49-F238E27FC236}">
                <a16:creationId xmlns:a16="http://schemas.microsoft.com/office/drawing/2014/main" id="{F06BB11E-0048-4F0B-9813-956ADB7655E1}"/>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1294372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6336DC0-EF1D-4F84-8DBB-B3839ADD579D}"/>
              </a:ext>
            </a:extLst>
          </p:cNvPr>
          <p:cNvSpPr>
            <a:spLocks noGrp="1"/>
          </p:cNvSpPr>
          <p:nvPr>
            <p:ph type="title"/>
          </p:nvPr>
        </p:nvSpPr>
        <p:spPr/>
        <p:txBody>
          <a:bodyPr/>
          <a:lstStyle/>
          <a:p>
            <a:r>
              <a:rPr lang="en-US" dirty="0"/>
              <a:t>EXAMPLE - </a:t>
            </a:r>
            <a:r>
              <a:rPr lang="en-US" dirty="0" err="1"/>
              <a:t>Giapetto</a:t>
            </a:r>
            <a:r>
              <a:rPr lang="en-US" dirty="0"/>
              <a:t> Toys </a:t>
            </a:r>
          </a:p>
        </p:txBody>
      </p:sp>
      <p:sp>
        <p:nvSpPr>
          <p:cNvPr id="3" name="Content Placeholder 2"/>
          <p:cNvSpPr>
            <a:spLocks noGrp="1"/>
          </p:cNvSpPr>
          <p:nvPr>
            <p:ph idx="1"/>
          </p:nvPr>
        </p:nvSpPr>
        <p:spPr/>
        <p:txBody>
          <a:bodyPr>
            <a:normAutofit/>
          </a:bodyPr>
          <a:lstStyle/>
          <a:p>
            <a:pPr marL="114300" indent="0" algn="just">
              <a:buNone/>
            </a:pPr>
            <a:r>
              <a:rPr lang="en-US" sz="2200" dirty="0" err="1"/>
              <a:t>Giapetto</a:t>
            </a:r>
            <a:r>
              <a:rPr lang="en-US" sz="2200" dirty="0"/>
              <a:t> Woodcarving, Inc., manufactures two types of wooden toys: soldiers and trains. A soldier sells for $27 and uses $10 worth of raw materials. Each soldier that is manufactured increases </a:t>
            </a:r>
            <a:r>
              <a:rPr lang="en-US" sz="2200" dirty="0" err="1"/>
              <a:t>Giapetto’s</a:t>
            </a:r>
            <a:r>
              <a:rPr lang="en-US" sz="2200" dirty="0"/>
              <a:t> variable labor and overhead costs by $14. A train sells for $21 and uses $9 worth of raw materials. Each train built increases </a:t>
            </a:r>
            <a:r>
              <a:rPr lang="en-US" sz="2200" dirty="0" err="1"/>
              <a:t>Giapetto’s</a:t>
            </a:r>
            <a:r>
              <a:rPr lang="en-US" sz="2200" dirty="0"/>
              <a:t> variable labor and overhead costs by $10. Manufacturing soldiers and trains requires two types of skilled labor: carpentry and finishing. A soldier requires 2 hours of finishing labor and 1 hour of carpentry labor. A train requires 1 hour of finishing and 1 hour of carpentry labor. Each week, </a:t>
            </a:r>
            <a:r>
              <a:rPr lang="en-US" sz="2200" dirty="0" err="1"/>
              <a:t>Giapetto</a:t>
            </a:r>
            <a:r>
              <a:rPr lang="en-US" sz="2200" dirty="0"/>
              <a:t> can obtain all the needed raw material but only 100 finishing hours and 80 carpentry hours Demand for trains is unlimited, but at most 40 soldiers can be sold each week. </a:t>
            </a:r>
            <a:r>
              <a:rPr lang="en-US" sz="2200" dirty="0" err="1"/>
              <a:t>Giapetto</a:t>
            </a:r>
            <a:r>
              <a:rPr lang="en-US" sz="2200" dirty="0"/>
              <a:t> wants to maximize weekly profit (=revenues − costs). </a:t>
            </a:r>
          </a:p>
          <a:p>
            <a:endParaRPr lang="en-US" sz="2400" dirty="0"/>
          </a:p>
          <a:p>
            <a:endParaRPr lang="en-US" sz="2400" dirty="0"/>
          </a:p>
          <a:p>
            <a:pPr marL="114300" indent="0" algn="just">
              <a:buNone/>
            </a:pPr>
            <a:endParaRPr lang="en-US" sz="2400" dirty="0"/>
          </a:p>
          <a:p>
            <a:pPr marL="114300" indent="0">
              <a:buNone/>
            </a:pPr>
            <a:endParaRPr lang="en-US" dirty="0"/>
          </a:p>
          <a:p>
            <a:endParaRPr lang="en-US" dirty="0"/>
          </a:p>
        </p:txBody>
      </p:sp>
      <p:sp>
        <p:nvSpPr>
          <p:cNvPr id="4" name="Footer Placeholder 3">
            <a:extLst>
              <a:ext uri="{FF2B5EF4-FFF2-40B4-BE49-F238E27FC236}">
                <a16:creationId xmlns:a16="http://schemas.microsoft.com/office/drawing/2014/main" id="{BD18C5F1-18DE-47F9-8AE1-D16D1343AA94}"/>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067018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425699-462C-42A9-BF33-4144607120EE}"/>
              </a:ext>
            </a:extLst>
          </p:cNvPr>
          <p:cNvSpPr>
            <a:spLocks noGrp="1"/>
          </p:cNvSpPr>
          <p:nvPr>
            <p:ph type="title"/>
          </p:nvPr>
        </p:nvSpPr>
        <p:spPr/>
        <p:txBody>
          <a:bodyPr/>
          <a:lstStyle/>
          <a:p>
            <a:r>
              <a:rPr lang="en-US" dirty="0" err="1"/>
              <a:t>Giapetto</a:t>
            </a:r>
            <a:r>
              <a:rPr lang="en-US" dirty="0"/>
              <a:t> Toys-LP FORM</a:t>
            </a:r>
          </a:p>
        </p:txBody>
      </p:sp>
      <p:sp>
        <p:nvSpPr>
          <p:cNvPr id="4" name="Footer Placeholder 3">
            <a:extLst>
              <a:ext uri="{FF2B5EF4-FFF2-40B4-BE49-F238E27FC236}">
                <a16:creationId xmlns:a16="http://schemas.microsoft.com/office/drawing/2014/main" id="{1CD9F0BF-3966-4CC7-AE21-2AE62C7ECD05}"/>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662121158"/>
                  </p:ext>
                </p:extLst>
              </p:nvPr>
            </p:nvGraphicFramePr>
            <p:xfrm>
              <a:off x="2622701" y="2266757"/>
              <a:ext cx="655390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71253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3</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tc>
                      <a:txBody>
                        <a:bodyPr/>
                        <a:lstStyle/>
                        <a:p>
                          <a:r>
                            <a:rPr lang="tr-TR" sz="1800" b="0" dirty="0"/>
                            <a:t>Max Profit</a:t>
                          </a:r>
                          <a:endParaRPr lang="en-US" sz="18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100</a:t>
                          </a:r>
                          <a:endParaRPr lang="en-US" sz="2400" b="0" dirty="0"/>
                        </a:p>
                      </a:txBody>
                      <a:tcPr/>
                    </a:tc>
                    <a:tc>
                      <a:txBody>
                        <a:bodyPr/>
                        <a:lstStyle/>
                        <a:p>
                          <a:r>
                            <a:rPr lang="tr-TR" sz="1800" b="0" dirty="0"/>
                            <a:t>Finishing</a:t>
                          </a:r>
                          <a:r>
                            <a:rPr lang="tr-TR" sz="1800" b="0" baseline="0" dirty="0"/>
                            <a:t> constraint</a:t>
                          </a:r>
                          <a:endParaRPr lang="en-US" sz="18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80</a:t>
                          </a:r>
                          <a:endParaRPr lang="en-US" sz="2400" b="0" dirty="0"/>
                        </a:p>
                      </a:txBody>
                      <a:tcPr/>
                    </a:tc>
                    <a:tc>
                      <a:txBody>
                        <a:bodyPr/>
                        <a:lstStyle/>
                        <a:p>
                          <a:r>
                            <a:rPr lang="tr-TR" sz="1800" b="0" dirty="0"/>
                            <a:t>Carpentry</a:t>
                          </a:r>
                          <a:r>
                            <a:rPr lang="tr-TR" sz="1800" b="0" baseline="0" dirty="0"/>
                            <a:t> constraint</a:t>
                          </a:r>
                          <a:endParaRPr lang="en-US" sz="18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40</a:t>
                          </a:r>
                          <a:endParaRPr lang="en-US" sz="2400" b="0" dirty="0"/>
                        </a:p>
                      </a:txBody>
                      <a:tcPr/>
                    </a:tc>
                    <a:tc>
                      <a:txBody>
                        <a:bodyPr/>
                        <a:lstStyle/>
                        <a:p>
                          <a:r>
                            <a:rPr lang="tr-TR" sz="1800" b="0" dirty="0"/>
                            <a:t>Demand constraint</a:t>
                          </a:r>
                          <a:endParaRPr lang="en-US" sz="18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tc>
                      <a:txBody>
                        <a:bodyPr/>
                        <a:lstStyle/>
                        <a:p>
                          <a:r>
                            <a:rPr lang="tr-TR" sz="1800" b="0" dirty="0"/>
                            <a:t>Non-negativity</a:t>
                          </a:r>
                          <a:endParaRPr lang="en-US" sz="18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662121158"/>
                  </p:ext>
                </p:extLst>
              </p:nvPr>
            </p:nvGraphicFramePr>
            <p:xfrm>
              <a:off x="2622701" y="2266757"/>
              <a:ext cx="655390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71253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457200">
                    <a:tc>
                      <a:txBody>
                        <a:bodyPr/>
                        <a:lstStyle/>
                        <a:p>
                          <a:endParaRPr lang="tr-TR"/>
                        </a:p>
                      </a:txBody>
                      <a:tcPr>
                        <a:blipFill>
                          <a:blip r:embed="rId2"/>
                          <a:stretch>
                            <a:fillRect t="-9333" r="-320313" b="-432000"/>
                          </a:stretch>
                        </a:blipFill>
                      </a:tcPr>
                    </a:tc>
                    <a:tc>
                      <a:txBody>
                        <a:bodyPr/>
                        <a:lstStyle/>
                        <a:p>
                          <a:endParaRPr lang="tr-TR"/>
                        </a:p>
                      </a:txBody>
                      <a:tcPr>
                        <a:blipFill>
                          <a:blip r:embed="rId2"/>
                          <a:stretch>
                            <a:fillRect l="-218803" t="-9333" r="-600855" b="-432000"/>
                          </a:stretch>
                        </a:blipFill>
                      </a:tcPr>
                    </a:tc>
                    <a:tc>
                      <a:txBody>
                        <a:bodyPr/>
                        <a:lstStyle/>
                        <a:p>
                          <a:endParaRPr lang="tr-TR"/>
                        </a:p>
                      </a:txBody>
                      <a:tcPr>
                        <a:blipFill>
                          <a:blip r:embed="rId2"/>
                          <a:stretch>
                            <a:fillRect l="-240645" t="-9333" r="-353548" b="-432000"/>
                          </a:stretch>
                        </a:blipFill>
                      </a:tcPr>
                    </a:tc>
                    <a:tc>
                      <a:txBody>
                        <a:bodyPr/>
                        <a:lstStyle/>
                        <a:p>
                          <a:endParaRPr lang="en-US" sz="2400" b="0"/>
                        </a:p>
                      </a:txBody>
                      <a:tcPr/>
                    </a:tc>
                    <a:tc>
                      <a:txBody>
                        <a:bodyPr/>
                        <a:lstStyle/>
                        <a:p>
                          <a:endParaRPr lang="en-US" sz="2400" b="0" dirty="0"/>
                        </a:p>
                      </a:txBody>
                      <a:tcPr/>
                    </a:tc>
                    <a:tc>
                      <a:txBody>
                        <a:bodyPr/>
                        <a:lstStyle/>
                        <a:p>
                          <a:r>
                            <a:rPr lang="tr-TR" sz="1800" b="0" dirty="0" smtClean="0"/>
                            <a:t>Max Profit</a:t>
                          </a:r>
                          <a:endParaRPr lang="en-US" sz="18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218803" t="-109333" r="-600855" b="-332000"/>
                          </a:stretch>
                        </a:blipFill>
                      </a:tcPr>
                    </a:tc>
                    <a:tc>
                      <a:txBody>
                        <a:bodyPr/>
                        <a:lstStyle/>
                        <a:p>
                          <a:endParaRPr lang="tr-TR"/>
                        </a:p>
                      </a:txBody>
                      <a:tcPr>
                        <a:blipFill>
                          <a:blip r:embed="rId2"/>
                          <a:stretch>
                            <a:fillRect l="-240645" t="-109333" r="-353548" b="-332000"/>
                          </a:stretch>
                        </a:blipFill>
                      </a:tcPr>
                    </a:tc>
                    <a:tc>
                      <a:txBody>
                        <a:bodyPr/>
                        <a:lstStyle/>
                        <a:p>
                          <a:endParaRPr lang="tr-TR"/>
                        </a:p>
                      </a:txBody>
                      <a:tcPr>
                        <a:blipFill>
                          <a:blip r:embed="rId2"/>
                          <a:stretch>
                            <a:fillRect l="-668354" t="-109333" r="-593671" b="-332000"/>
                          </a:stretch>
                        </a:blipFill>
                      </a:tcPr>
                    </a:tc>
                    <a:tc>
                      <a:txBody>
                        <a:bodyPr/>
                        <a:lstStyle/>
                        <a:p>
                          <a:r>
                            <a:rPr lang="tr-TR" sz="2400" b="0" dirty="0" smtClean="0"/>
                            <a:t>100</a:t>
                          </a:r>
                          <a:endParaRPr lang="en-US" sz="2400" b="0" dirty="0"/>
                        </a:p>
                      </a:txBody>
                      <a:tcPr/>
                    </a:tc>
                    <a:tc>
                      <a:txBody>
                        <a:bodyPr/>
                        <a:lstStyle/>
                        <a:p>
                          <a:r>
                            <a:rPr lang="tr-TR" sz="1800" b="0" dirty="0" smtClean="0"/>
                            <a:t>Finishing</a:t>
                          </a:r>
                          <a:r>
                            <a:rPr lang="tr-TR" sz="1800" b="0" baseline="0" dirty="0" smtClean="0"/>
                            <a:t> constraint</a:t>
                          </a:r>
                          <a:endParaRPr lang="en-US" sz="18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tr-TR"/>
                        </a:p>
                      </a:txBody>
                      <a:tcPr>
                        <a:blipFill>
                          <a:blip r:embed="rId2"/>
                          <a:stretch>
                            <a:fillRect l="-218803" t="-206579" r="-600855" b="-227632"/>
                          </a:stretch>
                        </a:blipFill>
                      </a:tcPr>
                    </a:tc>
                    <a:tc>
                      <a:txBody>
                        <a:bodyPr/>
                        <a:lstStyle/>
                        <a:p>
                          <a:endParaRPr lang="tr-TR"/>
                        </a:p>
                      </a:txBody>
                      <a:tcPr>
                        <a:blipFill>
                          <a:blip r:embed="rId2"/>
                          <a:stretch>
                            <a:fillRect l="-240645" t="-206579" r="-353548" b="-227632"/>
                          </a:stretch>
                        </a:blipFill>
                      </a:tcPr>
                    </a:tc>
                    <a:tc>
                      <a:txBody>
                        <a:bodyPr/>
                        <a:lstStyle/>
                        <a:p>
                          <a:endParaRPr lang="tr-TR"/>
                        </a:p>
                      </a:txBody>
                      <a:tcPr>
                        <a:blipFill>
                          <a:blip r:embed="rId2"/>
                          <a:stretch>
                            <a:fillRect l="-668354" t="-206579" r="-593671" b="-227632"/>
                          </a:stretch>
                        </a:blipFill>
                      </a:tcPr>
                    </a:tc>
                    <a:tc>
                      <a:txBody>
                        <a:bodyPr/>
                        <a:lstStyle/>
                        <a:p>
                          <a:r>
                            <a:rPr lang="tr-TR" sz="2400" b="0" dirty="0" smtClean="0"/>
                            <a:t>80</a:t>
                          </a:r>
                          <a:endParaRPr lang="en-US" sz="2400" b="0" dirty="0"/>
                        </a:p>
                      </a:txBody>
                      <a:tcPr/>
                    </a:tc>
                    <a:tc>
                      <a:txBody>
                        <a:bodyPr/>
                        <a:lstStyle/>
                        <a:p>
                          <a:r>
                            <a:rPr lang="tr-TR" sz="1800" b="0" dirty="0" smtClean="0"/>
                            <a:t>Carpentry</a:t>
                          </a:r>
                          <a:r>
                            <a:rPr lang="tr-TR" sz="1800" b="0" baseline="0" dirty="0" smtClean="0"/>
                            <a:t> constraint</a:t>
                          </a:r>
                          <a:endParaRPr lang="en-US" sz="18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218803" t="-310667" r="-600855" b="-130667"/>
                          </a:stretch>
                        </a:blipFill>
                      </a:tcPr>
                    </a:tc>
                    <a:tc>
                      <a:txBody>
                        <a:bodyPr/>
                        <a:lstStyle/>
                        <a:p>
                          <a:pPr algn="r"/>
                          <a:endParaRPr lang="en-US" sz="2400" b="0" dirty="0"/>
                        </a:p>
                      </a:txBody>
                      <a:tcPr/>
                    </a:tc>
                    <a:tc>
                      <a:txBody>
                        <a:bodyPr/>
                        <a:lstStyle/>
                        <a:p>
                          <a:endParaRPr lang="tr-TR"/>
                        </a:p>
                      </a:txBody>
                      <a:tcPr>
                        <a:blipFill>
                          <a:blip r:embed="rId2"/>
                          <a:stretch>
                            <a:fillRect l="-668354" t="-310667" r="-593671" b="-130667"/>
                          </a:stretch>
                        </a:blipFill>
                      </a:tcPr>
                    </a:tc>
                    <a:tc>
                      <a:txBody>
                        <a:bodyPr/>
                        <a:lstStyle/>
                        <a:p>
                          <a:r>
                            <a:rPr lang="tr-TR" sz="2400" b="0" dirty="0" smtClean="0"/>
                            <a:t>40</a:t>
                          </a:r>
                          <a:endParaRPr lang="en-US" sz="2400" b="0" dirty="0"/>
                        </a:p>
                      </a:txBody>
                      <a:tcPr/>
                    </a:tc>
                    <a:tc>
                      <a:txBody>
                        <a:bodyPr/>
                        <a:lstStyle/>
                        <a:p>
                          <a:r>
                            <a:rPr lang="tr-TR" sz="1800" b="0" dirty="0" smtClean="0"/>
                            <a:t>Demand constraint</a:t>
                          </a:r>
                          <a:endParaRPr lang="en-US" sz="18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218803" t="-410667" r="-600855" b="-30667"/>
                          </a:stretch>
                        </a:blipFill>
                      </a:tcPr>
                    </a:tc>
                    <a:tc>
                      <a:txBody>
                        <a:bodyPr/>
                        <a:lstStyle/>
                        <a:p>
                          <a:endParaRPr lang="tr-TR"/>
                        </a:p>
                      </a:txBody>
                      <a:tcPr>
                        <a:blipFill>
                          <a:blip r:embed="rId2"/>
                          <a:stretch>
                            <a:fillRect l="-240645" t="-410667" r="-353548" b="-30667"/>
                          </a:stretch>
                        </a:blipFill>
                      </a:tcPr>
                    </a:tc>
                    <a:tc>
                      <a:txBody>
                        <a:bodyPr/>
                        <a:lstStyle/>
                        <a:p>
                          <a:endParaRPr lang="tr-TR"/>
                        </a:p>
                      </a:txBody>
                      <a:tcPr>
                        <a:blipFill>
                          <a:blip r:embed="rId2"/>
                          <a:stretch>
                            <a:fillRect l="-668354" t="-410667" r="-593671" b="-30667"/>
                          </a:stretch>
                        </a:blipFill>
                      </a:tcPr>
                    </a:tc>
                    <a:tc>
                      <a:txBody>
                        <a:bodyPr/>
                        <a:lstStyle/>
                        <a:p>
                          <a:r>
                            <a:rPr lang="tr-TR" sz="2400" b="0" dirty="0"/>
                            <a:t>0</a:t>
                          </a:r>
                          <a:endParaRPr lang="en-US" sz="2400" b="0" dirty="0"/>
                        </a:p>
                      </a:txBody>
                      <a:tcPr/>
                    </a:tc>
                    <a:tc>
                      <a:txBody>
                        <a:bodyPr/>
                        <a:lstStyle/>
                        <a:p>
                          <a:r>
                            <a:rPr lang="tr-TR" sz="1800" b="0" dirty="0" smtClean="0"/>
                            <a:t>Non-negativity</a:t>
                          </a:r>
                          <a:endParaRPr lang="en-US" sz="18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306534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2188" y="1378191"/>
            <a:ext cx="4419437" cy="4953077"/>
          </a:xfrm>
          <a:prstGeom prst="rect">
            <a:avLst/>
          </a:prstGeom>
        </p:spPr>
      </p:pic>
      <p:sp>
        <p:nvSpPr>
          <p:cNvPr id="25" name="Title 24">
            <a:extLst>
              <a:ext uri="{FF2B5EF4-FFF2-40B4-BE49-F238E27FC236}">
                <a16:creationId xmlns:a16="http://schemas.microsoft.com/office/drawing/2014/main" id="{50424016-7315-4273-B934-D415C483F4FF}"/>
              </a:ext>
            </a:extLst>
          </p:cNvPr>
          <p:cNvSpPr>
            <a:spLocks noGrp="1"/>
          </p:cNvSpPr>
          <p:nvPr>
            <p:ph type="title"/>
          </p:nvPr>
        </p:nvSpPr>
        <p:spPr/>
        <p:txBody>
          <a:bodyPr/>
          <a:lstStyle/>
          <a:p>
            <a:r>
              <a:rPr lang="en-US" dirty="0"/>
              <a:t>GRAPHICAL APPROACH</a:t>
            </a:r>
          </a:p>
        </p:txBody>
      </p:sp>
      <p:sp>
        <p:nvSpPr>
          <p:cNvPr id="5" name="Footer Placeholder 4">
            <a:extLst>
              <a:ext uri="{FF2B5EF4-FFF2-40B4-BE49-F238E27FC236}">
                <a16:creationId xmlns:a16="http://schemas.microsoft.com/office/drawing/2014/main" id="{9AE8A533-8C2C-4C16-B2A9-B4D8E3FD6A8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7" name="Freeform: Shape 6">
            <a:extLst>
              <a:ext uri="{FF2B5EF4-FFF2-40B4-BE49-F238E27FC236}">
                <a16:creationId xmlns:a16="http://schemas.microsoft.com/office/drawing/2014/main" id="{EE12BF37-9118-489E-A939-3B510DAB3F7F}"/>
              </a:ext>
            </a:extLst>
          </p:cNvPr>
          <p:cNvSpPr/>
          <p:nvPr/>
        </p:nvSpPr>
        <p:spPr>
          <a:xfrm>
            <a:off x="4242702" y="5187715"/>
            <a:ext cx="18148" cy="22460"/>
          </a:xfrm>
          <a:custGeom>
            <a:avLst/>
            <a:gdLst>
              <a:gd name="connsiteX0" fmla="*/ 18148 w 18148"/>
              <a:gd name="connsiteY0" fmla="*/ 22460 h 22460"/>
              <a:gd name="connsiteX1" fmla="*/ 18148 w 18148"/>
              <a:gd name="connsiteY1" fmla="*/ 22460 h 22460"/>
              <a:gd name="connsiteX2" fmla="*/ 8623 w 18148"/>
              <a:gd name="connsiteY2" fmla="*/ 12935 h 22460"/>
              <a:gd name="connsiteX3" fmla="*/ 7565 w 18148"/>
              <a:gd name="connsiteY3" fmla="*/ 8702 h 22460"/>
              <a:gd name="connsiteX4" fmla="*/ 3331 w 18148"/>
              <a:gd name="connsiteY4" fmla="*/ 3410 h 22460"/>
              <a:gd name="connsiteX5" fmla="*/ 156 w 18148"/>
              <a:gd name="connsiteY5" fmla="*/ 235 h 22460"/>
              <a:gd name="connsiteX6" fmla="*/ 18148 w 18148"/>
              <a:gd name="connsiteY6" fmla="*/ 22460 h 2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8" h="22460">
                <a:moveTo>
                  <a:pt x="18148" y="22460"/>
                </a:moveTo>
                <a:lnTo>
                  <a:pt x="18148" y="22460"/>
                </a:lnTo>
                <a:cubicBezTo>
                  <a:pt x="14973" y="19285"/>
                  <a:pt x="11361" y="16494"/>
                  <a:pt x="8623" y="12935"/>
                </a:cubicBezTo>
                <a:cubicBezTo>
                  <a:pt x="7736" y="11782"/>
                  <a:pt x="8271" y="9973"/>
                  <a:pt x="7565" y="8702"/>
                </a:cubicBezTo>
                <a:cubicBezTo>
                  <a:pt x="6468" y="6727"/>
                  <a:pt x="4819" y="5110"/>
                  <a:pt x="3331" y="3410"/>
                </a:cubicBezTo>
                <a:cubicBezTo>
                  <a:pt x="2345" y="2284"/>
                  <a:pt x="1036" y="1445"/>
                  <a:pt x="156" y="235"/>
                </a:cubicBezTo>
                <a:cubicBezTo>
                  <a:pt x="-1801" y="-2457"/>
                  <a:pt x="15149" y="18756"/>
                  <a:pt x="18148" y="2246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8D1787-6807-4099-A1D2-8F29911EFF12}"/>
              </a:ext>
            </a:extLst>
          </p:cNvPr>
          <p:cNvSpPr txBox="1"/>
          <p:nvPr/>
        </p:nvSpPr>
        <p:spPr>
          <a:xfrm>
            <a:off x="6585995" y="2057401"/>
            <a:ext cx="4767805" cy="1723549"/>
          </a:xfrm>
          <a:prstGeom prst="rect">
            <a:avLst/>
          </a:prstGeom>
          <a:noFill/>
        </p:spPr>
        <p:txBody>
          <a:bodyPr wrap="square" rtlCol="0">
            <a:spAutoFit/>
          </a:bodyPr>
          <a:lstStyle/>
          <a:p>
            <a:pPr marL="285750" indent="-285750">
              <a:buFont typeface="Arial" panose="020B0604020202020204" pitchFamily="34" charset="0"/>
              <a:buChar char="•"/>
            </a:pPr>
            <a:r>
              <a:rPr lang="en-US" sz="2200" dirty="0"/>
              <a:t>B= (20,60) is the current optimal solution with an optimal value of 1</a:t>
            </a:r>
            <a:r>
              <a:rPr lang="tr-TR" sz="2200" dirty="0"/>
              <a:t>8</a:t>
            </a:r>
            <a:r>
              <a:rPr lang="en-US" sz="2200" dirty="0"/>
              <a:t>0</a:t>
            </a:r>
            <a:endParaRPr lang="tr-TR" sz="2200" dirty="0"/>
          </a:p>
          <a:p>
            <a:pPr marL="285750" indent="-285750">
              <a:buFont typeface="Arial" panose="020B0604020202020204" pitchFamily="34" charset="0"/>
              <a:buChar char="•"/>
            </a:pPr>
            <a:r>
              <a:rPr lang="tr-TR" sz="2200" dirty="0"/>
              <a:t>Note that the slope of the objective function line is -3/2</a:t>
            </a:r>
            <a:endParaRPr lang="en-US" sz="2200" dirty="0"/>
          </a:p>
          <a:p>
            <a:endParaRPr lang="en-US" dirty="0"/>
          </a:p>
        </p:txBody>
      </p:sp>
      <p:cxnSp>
        <p:nvCxnSpPr>
          <p:cNvPr id="16" name="Straight Connector 15"/>
          <p:cNvCxnSpPr/>
          <p:nvPr/>
        </p:nvCxnSpPr>
        <p:spPr>
          <a:xfrm>
            <a:off x="1270254" y="4527490"/>
            <a:ext cx="1059180" cy="162560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347216" y="3462528"/>
            <a:ext cx="1719072" cy="2670048"/>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591056" y="2657565"/>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771650" y="5167698"/>
            <a:ext cx="219710" cy="17259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2226945" y="4624960"/>
            <a:ext cx="219710" cy="17259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00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6B9EF-2551-4779-86C0-1D31D327E8A0}"/>
              </a:ext>
            </a:extLst>
          </p:cNvPr>
          <p:cNvSpPr>
            <a:spLocks noGrp="1"/>
          </p:cNvSpPr>
          <p:nvPr>
            <p:ph type="title"/>
          </p:nvPr>
        </p:nvSpPr>
        <p:spPr/>
        <p:txBody>
          <a:bodyPr>
            <a:normAutofit fontScale="90000"/>
          </a:bodyPr>
          <a:lstStyle/>
          <a:p>
            <a:r>
              <a:rPr lang="en-US" dirty="0"/>
              <a:t>CHANGES IN THE OBJECTIVE FUNCTION COEFFICIENTS</a:t>
            </a:r>
          </a:p>
        </p:txBody>
      </p:sp>
      <p:sp>
        <p:nvSpPr>
          <p:cNvPr id="3" name="Content Placeholder 2"/>
          <p:cNvSpPr>
            <a:spLocks noGrp="1"/>
          </p:cNvSpPr>
          <p:nvPr>
            <p:ph idx="1"/>
          </p:nvPr>
        </p:nvSpPr>
        <p:spPr/>
        <p:txBody>
          <a:bodyPr/>
          <a:lstStyle/>
          <a:p>
            <a:r>
              <a:rPr lang="en-US" sz="2400" dirty="0"/>
              <a:t>If the profit of a manufactured soldier increases, then we would expect the optimal solution to require production of more soldiers</a:t>
            </a:r>
            <a:endParaRPr lang="tr-TR" sz="2400" dirty="0"/>
          </a:p>
          <a:p>
            <a:r>
              <a:rPr lang="tr-TR" sz="2400" dirty="0"/>
              <a:t>What happens if price of a soldier is 4 instead of 3? Should we produce more soldiers?</a:t>
            </a:r>
          </a:p>
          <a:p>
            <a:pPr marL="0" indent="0">
              <a:buNone/>
            </a:pPr>
            <a:endParaRPr lang="tr-TR" dirty="0"/>
          </a:p>
          <a:p>
            <a:pPr marL="0" indent="0">
              <a:buNone/>
            </a:pPr>
            <a:endParaRPr lang="en-US" dirty="0"/>
          </a:p>
        </p:txBody>
      </p:sp>
      <p:sp>
        <p:nvSpPr>
          <p:cNvPr id="4" name="Footer Placeholder 3">
            <a:extLst>
              <a:ext uri="{FF2B5EF4-FFF2-40B4-BE49-F238E27FC236}">
                <a16:creationId xmlns:a16="http://schemas.microsoft.com/office/drawing/2014/main" id="{075FE345-22C0-465A-92F8-9E07B312ECA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281136453"/>
                  </p:ext>
                </p:extLst>
              </p:nvPr>
            </p:nvGraphicFramePr>
            <p:xfrm>
              <a:off x="2670326" y="2933507"/>
              <a:ext cx="678885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94748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trike="sngStrike" smtClean="0">
                                    <a:latin typeface="Cambria Math" panose="02040503050406030204" pitchFamily="18" charset="0"/>
                                  </a:rPr>
                                  <m:t>3</m:t>
                                </m:r>
                                <m:r>
                                  <a:rPr lang="tr-TR" sz="2400" b="0" i="1" strike="noStrike" smtClean="0">
                                    <a:latin typeface="Cambria Math" panose="02040503050406030204" pitchFamily="18" charset="0"/>
                                  </a:rPr>
                                  <m:t> </m:t>
                                </m:r>
                                <m:r>
                                  <a:rPr lang="tr-TR" sz="2400" b="0" i="1" strike="noStrike" smtClean="0">
                                    <a:solidFill>
                                      <a:srgbClr val="FF0000"/>
                                    </a:solidFill>
                                    <a:latin typeface="Cambria Math" panose="02040503050406030204" pitchFamily="18" charset="0"/>
                                  </a:rPr>
                                  <m:t>4</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tc>
                      <a:txBody>
                        <a:bodyPr/>
                        <a:lstStyle/>
                        <a:p>
                          <a:r>
                            <a:rPr lang="tr-TR" sz="1800" b="0" dirty="0"/>
                            <a:t>Max Profit</a:t>
                          </a:r>
                          <a:endParaRPr lang="en-US" sz="18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100</a:t>
                          </a:r>
                          <a:endParaRPr lang="en-US" sz="2400" b="0" dirty="0"/>
                        </a:p>
                      </a:txBody>
                      <a:tcPr/>
                    </a:tc>
                    <a:tc>
                      <a:txBody>
                        <a:bodyPr/>
                        <a:lstStyle/>
                        <a:p>
                          <a:r>
                            <a:rPr lang="tr-TR" sz="1800" b="0" dirty="0"/>
                            <a:t>Finishing</a:t>
                          </a:r>
                          <a:r>
                            <a:rPr lang="tr-TR" sz="1800" b="0" baseline="0" dirty="0"/>
                            <a:t> constraint</a:t>
                          </a:r>
                          <a:endParaRPr lang="en-US" sz="18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80</a:t>
                          </a:r>
                          <a:endParaRPr lang="en-US" sz="2400" b="0" dirty="0"/>
                        </a:p>
                      </a:txBody>
                      <a:tcPr/>
                    </a:tc>
                    <a:tc>
                      <a:txBody>
                        <a:bodyPr/>
                        <a:lstStyle/>
                        <a:p>
                          <a:r>
                            <a:rPr lang="tr-TR" sz="1800" b="0" dirty="0"/>
                            <a:t>Carpentry</a:t>
                          </a:r>
                          <a:r>
                            <a:rPr lang="tr-TR" sz="1800" b="0" baseline="0" dirty="0"/>
                            <a:t> constraint</a:t>
                          </a:r>
                          <a:endParaRPr lang="en-US" sz="18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40</a:t>
                          </a:r>
                          <a:endParaRPr lang="en-US" sz="2400" b="0" dirty="0"/>
                        </a:p>
                      </a:txBody>
                      <a:tcPr/>
                    </a:tc>
                    <a:tc>
                      <a:txBody>
                        <a:bodyPr/>
                        <a:lstStyle/>
                        <a:p>
                          <a:r>
                            <a:rPr lang="tr-TR" sz="1800" b="0" dirty="0"/>
                            <a:t>Demand constraint</a:t>
                          </a:r>
                          <a:endParaRPr lang="en-US" sz="18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tc>
                      <a:txBody>
                        <a:bodyPr/>
                        <a:lstStyle/>
                        <a:p>
                          <a:r>
                            <a:rPr lang="tr-TR" sz="1800" b="0" dirty="0"/>
                            <a:t>Non-negativity</a:t>
                          </a:r>
                          <a:endParaRPr lang="en-US" sz="18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281136453"/>
                  </p:ext>
                </p:extLst>
              </p:nvPr>
            </p:nvGraphicFramePr>
            <p:xfrm>
              <a:off x="2670326" y="2933507"/>
              <a:ext cx="678885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94748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457200">
                    <a:tc>
                      <a:txBody>
                        <a:bodyPr/>
                        <a:lstStyle/>
                        <a:p>
                          <a:endParaRPr lang="tr-TR"/>
                        </a:p>
                      </a:txBody>
                      <a:tcPr>
                        <a:blipFill>
                          <a:blip r:embed="rId2"/>
                          <a:stretch>
                            <a:fillRect t="-10667" r="-335156" b="-430667"/>
                          </a:stretch>
                        </a:blipFill>
                      </a:tcPr>
                    </a:tc>
                    <a:tc>
                      <a:txBody>
                        <a:bodyPr/>
                        <a:lstStyle/>
                        <a:p>
                          <a:endParaRPr lang="tr-TR"/>
                        </a:p>
                      </a:txBody>
                      <a:tcPr>
                        <a:blipFill>
                          <a:blip r:embed="rId2"/>
                          <a:stretch>
                            <a:fillRect l="-165161" t="-10667" r="-453548" b="-430667"/>
                          </a:stretch>
                        </a:blipFill>
                      </a:tcPr>
                    </a:tc>
                    <a:tc>
                      <a:txBody>
                        <a:bodyPr/>
                        <a:lstStyle/>
                        <a:p>
                          <a:endParaRPr lang="tr-TR"/>
                        </a:p>
                      </a:txBody>
                      <a:tcPr>
                        <a:blipFill>
                          <a:blip r:embed="rId2"/>
                          <a:stretch>
                            <a:fillRect l="-263462" t="-10667" r="-350641" b="-430667"/>
                          </a:stretch>
                        </a:blipFill>
                      </a:tcPr>
                    </a:tc>
                    <a:tc>
                      <a:txBody>
                        <a:bodyPr/>
                        <a:lstStyle/>
                        <a:p>
                          <a:endParaRPr lang="en-US" sz="2400" b="0"/>
                        </a:p>
                      </a:txBody>
                      <a:tcPr/>
                    </a:tc>
                    <a:tc>
                      <a:txBody>
                        <a:bodyPr/>
                        <a:lstStyle/>
                        <a:p>
                          <a:endParaRPr lang="en-US" sz="2400" b="0" dirty="0"/>
                        </a:p>
                      </a:txBody>
                      <a:tcPr/>
                    </a:tc>
                    <a:tc>
                      <a:txBody>
                        <a:bodyPr/>
                        <a:lstStyle/>
                        <a:p>
                          <a:r>
                            <a:rPr lang="tr-TR" sz="1800" b="0" dirty="0" smtClean="0"/>
                            <a:t>Max Profit</a:t>
                          </a:r>
                          <a:endParaRPr lang="en-US" sz="18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165161" t="-110667" r="-453548" b="-330667"/>
                          </a:stretch>
                        </a:blipFill>
                      </a:tcPr>
                    </a:tc>
                    <a:tc>
                      <a:txBody>
                        <a:bodyPr/>
                        <a:lstStyle/>
                        <a:p>
                          <a:endParaRPr lang="tr-TR"/>
                        </a:p>
                      </a:txBody>
                      <a:tcPr>
                        <a:blipFill>
                          <a:blip r:embed="rId2"/>
                          <a:stretch>
                            <a:fillRect l="-263462" t="-110667" r="-350641" b="-330667"/>
                          </a:stretch>
                        </a:blipFill>
                      </a:tcPr>
                    </a:tc>
                    <a:tc>
                      <a:txBody>
                        <a:bodyPr/>
                        <a:lstStyle/>
                        <a:p>
                          <a:endParaRPr lang="tr-TR"/>
                        </a:p>
                      </a:txBody>
                      <a:tcPr>
                        <a:blipFill>
                          <a:blip r:embed="rId2"/>
                          <a:stretch>
                            <a:fillRect l="-726923" t="-110667" r="-601282" b="-330667"/>
                          </a:stretch>
                        </a:blipFill>
                      </a:tcPr>
                    </a:tc>
                    <a:tc>
                      <a:txBody>
                        <a:bodyPr/>
                        <a:lstStyle/>
                        <a:p>
                          <a:r>
                            <a:rPr lang="tr-TR" sz="2400" b="0" dirty="0" smtClean="0"/>
                            <a:t>100</a:t>
                          </a:r>
                          <a:endParaRPr lang="en-US" sz="2400" b="0" dirty="0"/>
                        </a:p>
                      </a:txBody>
                      <a:tcPr/>
                    </a:tc>
                    <a:tc>
                      <a:txBody>
                        <a:bodyPr/>
                        <a:lstStyle/>
                        <a:p>
                          <a:r>
                            <a:rPr lang="tr-TR" sz="1800" b="0" dirty="0" smtClean="0"/>
                            <a:t>Finishing</a:t>
                          </a:r>
                          <a:r>
                            <a:rPr lang="tr-TR" sz="1800" b="0" baseline="0" dirty="0" smtClean="0"/>
                            <a:t> constraint</a:t>
                          </a:r>
                          <a:endParaRPr lang="en-US" sz="18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tr-TR"/>
                        </a:p>
                      </a:txBody>
                      <a:tcPr>
                        <a:blipFill>
                          <a:blip r:embed="rId2"/>
                          <a:stretch>
                            <a:fillRect l="-165161" t="-207895" r="-453548" b="-226316"/>
                          </a:stretch>
                        </a:blipFill>
                      </a:tcPr>
                    </a:tc>
                    <a:tc>
                      <a:txBody>
                        <a:bodyPr/>
                        <a:lstStyle/>
                        <a:p>
                          <a:endParaRPr lang="tr-TR"/>
                        </a:p>
                      </a:txBody>
                      <a:tcPr>
                        <a:blipFill>
                          <a:blip r:embed="rId2"/>
                          <a:stretch>
                            <a:fillRect l="-263462" t="-207895" r="-350641" b="-226316"/>
                          </a:stretch>
                        </a:blipFill>
                      </a:tcPr>
                    </a:tc>
                    <a:tc>
                      <a:txBody>
                        <a:bodyPr/>
                        <a:lstStyle/>
                        <a:p>
                          <a:endParaRPr lang="tr-TR"/>
                        </a:p>
                      </a:txBody>
                      <a:tcPr>
                        <a:blipFill>
                          <a:blip r:embed="rId2"/>
                          <a:stretch>
                            <a:fillRect l="-726923" t="-207895" r="-601282" b="-226316"/>
                          </a:stretch>
                        </a:blipFill>
                      </a:tcPr>
                    </a:tc>
                    <a:tc>
                      <a:txBody>
                        <a:bodyPr/>
                        <a:lstStyle/>
                        <a:p>
                          <a:r>
                            <a:rPr lang="tr-TR" sz="2400" b="0" dirty="0" smtClean="0"/>
                            <a:t>80</a:t>
                          </a:r>
                          <a:endParaRPr lang="en-US" sz="2400" b="0" dirty="0"/>
                        </a:p>
                      </a:txBody>
                      <a:tcPr/>
                    </a:tc>
                    <a:tc>
                      <a:txBody>
                        <a:bodyPr/>
                        <a:lstStyle/>
                        <a:p>
                          <a:r>
                            <a:rPr lang="tr-TR" sz="1800" b="0" dirty="0" smtClean="0"/>
                            <a:t>Carpentry</a:t>
                          </a:r>
                          <a:r>
                            <a:rPr lang="tr-TR" sz="1800" b="0" baseline="0" dirty="0" smtClean="0"/>
                            <a:t> constraint</a:t>
                          </a:r>
                          <a:endParaRPr lang="en-US" sz="18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165161" t="-312000" r="-453548" b="-129333"/>
                          </a:stretch>
                        </a:blipFill>
                      </a:tcPr>
                    </a:tc>
                    <a:tc>
                      <a:txBody>
                        <a:bodyPr/>
                        <a:lstStyle/>
                        <a:p>
                          <a:pPr algn="r"/>
                          <a:endParaRPr lang="en-US" sz="2400" b="0" dirty="0"/>
                        </a:p>
                      </a:txBody>
                      <a:tcPr/>
                    </a:tc>
                    <a:tc>
                      <a:txBody>
                        <a:bodyPr/>
                        <a:lstStyle/>
                        <a:p>
                          <a:endParaRPr lang="tr-TR"/>
                        </a:p>
                      </a:txBody>
                      <a:tcPr>
                        <a:blipFill>
                          <a:blip r:embed="rId2"/>
                          <a:stretch>
                            <a:fillRect l="-726923" t="-312000" r="-601282" b="-129333"/>
                          </a:stretch>
                        </a:blipFill>
                      </a:tcPr>
                    </a:tc>
                    <a:tc>
                      <a:txBody>
                        <a:bodyPr/>
                        <a:lstStyle/>
                        <a:p>
                          <a:r>
                            <a:rPr lang="tr-TR" sz="2400" b="0" dirty="0" smtClean="0"/>
                            <a:t>40</a:t>
                          </a:r>
                          <a:endParaRPr lang="en-US" sz="2400" b="0" dirty="0"/>
                        </a:p>
                      </a:txBody>
                      <a:tcPr/>
                    </a:tc>
                    <a:tc>
                      <a:txBody>
                        <a:bodyPr/>
                        <a:lstStyle/>
                        <a:p>
                          <a:r>
                            <a:rPr lang="tr-TR" sz="1800" b="0" dirty="0" smtClean="0"/>
                            <a:t>Demand constraint</a:t>
                          </a:r>
                          <a:endParaRPr lang="en-US" sz="18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65161" t="-412000" r="-453548" b="-29333"/>
                          </a:stretch>
                        </a:blipFill>
                      </a:tcPr>
                    </a:tc>
                    <a:tc>
                      <a:txBody>
                        <a:bodyPr/>
                        <a:lstStyle/>
                        <a:p>
                          <a:endParaRPr lang="tr-TR"/>
                        </a:p>
                      </a:txBody>
                      <a:tcPr>
                        <a:blipFill>
                          <a:blip r:embed="rId2"/>
                          <a:stretch>
                            <a:fillRect l="-263462" t="-412000" r="-350641" b="-29333"/>
                          </a:stretch>
                        </a:blipFill>
                      </a:tcPr>
                    </a:tc>
                    <a:tc>
                      <a:txBody>
                        <a:bodyPr/>
                        <a:lstStyle/>
                        <a:p>
                          <a:endParaRPr lang="tr-TR"/>
                        </a:p>
                      </a:txBody>
                      <a:tcPr>
                        <a:blipFill>
                          <a:blip r:embed="rId2"/>
                          <a:stretch>
                            <a:fillRect l="-726923" t="-412000" r="-601282" b="-29333"/>
                          </a:stretch>
                        </a:blipFill>
                      </a:tcPr>
                    </a:tc>
                    <a:tc>
                      <a:txBody>
                        <a:bodyPr/>
                        <a:lstStyle/>
                        <a:p>
                          <a:r>
                            <a:rPr lang="tr-TR" sz="2400" b="0" dirty="0"/>
                            <a:t>0</a:t>
                          </a:r>
                          <a:endParaRPr lang="en-US" sz="2400" b="0" dirty="0"/>
                        </a:p>
                      </a:txBody>
                      <a:tcPr/>
                    </a:tc>
                    <a:tc>
                      <a:txBody>
                        <a:bodyPr/>
                        <a:lstStyle/>
                        <a:p>
                          <a:r>
                            <a:rPr lang="tr-TR" sz="1800" b="0" dirty="0" smtClean="0"/>
                            <a:t>Non-negativity</a:t>
                          </a:r>
                          <a:endParaRPr lang="en-US" sz="18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1913949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6B9EF-2551-4779-86C0-1D31D327E8A0}"/>
              </a:ext>
            </a:extLst>
          </p:cNvPr>
          <p:cNvSpPr>
            <a:spLocks noGrp="1"/>
          </p:cNvSpPr>
          <p:nvPr>
            <p:ph type="title"/>
          </p:nvPr>
        </p:nvSpPr>
        <p:spPr/>
        <p:txBody>
          <a:bodyPr>
            <a:normAutofit fontScale="90000"/>
          </a:bodyPr>
          <a:lstStyle/>
          <a:p>
            <a:r>
              <a:rPr lang="en-US" dirty="0"/>
              <a:t>CHANGES IN THE OBJECTIVE FUNCTION COEFFICIENTS</a:t>
            </a:r>
          </a:p>
        </p:txBody>
      </p:sp>
      <p:sp>
        <p:nvSpPr>
          <p:cNvPr id="3" name="Content Placeholder 2"/>
          <p:cNvSpPr>
            <a:spLocks noGrp="1"/>
          </p:cNvSpPr>
          <p:nvPr>
            <p:ph idx="1"/>
          </p:nvPr>
        </p:nvSpPr>
        <p:spPr/>
        <p:txBody>
          <a:bodyPr>
            <a:normAutofit/>
          </a:bodyPr>
          <a:lstStyle/>
          <a:p>
            <a:r>
              <a:rPr lang="en-US" sz="2400" dirty="0"/>
              <a:t>If the profit of a manufactured soldier increases, then we would expect the optimal solution to require production of more soldiers</a:t>
            </a:r>
            <a:endParaRPr lang="tr-TR" sz="2400" dirty="0"/>
          </a:p>
          <a:p>
            <a:r>
              <a:rPr lang="tr-TR" sz="2400" dirty="0"/>
              <a:t>What happens if price of a soldier is 2 instead of 3? Should we produce less soldiers?</a:t>
            </a:r>
          </a:p>
          <a:p>
            <a:endParaRPr lang="tr-TR" sz="2400" dirty="0"/>
          </a:p>
          <a:p>
            <a:endParaRPr lang="tr-TR" sz="2400" dirty="0"/>
          </a:p>
          <a:p>
            <a:endParaRPr lang="tr-TR" sz="2400" dirty="0"/>
          </a:p>
          <a:p>
            <a:endParaRPr lang="tr-TR" sz="2400" dirty="0"/>
          </a:p>
          <a:p>
            <a:pPr marL="0" indent="0">
              <a:buNone/>
            </a:pPr>
            <a:endParaRPr lang="tr-TR" sz="2400" dirty="0"/>
          </a:p>
          <a:p>
            <a:r>
              <a:rPr lang="en-US" sz="2400" dirty="0"/>
              <a:t>How do we find the range of values for the profit of a soldier in which the current solution remains optimal? </a:t>
            </a:r>
          </a:p>
          <a:p>
            <a:endParaRPr lang="tr-TR" dirty="0"/>
          </a:p>
          <a:p>
            <a:pPr marL="0" indent="0">
              <a:buNone/>
            </a:pPr>
            <a:endParaRPr lang="en-US" dirty="0"/>
          </a:p>
        </p:txBody>
      </p:sp>
      <p:sp>
        <p:nvSpPr>
          <p:cNvPr id="4" name="Footer Placeholder 3">
            <a:extLst>
              <a:ext uri="{FF2B5EF4-FFF2-40B4-BE49-F238E27FC236}">
                <a16:creationId xmlns:a16="http://schemas.microsoft.com/office/drawing/2014/main" id="{075FE345-22C0-465A-92F8-9E07B312ECAC}"/>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525408641"/>
                  </p:ext>
                </p:extLst>
              </p:nvPr>
            </p:nvGraphicFramePr>
            <p:xfrm>
              <a:off x="2670326" y="2933507"/>
              <a:ext cx="678885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94748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370840">
                    <a:tc>
                      <a:txBody>
                        <a:bodyPr/>
                        <a:lstStyle/>
                        <a:p>
                          <a:r>
                            <a:rPr lang="tr-TR" sz="2400" dirty="0"/>
                            <a:t>Max    </a:t>
                          </a:r>
                          <a14:m>
                            <m:oMath xmlns:m="http://schemas.openxmlformats.org/officeDocument/2006/math">
                              <m:r>
                                <a:rPr lang="tr-TR" sz="2400" b="0" i="1" smtClean="0">
                                  <a:latin typeface="Cambria Math" panose="02040503050406030204" pitchFamily="18" charset="0"/>
                                </a:rPr>
                                <m:t>𝑍</m:t>
                              </m:r>
                              <m:r>
                                <a:rPr lang="tr-TR" sz="2400" b="0" i="1" smtClean="0">
                                  <a:latin typeface="Cambria Math" panose="02040503050406030204" pitchFamily="18" charset="0"/>
                                </a:rPr>
                                <m:t>=</m:t>
                              </m:r>
                            </m:oMath>
                          </a14:m>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trike="sngStrike" smtClean="0">
                                    <a:latin typeface="Cambria Math" panose="02040503050406030204" pitchFamily="18" charset="0"/>
                                  </a:rPr>
                                  <m:t>3</m:t>
                                </m:r>
                                <m:r>
                                  <a:rPr lang="tr-TR" sz="2400" b="0" i="1" strike="noStrike" smtClean="0">
                                    <a:latin typeface="Cambria Math" panose="02040503050406030204" pitchFamily="18" charset="0"/>
                                  </a:rPr>
                                  <m:t> </m:t>
                                </m:r>
                                <m:r>
                                  <a:rPr lang="tr-TR" sz="2400" b="0" i="1" strike="noStrike" smtClean="0">
                                    <a:solidFill>
                                      <a:srgbClr val="FF0000"/>
                                    </a:solidFill>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smtClean="0">
                                    <a:latin typeface="Cambria Math" panose="02040503050406030204" pitchFamily="18" charset="0"/>
                                  </a:rPr>
                                  <m:t>+</m:t>
                                </m:r>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endParaRPr lang="en-US" sz="2400" b="0"/>
                        </a:p>
                      </a:txBody>
                      <a:tcPr/>
                    </a:tc>
                    <a:tc>
                      <a:txBody>
                        <a:bodyPr/>
                        <a:lstStyle/>
                        <a:p>
                          <a:endParaRPr lang="en-US" sz="2400" b="0" dirty="0"/>
                        </a:p>
                      </a:txBody>
                      <a:tcPr/>
                    </a:tc>
                    <a:tc>
                      <a:txBody>
                        <a:bodyPr/>
                        <a:lstStyle/>
                        <a:p>
                          <a:r>
                            <a:rPr lang="tr-TR" sz="1800" b="0" dirty="0"/>
                            <a:t>Max Profit</a:t>
                          </a:r>
                          <a:endParaRPr lang="en-US" sz="1800" b="0" dirty="0"/>
                        </a:p>
                      </a:txBody>
                      <a:tcPr/>
                    </a:tc>
                    <a:extLst>
                      <a:ext uri="{0D108BD9-81ED-4DB2-BD59-A6C34878D82A}">
                        <a16:rowId xmlns:a16="http://schemas.microsoft.com/office/drawing/2014/main" val="1915566640"/>
                      </a:ext>
                    </a:extLst>
                  </a:tr>
                  <a:tr h="370840">
                    <a:tc>
                      <a:txBody>
                        <a:bodyPr/>
                        <a:lstStyle/>
                        <a:p>
                          <a:r>
                            <a:rPr lang="tr-TR" sz="2400" dirty="0"/>
                            <a:t>Subject to</a:t>
                          </a:r>
                          <a:endParaRPr lang="en-US" sz="240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2</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100</a:t>
                          </a:r>
                          <a:endParaRPr lang="en-US" sz="2400" b="0" dirty="0"/>
                        </a:p>
                      </a:txBody>
                      <a:tcPr/>
                    </a:tc>
                    <a:tc>
                      <a:txBody>
                        <a:bodyPr/>
                        <a:lstStyle/>
                        <a:p>
                          <a:r>
                            <a:rPr lang="tr-TR" sz="1800" b="0" dirty="0"/>
                            <a:t>Finishing</a:t>
                          </a:r>
                          <a:r>
                            <a:rPr lang="tr-TR" sz="1800" b="0" baseline="0" dirty="0"/>
                            <a:t> constraint</a:t>
                          </a:r>
                          <a:endParaRPr lang="en-US" sz="1800" b="0" dirty="0"/>
                        </a:p>
                      </a:txBody>
                      <a:tcPr/>
                    </a:tc>
                    <a:extLst>
                      <a:ext uri="{0D108BD9-81ED-4DB2-BD59-A6C34878D82A}">
                        <a16:rowId xmlns:a16="http://schemas.microsoft.com/office/drawing/2014/main" val="1849586065"/>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14:m>
                            <m:oMathPara xmlns:m="http://schemas.openxmlformats.org/officeDocument/2006/math">
                              <m:oMathParaPr>
                                <m:jc m:val="right"/>
                              </m:oMathParaPr>
                              <m:oMath xmlns:m="http://schemas.openxmlformats.org/officeDocument/2006/math">
                                <m:r>
                                  <a:rPr lang="tr-TR" sz="2400" b="0" i="1" smtClean="0">
                                    <a:latin typeface="Cambria Math" panose="02040503050406030204" pitchFamily="18" charset="0"/>
                                  </a:rPr>
                                  <m:t>+</m:t>
                                </m:r>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m:oMathPara>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80</a:t>
                          </a:r>
                          <a:endParaRPr lang="en-US" sz="2400" b="0" dirty="0"/>
                        </a:p>
                      </a:txBody>
                      <a:tcPr/>
                    </a:tc>
                    <a:tc>
                      <a:txBody>
                        <a:bodyPr/>
                        <a:lstStyle/>
                        <a:p>
                          <a:r>
                            <a:rPr lang="tr-TR" sz="1800" b="0" dirty="0"/>
                            <a:t>Carpentry</a:t>
                          </a:r>
                          <a:r>
                            <a:rPr lang="tr-TR" sz="1800" b="0" baseline="0" dirty="0"/>
                            <a:t> constraint</a:t>
                          </a:r>
                          <a:endParaRPr lang="en-US" sz="1800" b="0" dirty="0"/>
                        </a:p>
                      </a:txBody>
                      <a:tcPr/>
                    </a:tc>
                    <a:extLst>
                      <a:ext uri="{0D108BD9-81ED-4DB2-BD59-A6C34878D82A}">
                        <a16:rowId xmlns:a16="http://schemas.microsoft.com/office/drawing/2014/main" val="390779443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40</a:t>
                          </a:r>
                          <a:endParaRPr lang="en-US" sz="2400" b="0" dirty="0"/>
                        </a:p>
                      </a:txBody>
                      <a:tcPr/>
                    </a:tc>
                    <a:tc>
                      <a:txBody>
                        <a:bodyPr/>
                        <a:lstStyle/>
                        <a:p>
                          <a:r>
                            <a:rPr lang="tr-TR" sz="1800" b="0" dirty="0"/>
                            <a:t>Demand constraint</a:t>
                          </a:r>
                          <a:endParaRPr lang="en-US" sz="1800" b="0" dirty="0"/>
                        </a:p>
                      </a:txBody>
                      <a:tcPr/>
                    </a:tc>
                    <a:extLst>
                      <a:ext uri="{0D108BD9-81ED-4DB2-BD59-A6C34878D82A}">
                        <a16:rowId xmlns:a16="http://schemas.microsoft.com/office/drawing/2014/main" val="3381761340"/>
                      </a:ext>
                    </a:extLst>
                  </a:tr>
                  <a:tr h="370840">
                    <a:tc>
                      <a:txBody>
                        <a:bodyPr/>
                        <a:lstStyle/>
                        <a:p>
                          <a:endParaRPr lang="en-US" sz="2400" dirty="0"/>
                        </a:p>
                      </a:txBody>
                      <a:tcPr/>
                    </a:tc>
                    <a:tc>
                      <a:txBody>
                        <a:bodyPr/>
                        <a:lstStyle/>
                        <a:p>
                          <a:pPr algn="r"/>
                          <a14:m>
                            <m:oMathPara xmlns:m="http://schemas.openxmlformats.org/officeDocument/2006/math">
                              <m:oMathParaPr>
                                <m:jc m:val="right"/>
                              </m:oMathParaPr>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1</m:t>
                                    </m:r>
                                  </m:sub>
                                </m:sSub>
                              </m:oMath>
                            </m:oMathPara>
                          </a14:m>
                          <a:endParaRPr lang="en-US" sz="2400" b="0" dirty="0"/>
                        </a:p>
                      </a:txBody>
                      <a:tcPr/>
                    </a:tc>
                    <a:tc>
                      <a:txBody>
                        <a:bodyPr/>
                        <a:lstStyle/>
                        <a:p>
                          <a:pPr algn="r"/>
                          <a:r>
                            <a:rPr lang="tr-TR" sz="2400" b="0" dirty="0"/>
                            <a:t>,</a:t>
                          </a:r>
                          <a14:m>
                            <m:oMath xmlns:m="http://schemas.openxmlformats.org/officeDocument/2006/math">
                              <m:sSub>
                                <m:sSubPr>
                                  <m:ctrlPr>
                                    <a:rPr lang="tr-TR" sz="2400" b="0" i="1" smtClean="0">
                                      <a:latin typeface="Cambria Math" panose="02040503050406030204" pitchFamily="18" charset="0"/>
                                    </a:rPr>
                                  </m:ctrlPr>
                                </m:sSubPr>
                                <m:e>
                                  <m:r>
                                    <a:rPr lang="tr-TR" sz="2400" b="0" i="1" smtClean="0">
                                      <a:latin typeface="Cambria Math" panose="02040503050406030204" pitchFamily="18" charset="0"/>
                                    </a:rPr>
                                    <m:t>𝑥</m:t>
                                  </m:r>
                                </m:e>
                                <m:sub>
                                  <m:r>
                                    <a:rPr lang="tr-TR" sz="2400" b="0" i="1" smtClean="0">
                                      <a:latin typeface="Cambria Math" panose="02040503050406030204" pitchFamily="18" charset="0"/>
                                    </a:rPr>
                                    <m:t>2</m:t>
                                  </m:r>
                                </m:sub>
                              </m:sSub>
                            </m:oMath>
                          </a14:m>
                          <a:endParaRPr lang="en-US" sz="2400" b="0" dirty="0"/>
                        </a:p>
                      </a:txBody>
                      <a:tcPr/>
                    </a:tc>
                    <a:tc>
                      <a:txBody>
                        <a:bodyPr/>
                        <a:lstStyle/>
                        <a:p>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m:t>
                                </m:r>
                              </m:oMath>
                            </m:oMathPara>
                          </a14:m>
                          <a:endParaRPr lang="en-US" sz="2400" b="0" dirty="0"/>
                        </a:p>
                      </a:txBody>
                      <a:tcPr/>
                    </a:tc>
                    <a:tc>
                      <a:txBody>
                        <a:bodyPr/>
                        <a:lstStyle/>
                        <a:p>
                          <a:r>
                            <a:rPr lang="tr-TR" sz="2400" b="0" dirty="0"/>
                            <a:t>0</a:t>
                          </a:r>
                          <a:endParaRPr lang="en-US" sz="2400" b="0" dirty="0"/>
                        </a:p>
                      </a:txBody>
                      <a:tcPr/>
                    </a:tc>
                    <a:tc>
                      <a:txBody>
                        <a:bodyPr/>
                        <a:lstStyle/>
                        <a:p>
                          <a:r>
                            <a:rPr lang="tr-TR" sz="1800" b="0" dirty="0"/>
                            <a:t>Non-negativity</a:t>
                          </a:r>
                          <a:endParaRPr lang="en-US" sz="1800" b="0" dirty="0"/>
                        </a:p>
                      </a:txBody>
                      <a:tcPr/>
                    </a:tc>
                    <a:extLst>
                      <a:ext uri="{0D108BD9-81ED-4DB2-BD59-A6C34878D82A}">
                        <a16:rowId xmlns:a16="http://schemas.microsoft.com/office/drawing/2014/main" val="3220848258"/>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525408641"/>
                  </p:ext>
                </p:extLst>
              </p:nvPr>
            </p:nvGraphicFramePr>
            <p:xfrm>
              <a:off x="2670326" y="2933507"/>
              <a:ext cx="6788850" cy="2286000"/>
            </p:xfrm>
            <a:graphic>
              <a:graphicData uri="http://schemas.openxmlformats.org/drawingml/2006/table">
                <a:tbl>
                  <a:tblPr firstRow="1" bandRow="1">
                    <a:tableStyleId>{2D5ABB26-0587-4C30-8999-92F81FD0307C}</a:tableStyleId>
                  </a:tblPr>
                  <a:tblGrid>
                    <a:gridCol w="1559560">
                      <a:extLst>
                        <a:ext uri="{9D8B030D-6E8A-4147-A177-3AD203B41FA5}">
                          <a16:colId xmlns:a16="http://schemas.microsoft.com/office/drawing/2014/main" val="3888021187"/>
                        </a:ext>
                      </a:extLst>
                    </a:gridCol>
                    <a:gridCol w="947484">
                      <a:extLst>
                        <a:ext uri="{9D8B030D-6E8A-4147-A177-3AD203B41FA5}">
                          <a16:colId xmlns:a16="http://schemas.microsoft.com/office/drawing/2014/main" val="3534266932"/>
                        </a:ext>
                      </a:extLst>
                    </a:gridCol>
                    <a:gridCol w="946595">
                      <a:extLst>
                        <a:ext uri="{9D8B030D-6E8A-4147-A177-3AD203B41FA5}">
                          <a16:colId xmlns:a16="http://schemas.microsoft.com/office/drawing/2014/main" val="3559686337"/>
                        </a:ext>
                      </a:extLst>
                    </a:gridCol>
                    <a:gridCol w="479743">
                      <a:extLst>
                        <a:ext uri="{9D8B030D-6E8A-4147-A177-3AD203B41FA5}">
                          <a16:colId xmlns:a16="http://schemas.microsoft.com/office/drawing/2014/main" val="1158957883"/>
                        </a:ext>
                      </a:extLst>
                    </a:gridCol>
                    <a:gridCol w="713105">
                      <a:extLst>
                        <a:ext uri="{9D8B030D-6E8A-4147-A177-3AD203B41FA5}">
                          <a16:colId xmlns:a16="http://schemas.microsoft.com/office/drawing/2014/main" val="3407547115"/>
                        </a:ext>
                      </a:extLst>
                    </a:gridCol>
                    <a:gridCol w="2142363">
                      <a:extLst>
                        <a:ext uri="{9D8B030D-6E8A-4147-A177-3AD203B41FA5}">
                          <a16:colId xmlns:a16="http://schemas.microsoft.com/office/drawing/2014/main" val="1511569331"/>
                        </a:ext>
                      </a:extLst>
                    </a:gridCol>
                  </a:tblGrid>
                  <a:tr h="457200">
                    <a:tc>
                      <a:txBody>
                        <a:bodyPr/>
                        <a:lstStyle/>
                        <a:p>
                          <a:endParaRPr lang="tr-TR"/>
                        </a:p>
                      </a:txBody>
                      <a:tcPr>
                        <a:blipFill>
                          <a:blip r:embed="rId2"/>
                          <a:stretch>
                            <a:fillRect t="-10667" r="-335156" b="-430667"/>
                          </a:stretch>
                        </a:blipFill>
                      </a:tcPr>
                    </a:tc>
                    <a:tc>
                      <a:txBody>
                        <a:bodyPr/>
                        <a:lstStyle/>
                        <a:p>
                          <a:endParaRPr lang="tr-TR"/>
                        </a:p>
                      </a:txBody>
                      <a:tcPr>
                        <a:blipFill>
                          <a:blip r:embed="rId2"/>
                          <a:stretch>
                            <a:fillRect l="-165161" t="-10667" r="-453548" b="-430667"/>
                          </a:stretch>
                        </a:blipFill>
                      </a:tcPr>
                    </a:tc>
                    <a:tc>
                      <a:txBody>
                        <a:bodyPr/>
                        <a:lstStyle/>
                        <a:p>
                          <a:endParaRPr lang="tr-TR"/>
                        </a:p>
                      </a:txBody>
                      <a:tcPr>
                        <a:blipFill>
                          <a:blip r:embed="rId2"/>
                          <a:stretch>
                            <a:fillRect l="-263462" t="-10667" r="-350641" b="-430667"/>
                          </a:stretch>
                        </a:blipFill>
                      </a:tcPr>
                    </a:tc>
                    <a:tc>
                      <a:txBody>
                        <a:bodyPr/>
                        <a:lstStyle/>
                        <a:p>
                          <a:endParaRPr lang="en-US" sz="2400" b="0"/>
                        </a:p>
                      </a:txBody>
                      <a:tcPr/>
                    </a:tc>
                    <a:tc>
                      <a:txBody>
                        <a:bodyPr/>
                        <a:lstStyle/>
                        <a:p>
                          <a:endParaRPr lang="en-US" sz="2400" b="0" dirty="0"/>
                        </a:p>
                      </a:txBody>
                      <a:tcPr/>
                    </a:tc>
                    <a:tc>
                      <a:txBody>
                        <a:bodyPr/>
                        <a:lstStyle/>
                        <a:p>
                          <a:r>
                            <a:rPr lang="tr-TR" sz="1800" b="0" dirty="0" smtClean="0"/>
                            <a:t>Max Profit</a:t>
                          </a:r>
                          <a:endParaRPr lang="en-US" sz="1800" b="0" dirty="0"/>
                        </a:p>
                      </a:txBody>
                      <a:tcPr/>
                    </a:tc>
                    <a:extLst>
                      <a:ext uri="{0D108BD9-81ED-4DB2-BD59-A6C34878D82A}">
                        <a16:rowId xmlns:a16="http://schemas.microsoft.com/office/drawing/2014/main" val="1915566640"/>
                      </a:ext>
                    </a:extLst>
                  </a:tr>
                  <a:tr h="457200">
                    <a:tc>
                      <a:txBody>
                        <a:bodyPr/>
                        <a:lstStyle/>
                        <a:p>
                          <a:r>
                            <a:rPr lang="tr-TR" sz="2400" dirty="0"/>
                            <a:t>Subject to</a:t>
                          </a:r>
                          <a:endParaRPr lang="en-US" sz="2400" dirty="0"/>
                        </a:p>
                      </a:txBody>
                      <a:tcPr/>
                    </a:tc>
                    <a:tc>
                      <a:txBody>
                        <a:bodyPr/>
                        <a:lstStyle/>
                        <a:p>
                          <a:endParaRPr lang="tr-TR"/>
                        </a:p>
                      </a:txBody>
                      <a:tcPr>
                        <a:blipFill>
                          <a:blip r:embed="rId2"/>
                          <a:stretch>
                            <a:fillRect l="-165161" t="-110667" r="-453548" b="-330667"/>
                          </a:stretch>
                        </a:blipFill>
                      </a:tcPr>
                    </a:tc>
                    <a:tc>
                      <a:txBody>
                        <a:bodyPr/>
                        <a:lstStyle/>
                        <a:p>
                          <a:endParaRPr lang="tr-TR"/>
                        </a:p>
                      </a:txBody>
                      <a:tcPr>
                        <a:blipFill>
                          <a:blip r:embed="rId2"/>
                          <a:stretch>
                            <a:fillRect l="-263462" t="-110667" r="-350641" b="-330667"/>
                          </a:stretch>
                        </a:blipFill>
                      </a:tcPr>
                    </a:tc>
                    <a:tc>
                      <a:txBody>
                        <a:bodyPr/>
                        <a:lstStyle/>
                        <a:p>
                          <a:endParaRPr lang="tr-TR"/>
                        </a:p>
                      </a:txBody>
                      <a:tcPr>
                        <a:blipFill>
                          <a:blip r:embed="rId2"/>
                          <a:stretch>
                            <a:fillRect l="-726923" t="-110667" r="-601282" b="-330667"/>
                          </a:stretch>
                        </a:blipFill>
                      </a:tcPr>
                    </a:tc>
                    <a:tc>
                      <a:txBody>
                        <a:bodyPr/>
                        <a:lstStyle/>
                        <a:p>
                          <a:r>
                            <a:rPr lang="tr-TR" sz="2400" b="0" dirty="0" smtClean="0"/>
                            <a:t>100</a:t>
                          </a:r>
                          <a:endParaRPr lang="en-US" sz="2400" b="0" dirty="0"/>
                        </a:p>
                      </a:txBody>
                      <a:tcPr/>
                    </a:tc>
                    <a:tc>
                      <a:txBody>
                        <a:bodyPr/>
                        <a:lstStyle/>
                        <a:p>
                          <a:r>
                            <a:rPr lang="tr-TR" sz="1800" b="0" dirty="0" smtClean="0"/>
                            <a:t>Finishing</a:t>
                          </a:r>
                          <a:r>
                            <a:rPr lang="tr-TR" sz="1800" b="0" baseline="0" dirty="0" smtClean="0"/>
                            <a:t> constraint</a:t>
                          </a:r>
                          <a:endParaRPr lang="en-US" sz="1800" b="0" dirty="0"/>
                        </a:p>
                      </a:txBody>
                      <a:tcPr/>
                    </a:tc>
                    <a:extLst>
                      <a:ext uri="{0D108BD9-81ED-4DB2-BD59-A6C34878D82A}">
                        <a16:rowId xmlns:a16="http://schemas.microsoft.com/office/drawing/2014/main" val="1849586065"/>
                      </a:ext>
                    </a:extLst>
                  </a:tr>
                  <a:tr h="457200">
                    <a:tc>
                      <a:txBody>
                        <a:bodyPr/>
                        <a:lstStyle/>
                        <a:p>
                          <a:endParaRPr lang="en-US" sz="2400" dirty="0"/>
                        </a:p>
                      </a:txBody>
                      <a:tcPr/>
                    </a:tc>
                    <a:tc>
                      <a:txBody>
                        <a:bodyPr/>
                        <a:lstStyle/>
                        <a:p>
                          <a:endParaRPr lang="tr-TR"/>
                        </a:p>
                      </a:txBody>
                      <a:tcPr>
                        <a:blipFill>
                          <a:blip r:embed="rId2"/>
                          <a:stretch>
                            <a:fillRect l="-165161" t="-207895" r="-453548" b="-226316"/>
                          </a:stretch>
                        </a:blipFill>
                      </a:tcPr>
                    </a:tc>
                    <a:tc>
                      <a:txBody>
                        <a:bodyPr/>
                        <a:lstStyle/>
                        <a:p>
                          <a:endParaRPr lang="tr-TR"/>
                        </a:p>
                      </a:txBody>
                      <a:tcPr>
                        <a:blipFill>
                          <a:blip r:embed="rId2"/>
                          <a:stretch>
                            <a:fillRect l="-263462" t="-207895" r="-350641" b="-226316"/>
                          </a:stretch>
                        </a:blipFill>
                      </a:tcPr>
                    </a:tc>
                    <a:tc>
                      <a:txBody>
                        <a:bodyPr/>
                        <a:lstStyle/>
                        <a:p>
                          <a:endParaRPr lang="tr-TR"/>
                        </a:p>
                      </a:txBody>
                      <a:tcPr>
                        <a:blipFill>
                          <a:blip r:embed="rId2"/>
                          <a:stretch>
                            <a:fillRect l="-726923" t="-207895" r="-601282" b="-226316"/>
                          </a:stretch>
                        </a:blipFill>
                      </a:tcPr>
                    </a:tc>
                    <a:tc>
                      <a:txBody>
                        <a:bodyPr/>
                        <a:lstStyle/>
                        <a:p>
                          <a:r>
                            <a:rPr lang="tr-TR" sz="2400" b="0" dirty="0" smtClean="0"/>
                            <a:t>80</a:t>
                          </a:r>
                          <a:endParaRPr lang="en-US" sz="2400" b="0" dirty="0"/>
                        </a:p>
                      </a:txBody>
                      <a:tcPr/>
                    </a:tc>
                    <a:tc>
                      <a:txBody>
                        <a:bodyPr/>
                        <a:lstStyle/>
                        <a:p>
                          <a:r>
                            <a:rPr lang="tr-TR" sz="1800" b="0" dirty="0" smtClean="0"/>
                            <a:t>Carpentry</a:t>
                          </a:r>
                          <a:r>
                            <a:rPr lang="tr-TR" sz="1800" b="0" baseline="0" dirty="0" smtClean="0"/>
                            <a:t> constraint</a:t>
                          </a:r>
                          <a:endParaRPr lang="en-US" sz="1800" b="0" dirty="0"/>
                        </a:p>
                      </a:txBody>
                      <a:tcPr/>
                    </a:tc>
                    <a:extLst>
                      <a:ext uri="{0D108BD9-81ED-4DB2-BD59-A6C34878D82A}">
                        <a16:rowId xmlns:a16="http://schemas.microsoft.com/office/drawing/2014/main" val="3907794430"/>
                      </a:ext>
                    </a:extLst>
                  </a:tr>
                  <a:tr h="457200">
                    <a:tc>
                      <a:txBody>
                        <a:bodyPr/>
                        <a:lstStyle/>
                        <a:p>
                          <a:endParaRPr lang="en-US" sz="2400" dirty="0"/>
                        </a:p>
                      </a:txBody>
                      <a:tcPr/>
                    </a:tc>
                    <a:tc>
                      <a:txBody>
                        <a:bodyPr/>
                        <a:lstStyle/>
                        <a:p>
                          <a:endParaRPr lang="tr-TR"/>
                        </a:p>
                      </a:txBody>
                      <a:tcPr>
                        <a:blipFill>
                          <a:blip r:embed="rId2"/>
                          <a:stretch>
                            <a:fillRect l="-165161" t="-312000" r="-453548" b="-129333"/>
                          </a:stretch>
                        </a:blipFill>
                      </a:tcPr>
                    </a:tc>
                    <a:tc>
                      <a:txBody>
                        <a:bodyPr/>
                        <a:lstStyle/>
                        <a:p>
                          <a:pPr algn="r"/>
                          <a:endParaRPr lang="en-US" sz="2400" b="0" dirty="0"/>
                        </a:p>
                      </a:txBody>
                      <a:tcPr/>
                    </a:tc>
                    <a:tc>
                      <a:txBody>
                        <a:bodyPr/>
                        <a:lstStyle/>
                        <a:p>
                          <a:endParaRPr lang="tr-TR"/>
                        </a:p>
                      </a:txBody>
                      <a:tcPr>
                        <a:blipFill>
                          <a:blip r:embed="rId2"/>
                          <a:stretch>
                            <a:fillRect l="-726923" t="-312000" r="-601282" b="-129333"/>
                          </a:stretch>
                        </a:blipFill>
                      </a:tcPr>
                    </a:tc>
                    <a:tc>
                      <a:txBody>
                        <a:bodyPr/>
                        <a:lstStyle/>
                        <a:p>
                          <a:r>
                            <a:rPr lang="tr-TR" sz="2400" b="0" dirty="0" smtClean="0"/>
                            <a:t>40</a:t>
                          </a:r>
                          <a:endParaRPr lang="en-US" sz="2400" b="0" dirty="0"/>
                        </a:p>
                      </a:txBody>
                      <a:tcPr/>
                    </a:tc>
                    <a:tc>
                      <a:txBody>
                        <a:bodyPr/>
                        <a:lstStyle/>
                        <a:p>
                          <a:r>
                            <a:rPr lang="tr-TR" sz="1800" b="0" dirty="0" smtClean="0"/>
                            <a:t>Demand constraint</a:t>
                          </a:r>
                          <a:endParaRPr lang="en-US" sz="1800" b="0" dirty="0"/>
                        </a:p>
                      </a:txBody>
                      <a:tcPr/>
                    </a:tc>
                    <a:extLst>
                      <a:ext uri="{0D108BD9-81ED-4DB2-BD59-A6C34878D82A}">
                        <a16:rowId xmlns:a16="http://schemas.microsoft.com/office/drawing/2014/main" val="3381761340"/>
                      </a:ext>
                    </a:extLst>
                  </a:tr>
                  <a:tr h="457200">
                    <a:tc>
                      <a:txBody>
                        <a:bodyPr/>
                        <a:lstStyle/>
                        <a:p>
                          <a:endParaRPr lang="en-US" sz="2400" dirty="0"/>
                        </a:p>
                      </a:txBody>
                      <a:tcPr/>
                    </a:tc>
                    <a:tc>
                      <a:txBody>
                        <a:bodyPr/>
                        <a:lstStyle/>
                        <a:p>
                          <a:endParaRPr lang="tr-TR"/>
                        </a:p>
                      </a:txBody>
                      <a:tcPr>
                        <a:blipFill>
                          <a:blip r:embed="rId2"/>
                          <a:stretch>
                            <a:fillRect l="-165161" t="-412000" r="-453548" b="-29333"/>
                          </a:stretch>
                        </a:blipFill>
                      </a:tcPr>
                    </a:tc>
                    <a:tc>
                      <a:txBody>
                        <a:bodyPr/>
                        <a:lstStyle/>
                        <a:p>
                          <a:endParaRPr lang="tr-TR"/>
                        </a:p>
                      </a:txBody>
                      <a:tcPr>
                        <a:blipFill>
                          <a:blip r:embed="rId2"/>
                          <a:stretch>
                            <a:fillRect l="-263462" t="-412000" r="-350641" b="-29333"/>
                          </a:stretch>
                        </a:blipFill>
                      </a:tcPr>
                    </a:tc>
                    <a:tc>
                      <a:txBody>
                        <a:bodyPr/>
                        <a:lstStyle/>
                        <a:p>
                          <a:endParaRPr lang="tr-TR"/>
                        </a:p>
                      </a:txBody>
                      <a:tcPr>
                        <a:blipFill>
                          <a:blip r:embed="rId2"/>
                          <a:stretch>
                            <a:fillRect l="-726923" t="-412000" r="-601282" b="-29333"/>
                          </a:stretch>
                        </a:blipFill>
                      </a:tcPr>
                    </a:tc>
                    <a:tc>
                      <a:txBody>
                        <a:bodyPr/>
                        <a:lstStyle/>
                        <a:p>
                          <a:r>
                            <a:rPr lang="tr-TR" sz="2400" b="0" dirty="0"/>
                            <a:t>0</a:t>
                          </a:r>
                          <a:endParaRPr lang="en-US" sz="2400" b="0" dirty="0"/>
                        </a:p>
                      </a:txBody>
                      <a:tcPr/>
                    </a:tc>
                    <a:tc>
                      <a:txBody>
                        <a:bodyPr/>
                        <a:lstStyle/>
                        <a:p>
                          <a:r>
                            <a:rPr lang="tr-TR" sz="1800" b="0" dirty="0" smtClean="0"/>
                            <a:t>Non-negativity</a:t>
                          </a:r>
                          <a:endParaRPr lang="en-US" sz="1800" b="0" dirty="0"/>
                        </a:p>
                      </a:txBody>
                      <a:tcPr/>
                    </a:tc>
                    <a:extLst>
                      <a:ext uri="{0D108BD9-81ED-4DB2-BD59-A6C34878D82A}">
                        <a16:rowId xmlns:a16="http://schemas.microsoft.com/office/drawing/2014/main" val="3220848258"/>
                      </a:ext>
                    </a:extLst>
                  </a:tr>
                </a:tbl>
              </a:graphicData>
            </a:graphic>
          </p:graphicFrame>
        </mc:Fallback>
      </mc:AlternateContent>
    </p:spTree>
    <p:extLst>
      <p:ext uri="{BB962C8B-B14F-4D97-AF65-F5344CB8AC3E}">
        <p14:creationId xmlns:p14="http://schemas.microsoft.com/office/powerpoint/2010/main" val="961844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50424016-7315-4273-B934-D415C483F4FF}"/>
              </a:ext>
            </a:extLst>
          </p:cNvPr>
          <p:cNvSpPr>
            <a:spLocks noGrp="1"/>
          </p:cNvSpPr>
          <p:nvPr>
            <p:ph type="title"/>
          </p:nvPr>
        </p:nvSpPr>
        <p:spPr/>
        <p:txBody>
          <a:bodyPr/>
          <a:lstStyle/>
          <a:p>
            <a:r>
              <a:rPr lang="en-US" dirty="0"/>
              <a:t>GRAPHICAL APPROACH</a:t>
            </a:r>
          </a:p>
        </p:txBody>
      </p:sp>
      <p:sp>
        <p:nvSpPr>
          <p:cNvPr id="5" name="Footer Placeholder 4">
            <a:extLst>
              <a:ext uri="{FF2B5EF4-FFF2-40B4-BE49-F238E27FC236}">
                <a16:creationId xmlns:a16="http://schemas.microsoft.com/office/drawing/2014/main" id="{9AE8A533-8C2C-4C16-B2A9-B4D8E3FD6A8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7" name="Freeform: Shape 6">
            <a:extLst>
              <a:ext uri="{FF2B5EF4-FFF2-40B4-BE49-F238E27FC236}">
                <a16:creationId xmlns:a16="http://schemas.microsoft.com/office/drawing/2014/main" id="{EE12BF37-9118-489E-A939-3B510DAB3F7F}"/>
              </a:ext>
            </a:extLst>
          </p:cNvPr>
          <p:cNvSpPr/>
          <p:nvPr/>
        </p:nvSpPr>
        <p:spPr>
          <a:xfrm>
            <a:off x="4242702" y="5187715"/>
            <a:ext cx="18148" cy="22460"/>
          </a:xfrm>
          <a:custGeom>
            <a:avLst/>
            <a:gdLst>
              <a:gd name="connsiteX0" fmla="*/ 18148 w 18148"/>
              <a:gd name="connsiteY0" fmla="*/ 22460 h 22460"/>
              <a:gd name="connsiteX1" fmla="*/ 18148 w 18148"/>
              <a:gd name="connsiteY1" fmla="*/ 22460 h 22460"/>
              <a:gd name="connsiteX2" fmla="*/ 8623 w 18148"/>
              <a:gd name="connsiteY2" fmla="*/ 12935 h 22460"/>
              <a:gd name="connsiteX3" fmla="*/ 7565 w 18148"/>
              <a:gd name="connsiteY3" fmla="*/ 8702 h 22460"/>
              <a:gd name="connsiteX4" fmla="*/ 3331 w 18148"/>
              <a:gd name="connsiteY4" fmla="*/ 3410 h 22460"/>
              <a:gd name="connsiteX5" fmla="*/ 156 w 18148"/>
              <a:gd name="connsiteY5" fmla="*/ 235 h 22460"/>
              <a:gd name="connsiteX6" fmla="*/ 18148 w 18148"/>
              <a:gd name="connsiteY6" fmla="*/ 22460 h 2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8" h="22460">
                <a:moveTo>
                  <a:pt x="18148" y="22460"/>
                </a:moveTo>
                <a:lnTo>
                  <a:pt x="18148" y="22460"/>
                </a:lnTo>
                <a:cubicBezTo>
                  <a:pt x="14973" y="19285"/>
                  <a:pt x="11361" y="16494"/>
                  <a:pt x="8623" y="12935"/>
                </a:cubicBezTo>
                <a:cubicBezTo>
                  <a:pt x="7736" y="11782"/>
                  <a:pt x="8271" y="9973"/>
                  <a:pt x="7565" y="8702"/>
                </a:cubicBezTo>
                <a:cubicBezTo>
                  <a:pt x="6468" y="6727"/>
                  <a:pt x="4819" y="5110"/>
                  <a:pt x="3331" y="3410"/>
                </a:cubicBezTo>
                <a:cubicBezTo>
                  <a:pt x="2345" y="2284"/>
                  <a:pt x="1036" y="1445"/>
                  <a:pt x="156" y="235"/>
                </a:cubicBezTo>
                <a:cubicBezTo>
                  <a:pt x="-1801" y="-2457"/>
                  <a:pt x="15149" y="18756"/>
                  <a:pt x="18148" y="2246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8D1787-6807-4099-A1D2-8F29911EFF12}"/>
              </a:ext>
            </a:extLst>
          </p:cNvPr>
          <p:cNvSpPr txBox="1"/>
          <p:nvPr/>
        </p:nvSpPr>
        <p:spPr>
          <a:xfrm>
            <a:off x="6574420" y="2057401"/>
            <a:ext cx="4379330" cy="1046440"/>
          </a:xfrm>
          <a:prstGeom prst="rect">
            <a:avLst/>
          </a:prstGeom>
          <a:noFill/>
        </p:spPr>
        <p:txBody>
          <a:bodyPr wrap="square" rtlCol="0">
            <a:spAutoFit/>
          </a:bodyPr>
          <a:lstStyle/>
          <a:p>
            <a:pPr marL="285750" indent="-285750">
              <a:buFont typeface="Arial" panose="020B0604020202020204" pitchFamily="34" charset="0"/>
              <a:buChar char="•"/>
            </a:pPr>
            <a:r>
              <a:rPr lang="tr-TR" sz="2200" dirty="0"/>
              <a:t>Let’s say the slope changed a bit</a:t>
            </a:r>
          </a:p>
          <a:p>
            <a:pPr marL="285750" indent="-285750">
              <a:buFont typeface="Arial" panose="020B0604020202020204" pitchFamily="34" charset="0"/>
              <a:buChar char="•"/>
            </a:pPr>
            <a:r>
              <a:rPr lang="tr-TR" sz="2200" dirty="0"/>
              <a:t>Still the same solution is optimal</a:t>
            </a:r>
            <a:endParaRPr lang="en-US" sz="2200" dirty="0"/>
          </a:p>
          <a:p>
            <a:endParaRPr lang="en-US" dirty="0"/>
          </a:p>
        </p:txBody>
      </p:sp>
      <p:cxnSp>
        <p:nvCxnSpPr>
          <p:cNvPr id="27" name="Straight Connector 26"/>
          <p:cNvCxnSpPr/>
          <p:nvPr/>
        </p:nvCxnSpPr>
        <p:spPr>
          <a:xfrm>
            <a:off x="1430052" y="2663738"/>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961F234-401C-4F98-A34C-47B3B1290596}"/>
              </a:ext>
            </a:extLst>
          </p:cNvPr>
          <p:cNvSpPr txBox="1"/>
          <p:nvPr/>
        </p:nvSpPr>
        <p:spPr>
          <a:xfrm>
            <a:off x="1113727" y="2460942"/>
            <a:ext cx="288862" cy="307777"/>
          </a:xfrm>
          <a:prstGeom prst="rect">
            <a:avLst/>
          </a:prstGeom>
          <a:noFill/>
        </p:spPr>
        <p:txBody>
          <a:bodyPr wrap="none" rtlCol="0">
            <a:spAutoFit/>
          </a:bodyPr>
          <a:lstStyle/>
          <a:p>
            <a:r>
              <a:rPr lang="en-US" sz="1400" dirty="0"/>
              <a:t>A</a:t>
            </a:r>
          </a:p>
        </p:txBody>
      </p:sp>
      <p:sp>
        <p:nvSpPr>
          <p:cNvPr id="24" name="TextBox 23">
            <a:extLst>
              <a:ext uri="{FF2B5EF4-FFF2-40B4-BE49-F238E27FC236}">
                <a16:creationId xmlns:a16="http://schemas.microsoft.com/office/drawing/2014/main" id="{C7808A7A-A3E0-43D6-99BF-D623294039E9}"/>
              </a:ext>
            </a:extLst>
          </p:cNvPr>
          <p:cNvSpPr txBox="1"/>
          <p:nvPr/>
        </p:nvSpPr>
        <p:spPr>
          <a:xfrm>
            <a:off x="2080404" y="3385700"/>
            <a:ext cx="288862" cy="307777"/>
          </a:xfrm>
          <a:prstGeom prst="rect">
            <a:avLst/>
          </a:prstGeom>
          <a:noFill/>
        </p:spPr>
        <p:txBody>
          <a:bodyPr wrap="none" rtlCol="0">
            <a:spAutoFit/>
          </a:bodyPr>
          <a:lstStyle/>
          <a:p>
            <a:r>
              <a:rPr lang="en-US" sz="1400" dirty="0"/>
              <a:t>B</a:t>
            </a:r>
          </a:p>
        </p:txBody>
      </p:sp>
      <p:sp>
        <p:nvSpPr>
          <p:cNvPr id="26" name="TextBox 25">
            <a:extLst>
              <a:ext uri="{FF2B5EF4-FFF2-40B4-BE49-F238E27FC236}">
                <a16:creationId xmlns:a16="http://schemas.microsoft.com/office/drawing/2014/main" id="{61309111-2019-41EA-BE96-04570792F506}"/>
              </a:ext>
            </a:extLst>
          </p:cNvPr>
          <p:cNvSpPr txBox="1"/>
          <p:nvPr/>
        </p:nvSpPr>
        <p:spPr>
          <a:xfrm>
            <a:off x="2795938" y="5045056"/>
            <a:ext cx="288862" cy="307777"/>
          </a:xfrm>
          <a:prstGeom prst="rect">
            <a:avLst/>
          </a:prstGeom>
          <a:noFill/>
        </p:spPr>
        <p:txBody>
          <a:bodyPr wrap="none" rtlCol="0">
            <a:spAutoFit/>
          </a:bodyPr>
          <a:lstStyle/>
          <a:p>
            <a:r>
              <a:rPr lang="en-US" sz="1400" dirty="0"/>
              <a:t>C</a:t>
            </a:r>
          </a:p>
        </p:txBody>
      </p:sp>
      <p:grpSp>
        <p:nvGrpSpPr>
          <p:cNvPr id="28" name="Group 27">
            <a:extLst>
              <a:ext uri="{FF2B5EF4-FFF2-40B4-BE49-F238E27FC236}">
                <a16:creationId xmlns:a16="http://schemas.microsoft.com/office/drawing/2014/main" id="{39C3A2CF-5101-477E-B73E-35A26BFD1812}"/>
              </a:ext>
            </a:extLst>
          </p:cNvPr>
          <p:cNvGrpSpPr/>
          <p:nvPr/>
        </p:nvGrpSpPr>
        <p:grpSpPr>
          <a:xfrm>
            <a:off x="838200" y="1387354"/>
            <a:ext cx="4459287" cy="4968996"/>
            <a:chOff x="838200" y="1387354"/>
            <a:chExt cx="4459287" cy="4968996"/>
          </a:xfrm>
          <a:solidFill>
            <a:schemeClr val="bg1">
              <a:lumMod val="75000"/>
            </a:schemeClr>
          </a:solidFill>
        </p:grpSpPr>
        <p:grpSp>
          <p:nvGrpSpPr>
            <p:cNvPr id="20" name="Group 19">
              <a:extLst>
                <a:ext uri="{FF2B5EF4-FFF2-40B4-BE49-F238E27FC236}">
                  <a16:creationId xmlns:a16="http://schemas.microsoft.com/office/drawing/2014/main" id="{289D5DDE-7ECB-44C3-A075-0848AFABF1B3}"/>
                </a:ext>
              </a:extLst>
            </p:cNvPr>
            <p:cNvGrpSpPr/>
            <p:nvPr/>
          </p:nvGrpSpPr>
          <p:grpSpPr>
            <a:xfrm>
              <a:off x="838200" y="1387354"/>
              <a:ext cx="4459287" cy="4968996"/>
              <a:chOff x="4260850" y="1387354"/>
              <a:chExt cx="4459287" cy="4968996"/>
            </a:xfrm>
            <a:grpFill/>
          </p:grpSpPr>
          <p:grpSp>
            <p:nvGrpSpPr>
              <p:cNvPr id="19" name="Group 18">
                <a:extLst>
                  <a:ext uri="{FF2B5EF4-FFF2-40B4-BE49-F238E27FC236}">
                    <a16:creationId xmlns:a16="http://schemas.microsoft.com/office/drawing/2014/main" id="{561BE588-BAE7-4D46-8530-E76AFD241230}"/>
                  </a:ext>
                </a:extLst>
              </p:cNvPr>
              <p:cNvGrpSpPr/>
              <p:nvPr/>
            </p:nvGrpSpPr>
            <p:grpSpPr>
              <a:xfrm>
                <a:off x="4260850" y="1387354"/>
                <a:ext cx="4459287" cy="4961058"/>
                <a:chOff x="4260850" y="1387354"/>
                <a:chExt cx="4459287" cy="4961058"/>
              </a:xfrm>
              <a:grpFill/>
            </p:grpSpPr>
            <p:pic>
              <p:nvPicPr>
                <p:cNvPr id="2" name="Picture 1">
                  <a:extLst>
                    <a:ext uri="{FF2B5EF4-FFF2-40B4-BE49-F238E27FC236}">
                      <a16:creationId xmlns:a16="http://schemas.microsoft.com/office/drawing/2014/main" id="{5917608B-07B3-43FD-83FE-85B5EDD4AEF7}"/>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8" name="Straight Connector 7">
                  <a:extLst>
                    <a:ext uri="{FF2B5EF4-FFF2-40B4-BE49-F238E27FC236}">
                      <a16:creationId xmlns:a16="http://schemas.microsoft.com/office/drawing/2014/main" id="{4C3CE35E-9698-4C1D-8384-707B97F8F72A}"/>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3D9CBD7-02DF-4C73-B868-592AF0F28321}"/>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592BA3A1-6FDF-4560-BA59-DF24BCB3646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Freeform: Shape 22">
              <a:extLst>
                <a:ext uri="{FF2B5EF4-FFF2-40B4-BE49-F238E27FC236}">
                  <a16:creationId xmlns:a16="http://schemas.microsoft.com/office/drawing/2014/main" id="{C6267C87-61DA-4D32-AAD5-4518229A9B1E}"/>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 name="Straight Connector 13"/>
          <p:cNvCxnSpPr/>
          <p:nvPr/>
        </p:nvCxnSpPr>
        <p:spPr>
          <a:xfrm>
            <a:off x="1000125" y="4219575"/>
            <a:ext cx="1695450" cy="2187471"/>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415415" y="2755900"/>
            <a:ext cx="1695450" cy="2187471"/>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9A8A291-BD4E-45E0-90CC-888E27DDCC29}"/>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0CFADB5-EB7D-4E53-8BDB-268CE7C90E41}"/>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31" name="TextBox 30">
            <a:extLst>
              <a:ext uri="{FF2B5EF4-FFF2-40B4-BE49-F238E27FC236}">
                <a16:creationId xmlns:a16="http://schemas.microsoft.com/office/drawing/2014/main" id="{19AED765-2DE6-4C65-BA23-3B4CA094985B}"/>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2" name="TextBox 31">
            <a:extLst>
              <a:ext uri="{FF2B5EF4-FFF2-40B4-BE49-F238E27FC236}">
                <a16:creationId xmlns:a16="http://schemas.microsoft.com/office/drawing/2014/main" id="{79AB2015-5E27-4421-9DCA-4E81B2B8E1E0}"/>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3" name="TextBox 32">
            <a:extLst>
              <a:ext uri="{FF2B5EF4-FFF2-40B4-BE49-F238E27FC236}">
                <a16:creationId xmlns:a16="http://schemas.microsoft.com/office/drawing/2014/main" id="{77134BC3-754C-4D56-A9FA-F25CD46931A0}"/>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spTree>
    <p:extLst>
      <p:ext uri="{BB962C8B-B14F-4D97-AF65-F5344CB8AC3E}">
        <p14:creationId xmlns:p14="http://schemas.microsoft.com/office/powerpoint/2010/main" val="196091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7AE8939-8349-4D65-9DF5-9584008D2E74}"/>
              </a:ext>
            </a:extLst>
          </p:cNvPr>
          <p:cNvGrpSpPr/>
          <p:nvPr/>
        </p:nvGrpSpPr>
        <p:grpSpPr>
          <a:xfrm>
            <a:off x="838200" y="1387354"/>
            <a:ext cx="4459287" cy="4968996"/>
            <a:chOff x="838200" y="1387354"/>
            <a:chExt cx="4459287" cy="4968996"/>
          </a:xfrm>
          <a:solidFill>
            <a:srgbClr val="BFBFBF"/>
          </a:solidFill>
        </p:grpSpPr>
        <p:grpSp>
          <p:nvGrpSpPr>
            <p:cNvPr id="13" name="Group 12">
              <a:extLst>
                <a:ext uri="{FF2B5EF4-FFF2-40B4-BE49-F238E27FC236}">
                  <a16:creationId xmlns:a16="http://schemas.microsoft.com/office/drawing/2014/main" id="{570C4CC7-5894-4405-9E47-128BB568951F}"/>
                </a:ext>
              </a:extLst>
            </p:cNvPr>
            <p:cNvGrpSpPr/>
            <p:nvPr/>
          </p:nvGrpSpPr>
          <p:grpSpPr>
            <a:xfrm>
              <a:off x="838200" y="1387354"/>
              <a:ext cx="4459287" cy="4968996"/>
              <a:chOff x="4260850" y="1387354"/>
              <a:chExt cx="4459287" cy="4968996"/>
            </a:xfrm>
            <a:grpFill/>
          </p:grpSpPr>
          <p:grpSp>
            <p:nvGrpSpPr>
              <p:cNvPr id="17" name="Group 16">
                <a:extLst>
                  <a:ext uri="{FF2B5EF4-FFF2-40B4-BE49-F238E27FC236}">
                    <a16:creationId xmlns:a16="http://schemas.microsoft.com/office/drawing/2014/main" id="{A03F3ADE-F101-49D4-949D-9A2DB49A41F9}"/>
                  </a:ext>
                </a:extLst>
              </p:cNvPr>
              <p:cNvGrpSpPr/>
              <p:nvPr/>
            </p:nvGrpSpPr>
            <p:grpSpPr>
              <a:xfrm>
                <a:off x="4260850" y="1387354"/>
                <a:ext cx="4459287" cy="4961058"/>
                <a:chOff x="4260850" y="1387354"/>
                <a:chExt cx="4459287" cy="4961058"/>
              </a:xfrm>
              <a:grpFill/>
            </p:grpSpPr>
            <p:pic>
              <p:nvPicPr>
                <p:cNvPr id="19" name="Picture 18">
                  <a:extLst>
                    <a:ext uri="{FF2B5EF4-FFF2-40B4-BE49-F238E27FC236}">
                      <a16:creationId xmlns:a16="http://schemas.microsoft.com/office/drawing/2014/main" id="{161A2010-A186-4BD8-A089-66FCA8840EEF}"/>
                    </a:ext>
                  </a:extLst>
                </p:cNvPr>
                <p:cNvPicPr>
                  <a:picLocks noChangeAspect="1"/>
                </p:cNvPicPr>
                <p:nvPr/>
              </p:nvPicPr>
              <p:blipFill>
                <a:blip r:embed="rId3"/>
                <a:stretch>
                  <a:fillRect/>
                </a:stretch>
              </p:blipFill>
              <p:spPr>
                <a:xfrm>
                  <a:off x="4260850" y="1387354"/>
                  <a:ext cx="4459287" cy="4961058"/>
                </a:xfrm>
                <a:prstGeom prst="rect">
                  <a:avLst/>
                </a:prstGeom>
                <a:grpFill/>
                <a:ln>
                  <a:solidFill>
                    <a:schemeClr val="tx1"/>
                  </a:solidFill>
                </a:ln>
              </p:spPr>
            </p:pic>
            <p:cxnSp>
              <p:nvCxnSpPr>
                <p:cNvPr id="20" name="Straight Connector 19">
                  <a:extLst>
                    <a:ext uri="{FF2B5EF4-FFF2-40B4-BE49-F238E27FC236}">
                      <a16:creationId xmlns:a16="http://schemas.microsoft.com/office/drawing/2014/main" id="{9628AA48-09A0-448C-BFF1-6A4309F46B7A}"/>
                    </a:ext>
                  </a:extLst>
                </p:cNvPr>
                <p:cNvCxnSpPr>
                  <a:cxnSpLocks/>
                </p:cNvCxnSpPr>
                <p:nvPr/>
              </p:nvCxnSpPr>
              <p:spPr>
                <a:xfrm>
                  <a:off x="4582160" y="171704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635CC78-8D2A-47EA-A4CF-A4F0A797C89D}"/>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0374A0A3-DD6B-4445-97F3-1B5E3D90646A}"/>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Freeform: Shape 15">
              <a:extLst>
                <a:ext uri="{FF2B5EF4-FFF2-40B4-BE49-F238E27FC236}">
                  <a16:creationId xmlns:a16="http://schemas.microsoft.com/office/drawing/2014/main" id="{A3FAF38F-5263-4901-8AF0-4A1D415F4E64}"/>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itle 24">
            <a:extLst>
              <a:ext uri="{FF2B5EF4-FFF2-40B4-BE49-F238E27FC236}">
                <a16:creationId xmlns:a16="http://schemas.microsoft.com/office/drawing/2014/main" id="{50424016-7315-4273-B934-D415C483F4FF}"/>
              </a:ext>
            </a:extLst>
          </p:cNvPr>
          <p:cNvSpPr>
            <a:spLocks noGrp="1"/>
          </p:cNvSpPr>
          <p:nvPr>
            <p:ph type="title"/>
          </p:nvPr>
        </p:nvSpPr>
        <p:spPr/>
        <p:txBody>
          <a:bodyPr/>
          <a:lstStyle/>
          <a:p>
            <a:r>
              <a:rPr lang="en-US" dirty="0"/>
              <a:t>GRAPHICAL APPROACH</a:t>
            </a:r>
          </a:p>
        </p:txBody>
      </p:sp>
      <p:sp>
        <p:nvSpPr>
          <p:cNvPr id="5" name="Footer Placeholder 4">
            <a:extLst>
              <a:ext uri="{FF2B5EF4-FFF2-40B4-BE49-F238E27FC236}">
                <a16:creationId xmlns:a16="http://schemas.microsoft.com/office/drawing/2014/main" id="{9AE8A533-8C2C-4C16-B2A9-B4D8E3FD6A8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7" name="Freeform: Shape 6">
            <a:extLst>
              <a:ext uri="{FF2B5EF4-FFF2-40B4-BE49-F238E27FC236}">
                <a16:creationId xmlns:a16="http://schemas.microsoft.com/office/drawing/2014/main" id="{EE12BF37-9118-489E-A939-3B510DAB3F7F}"/>
              </a:ext>
            </a:extLst>
          </p:cNvPr>
          <p:cNvSpPr/>
          <p:nvPr/>
        </p:nvSpPr>
        <p:spPr>
          <a:xfrm>
            <a:off x="4242702" y="5187715"/>
            <a:ext cx="18148" cy="22460"/>
          </a:xfrm>
          <a:custGeom>
            <a:avLst/>
            <a:gdLst>
              <a:gd name="connsiteX0" fmla="*/ 18148 w 18148"/>
              <a:gd name="connsiteY0" fmla="*/ 22460 h 22460"/>
              <a:gd name="connsiteX1" fmla="*/ 18148 w 18148"/>
              <a:gd name="connsiteY1" fmla="*/ 22460 h 22460"/>
              <a:gd name="connsiteX2" fmla="*/ 8623 w 18148"/>
              <a:gd name="connsiteY2" fmla="*/ 12935 h 22460"/>
              <a:gd name="connsiteX3" fmla="*/ 7565 w 18148"/>
              <a:gd name="connsiteY3" fmla="*/ 8702 h 22460"/>
              <a:gd name="connsiteX4" fmla="*/ 3331 w 18148"/>
              <a:gd name="connsiteY4" fmla="*/ 3410 h 22460"/>
              <a:gd name="connsiteX5" fmla="*/ 156 w 18148"/>
              <a:gd name="connsiteY5" fmla="*/ 235 h 22460"/>
              <a:gd name="connsiteX6" fmla="*/ 18148 w 18148"/>
              <a:gd name="connsiteY6" fmla="*/ 22460 h 2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48" h="22460">
                <a:moveTo>
                  <a:pt x="18148" y="22460"/>
                </a:moveTo>
                <a:lnTo>
                  <a:pt x="18148" y="22460"/>
                </a:lnTo>
                <a:cubicBezTo>
                  <a:pt x="14973" y="19285"/>
                  <a:pt x="11361" y="16494"/>
                  <a:pt x="8623" y="12935"/>
                </a:cubicBezTo>
                <a:cubicBezTo>
                  <a:pt x="7736" y="11782"/>
                  <a:pt x="8271" y="9973"/>
                  <a:pt x="7565" y="8702"/>
                </a:cubicBezTo>
                <a:cubicBezTo>
                  <a:pt x="6468" y="6727"/>
                  <a:pt x="4819" y="5110"/>
                  <a:pt x="3331" y="3410"/>
                </a:cubicBezTo>
                <a:cubicBezTo>
                  <a:pt x="2345" y="2284"/>
                  <a:pt x="1036" y="1445"/>
                  <a:pt x="156" y="235"/>
                </a:cubicBezTo>
                <a:cubicBezTo>
                  <a:pt x="-1801" y="-2457"/>
                  <a:pt x="15149" y="18756"/>
                  <a:pt x="18148" y="2246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8D1787-6807-4099-A1D2-8F29911EFF12}"/>
              </a:ext>
            </a:extLst>
          </p:cNvPr>
          <p:cNvSpPr txBox="1"/>
          <p:nvPr/>
        </p:nvSpPr>
        <p:spPr>
          <a:xfrm>
            <a:off x="6389225" y="2057401"/>
            <a:ext cx="4564525" cy="2062103"/>
          </a:xfrm>
          <a:prstGeom prst="rect">
            <a:avLst/>
          </a:prstGeom>
          <a:noFill/>
        </p:spPr>
        <p:txBody>
          <a:bodyPr wrap="square" rtlCol="0">
            <a:spAutoFit/>
          </a:bodyPr>
          <a:lstStyle/>
          <a:p>
            <a:pPr marL="285750" indent="-285750">
              <a:buFont typeface="Arial" panose="020B0604020202020204" pitchFamily="34" charset="0"/>
              <a:buChar char="•"/>
            </a:pPr>
            <a:r>
              <a:rPr lang="tr-TR" sz="2200" dirty="0"/>
              <a:t>What if the slope is exatly same as the carpentry constraint’s slope (-1)</a:t>
            </a:r>
          </a:p>
          <a:p>
            <a:pPr marL="285750" indent="-285750">
              <a:buFont typeface="Arial" panose="020B0604020202020204" pitchFamily="34" charset="0"/>
              <a:buChar char="•"/>
            </a:pPr>
            <a:r>
              <a:rPr lang="tr-TR" sz="2200" dirty="0"/>
              <a:t>Both point A and point B are optimal</a:t>
            </a:r>
          </a:p>
          <a:p>
            <a:pPr marL="285750" indent="-285750">
              <a:buFont typeface="Arial" panose="020B0604020202020204" pitchFamily="34" charset="0"/>
              <a:buChar char="•"/>
            </a:pPr>
            <a:r>
              <a:rPr lang="tr-TR" sz="2200" dirty="0"/>
              <a:t>Still point B is an optimal solution</a:t>
            </a:r>
          </a:p>
          <a:p>
            <a:endParaRPr lang="en-US" dirty="0"/>
          </a:p>
        </p:txBody>
      </p:sp>
      <p:cxnSp>
        <p:nvCxnSpPr>
          <p:cNvPr id="14" name="Straight Connector 13"/>
          <p:cNvCxnSpPr>
            <a:cxnSpLocks/>
          </p:cNvCxnSpPr>
          <p:nvPr/>
        </p:nvCxnSpPr>
        <p:spPr>
          <a:xfrm>
            <a:off x="824231" y="4618331"/>
            <a:ext cx="1492249" cy="1563013"/>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a:off x="1243584" y="2724912"/>
            <a:ext cx="2602992" cy="2745734"/>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E3A3D36-34D9-4960-848B-029C9CFB3983}"/>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3" name="TextBox 22">
            <a:extLst>
              <a:ext uri="{FF2B5EF4-FFF2-40B4-BE49-F238E27FC236}">
                <a16:creationId xmlns:a16="http://schemas.microsoft.com/office/drawing/2014/main" id="{3D110D47-1FCA-4A6C-9328-3CDF909A0BB4}"/>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28" name="TextBox 27">
            <a:extLst>
              <a:ext uri="{FF2B5EF4-FFF2-40B4-BE49-F238E27FC236}">
                <a16:creationId xmlns:a16="http://schemas.microsoft.com/office/drawing/2014/main" id="{1558DD07-7045-4FBE-B6E0-FC9919949D54}"/>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29" name="TextBox 28">
            <a:extLst>
              <a:ext uri="{FF2B5EF4-FFF2-40B4-BE49-F238E27FC236}">
                <a16:creationId xmlns:a16="http://schemas.microsoft.com/office/drawing/2014/main" id="{702560D2-8233-4BA7-85BC-FC26271357A9}"/>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cxnSp>
        <p:nvCxnSpPr>
          <p:cNvPr id="30" name="Straight Connector 29">
            <a:extLst>
              <a:ext uri="{FF2B5EF4-FFF2-40B4-BE49-F238E27FC236}">
                <a16:creationId xmlns:a16="http://schemas.microsoft.com/office/drawing/2014/main" id="{37178199-C5D3-41A6-BFEB-2B05C5FDFAFF}"/>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38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F8DC0A2-FEEE-4B1E-8FE3-B5BA0487244A}"/>
              </a:ext>
            </a:extLst>
          </p:cNvPr>
          <p:cNvGrpSpPr/>
          <p:nvPr/>
        </p:nvGrpSpPr>
        <p:grpSpPr>
          <a:xfrm>
            <a:off x="838200" y="1387354"/>
            <a:ext cx="4459287" cy="4968996"/>
            <a:chOff x="838200" y="1387354"/>
            <a:chExt cx="4459287" cy="4968996"/>
          </a:xfrm>
        </p:grpSpPr>
        <p:grpSp>
          <p:nvGrpSpPr>
            <p:cNvPr id="11" name="Group 10">
              <a:extLst>
                <a:ext uri="{FF2B5EF4-FFF2-40B4-BE49-F238E27FC236}">
                  <a16:creationId xmlns:a16="http://schemas.microsoft.com/office/drawing/2014/main" id="{B8638F06-3ED8-4E60-80E9-5692F09D85AA}"/>
                </a:ext>
              </a:extLst>
            </p:cNvPr>
            <p:cNvGrpSpPr/>
            <p:nvPr/>
          </p:nvGrpSpPr>
          <p:grpSpPr>
            <a:xfrm>
              <a:off x="838200" y="1387354"/>
              <a:ext cx="4459287" cy="4968996"/>
              <a:chOff x="838200" y="1387354"/>
              <a:chExt cx="4459287" cy="4968996"/>
            </a:xfrm>
            <a:solidFill>
              <a:srgbClr val="BFBFBF"/>
            </a:solidFill>
          </p:grpSpPr>
          <p:grpSp>
            <p:nvGrpSpPr>
              <p:cNvPr id="12" name="Group 11">
                <a:extLst>
                  <a:ext uri="{FF2B5EF4-FFF2-40B4-BE49-F238E27FC236}">
                    <a16:creationId xmlns:a16="http://schemas.microsoft.com/office/drawing/2014/main" id="{B0D07C0D-6858-42F8-A036-55636FA98806}"/>
                  </a:ext>
                </a:extLst>
              </p:cNvPr>
              <p:cNvGrpSpPr/>
              <p:nvPr/>
            </p:nvGrpSpPr>
            <p:grpSpPr>
              <a:xfrm>
                <a:off x="838200" y="1387354"/>
                <a:ext cx="4459287" cy="4968996"/>
                <a:chOff x="4260850" y="1387354"/>
                <a:chExt cx="4459287" cy="4968996"/>
              </a:xfrm>
              <a:grpFill/>
            </p:grpSpPr>
            <p:grpSp>
              <p:nvGrpSpPr>
                <p:cNvPr id="15" name="Group 14">
                  <a:extLst>
                    <a:ext uri="{FF2B5EF4-FFF2-40B4-BE49-F238E27FC236}">
                      <a16:creationId xmlns:a16="http://schemas.microsoft.com/office/drawing/2014/main" id="{CA97AD4B-E584-4FF7-9A34-74CECEA43914}"/>
                    </a:ext>
                  </a:extLst>
                </p:cNvPr>
                <p:cNvGrpSpPr/>
                <p:nvPr/>
              </p:nvGrpSpPr>
              <p:grpSpPr>
                <a:xfrm>
                  <a:off x="4260850" y="1387354"/>
                  <a:ext cx="4459287" cy="4961058"/>
                  <a:chOff x="4260850" y="1387354"/>
                  <a:chExt cx="4459287" cy="4961058"/>
                </a:xfrm>
                <a:grpFill/>
              </p:grpSpPr>
              <p:pic>
                <p:nvPicPr>
                  <p:cNvPr id="17" name="Picture 16">
                    <a:extLst>
                      <a:ext uri="{FF2B5EF4-FFF2-40B4-BE49-F238E27FC236}">
                        <a16:creationId xmlns:a16="http://schemas.microsoft.com/office/drawing/2014/main" id="{AC4C7778-30A7-4D41-AE6E-9E9684793AD5}"/>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18" name="Straight Connector 17">
                    <a:extLst>
                      <a:ext uri="{FF2B5EF4-FFF2-40B4-BE49-F238E27FC236}">
                        <a16:creationId xmlns:a16="http://schemas.microsoft.com/office/drawing/2014/main" id="{81B850B7-07C4-4180-A490-AEB5AD0069C0}"/>
                      </a:ext>
                    </a:extLst>
                  </p:cNvPr>
                  <p:cNvCxnSpPr>
                    <a:cxnSpLocks/>
                  </p:cNvCxnSpPr>
                  <p:nvPr/>
                </p:nvCxnSpPr>
                <p:spPr>
                  <a:xfrm>
                    <a:off x="4582160" y="171704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F3D0198-E01B-4F97-A9C3-79A151B2A009}"/>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ED110C99-EE9B-4F6D-9823-6C9FB4A84E1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Freeform: Shape 12">
                <a:extLst>
                  <a:ext uri="{FF2B5EF4-FFF2-40B4-BE49-F238E27FC236}">
                    <a16:creationId xmlns:a16="http://schemas.microsoft.com/office/drawing/2014/main" id="{5C1CF7FD-F2F9-45B3-982B-1C1AAB66440C}"/>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0CA217D9-1CC5-4A5D-9487-333CB9BB277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3" name="TextBox 22">
              <a:extLst>
                <a:ext uri="{FF2B5EF4-FFF2-40B4-BE49-F238E27FC236}">
                  <a16:creationId xmlns:a16="http://schemas.microsoft.com/office/drawing/2014/main" id="{E8220DCC-F29B-4C55-933F-2732DE64CB86}"/>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24" name="TextBox 23">
              <a:extLst>
                <a:ext uri="{FF2B5EF4-FFF2-40B4-BE49-F238E27FC236}">
                  <a16:creationId xmlns:a16="http://schemas.microsoft.com/office/drawing/2014/main" id="{B594150F-1C31-43D1-8F75-8C47C9C526A7}"/>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25" name="TextBox 24">
              <a:extLst>
                <a:ext uri="{FF2B5EF4-FFF2-40B4-BE49-F238E27FC236}">
                  <a16:creationId xmlns:a16="http://schemas.microsoft.com/office/drawing/2014/main" id="{7F9CF435-DE66-4344-8A2F-585A3FEAC9D8}"/>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2" name="Title 1"/>
          <p:cNvSpPr>
            <a:spLocks noGrp="1"/>
          </p:cNvSpPr>
          <p:nvPr>
            <p:ph type="title"/>
          </p:nvPr>
        </p:nvSpPr>
        <p:spPr/>
        <p:txBody>
          <a:bodyPr>
            <a:normAutofit/>
          </a:bodyPr>
          <a:lstStyle/>
          <a:p>
            <a:r>
              <a:rPr lang="en-US" dirty="0"/>
              <a:t>Let’s look at the graph again</a:t>
            </a:r>
          </a:p>
        </p:txBody>
      </p:sp>
      <p:sp>
        <p:nvSpPr>
          <p:cNvPr id="6" name="Footer Placeholder 5">
            <a:extLst>
              <a:ext uri="{FF2B5EF4-FFF2-40B4-BE49-F238E27FC236}">
                <a16:creationId xmlns:a16="http://schemas.microsoft.com/office/drawing/2014/main" id="{1B6C1A46-FB1B-4CC5-8756-540D7F35A4DB}"/>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5" name="Rectangle 4"/>
          <p:cNvSpPr/>
          <p:nvPr/>
        </p:nvSpPr>
        <p:spPr>
          <a:xfrm>
            <a:off x="6477000" y="1872092"/>
            <a:ext cx="4704144" cy="1785104"/>
          </a:xfrm>
          <a:prstGeom prst="rect">
            <a:avLst/>
          </a:prstGeom>
        </p:spPr>
        <p:txBody>
          <a:bodyPr wrap="square">
            <a:spAutoFit/>
          </a:bodyPr>
          <a:lstStyle/>
          <a:p>
            <a:pPr marL="285750" indent="-285750">
              <a:buFont typeface="Arial" panose="020B0604020202020204" pitchFamily="34" charset="0"/>
              <a:buChar char="•"/>
            </a:pPr>
            <a:r>
              <a:rPr lang="en-US" sz="2200" dirty="0"/>
              <a:t>If the current value of the objective function slope (−3/2) becomes flatter than the carpentry constraint (whose slope is −1) then the optimal solution will move to the point A from point B</a:t>
            </a:r>
          </a:p>
        </p:txBody>
      </p:sp>
      <p:cxnSp>
        <p:nvCxnSpPr>
          <p:cNvPr id="4" name="Straight Connector 3"/>
          <p:cNvCxnSpPr>
            <a:cxnSpLocks/>
          </p:cNvCxnSpPr>
          <p:nvPr/>
        </p:nvCxnSpPr>
        <p:spPr>
          <a:xfrm>
            <a:off x="981075" y="4953436"/>
            <a:ext cx="1824355" cy="1222992"/>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84173" y="2556582"/>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14070" y="2460942"/>
            <a:ext cx="1905000" cy="131445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2848343-1E48-42CA-B091-90E37C96F107}"/>
              </a:ext>
            </a:extLst>
          </p:cNvPr>
          <p:cNvCxnSpPr>
            <a:cxnSpLocks/>
          </p:cNvCxnSpPr>
          <p:nvPr/>
        </p:nvCxnSpPr>
        <p:spPr>
          <a:xfrm>
            <a:off x="1119378" y="2954105"/>
            <a:ext cx="1824355" cy="1222992"/>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C0FB34-2855-43EF-9B56-B99FC94A08AA}"/>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13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2E6A889F-AF94-4765-B13C-1EE723BDBFEE}"/>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3CF3EF27-7096-4D90-95D7-3825ED1DBDDA}"/>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0330391D-5684-4E22-BA27-9CC871AEF5FC}"/>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51C84C51-E0A3-4EDC-AA26-B8A673511260}"/>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5158FF7C-C300-4C6D-89D5-0F8D96071F13}"/>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290749E4-A575-4C2C-A6DF-F1911BD256F5}"/>
                      </a:ext>
                    </a:extLst>
                  </p:cNvPr>
                  <p:cNvCxnSpPr>
                    <a:cxnSpLocks/>
                  </p:cNvCxnSpPr>
                  <p:nvPr/>
                </p:nvCxnSpPr>
                <p:spPr>
                  <a:xfrm>
                    <a:off x="4582160" y="171704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6812FE49-5F6A-4D52-A48D-A74AC0C14D13}"/>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5BF6CCCC-E8A9-46FF-B183-DBB79FF2F95A}"/>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27F3DCA0-4CD8-48FC-9095-5C9564FDADD0}"/>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DB35FD9A-BBAD-45AA-9F75-C0F155A81C76}"/>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D9C1D04-F06C-457D-8D77-5DDB4FD2AB7A}"/>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D9F9D047-1326-4614-A399-E48C0FE30C90}"/>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B4586A62-0BB1-49DA-A4B3-436FE3BE5C1B}"/>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2" name="Title 1"/>
          <p:cNvSpPr>
            <a:spLocks noGrp="1"/>
          </p:cNvSpPr>
          <p:nvPr>
            <p:ph type="title"/>
          </p:nvPr>
        </p:nvSpPr>
        <p:spPr/>
        <p:txBody>
          <a:bodyPr>
            <a:normAutofit/>
          </a:bodyPr>
          <a:lstStyle/>
          <a:p>
            <a:r>
              <a:rPr lang="en-US" dirty="0"/>
              <a:t>Let’s look at the graph again</a:t>
            </a:r>
          </a:p>
        </p:txBody>
      </p:sp>
      <p:sp>
        <p:nvSpPr>
          <p:cNvPr id="6" name="Footer Placeholder 5">
            <a:extLst>
              <a:ext uri="{FF2B5EF4-FFF2-40B4-BE49-F238E27FC236}">
                <a16:creationId xmlns:a16="http://schemas.microsoft.com/office/drawing/2014/main" id="{1B6C1A46-FB1B-4CC5-8756-540D7F35A4DB}"/>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5" name="Rectangle 4"/>
          <p:cNvSpPr/>
          <p:nvPr/>
        </p:nvSpPr>
        <p:spPr>
          <a:xfrm>
            <a:off x="6476999" y="1872092"/>
            <a:ext cx="4646272" cy="1446550"/>
          </a:xfrm>
          <a:prstGeom prst="rect">
            <a:avLst/>
          </a:prstGeom>
        </p:spPr>
        <p:txBody>
          <a:bodyPr wrap="square">
            <a:spAutoFit/>
          </a:bodyPr>
          <a:lstStyle/>
          <a:p>
            <a:pPr marL="285750" indent="-285750">
              <a:buFont typeface="Arial" panose="020B0604020202020204" pitchFamily="34" charset="0"/>
              <a:buChar char="•"/>
            </a:pPr>
            <a:r>
              <a:rPr lang="tr-TR" sz="2200" dirty="0"/>
              <a:t>What if the slope is exatly same as the finishing constraint’s slope (-2)?</a:t>
            </a:r>
          </a:p>
          <a:p>
            <a:pPr marL="285750" indent="-285750">
              <a:buFont typeface="Arial" panose="020B0604020202020204" pitchFamily="34" charset="0"/>
              <a:buChar char="•"/>
            </a:pPr>
            <a:r>
              <a:rPr lang="tr-TR" sz="2200" dirty="0"/>
              <a:t>Both point B and point C are optimal</a:t>
            </a:r>
          </a:p>
          <a:p>
            <a:pPr marL="285750" indent="-285750">
              <a:buFont typeface="Arial" panose="020B0604020202020204" pitchFamily="34" charset="0"/>
              <a:buChar char="•"/>
            </a:pPr>
            <a:r>
              <a:rPr lang="tr-TR" sz="2200" dirty="0"/>
              <a:t>Still point B is an optimal solution</a:t>
            </a:r>
          </a:p>
        </p:txBody>
      </p:sp>
      <p:cxnSp>
        <p:nvCxnSpPr>
          <p:cNvPr id="4" name="Straight Connector 3"/>
          <p:cNvCxnSpPr/>
          <p:nvPr/>
        </p:nvCxnSpPr>
        <p:spPr>
          <a:xfrm>
            <a:off x="1149185" y="3975078"/>
            <a:ext cx="1028700" cy="2183352"/>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581842" y="2555240"/>
            <a:ext cx="1537525" cy="3206391"/>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05A5FDE-DB4E-429B-861D-52D82339187F}"/>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704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EFB734E-81AF-42BA-8199-3952C4040345}"/>
              </a:ext>
            </a:extLst>
          </p:cNvPr>
          <p:cNvGrpSpPr/>
          <p:nvPr/>
        </p:nvGrpSpPr>
        <p:grpSpPr>
          <a:xfrm>
            <a:off x="838200" y="1387354"/>
            <a:ext cx="4459287" cy="4968996"/>
            <a:chOff x="838200" y="1387354"/>
            <a:chExt cx="4459287" cy="4968996"/>
          </a:xfrm>
        </p:grpSpPr>
        <p:grpSp>
          <p:nvGrpSpPr>
            <p:cNvPr id="12" name="Group 11">
              <a:extLst>
                <a:ext uri="{FF2B5EF4-FFF2-40B4-BE49-F238E27FC236}">
                  <a16:creationId xmlns:a16="http://schemas.microsoft.com/office/drawing/2014/main" id="{113380A5-0DC1-49DE-8C48-31C9048299AF}"/>
                </a:ext>
              </a:extLst>
            </p:cNvPr>
            <p:cNvGrpSpPr/>
            <p:nvPr/>
          </p:nvGrpSpPr>
          <p:grpSpPr>
            <a:xfrm>
              <a:off x="838200" y="1387354"/>
              <a:ext cx="4459287" cy="4968996"/>
              <a:chOff x="838200" y="1387354"/>
              <a:chExt cx="4459287" cy="4968996"/>
            </a:xfrm>
            <a:solidFill>
              <a:srgbClr val="BFBFBF"/>
            </a:solidFill>
          </p:grpSpPr>
          <p:grpSp>
            <p:nvGrpSpPr>
              <p:cNvPr id="19" name="Group 18">
                <a:extLst>
                  <a:ext uri="{FF2B5EF4-FFF2-40B4-BE49-F238E27FC236}">
                    <a16:creationId xmlns:a16="http://schemas.microsoft.com/office/drawing/2014/main" id="{50332103-D011-4DF7-A1DB-FAB9DCF4A8FF}"/>
                  </a:ext>
                </a:extLst>
              </p:cNvPr>
              <p:cNvGrpSpPr/>
              <p:nvPr/>
            </p:nvGrpSpPr>
            <p:grpSpPr>
              <a:xfrm>
                <a:off x="838200" y="1387354"/>
                <a:ext cx="4459287" cy="4968996"/>
                <a:chOff x="4260850" y="1387354"/>
                <a:chExt cx="4459287" cy="4968996"/>
              </a:xfrm>
              <a:grpFill/>
            </p:grpSpPr>
            <p:grpSp>
              <p:nvGrpSpPr>
                <p:cNvPr id="21" name="Group 20">
                  <a:extLst>
                    <a:ext uri="{FF2B5EF4-FFF2-40B4-BE49-F238E27FC236}">
                      <a16:creationId xmlns:a16="http://schemas.microsoft.com/office/drawing/2014/main" id="{0322B712-B866-4CDB-8C89-2DE2766F2492}"/>
                    </a:ext>
                  </a:extLst>
                </p:cNvPr>
                <p:cNvGrpSpPr/>
                <p:nvPr/>
              </p:nvGrpSpPr>
              <p:grpSpPr>
                <a:xfrm>
                  <a:off x="4260850" y="1387354"/>
                  <a:ext cx="4459287" cy="4961058"/>
                  <a:chOff x="4260850" y="1387354"/>
                  <a:chExt cx="4459287" cy="4961058"/>
                </a:xfrm>
                <a:grpFill/>
              </p:grpSpPr>
              <p:pic>
                <p:nvPicPr>
                  <p:cNvPr id="23" name="Picture 22">
                    <a:extLst>
                      <a:ext uri="{FF2B5EF4-FFF2-40B4-BE49-F238E27FC236}">
                        <a16:creationId xmlns:a16="http://schemas.microsoft.com/office/drawing/2014/main" id="{185BF5F3-F219-42D9-BFBF-061A452F2DE6}"/>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24" name="Straight Connector 23">
                    <a:extLst>
                      <a:ext uri="{FF2B5EF4-FFF2-40B4-BE49-F238E27FC236}">
                        <a16:creationId xmlns:a16="http://schemas.microsoft.com/office/drawing/2014/main" id="{AEEADFDD-D819-428D-8E7C-7F2E1035C04D}"/>
                      </a:ext>
                    </a:extLst>
                  </p:cNvPr>
                  <p:cNvCxnSpPr>
                    <a:cxnSpLocks/>
                  </p:cNvCxnSpPr>
                  <p:nvPr/>
                </p:nvCxnSpPr>
                <p:spPr>
                  <a:xfrm>
                    <a:off x="4582160" y="171704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D6458BCA-78F0-494E-8347-980700DC6FF6}"/>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2B3B1100-70A0-4D90-B575-DD7449C2DDB8}"/>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Freeform: Shape 19">
                <a:extLst>
                  <a:ext uri="{FF2B5EF4-FFF2-40B4-BE49-F238E27FC236}">
                    <a16:creationId xmlns:a16="http://schemas.microsoft.com/office/drawing/2014/main" id="{74E1C61A-20B0-45FB-A78E-419FC5D3E72C}"/>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9A91698E-B3D1-4DB9-B950-B352673AF193}"/>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14" name="TextBox 13">
              <a:extLst>
                <a:ext uri="{FF2B5EF4-FFF2-40B4-BE49-F238E27FC236}">
                  <a16:creationId xmlns:a16="http://schemas.microsoft.com/office/drawing/2014/main" id="{65777AC7-71CF-466D-AB2D-7E36886E98D2}"/>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15" name="TextBox 14">
              <a:extLst>
                <a:ext uri="{FF2B5EF4-FFF2-40B4-BE49-F238E27FC236}">
                  <a16:creationId xmlns:a16="http://schemas.microsoft.com/office/drawing/2014/main" id="{5CB7E193-FCCE-4A57-B97A-D94D11E9A02E}"/>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18" name="TextBox 17">
              <a:extLst>
                <a:ext uri="{FF2B5EF4-FFF2-40B4-BE49-F238E27FC236}">
                  <a16:creationId xmlns:a16="http://schemas.microsoft.com/office/drawing/2014/main" id="{B9652A02-4CF1-4E7C-8A31-DC1293F5E2EE}"/>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2" name="Title 1"/>
          <p:cNvSpPr>
            <a:spLocks noGrp="1"/>
          </p:cNvSpPr>
          <p:nvPr>
            <p:ph type="title"/>
          </p:nvPr>
        </p:nvSpPr>
        <p:spPr/>
        <p:txBody>
          <a:bodyPr>
            <a:normAutofit/>
          </a:bodyPr>
          <a:lstStyle/>
          <a:p>
            <a:r>
              <a:rPr lang="en-US" dirty="0"/>
              <a:t>Let’s look at the graph again</a:t>
            </a:r>
          </a:p>
        </p:txBody>
      </p:sp>
      <p:sp>
        <p:nvSpPr>
          <p:cNvPr id="6" name="Footer Placeholder 5">
            <a:extLst>
              <a:ext uri="{FF2B5EF4-FFF2-40B4-BE49-F238E27FC236}">
                <a16:creationId xmlns:a16="http://schemas.microsoft.com/office/drawing/2014/main" id="{1B6C1A46-FB1B-4CC5-8756-540D7F35A4DB}"/>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16" name="Rectangle 15">
            <a:extLst>
              <a:ext uri="{FF2B5EF4-FFF2-40B4-BE49-F238E27FC236}">
                <a16:creationId xmlns:a16="http://schemas.microsoft.com/office/drawing/2014/main" id="{D25F3EAF-CB03-4D90-AF6C-DBD2EBB0192E}"/>
              </a:ext>
            </a:extLst>
          </p:cNvPr>
          <p:cNvSpPr/>
          <p:nvPr/>
        </p:nvSpPr>
        <p:spPr>
          <a:xfrm>
            <a:off x="6400799" y="1778676"/>
            <a:ext cx="4953001" cy="2062103"/>
          </a:xfrm>
          <a:prstGeom prst="rect">
            <a:avLst/>
          </a:prstGeom>
        </p:spPr>
        <p:txBody>
          <a:bodyPr wrap="square">
            <a:spAutoFit/>
          </a:bodyPr>
          <a:lstStyle/>
          <a:p>
            <a:pPr marL="285750" indent="-285750">
              <a:buFont typeface="Arial" panose="020B0604020202020204" pitchFamily="34" charset="0"/>
              <a:buChar char="•"/>
            </a:pPr>
            <a:r>
              <a:rPr lang="en-US" sz="2200" dirty="0"/>
              <a:t>If the current value of the objective function slope (−3/2) becomes steeper than the finishing constraint (whose slope is −2) then the optimal solution will move to the point C. </a:t>
            </a:r>
          </a:p>
          <a:p>
            <a:r>
              <a:rPr lang="en-US" dirty="0"/>
              <a:t> </a:t>
            </a:r>
          </a:p>
        </p:txBody>
      </p:sp>
      <p:cxnSp>
        <p:nvCxnSpPr>
          <p:cNvPr id="5" name="Straight Connector 4"/>
          <p:cNvCxnSpPr>
            <a:cxnSpLocks/>
          </p:cNvCxnSpPr>
          <p:nvPr/>
        </p:nvCxnSpPr>
        <p:spPr>
          <a:xfrm>
            <a:off x="946499" y="2581640"/>
            <a:ext cx="1243855" cy="369724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1623831" y="2024828"/>
            <a:ext cx="1119319" cy="3777277"/>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203433" y="3196860"/>
            <a:ext cx="948352" cy="298450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1828CA9-0542-41CF-8F25-8CCE95C83AF6}"/>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022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8D49C66-F070-4C7E-980C-9694B5219B63}"/>
              </a:ext>
            </a:extLst>
          </p:cNvPr>
          <p:cNvGrpSpPr/>
          <p:nvPr/>
        </p:nvGrpSpPr>
        <p:grpSpPr>
          <a:xfrm>
            <a:off x="838200" y="1387354"/>
            <a:ext cx="4459287" cy="4968996"/>
            <a:chOff x="838200" y="1387354"/>
            <a:chExt cx="4459287" cy="4968996"/>
          </a:xfrm>
        </p:grpSpPr>
        <p:grpSp>
          <p:nvGrpSpPr>
            <p:cNvPr id="12" name="Group 11">
              <a:extLst>
                <a:ext uri="{FF2B5EF4-FFF2-40B4-BE49-F238E27FC236}">
                  <a16:creationId xmlns:a16="http://schemas.microsoft.com/office/drawing/2014/main" id="{900C7686-5CDF-44F0-BCD2-C2D5A24D26D4}"/>
                </a:ext>
              </a:extLst>
            </p:cNvPr>
            <p:cNvGrpSpPr/>
            <p:nvPr/>
          </p:nvGrpSpPr>
          <p:grpSpPr>
            <a:xfrm>
              <a:off x="838200" y="1387354"/>
              <a:ext cx="4459287" cy="4968996"/>
              <a:chOff x="838200" y="1387354"/>
              <a:chExt cx="4459287" cy="4968996"/>
            </a:xfrm>
            <a:solidFill>
              <a:srgbClr val="BFBFBF"/>
            </a:solidFill>
          </p:grpSpPr>
          <p:grpSp>
            <p:nvGrpSpPr>
              <p:cNvPr id="23" name="Group 22">
                <a:extLst>
                  <a:ext uri="{FF2B5EF4-FFF2-40B4-BE49-F238E27FC236}">
                    <a16:creationId xmlns:a16="http://schemas.microsoft.com/office/drawing/2014/main" id="{33A94F14-880B-49A2-AA0C-583EB5488675}"/>
                  </a:ext>
                </a:extLst>
              </p:cNvPr>
              <p:cNvGrpSpPr/>
              <p:nvPr/>
            </p:nvGrpSpPr>
            <p:grpSpPr>
              <a:xfrm>
                <a:off x="838200" y="1387354"/>
                <a:ext cx="4459287" cy="4968996"/>
                <a:chOff x="4260850" y="1387354"/>
                <a:chExt cx="4459287" cy="4968996"/>
              </a:xfrm>
              <a:grpFill/>
            </p:grpSpPr>
            <p:grpSp>
              <p:nvGrpSpPr>
                <p:cNvPr id="25" name="Group 24">
                  <a:extLst>
                    <a:ext uri="{FF2B5EF4-FFF2-40B4-BE49-F238E27FC236}">
                      <a16:creationId xmlns:a16="http://schemas.microsoft.com/office/drawing/2014/main" id="{34649175-1845-455C-AD71-F7801C2CE6AB}"/>
                    </a:ext>
                  </a:extLst>
                </p:cNvPr>
                <p:cNvGrpSpPr/>
                <p:nvPr/>
              </p:nvGrpSpPr>
              <p:grpSpPr>
                <a:xfrm>
                  <a:off x="4260850" y="1387354"/>
                  <a:ext cx="4459287" cy="4961058"/>
                  <a:chOff x="4260850" y="1387354"/>
                  <a:chExt cx="4459287" cy="4961058"/>
                </a:xfrm>
                <a:grpFill/>
              </p:grpSpPr>
              <p:pic>
                <p:nvPicPr>
                  <p:cNvPr id="27" name="Picture 26">
                    <a:extLst>
                      <a:ext uri="{FF2B5EF4-FFF2-40B4-BE49-F238E27FC236}">
                        <a16:creationId xmlns:a16="http://schemas.microsoft.com/office/drawing/2014/main" id="{38AC19F7-1360-4809-8D3C-04C79C68C62B}"/>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28" name="Straight Connector 27">
                    <a:extLst>
                      <a:ext uri="{FF2B5EF4-FFF2-40B4-BE49-F238E27FC236}">
                        <a16:creationId xmlns:a16="http://schemas.microsoft.com/office/drawing/2014/main" id="{B8E1D406-DF37-4C16-AF7F-C85FB24550AE}"/>
                      </a:ext>
                    </a:extLst>
                  </p:cNvPr>
                  <p:cNvCxnSpPr>
                    <a:cxnSpLocks/>
                  </p:cNvCxnSpPr>
                  <p:nvPr/>
                </p:nvCxnSpPr>
                <p:spPr>
                  <a:xfrm>
                    <a:off x="4582160" y="171704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78A89B3-AD68-4CDE-A6E9-4F9DA67DF2FD}"/>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FA7998A7-7E68-4AD3-8875-BF6E2F90ED03}"/>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Freeform: Shape 23">
                <a:extLst>
                  <a:ext uri="{FF2B5EF4-FFF2-40B4-BE49-F238E27FC236}">
                    <a16:creationId xmlns:a16="http://schemas.microsoft.com/office/drawing/2014/main" id="{E7C3A18B-178D-4FB7-A55D-0242E501969A}"/>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047FFF47-793E-470C-99D4-9A2AC6728EF7}"/>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16" name="TextBox 15">
              <a:extLst>
                <a:ext uri="{FF2B5EF4-FFF2-40B4-BE49-F238E27FC236}">
                  <a16:creationId xmlns:a16="http://schemas.microsoft.com/office/drawing/2014/main" id="{4DCE76A4-0A86-4C1C-A020-3ED3E12ADF85}"/>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18" name="TextBox 17">
              <a:extLst>
                <a:ext uri="{FF2B5EF4-FFF2-40B4-BE49-F238E27FC236}">
                  <a16:creationId xmlns:a16="http://schemas.microsoft.com/office/drawing/2014/main" id="{D00D1D08-CB44-49B1-B780-E2212759DF19}"/>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20" name="TextBox 19">
              <a:extLst>
                <a:ext uri="{FF2B5EF4-FFF2-40B4-BE49-F238E27FC236}">
                  <a16:creationId xmlns:a16="http://schemas.microsoft.com/office/drawing/2014/main" id="{61EFFF93-ACA0-45C5-B094-0EEDA53DB0DF}"/>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2" name="Title 1"/>
          <p:cNvSpPr>
            <a:spLocks noGrp="1"/>
          </p:cNvSpPr>
          <p:nvPr>
            <p:ph type="title"/>
          </p:nvPr>
        </p:nvSpPr>
        <p:spPr/>
        <p:txBody>
          <a:bodyPr/>
          <a:lstStyle/>
          <a:p>
            <a:r>
              <a:rPr lang="en-US" dirty="0"/>
              <a:t>Interval for </a:t>
            </a:r>
            <a:r>
              <a:rPr lang="tr-TR" dirty="0"/>
              <a:t>the price of soldier</a:t>
            </a:r>
            <a:r>
              <a:rPr lang="en-US" dirty="0"/>
              <a:t> is found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419089" y="1719866"/>
                <a:ext cx="4934712" cy="4921102"/>
              </a:xfrm>
            </p:spPr>
            <p:txBody>
              <a:bodyPr>
                <a:normAutofit/>
              </a:bodyPr>
              <a:lstStyle/>
              <a:p>
                <a:pPr marL="0" indent="0">
                  <a:buNone/>
                </a:pPr>
                <a:r>
                  <a:rPr lang="en-US" sz="2200" dirty="0"/>
                  <a:t>As long as the slope of the objective function line is in between -2 and -1, the optimum solution remains the same.</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−2≤</m:t>
                      </m:r>
                      <m:r>
                        <a:rPr lang="en-US" sz="2200" i="1">
                          <a:latin typeface="Cambria Math" panose="02040503050406030204" pitchFamily="18" charset="0"/>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𝑐</m:t>
                              </m:r>
                            </m:e>
                            <m:sub>
                              <m:r>
                                <a:rPr lang="en-US" sz="2200" i="1">
                                  <a:latin typeface="Cambria Math" panose="02040503050406030204" pitchFamily="18" charset="0"/>
                                </a:rPr>
                                <m:t>1</m:t>
                              </m:r>
                            </m:sub>
                          </m:sSub>
                        </m:num>
                        <m:den>
                          <m:sSub>
                            <m:sSubPr>
                              <m:ctrlPr>
                                <a:rPr lang="en-US" sz="2200" i="1">
                                  <a:latin typeface="Cambria Math" panose="02040503050406030204" pitchFamily="18" charset="0"/>
                                </a:rPr>
                              </m:ctrlPr>
                            </m:sSubPr>
                            <m:e>
                              <m:r>
                                <a:rPr lang="en-US" sz="2200" i="1">
                                  <a:latin typeface="Cambria Math" panose="02040503050406030204" pitchFamily="18" charset="0"/>
                                </a:rPr>
                                <m:t>𝑐</m:t>
                              </m:r>
                            </m:e>
                            <m:sub>
                              <m:r>
                                <a:rPr lang="en-US" sz="2200" i="1">
                                  <a:latin typeface="Cambria Math" panose="02040503050406030204" pitchFamily="18" charset="0"/>
                                </a:rPr>
                                <m:t>2</m:t>
                              </m:r>
                            </m:sub>
                          </m:sSub>
                        </m:den>
                      </m:f>
                      <m:r>
                        <a:rPr lang="en-US" sz="2200" b="0" i="1" smtClean="0">
                          <a:latin typeface="Cambria Math" panose="02040503050406030204" pitchFamily="18" charset="0"/>
                        </a:rPr>
                        <m:t>≤−1</m:t>
                      </m:r>
                    </m:oMath>
                  </m:oMathPara>
                </a14:m>
                <a:endParaRPr lang="en-US" sz="2200" dirty="0"/>
              </a:p>
              <a:p>
                <a:pPr marL="0" indent="0">
                  <a:buNone/>
                </a:pPr>
                <a:r>
                  <a:rPr lang="tr-TR" sz="2200" dirty="0"/>
                  <a:t>When the price of train is fixed,</a:t>
                </a:r>
                <a:r>
                  <a:rPr lang="en-US" sz="2200" dirty="0"/>
                  <a:t> i.e.,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𝑐</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=2,</m:t>
                    </m:r>
                  </m:oMath>
                </a14:m>
                <a:r>
                  <a:rPr lang="tr-TR" sz="2200" dirty="0"/>
                  <a:t> </a:t>
                </a:r>
                <a:endParaRPr lang="en-US" sz="2200" dirty="0"/>
              </a:p>
              <a:p>
                <a:pPr marL="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−2≤−</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𝑐</m:t>
                              </m:r>
                            </m:e>
                            <m:sub>
                              <m:r>
                                <a:rPr lang="en-US" sz="2200" i="1">
                                  <a:latin typeface="Cambria Math" panose="02040503050406030204" pitchFamily="18" charset="0"/>
                                </a:rPr>
                                <m:t>1</m:t>
                              </m:r>
                            </m:sub>
                          </m:sSub>
                        </m:num>
                        <m:den>
                          <m:r>
                            <a:rPr lang="en-US" sz="2200" i="1">
                              <a:latin typeface="Cambria Math" panose="02040503050406030204" pitchFamily="18" charset="0"/>
                            </a:rPr>
                            <m:t>2</m:t>
                          </m:r>
                        </m:den>
                      </m:f>
                      <m:r>
                        <a:rPr lang="en-US" sz="2200" i="1">
                          <a:latin typeface="Cambria Math" panose="02040503050406030204" pitchFamily="18" charset="0"/>
                        </a:rPr>
                        <m:t>≤−1</m:t>
                      </m:r>
                    </m:oMath>
                    <m:oMath xmlns:m="http://schemas.openxmlformats.org/officeDocument/2006/math">
                      <m:r>
                        <a:rPr lang="en-US" sz="2200" b="0" i="1" smtClean="0">
                          <a:latin typeface="Cambria Math" panose="02040503050406030204" pitchFamily="18" charset="0"/>
                        </a:rPr>
                        <m:t> </m:t>
                      </m:r>
                    </m:oMath>
                  </m:oMathPara>
                </a14:m>
                <a:endParaRPr lang="en-US" sz="2200" dirty="0"/>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2</m:t>
                      </m:r>
                      <m:r>
                        <a:rPr lang="en-US" sz="2200" i="1">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𝑐</m:t>
                          </m:r>
                        </m:e>
                        <m:sub>
                          <m:r>
                            <a:rPr lang="en-US" sz="2200" b="0" i="1" smtClean="0">
                              <a:latin typeface="Cambria Math" panose="02040503050406030204" pitchFamily="18" charset="0"/>
                            </a:rPr>
                            <m:t>1</m:t>
                          </m:r>
                        </m:sub>
                      </m:sSub>
                      <m:r>
                        <a:rPr lang="en-US" sz="2200" i="1">
                          <a:latin typeface="Cambria Math" panose="02040503050406030204" pitchFamily="18" charset="0"/>
                        </a:rPr>
                        <m:t>≤</m:t>
                      </m:r>
                      <m:r>
                        <a:rPr lang="en-US" sz="2200" b="0" i="1" smtClean="0">
                          <a:latin typeface="Cambria Math" panose="02040503050406030204" pitchFamily="18" charset="0"/>
                        </a:rPr>
                        <m:t>4</m:t>
                      </m:r>
                    </m:oMath>
                  </m:oMathPara>
                </a14:m>
                <a:endParaRPr lang="en-US" sz="2200" dirty="0"/>
              </a:p>
              <a:p>
                <a:pPr marL="0" indent="0">
                  <a:buNone/>
                </a:pPr>
                <a:r>
                  <a:rPr lang="en-US" sz="2200" dirty="0"/>
                  <a:t>The optimal solution remains the same if </a:t>
                </a:r>
                <a:r>
                  <a:rPr lang="tr-TR" sz="2200" dirty="0"/>
                  <a:t>price of the s</a:t>
                </a:r>
                <a:r>
                  <a:rPr lang="en-US" sz="2200" dirty="0"/>
                  <a:t>o</a:t>
                </a:r>
                <a:r>
                  <a:rPr lang="tr-TR" sz="2200" dirty="0"/>
                  <a:t>ldier is in between 2 and 4.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419089" y="1719866"/>
                <a:ext cx="4934712" cy="4921102"/>
              </a:xfrm>
              <a:blipFill>
                <a:blip r:embed="rId3"/>
                <a:stretch>
                  <a:fillRect l="-1605" t="-1611" r="-1235"/>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D6512FC-EE9C-48EE-9015-B82590E5120A}"/>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13" name="TextBox 12">
            <a:extLst>
              <a:ext uri="{FF2B5EF4-FFF2-40B4-BE49-F238E27FC236}">
                <a16:creationId xmlns:a16="http://schemas.microsoft.com/office/drawing/2014/main" id="{23C2A241-A265-4471-B50F-8BF624C23398}"/>
              </a:ext>
            </a:extLst>
          </p:cNvPr>
          <p:cNvSpPr txBox="1"/>
          <p:nvPr/>
        </p:nvSpPr>
        <p:spPr>
          <a:xfrm>
            <a:off x="1310640" y="1888539"/>
            <a:ext cx="1179682" cy="276999"/>
          </a:xfrm>
          <a:prstGeom prst="rect">
            <a:avLst/>
          </a:prstGeom>
          <a:noFill/>
        </p:spPr>
        <p:txBody>
          <a:bodyPr wrap="square" rtlCol="0">
            <a:spAutoFit/>
          </a:bodyPr>
          <a:lstStyle/>
          <a:p>
            <a:r>
              <a:rPr lang="en-US" sz="1200" dirty="0"/>
              <a:t>Slope= -2</a:t>
            </a:r>
          </a:p>
        </p:txBody>
      </p:sp>
      <p:sp>
        <p:nvSpPr>
          <p:cNvPr id="21" name="TextBox 20">
            <a:extLst>
              <a:ext uri="{FF2B5EF4-FFF2-40B4-BE49-F238E27FC236}">
                <a16:creationId xmlns:a16="http://schemas.microsoft.com/office/drawing/2014/main" id="{424228BB-6D37-4832-A692-0CC8EB815D1E}"/>
              </a:ext>
            </a:extLst>
          </p:cNvPr>
          <p:cNvSpPr txBox="1"/>
          <p:nvPr/>
        </p:nvSpPr>
        <p:spPr>
          <a:xfrm>
            <a:off x="3368749" y="4704865"/>
            <a:ext cx="1179682" cy="276999"/>
          </a:xfrm>
          <a:prstGeom prst="rect">
            <a:avLst/>
          </a:prstGeom>
          <a:noFill/>
        </p:spPr>
        <p:txBody>
          <a:bodyPr wrap="square" rtlCol="0">
            <a:spAutoFit/>
          </a:bodyPr>
          <a:lstStyle/>
          <a:p>
            <a:r>
              <a:rPr lang="en-US" sz="1200" dirty="0"/>
              <a:t>Slope= -1</a:t>
            </a:r>
          </a:p>
        </p:txBody>
      </p:sp>
      <p:cxnSp>
        <p:nvCxnSpPr>
          <p:cNvPr id="14" name="Straight Connector 13"/>
          <p:cNvCxnSpPr/>
          <p:nvPr/>
        </p:nvCxnSpPr>
        <p:spPr>
          <a:xfrm>
            <a:off x="926253" y="2460168"/>
            <a:ext cx="2495550" cy="2589869"/>
          </a:xfrm>
          <a:prstGeom prst="line">
            <a:avLst/>
          </a:prstGeom>
          <a:ln w="571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369166" y="2149569"/>
            <a:ext cx="1609725" cy="3321077"/>
          </a:xfrm>
          <a:prstGeom prst="line">
            <a:avLst/>
          </a:prstGeom>
          <a:ln w="571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71ED240-A811-47E4-816D-45D484750B9B}"/>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792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E547666-A36D-4055-80BA-DF9A01482F6A}"/>
              </a:ext>
            </a:extLst>
          </p:cNvPr>
          <p:cNvGrpSpPr/>
          <p:nvPr/>
        </p:nvGrpSpPr>
        <p:grpSpPr>
          <a:xfrm>
            <a:off x="838200" y="1387354"/>
            <a:ext cx="4459287" cy="4961058"/>
            <a:chOff x="838200" y="1387354"/>
            <a:chExt cx="4459287" cy="4961058"/>
          </a:xfrm>
        </p:grpSpPr>
        <p:pic>
          <p:nvPicPr>
            <p:cNvPr id="22" name="Picture 21">
              <a:extLst>
                <a:ext uri="{FF2B5EF4-FFF2-40B4-BE49-F238E27FC236}">
                  <a16:creationId xmlns:a16="http://schemas.microsoft.com/office/drawing/2014/main" id="{132352FC-D3D0-4353-BE98-C969B3B3B4BA}"/>
                </a:ext>
              </a:extLst>
            </p:cNvPr>
            <p:cNvPicPr>
              <a:picLocks noChangeAspect="1"/>
            </p:cNvPicPr>
            <p:nvPr/>
          </p:nvPicPr>
          <p:blipFill>
            <a:blip r:embed="rId2"/>
            <a:stretch>
              <a:fillRect/>
            </a:stretch>
          </p:blipFill>
          <p:spPr>
            <a:xfrm>
              <a:off x="838200" y="1387354"/>
              <a:ext cx="4459287" cy="4961058"/>
            </a:xfrm>
            <a:prstGeom prst="rect">
              <a:avLst/>
            </a:prstGeom>
            <a:solidFill>
              <a:srgbClr val="BFBFBF"/>
            </a:solidFill>
          </p:spPr>
        </p:pic>
        <p:cxnSp>
          <p:nvCxnSpPr>
            <p:cNvPr id="23" name="Straight Connector 22">
              <a:extLst>
                <a:ext uri="{FF2B5EF4-FFF2-40B4-BE49-F238E27FC236}">
                  <a16:creationId xmlns:a16="http://schemas.microsoft.com/office/drawing/2014/main" id="{ED083CFC-C94B-4E6D-97E3-45389FE76AAB}"/>
                </a:ext>
              </a:extLst>
            </p:cNvPr>
            <p:cNvCxnSpPr>
              <a:cxnSpLocks/>
            </p:cNvCxnSpPr>
            <p:nvPr/>
          </p:nvCxnSpPr>
          <p:spPr>
            <a:xfrm>
              <a:off x="1159510" y="1717040"/>
              <a:ext cx="2184400" cy="4561840"/>
            </a:xfrm>
            <a:prstGeom prst="line">
              <a:avLst/>
            </a:prstGeom>
            <a:solidFill>
              <a:srgbClr val="BFBFBF"/>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A7C2E998-F406-4FA9-AD91-722CCD8F3A87}"/>
                </a:ext>
              </a:extLst>
            </p:cNvPr>
            <p:cNvCxnSpPr>
              <a:cxnSpLocks/>
            </p:cNvCxnSpPr>
            <p:nvPr/>
          </p:nvCxnSpPr>
          <p:spPr>
            <a:xfrm>
              <a:off x="986790" y="2468880"/>
              <a:ext cx="3586480" cy="3738880"/>
            </a:xfrm>
            <a:prstGeom prst="line">
              <a:avLst/>
            </a:prstGeom>
            <a:solidFill>
              <a:srgbClr val="BFBFBF"/>
            </a:solid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12A89543-B8D3-4A65-A97D-545C585ED3D6}"/>
              </a:ext>
            </a:extLst>
          </p:cNvPr>
          <p:cNvCxnSpPr/>
          <p:nvPr/>
        </p:nvCxnSpPr>
        <p:spPr>
          <a:xfrm flipV="1">
            <a:off x="2805430" y="1910080"/>
            <a:ext cx="0" cy="4446270"/>
          </a:xfrm>
          <a:prstGeom prst="line">
            <a:avLst/>
          </a:prstGeom>
          <a:solidFill>
            <a:srgbClr val="BFBFBF"/>
          </a:solid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05EA3241-BA52-4523-A975-F2A523C66331}"/>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solidFill>
            <a:srgbClr val="BFBFB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FC6E43E-B300-489D-A973-1497DEA43E91}"/>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15" name="TextBox 14">
            <a:extLst>
              <a:ext uri="{FF2B5EF4-FFF2-40B4-BE49-F238E27FC236}">
                <a16:creationId xmlns:a16="http://schemas.microsoft.com/office/drawing/2014/main" id="{8E68D04C-B0D1-4324-9AE0-67827B14510B}"/>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16" name="TextBox 15">
            <a:extLst>
              <a:ext uri="{FF2B5EF4-FFF2-40B4-BE49-F238E27FC236}">
                <a16:creationId xmlns:a16="http://schemas.microsoft.com/office/drawing/2014/main" id="{E0BB3898-3005-43EE-8CB4-7405831B9564}"/>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17" name="TextBox 16">
            <a:extLst>
              <a:ext uri="{FF2B5EF4-FFF2-40B4-BE49-F238E27FC236}">
                <a16:creationId xmlns:a16="http://schemas.microsoft.com/office/drawing/2014/main" id="{FFB6DFB0-B4C7-4314-A52A-6CD68D4B7BA5}"/>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r>
              <a:rPr lang="tr-TR" sz="2200" dirty="0"/>
              <a:t>What happens if the right hand side of the finishing hour constraint changes and becomes 110?</a:t>
            </a:r>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25" name="Straight Connector 24">
            <a:extLst>
              <a:ext uri="{FF2B5EF4-FFF2-40B4-BE49-F238E27FC236}">
                <a16:creationId xmlns:a16="http://schemas.microsoft.com/office/drawing/2014/main" id="{4FBBE3DC-92EE-4181-AEBF-7D4249ADEE34}"/>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77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1068A67-2EE7-4FCC-A5CD-BE97F000D25A}"/>
              </a:ext>
            </a:extLst>
          </p:cNvPr>
          <p:cNvGrpSpPr/>
          <p:nvPr/>
        </p:nvGrpSpPr>
        <p:grpSpPr>
          <a:xfrm>
            <a:off x="838200" y="1387354"/>
            <a:ext cx="4459287" cy="4968996"/>
            <a:chOff x="838200" y="1387354"/>
            <a:chExt cx="4459287" cy="4968996"/>
          </a:xfrm>
        </p:grpSpPr>
        <p:grpSp>
          <p:nvGrpSpPr>
            <p:cNvPr id="12" name="Group 11">
              <a:extLst>
                <a:ext uri="{FF2B5EF4-FFF2-40B4-BE49-F238E27FC236}">
                  <a16:creationId xmlns:a16="http://schemas.microsoft.com/office/drawing/2014/main" id="{2ED21CF9-DF4C-4D06-AB8C-C65872370FF4}"/>
                </a:ext>
              </a:extLst>
            </p:cNvPr>
            <p:cNvGrpSpPr/>
            <p:nvPr/>
          </p:nvGrpSpPr>
          <p:grpSpPr>
            <a:xfrm>
              <a:off x="838200" y="1387354"/>
              <a:ext cx="4459287" cy="4968996"/>
              <a:chOff x="838200" y="1387354"/>
              <a:chExt cx="4459287" cy="4968996"/>
            </a:xfrm>
            <a:solidFill>
              <a:srgbClr val="BFBFBF"/>
            </a:solidFill>
          </p:grpSpPr>
          <p:grpSp>
            <p:nvGrpSpPr>
              <p:cNvPr id="18" name="Group 17">
                <a:extLst>
                  <a:ext uri="{FF2B5EF4-FFF2-40B4-BE49-F238E27FC236}">
                    <a16:creationId xmlns:a16="http://schemas.microsoft.com/office/drawing/2014/main" id="{CBF5BF83-049F-4EC6-A22B-470F036045D8}"/>
                  </a:ext>
                </a:extLst>
              </p:cNvPr>
              <p:cNvGrpSpPr/>
              <p:nvPr/>
            </p:nvGrpSpPr>
            <p:grpSpPr>
              <a:xfrm>
                <a:off x="838200" y="1387354"/>
                <a:ext cx="4459287" cy="4968996"/>
                <a:chOff x="4260850" y="1387354"/>
                <a:chExt cx="4459287" cy="4968996"/>
              </a:xfrm>
              <a:grpFill/>
            </p:grpSpPr>
            <p:grpSp>
              <p:nvGrpSpPr>
                <p:cNvPr id="20" name="Group 19">
                  <a:extLst>
                    <a:ext uri="{FF2B5EF4-FFF2-40B4-BE49-F238E27FC236}">
                      <a16:creationId xmlns:a16="http://schemas.microsoft.com/office/drawing/2014/main" id="{8BA856A8-B1A6-4D36-AF7B-21F112969D4C}"/>
                    </a:ext>
                  </a:extLst>
                </p:cNvPr>
                <p:cNvGrpSpPr/>
                <p:nvPr/>
              </p:nvGrpSpPr>
              <p:grpSpPr>
                <a:xfrm>
                  <a:off x="4260850" y="1387354"/>
                  <a:ext cx="4459287" cy="4961058"/>
                  <a:chOff x="4260850" y="1387354"/>
                  <a:chExt cx="4459287" cy="4961058"/>
                </a:xfrm>
                <a:grpFill/>
              </p:grpSpPr>
              <p:pic>
                <p:nvPicPr>
                  <p:cNvPr id="22" name="Picture 21">
                    <a:extLst>
                      <a:ext uri="{FF2B5EF4-FFF2-40B4-BE49-F238E27FC236}">
                        <a16:creationId xmlns:a16="http://schemas.microsoft.com/office/drawing/2014/main" id="{132352FC-D3D0-4353-BE98-C969B3B3B4BA}"/>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23" name="Straight Connector 22">
                    <a:extLst>
                      <a:ext uri="{FF2B5EF4-FFF2-40B4-BE49-F238E27FC236}">
                        <a16:creationId xmlns:a16="http://schemas.microsoft.com/office/drawing/2014/main" id="{ED083CFC-C94B-4E6D-97E3-45389FE76AAB}"/>
                      </a:ext>
                    </a:extLst>
                  </p:cNvPr>
                  <p:cNvCxnSpPr>
                    <a:cxnSpLocks/>
                  </p:cNvCxnSpPr>
                  <p:nvPr/>
                </p:nvCxnSpPr>
                <p:spPr>
                  <a:xfrm>
                    <a:off x="4733290" y="161417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A7C2E998-F406-4FA9-AD91-722CCD8F3A87}"/>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12A89543-B8D3-4A65-A97D-545C585ED3D6}"/>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Freeform: Shape 18">
                <a:extLst>
                  <a:ext uri="{FF2B5EF4-FFF2-40B4-BE49-F238E27FC236}">
                    <a16:creationId xmlns:a16="http://schemas.microsoft.com/office/drawing/2014/main" id="{05EA3241-BA52-4523-A975-F2A523C66331}"/>
                  </a:ext>
                </a:extLst>
              </p:cNvPr>
              <p:cNvSpPr/>
              <p:nvPr/>
            </p:nvSpPr>
            <p:spPr>
              <a:xfrm>
                <a:off x="1310640" y="2827020"/>
                <a:ext cx="149352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3520" h="3108960">
                    <a:moveTo>
                      <a:pt x="15240" y="3078480"/>
                    </a:moveTo>
                    <a:lnTo>
                      <a:pt x="0" y="0"/>
                    </a:lnTo>
                    <a:lnTo>
                      <a:pt x="1150620" y="1181100"/>
                    </a:lnTo>
                    <a:lnTo>
                      <a:pt x="1493520" y="190500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FC6E43E-B300-489D-A973-1497DEA43E91}"/>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15" name="TextBox 14">
              <a:extLst>
                <a:ext uri="{FF2B5EF4-FFF2-40B4-BE49-F238E27FC236}">
                  <a16:creationId xmlns:a16="http://schemas.microsoft.com/office/drawing/2014/main" id="{8E68D04C-B0D1-4324-9AE0-67827B14510B}"/>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16" name="TextBox 15">
              <a:extLst>
                <a:ext uri="{FF2B5EF4-FFF2-40B4-BE49-F238E27FC236}">
                  <a16:creationId xmlns:a16="http://schemas.microsoft.com/office/drawing/2014/main" id="{E0BB3898-3005-43EE-8CB4-7405831B9564}"/>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17" name="TextBox 16">
              <a:extLst>
                <a:ext uri="{FF2B5EF4-FFF2-40B4-BE49-F238E27FC236}">
                  <a16:creationId xmlns:a16="http://schemas.microsoft.com/office/drawing/2014/main" id="{FFB6DFB0-B4C7-4314-A52A-6CD68D4B7BA5}"/>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r>
              <a:rPr lang="tr-TR" sz="2200" dirty="0"/>
              <a:t>What happens if the right hand side of the finishing hour constraint changes and becomes 110?</a:t>
            </a:r>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25" name="Straight Connector 24">
            <a:extLst>
              <a:ext uri="{FF2B5EF4-FFF2-40B4-BE49-F238E27FC236}">
                <a16:creationId xmlns:a16="http://schemas.microsoft.com/office/drawing/2014/main" id="{4FBBE3DC-92EE-4181-AEBF-7D4249ADEE34}"/>
              </a:ext>
            </a:extLst>
          </p:cNvPr>
          <p:cNvCxnSpPr/>
          <p:nvPr/>
        </p:nvCxnSpPr>
        <p:spPr>
          <a:xfrm>
            <a:off x="1360670" y="2526261"/>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6385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4733290" y="161417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49352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3520" h="3108960">
                    <a:moveTo>
                      <a:pt x="15240" y="3078480"/>
                    </a:moveTo>
                    <a:lnTo>
                      <a:pt x="0" y="0"/>
                    </a:lnTo>
                    <a:lnTo>
                      <a:pt x="1150620" y="1181100"/>
                    </a:lnTo>
                    <a:lnTo>
                      <a:pt x="1493520" y="190500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r>
              <a:rPr lang="tr-TR" sz="2200" dirty="0"/>
              <a:t>What happens if the right hand side of the finishing hour constraint changes and becomes 110?</a:t>
            </a:r>
          </a:p>
          <a:p>
            <a:pPr marL="571500" indent="-457200"/>
            <a:r>
              <a:rPr lang="tr-TR" sz="2200" dirty="0"/>
              <a:t>The optimum solution changed</a:t>
            </a:r>
            <a:r>
              <a:rPr lang="en-US" sz="2200" dirty="0"/>
              <a:t> (from B to B’)</a:t>
            </a:r>
            <a:r>
              <a:rPr lang="tr-TR" sz="2200" dirty="0"/>
              <a:t>. </a:t>
            </a:r>
          </a:p>
          <a:p>
            <a:pPr marL="571500" indent="-457200"/>
            <a:r>
              <a:rPr lang="tr-TR" sz="2200" dirty="0"/>
              <a:t>New solution is (30,50) with an optimum value of 190</a:t>
            </a:r>
          </a:p>
          <a:p>
            <a:pPr marL="571500" indent="-457200"/>
            <a:r>
              <a:rPr lang="tr-TR" sz="2200" dirty="0"/>
              <a:t>The optimal value increased by 10 when we increase right hand side of the finishing constraint.</a:t>
            </a:r>
          </a:p>
          <a:p>
            <a:pPr marL="114300" indent="0">
              <a:buNone/>
            </a:pPr>
            <a:endParaRPr lang="tr-TR" sz="2200" dirty="0"/>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9" name="TextBox 8">
            <a:extLst>
              <a:ext uri="{FF2B5EF4-FFF2-40B4-BE49-F238E27FC236}">
                <a16:creationId xmlns:a16="http://schemas.microsoft.com/office/drawing/2014/main" id="{A283F777-43CE-43AF-8BF2-60FE509BBF2A}"/>
              </a:ext>
            </a:extLst>
          </p:cNvPr>
          <p:cNvSpPr txBox="1"/>
          <p:nvPr/>
        </p:nvSpPr>
        <p:spPr>
          <a:xfrm>
            <a:off x="2499211" y="3660780"/>
            <a:ext cx="353244" cy="307777"/>
          </a:xfrm>
          <a:prstGeom prst="rect">
            <a:avLst/>
          </a:prstGeom>
          <a:noFill/>
        </p:spPr>
        <p:txBody>
          <a:bodyPr wrap="square" rtlCol="0">
            <a:spAutoFit/>
          </a:bodyPr>
          <a:lstStyle/>
          <a:p>
            <a:r>
              <a:rPr lang="en-US" sz="1400" dirty="0"/>
              <a:t>B’</a:t>
            </a:r>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648968" y="2765669"/>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771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4829661" y="1635352"/>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49860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8600"/>
                  <a:gd name="connsiteY0" fmla="*/ 3078480 h 3108960"/>
                  <a:gd name="connsiteX1" fmla="*/ 0 w 1498600"/>
                  <a:gd name="connsiteY1" fmla="*/ 0 h 3108960"/>
                  <a:gd name="connsiteX2" fmla="*/ 1150620 w 1498600"/>
                  <a:gd name="connsiteY2" fmla="*/ 1181100 h 3108960"/>
                  <a:gd name="connsiteX3" fmla="*/ 1498600 w 1498600"/>
                  <a:gd name="connsiteY3" fmla="*/ 1734820 h 3108960"/>
                  <a:gd name="connsiteX4" fmla="*/ 1493520 w 1498600"/>
                  <a:gd name="connsiteY4" fmla="*/ 3108960 h 3108960"/>
                  <a:gd name="connsiteX5" fmla="*/ 15240 w 1498600"/>
                  <a:gd name="connsiteY5" fmla="*/ 3078480 h 3108960"/>
                  <a:gd name="connsiteX0" fmla="*/ 15240 w 1498600"/>
                  <a:gd name="connsiteY0" fmla="*/ 3078480 h 3108960"/>
                  <a:gd name="connsiteX1" fmla="*/ 0 w 1498600"/>
                  <a:gd name="connsiteY1" fmla="*/ 0 h 3108960"/>
                  <a:gd name="connsiteX2" fmla="*/ 1305560 w 1498600"/>
                  <a:gd name="connsiteY2" fmla="*/ 1338580 h 3108960"/>
                  <a:gd name="connsiteX3" fmla="*/ 1498600 w 1498600"/>
                  <a:gd name="connsiteY3" fmla="*/ 1734820 h 3108960"/>
                  <a:gd name="connsiteX4" fmla="*/ 1493520 w 1498600"/>
                  <a:gd name="connsiteY4" fmla="*/ 3108960 h 3108960"/>
                  <a:gd name="connsiteX5" fmla="*/ 15240 w 149860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600" h="3108960">
                    <a:moveTo>
                      <a:pt x="15240" y="3078480"/>
                    </a:moveTo>
                    <a:lnTo>
                      <a:pt x="0" y="0"/>
                    </a:lnTo>
                    <a:lnTo>
                      <a:pt x="1305560" y="1338580"/>
                    </a:lnTo>
                    <a:lnTo>
                      <a:pt x="1498600" y="1734820"/>
                    </a:lnTo>
                    <a:cubicBezTo>
                      <a:pt x="1496907" y="2192867"/>
                      <a:pt x="1495213" y="2650913"/>
                      <a:pt x="1493520" y="3108960"/>
                    </a:cubicBez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fontScale="92500" lnSpcReduction="10000"/>
              </a:bodyPr>
              <a:lstStyle/>
              <a:p>
                <a:pPr marL="571500" indent="-457200"/>
                <a:r>
                  <a:rPr lang="en-US" sz="2200" dirty="0"/>
                  <a:t>The new optimal solution is still determined by the same set of equations.</a:t>
                </a:r>
              </a:p>
              <a:p>
                <a:pPr marL="11430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2</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100+</m:t>
                      </m:r>
                      <m:r>
                        <m:rPr>
                          <m:sty m:val="p"/>
                        </m:rPr>
                        <a:rPr lang="en-US" sz="2200">
                          <a:latin typeface="Cambria Math" panose="02040503050406030204" pitchFamily="18" charset="0"/>
                        </a:rPr>
                        <m:t>Δ</m:t>
                      </m:r>
                    </m:oMath>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80</m:t>
                      </m:r>
                    </m:oMath>
                  </m:oMathPara>
                </a14:m>
                <a:endParaRPr lang="en-US" sz="2200" dirty="0"/>
              </a:p>
              <a:p>
                <a:pPr marL="457200" indent="-342900"/>
                <a:r>
                  <a:rPr lang="en-US" sz="2200" dirty="0"/>
                  <a:t>To determine the optimal solution we can resolve the equation system, that provides</a:t>
                </a:r>
              </a:p>
              <a:p>
                <a:pPr marL="114300" indent="0" algn="ctr">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=60−</m:t>
                    </m:r>
                    <m:r>
                      <m:rPr>
                        <m:sty m:val="p"/>
                      </m:rPr>
                      <a:rPr lang="en-US" sz="2200">
                        <a:latin typeface="Cambria Math" panose="02040503050406030204" pitchFamily="18" charset="0"/>
                      </a:rPr>
                      <m:t>Δ</m:t>
                    </m:r>
                    <m:r>
                      <a:rPr lang="en-US" sz="2200" i="1">
                        <a:latin typeface="Cambria Math" panose="02040503050406030204" pitchFamily="18" charset="0"/>
                      </a:rPr>
                      <m:t>, </m:t>
                    </m:r>
                    <m:r>
                      <a:rPr lang="en-US" sz="2200" i="1">
                        <a:latin typeface="Cambria Math" panose="02040503050406030204" pitchFamily="18" charset="0"/>
                      </a:rPr>
                      <m:t>𝑧</m:t>
                    </m:r>
                    <m:r>
                      <a:rPr lang="en-US" sz="2200" i="1">
                        <a:latin typeface="Cambria Math" panose="02040503050406030204" pitchFamily="18" charset="0"/>
                      </a:rPr>
                      <m:t>=180+</m:t>
                    </m:r>
                    <m:r>
                      <m:rPr>
                        <m:sty m:val="p"/>
                      </m:rPr>
                      <a:rPr lang="en-US" sz="2200">
                        <a:latin typeface="Cambria Math" panose="02040503050406030204" pitchFamily="18" charset="0"/>
                      </a:rPr>
                      <m:t>Δ</m:t>
                    </m:r>
                  </m:oMath>
                </a14:m>
                <a:r>
                  <a:rPr lang="en-US" sz="2200" dirty="0"/>
                  <a:t> </a:t>
                </a:r>
              </a:p>
              <a:p>
                <a:pPr marL="571500" indent="-457200"/>
                <a:r>
                  <a:rPr lang="tr-TR" sz="2200" dirty="0"/>
                  <a:t>What is the gain in terms of profit having 1 additional </a:t>
                </a:r>
                <a:r>
                  <a:rPr lang="en-US" sz="2200" dirty="0"/>
                  <a:t>finishing</a:t>
                </a:r>
                <a:r>
                  <a:rPr lang="tr-TR" sz="2200" dirty="0"/>
                  <a:t> hours?</a:t>
                </a:r>
              </a:p>
              <a:p>
                <a:pPr marL="571500" indent="-457200"/>
                <a:r>
                  <a:rPr lang="tr-TR" sz="2200" dirty="0"/>
                  <a:t>We can show that increasing the carpentry hours by 1 increases the profit by 1 dollars</a:t>
                </a:r>
              </a:p>
              <a:p>
                <a:pPr marL="571500" indent="-457200"/>
                <a:r>
                  <a:rPr lang="tr-TR" sz="2200" dirty="0"/>
                  <a:t>This value is called </a:t>
                </a:r>
                <a:r>
                  <a:rPr lang="tr-TR" sz="2200" b="1" dirty="0">
                    <a:solidFill>
                      <a:srgbClr val="C00000"/>
                    </a:solidFill>
                  </a:rPr>
                  <a:t>shadow price</a:t>
                </a:r>
                <a:r>
                  <a:rPr lang="tr-TR" sz="2200" dirty="0">
                    <a:solidFill>
                      <a:srgbClr val="C00000"/>
                    </a:solidFill>
                  </a:rPr>
                  <a:t> </a:t>
                </a:r>
                <a:r>
                  <a:rPr lang="tr-TR" sz="2200" dirty="0"/>
                  <a:t>of the </a:t>
                </a:r>
                <a:r>
                  <a:rPr lang="en-US" sz="2200" dirty="0"/>
                  <a:t>finishing</a:t>
                </a:r>
                <a:r>
                  <a:rPr lang="tr-TR" sz="2200" dirty="0"/>
                  <a:t> hours.</a:t>
                </a:r>
              </a:p>
              <a:p>
                <a:pPr marL="571500" indent="-457200"/>
                <a:r>
                  <a:rPr lang="tr-TR" sz="2200" dirty="0"/>
                  <a:t>It is the actual value of a resource for your system.</a:t>
                </a:r>
              </a:p>
              <a:p>
                <a:pPr marL="457200" indent="-342900"/>
                <a:endParaRPr lang="en-US" sz="2200" dirty="0"/>
              </a:p>
              <a:p>
                <a:pPr marL="114300" indent="0" algn="r">
                  <a:buNone/>
                </a:pP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859" r="-152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9" name="TextBox 8">
            <a:extLst>
              <a:ext uri="{FF2B5EF4-FFF2-40B4-BE49-F238E27FC236}">
                <a16:creationId xmlns:a16="http://schemas.microsoft.com/office/drawing/2014/main" id="{A283F777-43CE-43AF-8BF2-60FE509BBF2A}"/>
              </a:ext>
            </a:extLst>
          </p:cNvPr>
          <p:cNvSpPr txBox="1"/>
          <p:nvPr/>
        </p:nvSpPr>
        <p:spPr>
          <a:xfrm>
            <a:off x="2538604" y="3901620"/>
            <a:ext cx="406400" cy="307777"/>
          </a:xfrm>
          <a:prstGeom prst="rect">
            <a:avLst/>
          </a:prstGeom>
          <a:noFill/>
        </p:spPr>
        <p:txBody>
          <a:bodyPr wrap="square" rtlCol="0">
            <a:spAutoFit/>
          </a:bodyPr>
          <a:lstStyle/>
          <a:p>
            <a:r>
              <a:rPr lang="en-US" sz="1400" dirty="0"/>
              <a:t>B’’</a:t>
            </a:r>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745339" y="2827020"/>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6352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4961823" y="1687637"/>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49733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7330"/>
                  <a:gd name="connsiteY0" fmla="*/ 3078480 h 3108960"/>
                  <a:gd name="connsiteX1" fmla="*/ 0 w 1497330"/>
                  <a:gd name="connsiteY1" fmla="*/ 0 h 3108960"/>
                  <a:gd name="connsiteX2" fmla="*/ 1497330 w 1497330"/>
                  <a:gd name="connsiteY2" fmla="*/ 1546860 h 3108960"/>
                  <a:gd name="connsiteX3" fmla="*/ 1493520 w 1497330"/>
                  <a:gd name="connsiteY3" fmla="*/ 1905000 h 3108960"/>
                  <a:gd name="connsiteX4" fmla="*/ 1493520 w 1497330"/>
                  <a:gd name="connsiteY4" fmla="*/ 3108960 h 3108960"/>
                  <a:gd name="connsiteX5" fmla="*/ 15240 w 149733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7330" h="3108960">
                    <a:moveTo>
                      <a:pt x="15240" y="3078480"/>
                    </a:moveTo>
                    <a:lnTo>
                      <a:pt x="0" y="0"/>
                    </a:lnTo>
                    <a:lnTo>
                      <a:pt x="1497330" y="1546860"/>
                    </a:lnTo>
                    <a:lnTo>
                      <a:pt x="1493520" y="190500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571500" indent="-457200"/>
                <a:r>
                  <a:rPr lang="en-US" sz="2200" dirty="0"/>
                  <a:t>When the finishing hour increases to 120, i.e., increases by 20 (</a:t>
                </a:r>
                <a14:m>
                  <m:oMath xmlns:m="http://schemas.openxmlformats.org/officeDocument/2006/math">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=20</m:t>
                    </m:r>
                  </m:oMath>
                </a14:m>
                <a:r>
                  <a:rPr lang="en-US" sz="2200" dirty="0"/>
                  <a:t>), point D becomes optimal.</a:t>
                </a:r>
              </a:p>
              <a:p>
                <a:pPr marL="571500" indent="-457200"/>
                <a:r>
                  <a:rPr lang="en-US" sz="2200" dirty="0"/>
                  <a:t>Still, the same equation system (constraint set) determines the optimal solution </a:t>
                </a:r>
              </a:p>
              <a:p>
                <a:pPr marL="11430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2</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100+</m:t>
                      </m:r>
                      <m:r>
                        <a:rPr lang="en-US" sz="2200" b="0" i="0" smtClean="0">
                          <a:latin typeface="Cambria Math" panose="02040503050406030204" pitchFamily="18" charset="0"/>
                        </a:rPr>
                        <m:t>20</m:t>
                      </m:r>
                    </m:oMath>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80</m:t>
                      </m:r>
                    </m:oMath>
                  </m:oMathPara>
                </a14:m>
                <a:endParaRPr lang="en-US" sz="2200" dirty="0"/>
              </a:p>
              <a:p>
                <a:pPr marL="11430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611" r="-257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862017" y="2904725"/>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951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5260689" y="156916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49733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7330"/>
                  <a:gd name="connsiteY0" fmla="*/ 3078480 h 3108960"/>
                  <a:gd name="connsiteX1" fmla="*/ 0 w 1497330"/>
                  <a:gd name="connsiteY1" fmla="*/ 0 h 3108960"/>
                  <a:gd name="connsiteX2" fmla="*/ 1497330 w 1497330"/>
                  <a:gd name="connsiteY2" fmla="*/ 1546860 h 3108960"/>
                  <a:gd name="connsiteX3" fmla="*/ 1493520 w 1497330"/>
                  <a:gd name="connsiteY3" fmla="*/ 1905000 h 3108960"/>
                  <a:gd name="connsiteX4" fmla="*/ 1493520 w 1497330"/>
                  <a:gd name="connsiteY4" fmla="*/ 3108960 h 3108960"/>
                  <a:gd name="connsiteX5" fmla="*/ 15240 w 149733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7330" h="3108960">
                    <a:moveTo>
                      <a:pt x="15240" y="3078480"/>
                    </a:moveTo>
                    <a:lnTo>
                      <a:pt x="0" y="0"/>
                    </a:lnTo>
                    <a:lnTo>
                      <a:pt x="1497330" y="1546860"/>
                    </a:lnTo>
                    <a:lnTo>
                      <a:pt x="1493520" y="190500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114300" indent="0">
                  <a:buNone/>
                </a:pPr>
                <a:r>
                  <a:rPr lang="en-US" sz="2200" dirty="0"/>
                  <a:t>But whenever </a:t>
                </a:r>
                <a14:m>
                  <m:oMath xmlns:m="http://schemas.openxmlformats.org/officeDocument/2006/math">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&gt;20,</m:t>
                    </m:r>
                  </m:oMath>
                </a14:m>
                <a:r>
                  <a:rPr lang="en-US" sz="2200" dirty="0"/>
                  <a:t> the optimum solution is determined by another set of constraints</a:t>
                </a:r>
              </a:p>
              <a:p>
                <a:pPr marL="114300" indent="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m:rPr>
                          <m:aln/>
                        </m:rPr>
                        <a:rPr lang="en-US" sz="2200" i="1">
                          <a:latin typeface="Cambria Math" panose="02040503050406030204" pitchFamily="18" charset="0"/>
                        </a:rPr>
                        <m:t>=</m:t>
                      </m:r>
                      <m:r>
                        <a:rPr lang="en-US" sz="2200" b="0" i="1" smtClean="0">
                          <a:latin typeface="Cambria Math" panose="02040503050406030204" pitchFamily="18" charset="0"/>
                        </a:rPr>
                        <m:t>40</m:t>
                      </m:r>
                    </m:oMath>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80</m:t>
                      </m:r>
                    </m:oMath>
                  </m:oMathPara>
                </a14:m>
                <a:endParaRPr lang="en-US" sz="2200" dirty="0"/>
              </a:p>
              <a:p>
                <a:pPr marL="114300" indent="0">
                  <a:buNone/>
                </a:pPr>
                <a:r>
                  <a:rPr lang="en-US" sz="2200" dirty="0"/>
                  <a:t>This means</a:t>
                </a:r>
              </a:p>
              <a:p>
                <a:pPr marL="11430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1</m:t>
                          </m:r>
                        </m:sub>
                        <m:sup>
                          <m:r>
                            <a:rPr lang="en-US" sz="2200" b="0" i="1" smtClean="0">
                              <a:latin typeface="Cambria Math" panose="02040503050406030204" pitchFamily="18" charset="0"/>
                            </a:rPr>
                            <m:t>∗</m:t>
                          </m:r>
                        </m:sup>
                      </m:sSubSup>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 </m:t>
                      </m:r>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2</m:t>
                          </m:r>
                        </m:sub>
                        <m:sup>
                          <m:r>
                            <a:rPr lang="en-US" sz="2200" b="0" i="1" smtClean="0">
                              <a:latin typeface="Cambria Math" panose="02040503050406030204" pitchFamily="18" charset="0"/>
                            </a:rPr>
                            <m:t>∗</m:t>
                          </m:r>
                        </m:sup>
                      </m:sSubSup>
                      <m:r>
                        <a:rPr lang="en-US" sz="2200" i="1">
                          <a:latin typeface="Cambria Math" panose="02040503050406030204" pitchFamily="18" charset="0"/>
                        </a:rPr>
                        <m:t>=60−</m:t>
                      </m:r>
                      <m:r>
                        <m:rPr>
                          <m:sty m:val="p"/>
                        </m:rPr>
                        <a:rPr lang="en-US" sz="2200">
                          <a:latin typeface="Cambria Math" panose="02040503050406030204" pitchFamily="18" charset="0"/>
                        </a:rPr>
                        <m:t>Δ</m:t>
                      </m:r>
                      <m:r>
                        <a:rPr lang="en-US" sz="2200" i="1">
                          <a:latin typeface="Cambria Math" panose="02040503050406030204" pitchFamily="18" charset="0"/>
                        </a:rPr>
                        <m:t>, </m:t>
                      </m:r>
                      <m:sSup>
                        <m:sSupPr>
                          <m:ctrlPr>
                            <a:rPr lang="en-US" sz="2200" b="0" i="1" smtClean="0">
                              <a:latin typeface="Cambria Math" panose="02040503050406030204" pitchFamily="18" charset="0"/>
                            </a:rPr>
                          </m:ctrlPr>
                        </m:sSupPr>
                        <m:e>
                          <m:r>
                            <a:rPr lang="en-US" sz="2200" i="1">
                              <a:latin typeface="Cambria Math" panose="02040503050406030204" pitchFamily="18" charset="0"/>
                            </a:rPr>
                            <m:t>𝑧</m:t>
                          </m:r>
                        </m:e>
                        <m:sup>
                          <m:r>
                            <a:rPr lang="en-US" sz="2200" b="0" i="1" smtClean="0">
                              <a:latin typeface="Cambria Math" panose="02040503050406030204" pitchFamily="18" charset="0"/>
                            </a:rPr>
                            <m:t>∗</m:t>
                          </m:r>
                        </m:sup>
                      </m:sSup>
                      <m:r>
                        <a:rPr lang="en-US" sz="2200" i="1">
                          <a:latin typeface="Cambria Math" panose="02040503050406030204" pitchFamily="18" charset="0"/>
                        </a:rPr>
                        <m:t>=180+</m:t>
                      </m:r>
                      <m:r>
                        <m:rPr>
                          <m:sty m:val="p"/>
                        </m:rPr>
                        <a:rPr lang="en-US" sz="2200">
                          <a:latin typeface="Cambria Math" panose="02040503050406030204" pitchFamily="18" charset="0"/>
                        </a:rPr>
                        <m:t>Δ</m:t>
                      </m:r>
                    </m:oMath>
                  </m:oMathPara>
                </a14:m>
                <a:endParaRPr lang="en-US" sz="2200" dirty="0"/>
              </a:p>
              <a:p>
                <a:pPr marL="114300" indent="0">
                  <a:buNone/>
                </a:pPr>
                <a:r>
                  <a:rPr lang="en-US" sz="2200" dirty="0"/>
                  <a:t>is valid only if </a:t>
                </a:r>
                <a14:m>
                  <m:oMath xmlns:m="http://schemas.openxmlformats.org/officeDocument/2006/math">
                    <m:r>
                      <m:rPr>
                        <m:sty m:val="p"/>
                      </m:rPr>
                      <a:rPr lang="en-US" sz="2200">
                        <a:latin typeface="Cambria Math" panose="02040503050406030204" pitchFamily="18" charset="0"/>
                      </a:rPr>
                      <m:t>Δ</m:t>
                    </m:r>
                    <m:r>
                      <a:rPr lang="en-US" sz="2200" b="0" i="0" smtClean="0">
                        <a:latin typeface="Cambria Math" panose="02040503050406030204" pitchFamily="18" charset="0"/>
                      </a:rPr>
                      <m:t>&lt;20.</m:t>
                    </m:r>
                  </m:oMath>
                </a14:m>
                <a:endParaRPr lang="en-US" sz="2200" dirty="0"/>
              </a:p>
              <a:p>
                <a:pPr marL="114300" indent="0">
                  <a:buNone/>
                </a:pPr>
                <a:endParaRPr lang="en-US" sz="2200" dirty="0"/>
              </a:p>
              <a:p>
                <a:pPr marL="114300" indent="0">
                  <a:buNone/>
                </a:pPr>
                <a:endParaRPr lang="en-US" sz="2200" dirty="0"/>
              </a:p>
              <a:p>
                <a:pPr marL="114300" indent="0">
                  <a:buNone/>
                </a:pP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48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862017" y="2904725"/>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6659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38200" y="1387354"/>
            <a:ext cx="4459287" cy="4968996"/>
            <a:chOff x="838200" y="1387354"/>
            <a:chExt cx="4459287"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38200" y="1387354"/>
              <a:ext cx="4459287" cy="4968996"/>
              <a:chOff x="838200" y="1387354"/>
              <a:chExt cx="4459287"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38200" y="1387354"/>
                <a:ext cx="4459287" cy="4968996"/>
                <a:chOff x="4260850" y="1387354"/>
                <a:chExt cx="4459287"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60850" y="1387354"/>
                  <a:ext cx="4459287" cy="4961058"/>
                  <a:chOff x="4260850" y="1387354"/>
                  <a:chExt cx="4459287"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4387850" y="1645920"/>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50368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3520"/>
                  <a:gd name="connsiteY0" fmla="*/ 3078480 h 3108960"/>
                  <a:gd name="connsiteX1" fmla="*/ 0 w 1493520"/>
                  <a:gd name="connsiteY1" fmla="*/ 0 h 3108960"/>
                  <a:gd name="connsiteX2" fmla="*/ 408940 w 1493520"/>
                  <a:gd name="connsiteY2" fmla="*/ 43434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503680"/>
                  <a:gd name="connsiteY0" fmla="*/ 3078480 h 3108960"/>
                  <a:gd name="connsiteX1" fmla="*/ 0 w 1503680"/>
                  <a:gd name="connsiteY1" fmla="*/ 0 h 3108960"/>
                  <a:gd name="connsiteX2" fmla="*/ 408940 w 1503680"/>
                  <a:gd name="connsiteY2" fmla="*/ 434340 h 3108960"/>
                  <a:gd name="connsiteX3" fmla="*/ 1503680 w 1503680"/>
                  <a:gd name="connsiteY3" fmla="*/ 2682240 h 3108960"/>
                  <a:gd name="connsiteX4" fmla="*/ 1493520 w 1503680"/>
                  <a:gd name="connsiteY4" fmla="*/ 3108960 h 3108960"/>
                  <a:gd name="connsiteX5" fmla="*/ 15240 w 150368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680" h="3108960">
                    <a:moveTo>
                      <a:pt x="15240" y="3078480"/>
                    </a:moveTo>
                    <a:lnTo>
                      <a:pt x="0" y="0"/>
                    </a:lnTo>
                    <a:lnTo>
                      <a:pt x="408940" y="434340"/>
                    </a:lnTo>
                    <a:lnTo>
                      <a:pt x="1503680" y="268224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571500" indent="-457200"/>
                <a:r>
                  <a:rPr lang="en-US" sz="2200" dirty="0"/>
                  <a:t>What if finishing constraint hours decreases, i.e., </a:t>
                </a:r>
                <a14:m>
                  <m:oMath xmlns:m="http://schemas.openxmlformats.org/officeDocument/2006/math">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&lt;0</m:t>
                    </m:r>
                  </m:oMath>
                </a14:m>
                <a:endParaRPr lang="en-US" sz="2200" dirty="0"/>
              </a:p>
              <a:p>
                <a:pPr marL="571500" indent="-457200"/>
                <a:r>
                  <a:rPr lang="en-US" sz="2200" dirty="0"/>
                  <a:t>The new optimal solution is still determined by the same set of equations.</a:t>
                </a:r>
              </a:p>
              <a:p>
                <a:pPr marL="11430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2</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100+</m:t>
                      </m:r>
                      <m:r>
                        <m:rPr>
                          <m:sty m:val="p"/>
                        </m:rPr>
                        <a:rPr lang="en-US" sz="2200">
                          <a:latin typeface="Cambria Math" panose="02040503050406030204" pitchFamily="18" charset="0"/>
                        </a:rPr>
                        <m:t>Δ</m:t>
                      </m:r>
                    </m:oMath>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i="1">
                          <a:latin typeface="Cambria Math" panose="02040503050406030204" pitchFamily="18" charset="0"/>
                        </a:rPr>
                        <m:t>80</m:t>
                      </m:r>
                    </m:oMath>
                  </m:oMathPara>
                </a14:m>
                <a:endParaRPr lang="en-US" sz="2200" dirty="0"/>
              </a:p>
              <a:p>
                <a:pPr marL="457200" indent="-342900"/>
                <a:r>
                  <a:rPr lang="en-US" sz="2200" dirty="0"/>
                  <a:t>Hence</a:t>
                </a:r>
              </a:p>
              <a:p>
                <a:pPr marL="114300" indent="0" algn="r">
                  <a:buNone/>
                </a:pPr>
                <a14:m>
                  <m:oMath xmlns:m="http://schemas.openxmlformats.org/officeDocument/2006/math">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1</m:t>
                        </m:r>
                      </m:sub>
                      <m:sup>
                        <m:r>
                          <a:rPr lang="en-US" sz="2200" b="0" i="1" smtClean="0">
                            <a:latin typeface="Cambria Math" panose="02040503050406030204" pitchFamily="18" charset="0"/>
                          </a:rPr>
                          <m:t>∗</m:t>
                        </m:r>
                      </m:sup>
                    </m:sSubSup>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 </m:t>
                    </m:r>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2</m:t>
                        </m:r>
                      </m:sub>
                      <m:sup>
                        <m:r>
                          <a:rPr lang="en-US" sz="2200" b="0" i="1" smtClean="0">
                            <a:latin typeface="Cambria Math" panose="02040503050406030204" pitchFamily="18" charset="0"/>
                          </a:rPr>
                          <m:t>∗</m:t>
                        </m:r>
                      </m:sup>
                    </m:sSubSup>
                    <m:r>
                      <a:rPr lang="en-US" sz="2200" i="1">
                        <a:latin typeface="Cambria Math" panose="02040503050406030204" pitchFamily="18" charset="0"/>
                      </a:rPr>
                      <m:t>=60−</m:t>
                    </m:r>
                    <m:r>
                      <m:rPr>
                        <m:sty m:val="p"/>
                      </m:rPr>
                      <a:rPr lang="en-US" sz="2200">
                        <a:latin typeface="Cambria Math" panose="02040503050406030204" pitchFamily="18" charset="0"/>
                      </a:rPr>
                      <m:t>Δ</m:t>
                    </m:r>
                    <m:r>
                      <a:rPr lang="en-US" sz="2200" i="1">
                        <a:latin typeface="Cambria Math" panose="02040503050406030204" pitchFamily="18" charset="0"/>
                      </a:rPr>
                      <m:t>, </m:t>
                    </m:r>
                    <m:sSup>
                      <m:sSupPr>
                        <m:ctrlPr>
                          <a:rPr lang="en-US" sz="2200" b="0" i="1" smtClean="0">
                            <a:latin typeface="Cambria Math" panose="02040503050406030204" pitchFamily="18" charset="0"/>
                          </a:rPr>
                        </m:ctrlPr>
                      </m:sSupPr>
                      <m:e>
                        <m:r>
                          <a:rPr lang="en-US" sz="2200" i="1">
                            <a:latin typeface="Cambria Math" panose="02040503050406030204" pitchFamily="18" charset="0"/>
                          </a:rPr>
                          <m:t>𝑧</m:t>
                        </m:r>
                      </m:e>
                      <m:sup>
                        <m:r>
                          <a:rPr lang="en-US" sz="2200" b="0" i="1" smtClean="0">
                            <a:latin typeface="Cambria Math" panose="02040503050406030204" pitchFamily="18" charset="0"/>
                          </a:rPr>
                          <m:t>∗</m:t>
                        </m:r>
                      </m:sup>
                    </m:sSup>
                    <m:r>
                      <a:rPr lang="en-US" sz="2200" i="1">
                        <a:latin typeface="Cambria Math" panose="02040503050406030204" pitchFamily="18" charset="0"/>
                      </a:rPr>
                      <m:t>=180+</m:t>
                    </m:r>
                    <m:r>
                      <m:rPr>
                        <m:sty m:val="p"/>
                      </m:rPr>
                      <a:rPr lang="en-US" sz="2200">
                        <a:latin typeface="Cambria Math" panose="02040503050406030204" pitchFamily="18" charset="0"/>
                      </a:rPr>
                      <m:t>Δ</m:t>
                    </m:r>
                  </m:oMath>
                </a14:m>
                <a:r>
                  <a:rPr lang="en-US" sz="2200" dirty="0"/>
                  <a:t> </a:t>
                </a: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61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
        <p:nvSpPr>
          <p:cNvPr id="9" name="TextBox 8">
            <a:extLst>
              <a:ext uri="{FF2B5EF4-FFF2-40B4-BE49-F238E27FC236}">
                <a16:creationId xmlns:a16="http://schemas.microsoft.com/office/drawing/2014/main" id="{A283F777-43CE-43AF-8BF2-60FE509BBF2A}"/>
              </a:ext>
            </a:extLst>
          </p:cNvPr>
          <p:cNvSpPr txBox="1"/>
          <p:nvPr/>
        </p:nvSpPr>
        <p:spPr>
          <a:xfrm>
            <a:off x="1461551" y="3171370"/>
            <a:ext cx="353244" cy="307777"/>
          </a:xfrm>
          <a:prstGeom prst="rect">
            <a:avLst/>
          </a:prstGeom>
          <a:noFill/>
        </p:spPr>
        <p:txBody>
          <a:bodyPr wrap="square" rtlCol="0">
            <a:spAutoFit/>
          </a:bodyPr>
          <a:lstStyle/>
          <a:p>
            <a:r>
              <a:rPr lang="en-US" sz="1400" dirty="0"/>
              <a:t>B’</a:t>
            </a:r>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308100" y="2586179"/>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39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812082" y="1387354"/>
            <a:ext cx="4485405" cy="4968996"/>
            <a:chOff x="812082" y="1387354"/>
            <a:chExt cx="4485405" cy="4968996"/>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812082" y="1387354"/>
              <a:ext cx="4485405" cy="4968996"/>
              <a:chOff x="812082" y="1387354"/>
              <a:chExt cx="4485405" cy="4968996"/>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812082" y="1387354"/>
                <a:ext cx="4485405" cy="4968996"/>
                <a:chOff x="4234732" y="1387354"/>
                <a:chExt cx="4485405" cy="4968996"/>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4234732" y="1387354"/>
                  <a:ext cx="4485405" cy="4961058"/>
                  <a:chOff x="4234732" y="1387354"/>
                  <a:chExt cx="4485405" cy="496105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4234732" y="1748791"/>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10640" y="2827020"/>
                <a:ext cx="149860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3520"/>
                  <a:gd name="connsiteY0" fmla="*/ 3078480 h 3108960"/>
                  <a:gd name="connsiteX1" fmla="*/ 0 w 1493520"/>
                  <a:gd name="connsiteY1" fmla="*/ 0 h 3108960"/>
                  <a:gd name="connsiteX2" fmla="*/ 408940 w 1493520"/>
                  <a:gd name="connsiteY2" fmla="*/ 43434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503680"/>
                  <a:gd name="connsiteY0" fmla="*/ 3078480 h 3108960"/>
                  <a:gd name="connsiteX1" fmla="*/ 0 w 1503680"/>
                  <a:gd name="connsiteY1" fmla="*/ 0 h 3108960"/>
                  <a:gd name="connsiteX2" fmla="*/ 408940 w 1503680"/>
                  <a:gd name="connsiteY2" fmla="*/ 434340 h 3108960"/>
                  <a:gd name="connsiteX3" fmla="*/ 1503680 w 1503680"/>
                  <a:gd name="connsiteY3" fmla="*/ 2682240 h 3108960"/>
                  <a:gd name="connsiteX4" fmla="*/ 1493520 w 1503680"/>
                  <a:gd name="connsiteY4" fmla="*/ 3108960 h 3108960"/>
                  <a:gd name="connsiteX5" fmla="*/ 15240 w 1503680"/>
                  <a:gd name="connsiteY5" fmla="*/ 3078480 h 3108960"/>
                  <a:gd name="connsiteX0" fmla="*/ 15240 w 1503680"/>
                  <a:gd name="connsiteY0" fmla="*/ 3078480 h 3108960"/>
                  <a:gd name="connsiteX1" fmla="*/ 0 w 1503680"/>
                  <a:gd name="connsiteY1" fmla="*/ 0 h 3108960"/>
                  <a:gd name="connsiteX2" fmla="*/ 805180 w 1503680"/>
                  <a:gd name="connsiteY2" fmla="*/ 1861820 h 3108960"/>
                  <a:gd name="connsiteX3" fmla="*/ 1503680 w 1503680"/>
                  <a:gd name="connsiteY3" fmla="*/ 2682240 h 3108960"/>
                  <a:gd name="connsiteX4" fmla="*/ 1493520 w 1503680"/>
                  <a:gd name="connsiteY4" fmla="*/ 3108960 h 3108960"/>
                  <a:gd name="connsiteX5" fmla="*/ 15240 w 1503680"/>
                  <a:gd name="connsiteY5" fmla="*/ 3078480 h 3108960"/>
                  <a:gd name="connsiteX0" fmla="*/ 15240 w 1498600"/>
                  <a:gd name="connsiteY0" fmla="*/ 3078480 h 3108960"/>
                  <a:gd name="connsiteX1" fmla="*/ 0 w 1498600"/>
                  <a:gd name="connsiteY1" fmla="*/ 0 h 3108960"/>
                  <a:gd name="connsiteX2" fmla="*/ 805180 w 1498600"/>
                  <a:gd name="connsiteY2" fmla="*/ 1861820 h 3108960"/>
                  <a:gd name="connsiteX3" fmla="*/ 1498600 w 1498600"/>
                  <a:gd name="connsiteY3" fmla="*/ 3108960 h 3108960"/>
                  <a:gd name="connsiteX4" fmla="*/ 1493520 w 1498600"/>
                  <a:gd name="connsiteY4" fmla="*/ 3108960 h 3108960"/>
                  <a:gd name="connsiteX5" fmla="*/ 15240 w 1498600"/>
                  <a:gd name="connsiteY5" fmla="*/ 3078480 h 3108960"/>
                  <a:gd name="connsiteX0" fmla="*/ 15240 w 1498600"/>
                  <a:gd name="connsiteY0" fmla="*/ 3078480 h 3108960"/>
                  <a:gd name="connsiteX1" fmla="*/ 0 w 1498600"/>
                  <a:gd name="connsiteY1" fmla="*/ 0 h 3108960"/>
                  <a:gd name="connsiteX2" fmla="*/ 881380 w 1498600"/>
                  <a:gd name="connsiteY2" fmla="*/ 1816100 h 3108960"/>
                  <a:gd name="connsiteX3" fmla="*/ 1498600 w 1498600"/>
                  <a:gd name="connsiteY3" fmla="*/ 3108960 h 3108960"/>
                  <a:gd name="connsiteX4" fmla="*/ 1493520 w 1498600"/>
                  <a:gd name="connsiteY4" fmla="*/ 3108960 h 3108960"/>
                  <a:gd name="connsiteX5" fmla="*/ 15240 w 149860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600" h="3108960">
                    <a:moveTo>
                      <a:pt x="15240" y="3078480"/>
                    </a:moveTo>
                    <a:lnTo>
                      <a:pt x="0" y="0"/>
                    </a:lnTo>
                    <a:lnTo>
                      <a:pt x="881380" y="1816100"/>
                    </a:lnTo>
                    <a:lnTo>
                      <a:pt x="1498600" y="3108960"/>
                    </a:lnTo>
                    <a:lnTo>
                      <a:pt x="1493520" y="3108960"/>
                    </a:lnTo>
                    <a:lnTo>
                      <a:pt x="15240" y="307848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571500" indent="-457200"/>
                <a:r>
                  <a:rPr lang="en-US" sz="2200" dirty="0"/>
                  <a:t>When the finishing hour decreases to 80 i.e., decreases by 20 (</a:t>
                </a:r>
                <a14:m>
                  <m:oMath xmlns:m="http://schemas.openxmlformats.org/officeDocument/2006/math">
                    <m:r>
                      <m:rPr>
                        <m:sty m:val="p"/>
                      </m:rPr>
                      <a:rPr lang="en-US" sz="2200">
                        <a:latin typeface="Cambria Math" panose="02040503050406030204" pitchFamily="18" charset="0"/>
                      </a:rPr>
                      <m:t>Δ</m:t>
                    </m:r>
                    <m:r>
                      <a:rPr lang="en-US" sz="2200" i="1">
                        <a:latin typeface="Cambria Math" panose="02040503050406030204" pitchFamily="18" charset="0"/>
                      </a:rPr>
                      <m:t>=</m:t>
                    </m:r>
                    <m:r>
                      <a:rPr lang="en-US" sz="2200" b="0" i="1" smtClean="0">
                        <a:latin typeface="Cambria Math" panose="02040503050406030204" pitchFamily="18" charset="0"/>
                      </a:rPr>
                      <m:t>−</m:t>
                    </m:r>
                    <m:r>
                      <a:rPr lang="en-US" sz="2200" i="1">
                        <a:latin typeface="Cambria Math" panose="02040503050406030204" pitchFamily="18" charset="0"/>
                      </a:rPr>
                      <m:t>20</m:t>
                    </m:r>
                  </m:oMath>
                </a14:m>
                <a:r>
                  <a:rPr lang="en-US" sz="2200" dirty="0"/>
                  <a:t>), point A becomes optimal, still the same set of equations determines the optimal</a:t>
                </a:r>
              </a:p>
              <a:p>
                <a:pPr marL="457200" indent="-342900"/>
                <a:r>
                  <a:rPr lang="en-US" sz="2200" dirty="0"/>
                  <a:t>Hence</a:t>
                </a:r>
              </a:p>
              <a:p>
                <a:pPr marL="114300" indent="0" algn="r">
                  <a:buNone/>
                </a:pPr>
                <a14:m>
                  <m:oMath xmlns:m="http://schemas.openxmlformats.org/officeDocument/2006/math">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1</m:t>
                        </m:r>
                      </m:sub>
                      <m:sup>
                        <m:r>
                          <a:rPr lang="en-US" sz="2200" b="0" i="1" smtClean="0">
                            <a:latin typeface="Cambria Math" panose="02040503050406030204" pitchFamily="18" charset="0"/>
                          </a:rPr>
                          <m:t>∗</m:t>
                        </m:r>
                      </m:sup>
                    </m:sSubSup>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 </m:t>
                    </m:r>
                    <m:sSubSup>
                      <m:sSubSupPr>
                        <m:ctrlPr>
                          <a:rPr lang="en-US" sz="2200" b="0" i="1" smtClean="0">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2</m:t>
                        </m:r>
                      </m:sub>
                      <m:sup>
                        <m:r>
                          <a:rPr lang="en-US" sz="2200" b="0" i="1" smtClean="0">
                            <a:latin typeface="Cambria Math" panose="02040503050406030204" pitchFamily="18" charset="0"/>
                          </a:rPr>
                          <m:t>∗</m:t>
                        </m:r>
                      </m:sup>
                    </m:sSubSup>
                    <m:r>
                      <a:rPr lang="en-US" sz="2200" i="1">
                        <a:latin typeface="Cambria Math" panose="02040503050406030204" pitchFamily="18" charset="0"/>
                      </a:rPr>
                      <m:t>=60−</m:t>
                    </m:r>
                    <m:r>
                      <m:rPr>
                        <m:sty m:val="p"/>
                      </m:rPr>
                      <a:rPr lang="en-US" sz="2200">
                        <a:latin typeface="Cambria Math" panose="02040503050406030204" pitchFamily="18" charset="0"/>
                      </a:rPr>
                      <m:t>Δ</m:t>
                    </m:r>
                    <m:r>
                      <a:rPr lang="en-US" sz="2200" i="1">
                        <a:latin typeface="Cambria Math" panose="02040503050406030204" pitchFamily="18" charset="0"/>
                      </a:rPr>
                      <m:t>, </m:t>
                    </m:r>
                    <m:sSup>
                      <m:sSupPr>
                        <m:ctrlPr>
                          <a:rPr lang="en-US" sz="2200" b="0" i="1" smtClean="0">
                            <a:latin typeface="Cambria Math" panose="02040503050406030204" pitchFamily="18" charset="0"/>
                          </a:rPr>
                        </m:ctrlPr>
                      </m:sSupPr>
                      <m:e>
                        <m:r>
                          <a:rPr lang="en-US" sz="2200" i="1">
                            <a:latin typeface="Cambria Math" panose="02040503050406030204" pitchFamily="18" charset="0"/>
                          </a:rPr>
                          <m:t>𝑧</m:t>
                        </m:r>
                      </m:e>
                      <m:sup>
                        <m:r>
                          <a:rPr lang="en-US" sz="2200" b="0" i="1" smtClean="0">
                            <a:latin typeface="Cambria Math" panose="02040503050406030204" pitchFamily="18" charset="0"/>
                          </a:rPr>
                          <m:t>∗</m:t>
                        </m:r>
                      </m:sup>
                    </m:sSup>
                    <m:r>
                      <a:rPr lang="en-US" sz="2200" i="1">
                        <a:latin typeface="Cambria Math" panose="02040503050406030204" pitchFamily="18" charset="0"/>
                      </a:rPr>
                      <m:t>=180+</m:t>
                    </m:r>
                    <m:r>
                      <m:rPr>
                        <m:sty m:val="p"/>
                      </m:rPr>
                      <a:rPr lang="en-US" sz="2200">
                        <a:latin typeface="Cambria Math" panose="02040503050406030204" pitchFamily="18" charset="0"/>
                      </a:rPr>
                      <m:t>Δ</m:t>
                    </m:r>
                  </m:oMath>
                </a14:m>
                <a:r>
                  <a:rPr lang="en-US" sz="2200" dirty="0"/>
                  <a:t> </a:t>
                </a: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61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1032155" y="2386402"/>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0554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78DAB7F-A5C4-494D-8A25-2CE8B83E38B2}"/>
              </a:ext>
            </a:extLst>
          </p:cNvPr>
          <p:cNvGrpSpPr/>
          <p:nvPr/>
        </p:nvGrpSpPr>
        <p:grpSpPr>
          <a:xfrm>
            <a:off x="550977" y="1387354"/>
            <a:ext cx="4746510" cy="4991538"/>
            <a:chOff x="550977" y="1387354"/>
            <a:chExt cx="4746510" cy="4991538"/>
          </a:xfrm>
        </p:grpSpPr>
        <p:grpSp>
          <p:nvGrpSpPr>
            <p:cNvPr id="27" name="Group 26">
              <a:extLst>
                <a:ext uri="{FF2B5EF4-FFF2-40B4-BE49-F238E27FC236}">
                  <a16:creationId xmlns:a16="http://schemas.microsoft.com/office/drawing/2014/main" id="{24F954CB-7D1D-4F5E-9592-ED5D6CA5C8E7}"/>
                </a:ext>
              </a:extLst>
            </p:cNvPr>
            <p:cNvGrpSpPr/>
            <p:nvPr/>
          </p:nvGrpSpPr>
          <p:grpSpPr>
            <a:xfrm>
              <a:off x="550977" y="1387354"/>
              <a:ext cx="4746510" cy="4991538"/>
              <a:chOff x="550977" y="1387354"/>
              <a:chExt cx="4746510" cy="4991538"/>
            </a:xfrm>
            <a:solidFill>
              <a:srgbClr val="BFBFBF"/>
            </a:solidFill>
          </p:grpSpPr>
          <p:grpSp>
            <p:nvGrpSpPr>
              <p:cNvPr id="32" name="Group 31">
                <a:extLst>
                  <a:ext uri="{FF2B5EF4-FFF2-40B4-BE49-F238E27FC236}">
                    <a16:creationId xmlns:a16="http://schemas.microsoft.com/office/drawing/2014/main" id="{B033C212-A074-4D8B-9372-8E26DA43ADC5}"/>
                  </a:ext>
                </a:extLst>
              </p:cNvPr>
              <p:cNvGrpSpPr/>
              <p:nvPr/>
            </p:nvGrpSpPr>
            <p:grpSpPr>
              <a:xfrm>
                <a:off x="550977" y="1387354"/>
                <a:ext cx="4746510" cy="4991538"/>
                <a:chOff x="3973627" y="1387354"/>
                <a:chExt cx="4746510" cy="4991538"/>
              </a:xfrm>
              <a:grpFill/>
            </p:grpSpPr>
            <p:grpSp>
              <p:nvGrpSpPr>
                <p:cNvPr id="34" name="Group 33">
                  <a:extLst>
                    <a:ext uri="{FF2B5EF4-FFF2-40B4-BE49-F238E27FC236}">
                      <a16:creationId xmlns:a16="http://schemas.microsoft.com/office/drawing/2014/main" id="{EF995651-4FC9-4704-B191-14F7DE0D08C9}"/>
                    </a:ext>
                  </a:extLst>
                </p:cNvPr>
                <p:cNvGrpSpPr/>
                <p:nvPr/>
              </p:nvGrpSpPr>
              <p:grpSpPr>
                <a:xfrm>
                  <a:off x="3973627" y="1387354"/>
                  <a:ext cx="4746510" cy="4991538"/>
                  <a:chOff x="3973627" y="1387354"/>
                  <a:chExt cx="4746510" cy="4991538"/>
                </a:xfrm>
                <a:grpFill/>
              </p:grpSpPr>
              <p:pic>
                <p:nvPicPr>
                  <p:cNvPr id="36" name="Picture 35">
                    <a:extLst>
                      <a:ext uri="{FF2B5EF4-FFF2-40B4-BE49-F238E27FC236}">
                        <a16:creationId xmlns:a16="http://schemas.microsoft.com/office/drawing/2014/main" id="{FA32F3E1-ABCF-458E-B54E-364ADF578400}"/>
                      </a:ext>
                    </a:extLst>
                  </p:cNvPr>
                  <p:cNvPicPr>
                    <a:picLocks noChangeAspect="1"/>
                  </p:cNvPicPr>
                  <p:nvPr/>
                </p:nvPicPr>
                <p:blipFill>
                  <a:blip r:embed="rId2"/>
                  <a:stretch>
                    <a:fillRect/>
                  </a:stretch>
                </p:blipFill>
                <p:spPr>
                  <a:xfrm>
                    <a:off x="4260850" y="1387354"/>
                    <a:ext cx="4459287" cy="4961058"/>
                  </a:xfrm>
                  <a:prstGeom prst="rect">
                    <a:avLst/>
                  </a:prstGeom>
                  <a:grpFill/>
                </p:spPr>
              </p:pic>
              <p:cxnSp>
                <p:nvCxnSpPr>
                  <p:cNvPr id="37" name="Straight Connector 36">
                    <a:extLst>
                      <a:ext uri="{FF2B5EF4-FFF2-40B4-BE49-F238E27FC236}">
                        <a16:creationId xmlns:a16="http://schemas.microsoft.com/office/drawing/2014/main" id="{710753A4-9A78-42C8-983C-08154E63A0DF}"/>
                      </a:ext>
                    </a:extLst>
                  </p:cNvPr>
                  <p:cNvCxnSpPr>
                    <a:cxnSpLocks/>
                  </p:cNvCxnSpPr>
                  <p:nvPr/>
                </p:nvCxnSpPr>
                <p:spPr>
                  <a:xfrm>
                    <a:off x="3973627" y="1817052"/>
                    <a:ext cx="2184400" cy="4561840"/>
                  </a:xfrm>
                  <a:prstGeom prst="line">
                    <a:avLst/>
                  </a:prstGeom>
                  <a:grp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BFCF129E-BCBA-4199-87D5-10BF151FDD88}"/>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EBC381B8-8EC9-46A4-A723-A3FAC958FA3C}"/>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Freeform: Shape 32">
                <a:extLst>
                  <a:ext uri="{FF2B5EF4-FFF2-40B4-BE49-F238E27FC236}">
                    <a16:creationId xmlns:a16="http://schemas.microsoft.com/office/drawing/2014/main" id="{457580FA-1AD2-4E71-A698-44FD96D73291}"/>
                  </a:ext>
                </a:extLst>
              </p:cNvPr>
              <p:cNvSpPr/>
              <p:nvPr/>
            </p:nvSpPr>
            <p:spPr>
              <a:xfrm>
                <a:off x="1320800" y="3395980"/>
                <a:ext cx="1209040" cy="254000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508760"/>
                  <a:gd name="connsiteY0" fmla="*/ 3078480 h 3108960"/>
                  <a:gd name="connsiteX1" fmla="*/ 0 w 1508760"/>
                  <a:gd name="connsiteY1" fmla="*/ 0 h 3108960"/>
                  <a:gd name="connsiteX2" fmla="*/ 1150620 w 1508760"/>
                  <a:gd name="connsiteY2" fmla="*/ 118110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493520"/>
                  <a:gd name="connsiteY0" fmla="*/ 3078480 h 3108960"/>
                  <a:gd name="connsiteX1" fmla="*/ 0 w 1493520"/>
                  <a:gd name="connsiteY1" fmla="*/ 0 h 3108960"/>
                  <a:gd name="connsiteX2" fmla="*/ 1150620 w 1493520"/>
                  <a:gd name="connsiteY2" fmla="*/ 118110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493520"/>
                  <a:gd name="connsiteY0" fmla="*/ 3078480 h 3108960"/>
                  <a:gd name="connsiteX1" fmla="*/ 0 w 1493520"/>
                  <a:gd name="connsiteY1" fmla="*/ 0 h 3108960"/>
                  <a:gd name="connsiteX2" fmla="*/ 408940 w 1493520"/>
                  <a:gd name="connsiteY2" fmla="*/ 434340 h 3108960"/>
                  <a:gd name="connsiteX3" fmla="*/ 1493520 w 1493520"/>
                  <a:gd name="connsiteY3" fmla="*/ 1905000 h 3108960"/>
                  <a:gd name="connsiteX4" fmla="*/ 1493520 w 1493520"/>
                  <a:gd name="connsiteY4" fmla="*/ 3108960 h 3108960"/>
                  <a:gd name="connsiteX5" fmla="*/ 15240 w 1493520"/>
                  <a:gd name="connsiteY5" fmla="*/ 3078480 h 3108960"/>
                  <a:gd name="connsiteX0" fmla="*/ 15240 w 1503680"/>
                  <a:gd name="connsiteY0" fmla="*/ 3078480 h 3108960"/>
                  <a:gd name="connsiteX1" fmla="*/ 0 w 1503680"/>
                  <a:gd name="connsiteY1" fmla="*/ 0 h 3108960"/>
                  <a:gd name="connsiteX2" fmla="*/ 408940 w 1503680"/>
                  <a:gd name="connsiteY2" fmla="*/ 434340 h 3108960"/>
                  <a:gd name="connsiteX3" fmla="*/ 1503680 w 1503680"/>
                  <a:gd name="connsiteY3" fmla="*/ 2682240 h 3108960"/>
                  <a:gd name="connsiteX4" fmla="*/ 1493520 w 1503680"/>
                  <a:gd name="connsiteY4" fmla="*/ 3108960 h 3108960"/>
                  <a:gd name="connsiteX5" fmla="*/ 15240 w 1503680"/>
                  <a:gd name="connsiteY5" fmla="*/ 3078480 h 3108960"/>
                  <a:gd name="connsiteX0" fmla="*/ 15240 w 1503680"/>
                  <a:gd name="connsiteY0" fmla="*/ 3078480 h 3108960"/>
                  <a:gd name="connsiteX1" fmla="*/ 0 w 1503680"/>
                  <a:gd name="connsiteY1" fmla="*/ 0 h 3108960"/>
                  <a:gd name="connsiteX2" fmla="*/ 805180 w 1503680"/>
                  <a:gd name="connsiteY2" fmla="*/ 1861820 h 3108960"/>
                  <a:gd name="connsiteX3" fmla="*/ 1503680 w 1503680"/>
                  <a:gd name="connsiteY3" fmla="*/ 2682240 h 3108960"/>
                  <a:gd name="connsiteX4" fmla="*/ 1493520 w 1503680"/>
                  <a:gd name="connsiteY4" fmla="*/ 3108960 h 3108960"/>
                  <a:gd name="connsiteX5" fmla="*/ 15240 w 1503680"/>
                  <a:gd name="connsiteY5" fmla="*/ 3078480 h 3108960"/>
                  <a:gd name="connsiteX0" fmla="*/ 15240 w 1498600"/>
                  <a:gd name="connsiteY0" fmla="*/ 3078480 h 3108960"/>
                  <a:gd name="connsiteX1" fmla="*/ 0 w 1498600"/>
                  <a:gd name="connsiteY1" fmla="*/ 0 h 3108960"/>
                  <a:gd name="connsiteX2" fmla="*/ 805180 w 1498600"/>
                  <a:gd name="connsiteY2" fmla="*/ 1861820 h 3108960"/>
                  <a:gd name="connsiteX3" fmla="*/ 1498600 w 1498600"/>
                  <a:gd name="connsiteY3" fmla="*/ 3108960 h 3108960"/>
                  <a:gd name="connsiteX4" fmla="*/ 1493520 w 1498600"/>
                  <a:gd name="connsiteY4" fmla="*/ 3108960 h 3108960"/>
                  <a:gd name="connsiteX5" fmla="*/ 15240 w 1498600"/>
                  <a:gd name="connsiteY5" fmla="*/ 3078480 h 3108960"/>
                  <a:gd name="connsiteX0" fmla="*/ 15240 w 1498600"/>
                  <a:gd name="connsiteY0" fmla="*/ 3078480 h 3108960"/>
                  <a:gd name="connsiteX1" fmla="*/ 0 w 1498600"/>
                  <a:gd name="connsiteY1" fmla="*/ 0 h 3108960"/>
                  <a:gd name="connsiteX2" fmla="*/ 881380 w 1498600"/>
                  <a:gd name="connsiteY2" fmla="*/ 1816100 h 3108960"/>
                  <a:gd name="connsiteX3" fmla="*/ 1498600 w 1498600"/>
                  <a:gd name="connsiteY3" fmla="*/ 3108960 h 3108960"/>
                  <a:gd name="connsiteX4" fmla="*/ 1493520 w 1498600"/>
                  <a:gd name="connsiteY4" fmla="*/ 3108960 h 3108960"/>
                  <a:gd name="connsiteX5" fmla="*/ 15240 w 1498600"/>
                  <a:gd name="connsiteY5" fmla="*/ 3078480 h 3108960"/>
                  <a:gd name="connsiteX0" fmla="*/ 5080 w 1488440"/>
                  <a:gd name="connsiteY0" fmla="*/ 2509520 h 2540000"/>
                  <a:gd name="connsiteX1" fmla="*/ 0 w 1488440"/>
                  <a:gd name="connsiteY1" fmla="*/ 0 h 2540000"/>
                  <a:gd name="connsiteX2" fmla="*/ 871220 w 1488440"/>
                  <a:gd name="connsiteY2" fmla="*/ 1247140 h 2540000"/>
                  <a:gd name="connsiteX3" fmla="*/ 1488440 w 1488440"/>
                  <a:gd name="connsiteY3" fmla="*/ 2540000 h 2540000"/>
                  <a:gd name="connsiteX4" fmla="*/ 1483360 w 1488440"/>
                  <a:gd name="connsiteY4" fmla="*/ 2540000 h 2540000"/>
                  <a:gd name="connsiteX5" fmla="*/ 5080 w 1488440"/>
                  <a:gd name="connsiteY5" fmla="*/ 2509520 h 2540000"/>
                  <a:gd name="connsiteX0" fmla="*/ 5080 w 1488440"/>
                  <a:gd name="connsiteY0" fmla="*/ 2509520 h 2540000"/>
                  <a:gd name="connsiteX1" fmla="*/ 0 w 1488440"/>
                  <a:gd name="connsiteY1" fmla="*/ 0 h 2540000"/>
                  <a:gd name="connsiteX2" fmla="*/ 871220 w 1488440"/>
                  <a:gd name="connsiteY2" fmla="*/ 1247140 h 2540000"/>
                  <a:gd name="connsiteX3" fmla="*/ 1488440 w 1488440"/>
                  <a:gd name="connsiteY3" fmla="*/ 2540000 h 2540000"/>
                  <a:gd name="connsiteX4" fmla="*/ 1178560 w 1488440"/>
                  <a:gd name="connsiteY4" fmla="*/ 2540000 h 2540000"/>
                  <a:gd name="connsiteX5" fmla="*/ 5080 w 1488440"/>
                  <a:gd name="connsiteY5" fmla="*/ 2509520 h 2540000"/>
                  <a:gd name="connsiteX0" fmla="*/ 5080 w 1488440"/>
                  <a:gd name="connsiteY0" fmla="*/ 2509520 h 2540000"/>
                  <a:gd name="connsiteX1" fmla="*/ 0 w 1488440"/>
                  <a:gd name="connsiteY1" fmla="*/ 0 h 2540000"/>
                  <a:gd name="connsiteX2" fmla="*/ 891540 w 1488440"/>
                  <a:gd name="connsiteY2" fmla="*/ 1902460 h 2540000"/>
                  <a:gd name="connsiteX3" fmla="*/ 1488440 w 1488440"/>
                  <a:gd name="connsiteY3" fmla="*/ 2540000 h 2540000"/>
                  <a:gd name="connsiteX4" fmla="*/ 1178560 w 1488440"/>
                  <a:gd name="connsiteY4" fmla="*/ 2540000 h 2540000"/>
                  <a:gd name="connsiteX5" fmla="*/ 5080 w 1488440"/>
                  <a:gd name="connsiteY5" fmla="*/ 2509520 h 2540000"/>
                  <a:gd name="connsiteX0" fmla="*/ 5080 w 1209040"/>
                  <a:gd name="connsiteY0" fmla="*/ 2509520 h 2540000"/>
                  <a:gd name="connsiteX1" fmla="*/ 0 w 1209040"/>
                  <a:gd name="connsiteY1" fmla="*/ 0 h 2540000"/>
                  <a:gd name="connsiteX2" fmla="*/ 891540 w 1209040"/>
                  <a:gd name="connsiteY2" fmla="*/ 1902460 h 2540000"/>
                  <a:gd name="connsiteX3" fmla="*/ 1209040 w 1209040"/>
                  <a:gd name="connsiteY3" fmla="*/ 2540000 h 2540000"/>
                  <a:gd name="connsiteX4" fmla="*/ 1178560 w 1209040"/>
                  <a:gd name="connsiteY4" fmla="*/ 2540000 h 2540000"/>
                  <a:gd name="connsiteX5" fmla="*/ 5080 w 1209040"/>
                  <a:gd name="connsiteY5" fmla="*/ 2509520 h 25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9040" h="2540000">
                    <a:moveTo>
                      <a:pt x="5080" y="2509520"/>
                    </a:moveTo>
                    <a:cubicBezTo>
                      <a:pt x="3387" y="1673013"/>
                      <a:pt x="1693" y="836507"/>
                      <a:pt x="0" y="0"/>
                    </a:cubicBezTo>
                    <a:lnTo>
                      <a:pt x="891540" y="1902460"/>
                    </a:lnTo>
                    <a:lnTo>
                      <a:pt x="1209040" y="2540000"/>
                    </a:lnTo>
                    <a:lnTo>
                      <a:pt x="1178560" y="2540000"/>
                    </a:lnTo>
                    <a:lnTo>
                      <a:pt x="5080" y="2509520"/>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extBox 27">
              <a:extLst>
                <a:ext uri="{FF2B5EF4-FFF2-40B4-BE49-F238E27FC236}">
                  <a16:creationId xmlns:a16="http://schemas.microsoft.com/office/drawing/2014/main" id="{12C687CC-F429-4167-BD24-15EAC5B3F9B5}"/>
                </a:ext>
              </a:extLst>
            </p:cNvPr>
            <p:cNvSpPr txBox="1"/>
            <p:nvPr/>
          </p:nvSpPr>
          <p:spPr>
            <a:xfrm>
              <a:off x="1087295" y="2427115"/>
              <a:ext cx="303288" cy="338554"/>
            </a:xfrm>
            <a:prstGeom prst="rect">
              <a:avLst/>
            </a:prstGeom>
            <a:noFill/>
          </p:spPr>
          <p:txBody>
            <a:bodyPr wrap="none" rtlCol="0">
              <a:spAutoFit/>
            </a:bodyPr>
            <a:lstStyle/>
            <a:p>
              <a:r>
                <a:rPr lang="en-US" sz="1600" dirty="0"/>
                <a:t>A</a:t>
              </a:r>
            </a:p>
          </p:txBody>
        </p:sp>
        <p:sp>
          <p:nvSpPr>
            <p:cNvPr id="29" name="TextBox 28">
              <a:extLst>
                <a:ext uri="{FF2B5EF4-FFF2-40B4-BE49-F238E27FC236}">
                  <a16:creationId xmlns:a16="http://schemas.microsoft.com/office/drawing/2014/main" id="{C6AF8C99-E0EF-4B54-A66C-A55205D4D3AC}"/>
                </a:ext>
              </a:extLst>
            </p:cNvPr>
            <p:cNvSpPr txBox="1"/>
            <p:nvPr/>
          </p:nvSpPr>
          <p:spPr>
            <a:xfrm>
              <a:off x="1974640" y="3306838"/>
              <a:ext cx="303288" cy="338554"/>
            </a:xfrm>
            <a:prstGeom prst="rect">
              <a:avLst/>
            </a:prstGeom>
            <a:noFill/>
          </p:spPr>
          <p:txBody>
            <a:bodyPr wrap="none" rtlCol="0">
              <a:spAutoFit/>
            </a:bodyPr>
            <a:lstStyle/>
            <a:p>
              <a:r>
                <a:rPr lang="en-US" sz="1600" dirty="0"/>
                <a:t>B</a:t>
              </a:r>
            </a:p>
          </p:txBody>
        </p:sp>
        <p:sp>
          <p:nvSpPr>
            <p:cNvPr id="30" name="TextBox 29">
              <a:extLst>
                <a:ext uri="{FF2B5EF4-FFF2-40B4-BE49-F238E27FC236}">
                  <a16:creationId xmlns:a16="http://schemas.microsoft.com/office/drawing/2014/main" id="{FBC87741-3EC1-4E79-9188-2CA291456CD3}"/>
                </a:ext>
              </a:extLst>
            </p:cNvPr>
            <p:cNvSpPr txBox="1"/>
            <p:nvPr/>
          </p:nvSpPr>
          <p:spPr>
            <a:xfrm>
              <a:off x="2800190" y="4119504"/>
              <a:ext cx="311304" cy="338554"/>
            </a:xfrm>
            <a:prstGeom prst="rect">
              <a:avLst/>
            </a:prstGeom>
            <a:noFill/>
          </p:spPr>
          <p:txBody>
            <a:bodyPr wrap="none" rtlCol="0">
              <a:spAutoFit/>
            </a:bodyPr>
            <a:lstStyle/>
            <a:p>
              <a:r>
                <a:rPr lang="en-US" sz="1600" dirty="0"/>
                <a:t>D</a:t>
              </a:r>
            </a:p>
          </p:txBody>
        </p:sp>
        <p:sp>
          <p:nvSpPr>
            <p:cNvPr id="31" name="TextBox 30">
              <a:extLst>
                <a:ext uri="{FF2B5EF4-FFF2-40B4-BE49-F238E27FC236}">
                  <a16:creationId xmlns:a16="http://schemas.microsoft.com/office/drawing/2014/main" id="{F03BB1B0-0479-47C9-91D9-7B0501323926}"/>
                </a:ext>
              </a:extLst>
            </p:cNvPr>
            <p:cNvSpPr txBox="1"/>
            <p:nvPr/>
          </p:nvSpPr>
          <p:spPr>
            <a:xfrm>
              <a:off x="2778595" y="4999732"/>
              <a:ext cx="303288" cy="338554"/>
            </a:xfrm>
            <a:prstGeom prst="rect">
              <a:avLst/>
            </a:prstGeom>
            <a:noFill/>
          </p:spPr>
          <p:txBody>
            <a:bodyPr wrap="none" rtlCol="0">
              <a:spAutoFit/>
            </a:bodyPr>
            <a:lstStyle/>
            <a:p>
              <a:r>
                <a:rPr lang="en-US" sz="1600" dirty="0"/>
                <a:t>C</a:t>
              </a:r>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114300" indent="0">
                  <a:buNone/>
                </a:pPr>
                <a:r>
                  <a:rPr lang="en-US" sz="2200" dirty="0"/>
                  <a:t>But whenever </a:t>
                </a:r>
                <a14:m>
                  <m:oMath xmlns:m="http://schemas.openxmlformats.org/officeDocument/2006/math">
                    <m:r>
                      <m:rPr>
                        <m:sty m:val="p"/>
                      </m:rPr>
                      <a:rPr lang="en-US" sz="2200">
                        <a:latin typeface="Cambria Math" panose="02040503050406030204" pitchFamily="18" charset="0"/>
                      </a:rPr>
                      <m:t>Δ</m:t>
                    </m:r>
                    <m:r>
                      <a:rPr lang="en-US" sz="2200" b="0" i="1" smtClean="0">
                        <a:latin typeface="Cambria Math" panose="02040503050406030204" pitchFamily="18" charset="0"/>
                      </a:rPr>
                      <m:t>&lt;−</m:t>
                    </m:r>
                    <m:r>
                      <a:rPr lang="en-US" sz="2200" i="1">
                        <a:latin typeface="Cambria Math" panose="02040503050406030204" pitchFamily="18" charset="0"/>
                      </a:rPr>
                      <m:t>20,</m:t>
                    </m:r>
                  </m:oMath>
                </a14:m>
                <a:r>
                  <a:rPr lang="en-US" sz="2200" dirty="0"/>
                  <a:t> the optimum solution is determined by another set of constraints</a:t>
                </a:r>
              </a:p>
              <a:p>
                <a:pPr marL="114300" indent="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b="0" i="1" smtClean="0">
                              <a:latin typeface="Cambria Math" panose="02040503050406030204" pitchFamily="18" charset="0"/>
                            </a:rPr>
                            <m:t>1</m:t>
                          </m:r>
                        </m:sub>
                      </m:sSub>
                      <m:r>
                        <m:rPr>
                          <m:aln/>
                        </m:rPr>
                        <a:rPr lang="en-US" sz="2200" i="1">
                          <a:latin typeface="Cambria Math" panose="02040503050406030204" pitchFamily="18" charset="0"/>
                        </a:rPr>
                        <m:t>=</m:t>
                      </m:r>
                      <m:r>
                        <a:rPr lang="en-US" sz="2200" i="1">
                          <a:latin typeface="Cambria Math" panose="02040503050406030204" pitchFamily="18" charset="0"/>
                        </a:rPr>
                        <m:t>0</m:t>
                      </m:r>
                    </m:oMath>
                    <m:oMath xmlns:m="http://schemas.openxmlformats.org/officeDocument/2006/math">
                      <m:r>
                        <a:rPr lang="en-US" sz="2200" b="0" i="1" smtClean="0">
                          <a:latin typeface="Cambria Math" panose="02040503050406030204" pitchFamily="18" charset="0"/>
                        </a:rPr>
                        <m:t>2</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m:rPr>
                          <m:aln/>
                        </m:rPr>
                        <a:rPr lang="en-US" sz="2200" i="1">
                          <a:latin typeface="Cambria Math" panose="02040503050406030204" pitchFamily="18" charset="0"/>
                        </a:rPr>
                        <m:t>=</m:t>
                      </m:r>
                      <m:r>
                        <a:rPr lang="en-US" sz="2200" b="0" i="1" smtClean="0">
                          <a:latin typeface="Cambria Math" panose="02040503050406030204" pitchFamily="18" charset="0"/>
                        </a:rPr>
                        <m:t>100+</m:t>
                      </m:r>
                      <m:r>
                        <m:rPr>
                          <m:sty m:val="p"/>
                        </m:rPr>
                        <a:rPr lang="en-US" sz="2200" b="0" i="0" smtClean="0">
                          <a:latin typeface="Cambria Math" panose="02040503050406030204" pitchFamily="18" charset="0"/>
                        </a:rPr>
                        <m:t>Δ</m:t>
                      </m:r>
                    </m:oMath>
                  </m:oMathPara>
                </a14:m>
                <a:endParaRPr lang="en-US" sz="2200" dirty="0"/>
              </a:p>
              <a:p>
                <a:pPr marL="114300" indent="0">
                  <a:buNone/>
                </a:pPr>
                <a:r>
                  <a:rPr lang="en-US" sz="2200" dirty="0"/>
                  <a:t>This means</a:t>
                </a:r>
              </a:p>
              <a:p>
                <a:pPr marL="114300" indent="0">
                  <a:buNone/>
                </a:pPr>
                <a14:m>
                  <m:oMathPara xmlns:m="http://schemas.openxmlformats.org/officeDocument/2006/math">
                    <m:oMathParaPr>
                      <m:jc m:val="centerGroup"/>
                    </m:oMathParaPr>
                    <m:oMath xmlns:m="http://schemas.openxmlformats.org/officeDocument/2006/math">
                      <m:sSubSup>
                        <m:sSubSupPr>
                          <m:ctrlPr>
                            <a:rPr lang="en-US" sz="2200" i="1">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1</m:t>
                          </m:r>
                        </m:sub>
                        <m:sup>
                          <m:r>
                            <a:rPr lang="en-US" sz="2200" i="1">
                              <a:latin typeface="Cambria Math" panose="02040503050406030204" pitchFamily="18" charset="0"/>
                            </a:rPr>
                            <m:t>∗</m:t>
                          </m:r>
                        </m:sup>
                      </m:sSubSup>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 </m:t>
                      </m:r>
                      <m:sSubSup>
                        <m:sSubSupPr>
                          <m:ctrlPr>
                            <a:rPr lang="en-US" sz="2200" i="1">
                              <a:latin typeface="Cambria Math" panose="02040503050406030204" pitchFamily="18" charset="0"/>
                            </a:rPr>
                          </m:ctrlPr>
                        </m:sSubSupPr>
                        <m:e>
                          <m:r>
                            <a:rPr lang="en-US" sz="2200" i="1">
                              <a:latin typeface="Cambria Math" panose="02040503050406030204" pitchFamily="18" charset="0"/>
                            </a:rPr>
                            <m:t>𝑥</m:t>
                          </m:r>
                        </m:e>
                        <m:sub>
                          <m:r>
                            <a:rPr lang="en-US" sz="2200" i="1">
                              <a:latin typeface="Cambria Math" panose="02040503050406030204" pitchFamily="18" charset="0"/>
                            </a:rPr>
                            <m:t>2</m:t>
                          </m:r>
                        </m:sub>
                        <m:sup>
                          <m:r>
                            <a:rPr lang="en-US" sz="2200" i="1">
                              <a:latin typeface="Cambria Math" panose="02040503050406030204" pitchFamily="18" charset="0"/>
                            </a:rPr>
                            <m:t>∗</m:t>
                          </m:r>
                        </m:sup>
                      </m:sSubSup>
                      <m:r>
                        <a:rPr lang="en-US" sz="2200" i="1">
                          <a:latin typeface="Cambria Math" panose="02040503050406030204" pitchFamily="18" charset="0"/>
                        </a:rPr>
                        <m:t>=60−</m:t>
                      </m:r>
                      <m:r>
                        <m:rPr>
                          <m:sty m:val="p"/>
                        </m:rPr>
                        <a:rPr lang="en-US" sz="2200">
                          <a:latin typeface="Cambria Math" panose="02040503050406030204" pitchFamily="18" charset="0"/>
                        </a:rPr>
                        <m:t>Δ</m:t>
                      </m:r>
                      <m:r>
                        <a:rPr lang="en-US" sz="2200" i="1">
                          <a:latin typeface="Cambria Math" panose="02040503050406030204" pitchFamily="18" charset="0"/>
                        </a:rPr>
                        <m:t>, </m:t>
                      </m:r>
                      <m:sSup>
                        <m:sSupPr>
                          <m:ctrlPr>
                            <a:rPr lang="en-US" sz="2200" i="1">
                              <a:latin typeface="Cambria Math" panose="02040503050406030204" pitchFamily="18" charset="0"/>
                            </a:rPr>
                          </m:ctrlPr>
                        </m:sSupPr>
                        <m:e>
                          <m:r>
                            <a:rPr lang="en-US" sz="2200" i="1">
                              <a:latin typeface="Cambria Math" panose="02040503050406030204" pitchFamily="18" charset="0"/>
                            </a:rPr>
                            <m:t>𝑧</m:t>
                          </m:r>
                        </m:e>
                        <m:sup>
                          <m:r>
                            <a:rPr lang="en-US" sz="2200" i="1">
                              <a:latin typeface="Cambria Math" panose="02040503050406030204" pitchFamily="18" charset="0"/>
                            </a:rPr>
                            <m:t>∗</m:t>
                          </m:r>
                        </m:sup>
                      </m:sSup>
                      <m:r>
                        <a:rPr lang="en-US" sz="2200" i="1">
                          <a:latin typeface="Cambria Math" panose="02040503050406030204" pitchFamily="18" charset="0"/>
                        </a:rPr>
                        <m:t>=180+</m:t>
                      </m:r>
                      <m:r>
                        <m:rPr>
                          <m:sty m:val="p"/>
                        </m:rPr>
                        <a:rPr lang="en-US" sz="2200">
                          <a:latin typeface="Cambria Math" panose="02040503050406030204" pitchFamily="18" charset="0"/>
                        </a:rPr>
                        <m:t>Δ</m:t>
                      </m:r>
                    </m:oMath>
                  </m:oMathPara>
                </a14:m>
                <a:endParaRPr lang="en-US" sz="2200" dirty="0"/>
              </a:p>
              <a:p>
                <a:pPr marL="114300" indent="0">
                  <a:buNone/>
                </a:pPr>
                <a:r>
                  <a:rPr lang="en-US" sz="2200" dirty="0"/>
                  <a:t>is valid only if </a:t>
                </a:r>
                <a14:m>
                  <m:oMath xmlns:m="http://schemas.openxmlformats.org/officeDocument/2006/math">
                    <m:r>
                      <m:rPr>
                        <m:sty m:val="p"/>
                      </m:rPr>
                      <a:rPr lang="en-US" sz="2200">
                        <a:latin typeface="Cambria Math" panose="02040503050406030204" pitchFamily="18" charset="0"/>
                      </a:rPr>
                      <m:t>Δ</m:t>
                    </m:r>
                    <m:r>
                      <a:rPr lang="en-US" sz="2200" b="0" i="1" smtClean="0">
                        <a:latin typeface="Cambria Math" panose="02040503050406030204" pitchFamily="18" charset="0"/>
                      </a:rPr>
                      <m:t>≥−</m:t>
                    </m:r>
                    <m:r>
                      <a:rPr lang="en-US" sz="2200">
                        <a:latin typeface="Cambria Math" panose="02040503050406030204" pitchFamily="18" charset="0"/>
                      </a:rPr>
                      <m:t>20.</m:t>
                    </m:r>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48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39" name="Straight Connector 38">
            <a:extLst>
              <a:ext uri="{FF2B5EF4-FFF2-40B4-BE49-F238E27FC236}">
                <a16:creationId xmlns:a16="http://schemas.microsoft.com/office/drawing/2014/main" id="{29826C73-B430-4C3E-87AD-311E89B97057}"/>
              </a:ext>
            </a:extLst>
          </p:cNvPr>
          <p:cNvCxnSpPr/>
          <p:nvPr/>
        </p:nvCxnSpPr>
        <p:spPr>
          <a:xfrm>
            <a:off x="802539" y="2618705"/>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079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C2385D2-8B37-44E3-9629-D119C764A602}"/>
              </a:ext>
            </a:extLst>
          </p:cNvPr>
          <p:cNvGrpSpPr/>
          <p:nvPr/>
        </p:nvGrpSpPr>
        <p:grpSpPr>
          <a:xfrm>
            <a:off x="838200" y="1387354"/>
            <a:ext cx="4459287" cy="4968996"/>
            <a:chOff x="838200" y="1387354"/>
            <a:chExt cx="4459287" cy="4968996"/>
          </a:xfrm>
          <a:solidFill>
            <a:schemeClr val="bg1">
              <a:lumMod val="75000"/>
            </a:schemeClr>
          </a:solidFill>
        </p:grpSpPr>
        <p:grpSp>
          <p:nvGrpSpPr>
            <p:cNvPr id="21" name="Group 20">
              <a:extLst>
                <a:ext uri="{FF2B5EF4-FFF2-40B4-BE49-F238E27FC236}">
                  <a16:creationId xmlns:a16="http://schemas.microsoft.com/office/drawing/2014/main" id="{184C752E-15D0-4048-AAE0-109219A751C5}"/>
                </a:ext>
              </a:extLst>
            </p:cNvPr>
            <p:cNvGrpSpPr/>
            <p:nvPr/>
          </p:nvGrpSpPr>
          <p:grpSpPr>
            <a:xfrm>
              <a:off x="838200" y="1387354"/>
              <a:ext cx="4459287" cy="4968996"/>
              <a:chOff x="4260850" y="1387354"/>
              <a:chExt cx="4459287" cy="4968996"/>
            </a:xfrm>
            <a:grpFill/>
          </p:grpSpPr>
          <p:grpSp>
            <p:nvGrpSpPr>
              <p:cNvPr id="23" name="Group 22">
                <a:extLst>
                  <a:ext uri="{FF2B5EF4-FFF2-40B4-BE49-F238E27FC236}">
                    <a16:creationId xmlns:a16="http://schemas.microsoft.com/office/drawing/2014/main" id="{CABD3FED-914A-483F-A82B-30C42ACBCB3B}"/>
                  </a:ext>
                </a:extLst>
              </p:cNvPr>
              <p:cNvGrpSpPr/>
              <p:nvPr/>
            </p:nvGrpSpPr>
            <p:grpSpPr>
              <a:xfrm>
                <a:off x="4260850" y="1387354"/>
                <a:ext cx="4459287" cy="4961058"/>
                <a:chOff x="4260850" y="1387354"/>
                <a:chExt cx="4459287" cy="4961058"/>
              </a:xfrm>
              <a:grpFill/>
            </p:grpSpPr>
            <p:pic>
              <p:nvPicPr>
                <p:cNvPr id="25" name="Picture 24">
                  <a:extLst>
                    <a:ext uri="{FF2B5EF4-FFF2-40B4-BE49-F238E27FC236}">
                      <a16:creationId xmlns:a16="http://schemas.microsoft.com/office/drawing/2014/main" id="{4CD472F6-DA00-484C-8800-0C14E6A3475B}"/>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26" name="Straight Connector 25">
                  <a:extLst>
                    <a:ext uri="{FF2B5EF4-FFF2-40B4-BE49-F238E27FC236}">
                      <a16:creationId xmlns:a16="http://schemas.microsoft.com/office/drawing/2014/main" id="{65872EF2-B26E-4437-9BC3-A5D9EC7F8018}"/>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EA8C7E41-DE11-418A-871E-7517FAA0B361}"/>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519DF132-392C-4BD7-A357-EADBA13679AB}"/>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Freeform: Shape 21">
              <a:extLst>
                <a:ext uri="{FF2B5EF4-FFF2-40B4-BE49-F238E27FC236}">
                  <a16:creationId xmlns:a16="http://schemas.microsoft.com/office/drawing/2014/main" id="{D5619EB4-3BE7-42DD-B148-5FC2D269AC4D}"/>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457200" indent="-342900"/>
                <a:r>
                  <a:rPr lang="en-US" sz="2200" dirty="0"/>
                  <a:t>We can conclude that as long as </a:t>
                </a:r>
              </a:p>
              <a:p>
                <a:pPr marL="114300" indent="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−20≤</m:t>
                      </m:r>
                      <m:r>
                        <m:rPr>
                          <m:sty m:val="p"/>
                        </m:rPr>
                        <a:rPr lang="en-US" sz="2200">
                          <a:latin typeface="Cambria Math" panose="02040503050406030204" pitchFamily="18" charset="0"/>
                        </a:rPr>
                        <m:t>Δ</m:t>
                      </m:r>
                      <m:r>
                        <a:rPr lang="en-US" sz="2200" i="1">
                          <a:latin typeface="Cambria Math" panose="02040503050406030204" pitchFamily="18" charset="0"/>
                        </a:rPr>
                        <m:t>≤20</m:t>
                      </m:r>
                    </m:oMath>
                  </m:oMathPara>
                </a14:m>
                <a:endParaRPr lang="en-US" sz="2200" dirty="0"/>
              </a:p>
              <a:p>
                <a:pPr marL="114300" indent="0">
                  <a:buNone/>
                </a:pPr>
                <a:r>
                  <a:rPr lang="en-US" sz="2200" dirty="0"/>
                  <a:t>We have the following optimal solution</a:t>
                </a:r>
              </a:p>
              <a:p>
                <a:pPr marL="114300" indent="0" algn="r">
                  <a:buNone/>
                </a:pPr>
                <a14:m>
                  <m:oMath xmlns:m="http://schemas.openxmlformats.org/officeDocument/2006/math">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up>
                        <m:r>
                          <a:rPr lang="en-US" sz="2200" b="0" i="1" smtClean="0">
                            <a:latin typeface="Cambria Math" panose="02040503050406030204" pitchFamily="18" charset="0"/>
                          </a:rPr>
                          <m:t>∗</m:t>
                        </m:r>
                      </m:sup>
                    </m:sSubSup>
                    <m:r>
                      <a:rPr lang="en-US" sz="2200" b="0" i="1" smtClean="0">
                        <a:latin typeface="Cambria Math" panose="02040503050406030204" pitchFamily="18" charset="0"/>
                      </a:rPr>
                      <m:t>=20+</m:t>
                    </m:r>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 </m:t>
                    </m:r>
                    <m:sSubSup>
                      <m:sSubSupPr>
                        <m:ctrlPr>
                          <a:rPr lang="en-US" sz="2200" b="0" i="1" smtClean="0">
                            <a:latin typeface="Cambria Math" panose="02040503050406030204" pitchFamily="18" charset="0"/>
                          </a:rPr>
                        </m:ctrlPr>
                      </m:sSubSup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up>
                        <m:r>
                          <a:rPr lang="en-US" sz="2200" b="0" i="1" smtClean="0">
                            <a:latin typeface="Cambria Math" panose="02040503050406030204" pitchFamily="18" charset="0"/>
                          </a:rPr>
                          <m:t>∗</m:t>
                        </m:r>
                      </m:sup>
                    </m:sSubSup>
                    <m:r>
                      <a:rPr lang="en-US" sz="2200" b="0" i="1" smtClean="0">
                        <a:latin typeface="Cambria Math" panose="02040503050406030204" pitchFamily="18" charset="0"/>
                      </a:rPr>
                      <m:t>=60−</m:t>
                    </m:r>
                    <m:r>
                      <m:rPr>
                        <m:sty m:val="p"/>
                      </m:rPr>
                      <a:rPr lang="en-US" sz="2200" b="0" i="0" smtClean="0">
                        <a:latin typeface="Cambria Math" panose="02040503050406030204" pitchFamily="18" charset="0"/>
                      </a:rPr>
                      <m:t>Δ</m:t>
                    </m:r>
                    <m:r>
                      <a:rPr lang="en-US" sz="2200" b="0" i="1" smtClean="0">
                        <a:latin typeface="Cambria Math" panose="02040503050406030204" pitchFamily="18" charset="0"/>
                      </a:rPr>
                      <m:t>, </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𝑧</m:t>
                        </m:r>
                      </m:e>
                      <m:sup>
                        <m:r>
                          <a:rPr lang="en-US" sz="2200" b="0" i="1" smtClean="0">
                            <a:latin typeface="Cambria Math" panose="02040503050406030204" pitchFamily="18" charset="0"/>
                          </a:rPr>
                          <m:t>∗</m:t>
                        </m:r>
                      </m:sup>
                    </m:sSup>
                    <m:r>
                      <a:rPr lang="en-US" sz="2200" b="0" i="1" smtClean="0">
                        <a:latin typeface="Cambria Math" panose="02040503050406030204" pitchFamily="18" charset="0"/>
                      </a:rPr>
                      <m:t>=180+</m:t>
                    </m:r>
                    <m:r>
                      <m:rPr>
                        <m:sty m:val="p"/>
                      </m:rPr>
                      <a:rPr lang="en-US" sz="2200" b="0" i="0" smtClean="0">
                        <a:latin typeface="Cambria Math" panose="02040503050406030204" pitchFamily="18" charset="0"/>
                      </a:rPr>
                      <m:t>Δ</m:t>
                    </m:r>
                  </m:oMath>
                </a14:m>
                <a:r>
                  <a:rPr lang="en-US" sz="2200" dirty="0"/>
                  <a:t> </a:t>
                </a:r>
                <a:endParaRPr lang="tr-TR"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61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6" name="Straight Connector 5"/>
          <p:cNvCxnSpPr/>
          <p:nvPr/>
        </p:nvCxnSpPr>
        <p:spPr>
          <a:xfrm>
            <a:off x="692742" y="1579776"/>
            <a:ext cx="2306574" cy="4730855"/>
          </a:xfrm>
          <a:prstGeom prst="line">
            <a:avLst/>
          </a:prstGeom>
          <a:ln w="38100">
            <a:solidFill>
              <a:schemeClr val="accent6">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40E3A17-E167-4019-BC81-795A72611626}"/>
              </a:ext>
            </a:extLst>
          </p:cNvPr>
          <p:cNvCxnSpPr/>
          <p:nvPr/>
        </p:nvCxnSpPr>
        <p:spPr>
          <a:xfrm>
            <a:off x="1475518" y="1617557"/>
            <a:ext cx="2306574" cy="4730855"/>
          </a:xfrm>
          <a:prstGeom prst="line">
            <a:avLst/>
          </a:prstGeom>
          <a:ln w="38100">
            <a:solidFill>
              <a:schemeClr val="accent6">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5B04F95-FF2A-418D-8D4B-577F3373A6D0}"/>
              </a:ext>
            </a:extLst>
          </p:cNvPr>
          <p:cNvCxnSpPr/>
          <p:nvPr/>
        </p:nvCxnSpPr>
        <p:spPr>
          <a:xfrm>
            <a:off x="1410859" y="2592618"/>
            <a:ext cx="1627632" cy="245697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98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E778B20-FFD8-40BF-B6EF-8229C3CBDAD8}"/>
              </a:ext>
            </a:extLst>
          </p:cNvPr>
          <p:cNvGrpSpPr/>
          <p:nvPr/>
        </p:nvGrpSpPr>
        <p:grpSpPr>
          <a:xfrm>
            <a:off x="838200" y="1387354"/>
            <a:ext cx="4459287" cy="4968996"/>
            <a:chOff x="838200" y="1387354"/>
            <a:chExt cx="4459287" cy="4968996"/>
          </a:xfrm>
          <a:solidFill>
            <a:schemeClr val="bg1">
              <a:lumMod val="75000"/>
            </a:schemeClr>
          </a:solidFill>
        </p:grpSpPr>
        <p:grpSp>
          <p:nvGrpSpPr>
            <p:cNvPr id="11" name="Group 10">
              <a:extLst>
                <a:ext uri="{FF2B5EF4-FFF2-40B4-BE49-F238E27FC236}">
                  <a16:creationId xmlns:a16="http://schemas.microsoft.com/office/drawing/2014/main" id="{CDFD93A5-38B7-416C-B150-04B39B661AED}"/>
                </a:ext>
              </a:extLst>
            </p:cNvPr>
            <p:cNvGrpSpPr/>
            <p:nvPr/>
          </p:nvGrpSpPr>
          <p:grpSpPr>
            <a:xfrm>
              <a:off x="838200" y="1387354"/>
              <a:ext cx="4459287" cy="4968996"/>
              <a:chOff x="4260850" y="1387354"/>
              <a:chExt cx="4459287" cy="4968996"/>
            </a:xfrm>
            <a:grpFill/>
          </p:grpSpPr>
          <p:grpSp>
            <p:nvGrpSpPr>
              <p:cNvPr id="13" name="Group 12">
                <a:extLst>
                  <a:ext uri="{FF2B5EF4-FFF2-40B4-BE49-F238E27FC236}">
                    <a16:creationId xmlns:a16="http://schemas.microsoft.com/office/drawing/2014/main" id="{BBB60CE7-C805-45E0-9AF2-ACBA4D46E4F8}"/>
                  </a:ext>
                </a:extLst>
              </p:cNvPr>
              <p:cNvGrpSpPr/>
              <p:nvPr/>
            </p:nvGrpSpPr>
            <p:grpSpPr>
              <a:xfrm>
                <a:off x="4260850" y="1387354"/>
                <a:ext cx="4459287" cy="4961058"/>
                <a:chOff x="4260850" y="1387354"/>
                <a:chExt cx="4459287" cy="4961058"/>
              </a:xfrm>
              <a:grpFill/>
            </p:grpSpPr>
            <p:pic>
              <p:nvPicPr>
                <p:cNvPr id="16" name="Picture 15">
                  <a:extLst>
                    <a:ext uri="{FF2B5EF4-FFF2-40B4-BE49-F238E27FC236}">
                      <a16:creationId xmlns:a16="http://schemas.microsoft.com/office/drawing/2014/main" id="{4D54E571-8E8C-4323-8376-EB984420841F}"/>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17" name="Straight Connector 16">
                  <a:extLst>
                    <a:ext uri="{FF2B5EF4-FFF2-40B4-BE49-F238E27FC236}">
                      <a16:creationId xmlns:a16="http://schemas.microsoft.com/office/drawing/2014/main" id="{6CA8A43D-9973-45A0-B21E-45656758106B}"/>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B1A2E44-310F-4B2B-8102-14C0250D3874}"/>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A363FCA2-5C10-49A9-84F5-25CAC7E48E43}"/>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9B5E7786-61CB-4AAC-AD7F-006901F76606}"/>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r>
              <a:rPr lang="tr-TR" sz="2200" dirty="0"/>
              <a:t>What happens if the right hand side of the carpentry hours constraint changes and becomes 90?</a:t>
            </a:r>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003935" y="2046720"/>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1155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E778B20-FFD8-40BF-B6EF-8229C3CBDAD8}"/>
              </a:ext>
            </a:extLst>
          </p:cNvPr>
          <p:cNvGrpSpPr/>
          <p:nvPr/>
        </p:nvGrpSpPr>
        <p:grpSpPr>
          <a:xfrm>
            <a:off x="838200" y="1387354"/>
            <a:ext cx="4459287" cy="4968996"/>
            <a:chOff x="838200" y="1387354"/>
            <a:chExt cx="4459287" cy="4968996"/>
          </a:xfrm>
          <a:solidFill>
            <a:schemeClr val="bg1">
              <a:lumMod val="75000"/>
            </a:schemeClr>
          </a:solidFill>
        </p:grpSpPr>
        <p:grpSp>
          <p:nvGrpSpPr>
            <p:cNvPr id="11" name="Group 10">
              <a:extLst>
                <a:ext uri="{FF2B5EF4-FFF2-40B4-BE49-F238E27FC236}">
                  <a16:creationId xmlns:a16="http://schemas.microsoft.com/office/drawing/2014/main" id="{CDFD93A5-38B7-416C-B150-04B39B661AED}"/>
                </a:ext>
              </a:extLst>
            </p:cNvPr>
            <p:cNvGrpSpPr/>
            <p:nvPr/>
          </p:nvGrpSpPr>
          <p:grpSpPr>
            <a:xfrm>
              <a:off x="838200" y="1387354"/>
              <a:ext cx="4459287" cy="4968996"/>
              <a:chOff x="4260850" y="1387354"/>
              <a:chExt cx="4459287" cy="4968996"/>
            </a:xfrm>
            <a:grpFill/>
          </p:grpSpPr>
          <p:grpSp>
            <p:nvGrpSpPr>
              <p:cNvPr id="13" name="Group 12">
                <a:extLst>
                  <a:ext uri="{FF2B5EF4-FFF2-40B4-BE49-F238E27FC236}">
                    <a16:creationId xmlns:a16="http://schemas.microsoft.com/office/drawing/2014/main" id="{BBB60CE7-C805-45E0-9AF2-ACBA4D46E4F8}"/>
                  </a:ext>
                </a:extLst>
              </p:cNvPr>
              <p:cNvGrpSpPr/>
              <p:nvPr/>
            </p:nvGrpSpPr>
            <p:grpSpPr>
              <a:xfrm>
                <a:off x="4260850" y="1387354"/>
                <a:ext cx="4459287" cy="4961058"/>
                <a:chOff x="4260850" y="1387354"/>
                <a:chExt cx="4459287" cy="4961058"/>
              </a:xfrm>
              <a:grpFill/>
            </p:grpSpPr>
            <p:pic>
              <p:nvPicPr>
                <p:cNvPr id="16" name="Picture 15">
                  <a:extLst>
                    <a:ext uri="{FF2B5EF4-FFF2-40B4-BE49-F238E27FC236}">
                      <a16:creationId xmlns:a16="http://schemas.microsoft.com/office/drawing/2014/main" id="{4D54E571-8E8C-4323-8376-EB984420841F}"/>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17" name="Straight Connector 16">
                  <a:extLst>
                    <a:ext uri="{FF2B5EF4-FFF2-40B4-BE49-F238E27FC236}">
                      <a16:creationId xmlns:a16="http://schemas.microsoft.com/office/drawing/2014/main" id="{6CA8A43D-9973-45A0-B21E-45656758106B}"/>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B1A2E44-310F-4B2B-8102-14C0250D3874}"/>
                    </a:ext>
                  </a:extLst>
                </p:cNvPr>
                <p:cNvCxnSpPr>
                  <a:cxnSpLocks/>
                </p:cNvCxnSpPr>
                <p:nvPr/>
              </p:nvCxnSpPr>
              <p:spPr>
                <a:xfrm>
                  <a:off x="4571091" y="2263775"/>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A363FCA2-5C10-49A9-84F5-25CAC7E48E43}"/>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9B5E7786-61CB-4AAC-AD7F-006901F76606}"/>
                </a:ext>
              </a:extLst>
            </p:cNvPr>
            <p:cNvSpPr/>
            <p:nvPr/>
          </p:nvSpPr>
          <p:spPr>
            <a:xfrm>
              <a:off x="1325880" y="2451100"/>
              <a:ext cx="1493520" cy="348488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0 w 1493520"/>
                <a:gd name="connsiteY0" fmla="*/ 3423920 h 3454400"/>
                <a:gd name="connsiteX1" fmla="*/ 25400 w 1493520"/>
                <a:gd name="connsiteY1" fmla="*/ 0 h 3454400"/>
                <a:gd name="connsiteX2" fmla="*/ 723900 w 1493520"/>
                <a:gd name="connsiteY2" fmla="*/ 1092200 h 3454400"/>
                <a:gd name="connsiteX3" fmla="*/ 1493520 w 1493520"/>
                <a:gd name="connsiteY3" fmla="*/ 2692400 h 3454400"/>
                <a:gd name="connsiteX4" fmla="*/ 1478280 w 1493520"/>
                <a:gd name="connsiteY4" fmla="*/ 3454400 h 3454400"/>
                <a:gd name="connsiteX5" fmla="*/ 0 w 1493520"/>
                <a:gd name="connsiteY5" fmla="*/ 3423920 h 3454400"/>
                <a:gd name="connsiteX0" fmla="*/ 0 w 1493520"/>
                <a:gd name="connsiteY0" fmla="*/ 3423920 h 3454400"/>
                <a:gd name="connsiteX1" fmla="*/ 25400 w 1493520"/>
                <a:gd name="connsiteY1" fmla="*/ 0 h 3454400"/>
                <a:gd name="connsiteX2" fmla="*/ 358140 w 1493520"/>
                <a:gd name="connsiteY2" fmla="*/ 360680 h 3454400"/>
                <a:gd name="connsiteX3" fmla="*/ 1493520 w 1493520"/>
                <a:gd name="connsiteY3" fmla="*/ 2692400 h 3454400"/>
                <a:gd name="connsiteX4" fmla="*/ 1478280 w 1493520"/>
                <a:gd name="connsiteY4" fmla="*/ 3454400 h 3454400"/>
                <a:gd name="connsiteX5" fmla="*/ 0 w 1493520"/>
                <a:gd name="connsiteY5" fmla="*/ 3423920 h 3454400"/>
                <a:gd name="connsiteX0" fmla="*/ 0 w 1493520"/>
                <a:gd name="connsiteY0" fmla="*/ 3454400 h 3484880"/>
                <a:gd name="connsiteX1" fmla="*/ 5080 w 1493520"/>
                <a:gd name="connsiteY1" fmla="*/ 0 h 3484880"/>
                <a:gd name="connsiteX2" fmla="*/ 358140 w 1493520"/>
                <a:gd name="connsiteY2" fmla="*/ 391160 h 3484880"/>
                <a:gd name="connsiteX3" fmla="*/ 1493520 w 1493520"/>
                <a:gd name="connsiteY3" fmla="*/ 2722880 h 3484880"/>
                <a:gd name="connsiteX4" fmla="*/ 1478280 w 1493520"/>
                <a:gd name="connsiteY4" fmla="*/ 3484880 h 3484880"/>
                <a:gd name="connsiteX5" fmla="*/ 0 w 1493520"/>
                <a:gd name="connsiteY5" fmla="*/ 3454400 h 348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3520" h="3484880">
                  <a:moveTo>
                    <a:pt x="0" y="3454400"/>
                  </a:moveTo>
                  <a:cubicBezTo>
                    <a:pt x="1693" y="2302933"/>
                    <a:pt x="3387" y="1151467"/>
                    <a:pt x="5080" y="0"/>
                  </a:cubicBezTo>
                  <a:lnTo>
                    <a:pt x="358140" y="391160"/>
                  </a:lnTo>
                  <a:lnTo>
                    <a:pt x="1493520" y="2722880"/>
                  </a:lnTo>
                  <a:lnTo>
                    <a:pt x="1478280" y="3484880"/>
                  </a:lnTo>
                  <a:lnTo>
                    <a:pt x="0" y="345440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r>
              <a:rPr lang="tr-TR" sz="2200" dirty="0"/>
              <a:t>What happens if the right hand side of the carpentry hours constraint changes and becomes 90?</a:t>
            </a:r>
            <a:endParaRPr lang="en-US" sz="2200" dirty="0"/>
          </a:p>
          <a:p>
            <a:pPr marL="571500" indent="-457200"/>
            <a:r>
              <a:rPr lang="tr-TR" sz="2200" dirty="0"/>
              <a:t>The feasible region changes again and the optimal solution becomes (10,80) with an optimal value of 190.</a:t>
            </a:r>
          </a:p>
          <a:p>
            <a:pPr marL="571500" indent="-457200"/>
            <a:r>
              <a:rPr lang="tr-TR" sz="2200" dirty="0"/>
              <a:t>The optimal value increased by 10 when we increase right hand side of the finishing constraint</a:t>
            </a:r>
            <a:r>
              <a:rPr lang="tr-TR" sz="2400" dirty="0"/>
              <a:t>.</a:t>
            </a:r>
            <a:endParaRPr lang="en-US" sz="2400" dirty="0"/>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148441" y="2028917"/>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284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E778B20-FFD8-40BF-B6EF-8229C3CBDAD8}"/>
              </a:ext>
            </a:extLst>
          </p:cNvPr>
          <p:cNvGrpSpPr/>
          <p:nvPr/>
        </p:nvGrpSpPr>
        <p:grpSpPr>
          <a:xfrm>
            <a:off x="838200" y="1387354"/>
            <a:ext cx="4459287" cy="4968996"/>
            <a:chOff x="838200" y="1387354"/>
            <a:chExt cx="4459287" cy="4968996"/>
          </a:xfrm>
          <a:solidFill>
            <a:schemeClr val="bg1">
              <a:lumMod val="75000"/>
            </a:schemeClr>
          </a:solidFill>
        </p:grpSpPr>
        <p:grpSp>
          <p:nvGrpSpPr>
            <p:cNvPr id="11" name="Group 10">
              <a:extLst>
                <a:ext uri="{FF2B5EF4-FFF2-40B4-BE49-F238E27FC236}">
                  <a16:creationId xmlns:a16="http://schemas.microsoft.com/office/drawing/2014/main" id="{CDFD93A5-38B7-416C-B150-04B39B661AED}"/>
                </a:ext>
              </a:extLst>
            </p:cNvPr>
            <p:cNvGrpSpPr/>
            <p:nvPr/>
          </p:nvGrpSpPr>
          <p:grpSpPr>
            <a:xfrm>
              <a:off x="838200" y="1387354"/>
              <a:ext cx="4459287" cy="4968996"/>
              <a:chOff x="4260850" y="1387354"/>
              <a:chExt cx="4459287" cy="4968996"/>
            </a:xfrm>
            <a:grpFill/>
          </p:grpSpPr>
          <p:grpSp>
            <p:nvGrpSpPr>
              <p:cNvPr id="13" name="Group 12">
                <a:extLst>
                  <a:ext uri="{FF2B5EF4-FFF2-40B4-BE49-F238E27FC236}">
                    <a16:creationId xmlns:a16="http://schemas.microsoft.com/office/drawing/2014/main" id="{BBB60CE7-C805-45E0-9AF2-ACBA4D46E4F8}"/>
                  </a:ext>
                </a:extLst>
              </p:cNvPr>
              <p:cNvGrpSpPr/>
              <p:nvPr/>
            </p:nvGrpSpPr>
            <p:grpSpPr>
              <a:xfrm>
                <a:off x="4260850" y="1387354"/>
                <a:ext cx="4459287" cy="4961058"/>
                <a:chOff x="4260850" y="1387354"/>
                <a:chExt cx="4459287" cy="4961058"/>
              </a:xfrm>
              <a:grpFill/>
            </p:grpSpPr>
            <p:pic>
              <p:nvPicPr>
                <p:cNvPr id="16" name="Picture 15">
                  <a:extLst>
                    <a:ext uri="{FF2B5EF4-FFF2-40B4-BE49-F238E27FC236}">
                      <a16:creationId xmlns:a16="http://schemas.microsoft.com/office/drawing/2014/main" id="{4D54E571-8E8C-4323-8376-EB984420841F}"/>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17" name="Straight Connector 16">
                  <a:extLst>
                    <a:ext uri="{FF2B5EF4-FFF2-40B4-BE49-F238E27FC236}">
                      <a16:creationId xmlns:a16="http://schemas.microsoft.com/office/drawing/2014/main" id="{6CA8A43D-9973-45A0-B21E-45656758106B}"/>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B1A2E44-310F-4B2B-8102-14C0250D3874}"/>
                    </a:ext>
                  </a:extLst>
                </p:cNvPr>
                <p:cNvCxnSpPr>
                  <a:cxnSpLocks/>
                </p:cNvCxnSpPr>
                <p:nvPr/>
              </p:nvCxnSpPr>
              <p:spPr>
                <a:xfrm>
                  <a:off x="4571091" y="2263775"/>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A363FCA2-5C10-49A9-84F5-25CAC7E48E43}"/>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9B5E7786-61CB-4AAC-AD7F-006901F76606}"/>
                </a:ext>
              </a:extLst>
            </p:cNvPr>
            <p:cNvSpPr/>
            <p:nvPr/>
          </p:nvSpPr>
          <p:spPr>
            <a:xfrm>
              <a:off x="1325880" y="2451100"/>
              <a:ext cx="1493520" cy="348488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0 w 1493520"/>
                <a:gd name="connsiteY0" fmla="*/ 3423920 h 3454400"/>
                <a:gd name="connsiteX1" fmla="*/ 25400 w 1493520"/>
                <a:gd name="connsiteY1" fmla="*/ 0 h 3454400"/>
                <a:gd name="connsiteX2" fmla="*/ 723900 w 1493520"/>
                <a:gd name="connsiteY2" fmla="*/ 1092200 h 3454400"/>
                <a:gd name="connsiteX3" fmla="*/ 1493520 w 1493520"/>
                <a:gd name="connsiteY3" fmla="*/ 2692400 h 3454400"/>
                <a:gd name="connsiteX4" fmla="*/ 1478280 w 1493520"/>
                <a:gd name="connsiteY4" fmla="*/ 3454400 h 3454400"/>
                <a:gd name="connsiteX5" fmla="*/ 0 w 1493520"/>
                <a:gd name="connsiteY5" fmla="*/ 3423920 h 3454400"/>
                <a:gd name="connsiteX0" fmla="*/ 0 w 1493520"/>
                <a:gd name="connsiteY0" fmla="*/ 3423920 h 3454400"/>
                <a:gd name="connsiteX1" fmla="*/ 25400 w 1493520"/>
                <a:gd name="connsiteY1" fmla="*/ 0 h 3454400"/>
                <a:gd name="connsiteX2" fmla="*/ 358140 w 1493520"/>
                <a:gd name="connsiteY2" fmla="*/ 360680 h 3454400"/>
                <a:gd name="connsiteX3" fmla="*/ 1493520 w 1493520"/>
                <a:gd name="connsiteY3" fmla="*/ 2692400 h 3454400"/>
                <a:gd name="connsiteX4" fmla="*/ 1478280 w 1493520"/>
                <a:gd name="connsiteY4" fmla="*/ 3454400 h 3454400"/>
                <a:gd name="connsiteX5" fmla="*/ 0 w 1493520"/>
                <a:gd name="connsiteY5" fmla="*/ 3423920 h 3454400"/>
                <a:gd name="connsiteX0" fmla="*/ 0 w 1493520"/>
                <a:gd name="connsiteY0" fmla="*/ 3454400 h 3484880"/>
                <a:gd name="connsiteX1" fmla="*/ 5080 w 1493520"/>
                <a:gd name="connsiteY1" fmla="*/ 0 h 3484880"/>
                <a:gd name="connsiteX2" fmla="*/ 358140 w 1493520"/>
                <a:gd name="connsiteY2" fmla="*/ 391160 h 3484880"/>
                <a:gd name="connsiteX3" fmla="*/ 1493520 w 1493520"/>
                <a:gd name="connsiteY3" fmla="*/ 2722880 h 3484880"/>
                <a:gd name="connsiteX4" fmla="*/ 1478280 w 1493520"/>
                <a:gd name="connsiteY4" fmla="*/ 3484880 h 3484880"/>
                <a:gd name="connsiteX5" fmla="*/ 0 w 1493520"/>
                <a:gd name="connsiteY5" fmla="*/ 3454400 h 348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3520" h="3484880">
                  <a:moveTo>
                    <a:pt x="0" y="3454400"/>
                  </a:moveTo>
                  <a:cubicBezTo>
                    <a:pt x="1693" y="2302933"/>
                    <a:pt x="3387" y="1151467"/>
                    <a:pt x="5080" y="0"/>
                  </a:cubicBezTo>
                  <a:lnTo>
                    <a:pt x="358140" y="391160"/>
                  </a:lnTo>
                  <a:lnTo>
                    <a:pt x="1493520" y="2722880"/>
                  </a:lnTo>
                  <a:lnTo>
                    <a:pt x="1478280" y="3484880"/>
                  </a:lnTo>
                  <a:lnTo>
                    <a:pt x="0" y="345440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571500" indent="-457200"/>
                <a:r>
                  <a:rPr lang="en-US" sz="2400" dirty="0"/>
                  <a:t>The equation system that provides the optimum solution is</a:t>
                </a:r>
              </a:p>
              <a:p>
                <a:pPr marL="11430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m:rPr>
                          <m:aln/>
                        </m:rPr>
                        <a:rPr lang="en-US" sz="2400" b="0" i="1" smtClean="0">
                          <a:latin typeface="Cambria Math" panose="02040503050406030204" pitchFamily="18" charset="0"/>
                        </a:rPr>
                        <m:t>=</m:t>
                      </m:r>
                      <m:r>
                        <a:rPr lang="en-US" sz="2400" b="0" i="1" smtClean="0">
                          <a:latin typeface="Cambria Math" panose="02040503050406030204" pitchFamily="18" charset="0"/>
                        </a:rPr>
                        <m:t>100</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m:rPr>
                          <m:aln/>
                        </m:rPr>
                        <a:rPr lang="en-US" sz="2400" b="0" i="1" smtClean="0">
                          <a:latin typeface="Cambria Math" panose="02040503050406030204" pitchFamily="18" charset="0"/>
                        </a:rPr>
                        <m:t>=</m:t>
                      </m:r>
                      <m:r>
                        <a:rPr lang="en-US" sz="2400" b="0" i="1" smtClean="0">
                          <a:latin typeface="Cambria Math" panose="02040503050406030204" pitchFamily="18" charset="0"/>
                        </a:rPr>
                        <m:t>80+</m:t>
                      </m:r>
                      <m:r>
                        <m:rPr>
                          <m:sty m:val="p"/>
                        </m:rPr>
                        <a:rPr lang="en-US" sz="2400" b="0" i="0" smtClean="0">
                          <a:latin typeface="Cambria Math" panose="02040503050406030204" pitchFamily="18" charset="0"/>
                        </a:rPr>
                        <m:t>Δ</m:t>
                      </m:r>
                    </m:oMath>
                  </m:oMathPara>
                </a14:m>
                <a:endParaRPr lang="en-US" sz="2400" dirty="0"/>
              </a:p>
              <a:p>
                <a:pPr marL="457200" indent="-342900"/>
                <a:r>
                  <a:rPr lang="en-US" sz="2400" dirty="0"/>
                  <a:t>So, the solution is</a:t>
                </a:r>
              </a:p>
              <a:p>
                <a:pPr marL="114300" indent="0">
                  <a:buNone/>
                </a:pPr>
                <a14:m>
                  <m:oMathPara xmlns:m="http://schemas.openxmlformats.org/officeDocument/2006/math">
                    <m:oMathParaPr>
                      <m:jc m:val="centerGroup"/>
                    </m:oMathParaPr>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=20−</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 </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=60+2</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 </m:t>
                      </m:r>
                    </m:oMath>
                  </m:oMathPara>
                </a14:m>
                <a:endParaRPr lang="en-US" sz="2400"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=180+</m:t>
                      </m:r>
                      <m:r>
                        <m:rPr>
                          <m:sty m:val="p"/>
                        </m:rPr>
                        <a:rPr lang="en-US" sz="2400" b="0" i="0" smtClean="0">
                          <a:latin typeface="Cambria Math" panose="02040503050406030204" pitchFamily="18" charset="0"/>
                        </a:rPr>
                        <m:t>Δ</m:t>
                      </m:r>
                    </m:oMath>
                  </m:oMathPara>
                </a14:m>
                <a:endParaRPr lang="en-US" sz="2400" dirty="0"/>
              </a:p>
              <a:p>
                <a:pPr marL="457200" indent="-342900"/>
                <a:r>
                  <a:rPr lang="en-US" sz="2400" dirty="0"/>
                  <a:t>Hence the shadow price of having an extra carpentry hour is also 1 dollars.</a:t>
                </a:r>
                <a:endParaRPr lang="tr-TR"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735" r="-292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148441" y="2028917"/>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5394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F6AF5C68-1DD9-422A-8B4E-5B6C504B27AD}"/>
              </a:ext>
            </a:extLst>
          </p:cNvPr>
          <p:cNvGrpSpPr/>
          <p:nvPr/>
        </p:nvGrpSpPr>
        <p:grpSpPr>
          <a:xfrm>
            <a:off x="838200" y="1387354"/>
            <a:ext cx="4459287" cy="4968996"/>
            <a:chOff x="838200" y="1387354"/>
            <a:chExt cx="4459287" cy="4968996"/>
          </a:xfrm>
          <a:solidFill>
            <a:schemeClr val="bg1">
              <a:lumMod val="75000"/>
            </a:schemeClr>
          </a:solidFill>
        </p:grpSpPr>
        <p:grpSp>
          <p:nvGrpSpPr>
            <p:cNvPr id="20" name="Group 19">
              <a:extLst>
                <a:ext uri="{FF2B5EF4-FFF2-40B4-BE49-F238E27FC236}">
                  <a16:creationId xmlns:a16="http://schemas.microsoft.com/office/drawing/2014/main" id="{C811C119-483A-4BD5-BC66-5007CCD8656B}"/>
                </a:ext>
              </a:extLst>
            </p:cNvPr>
            <p:cNvGrpSpPr/>
            <p:nvPr/>
          </p:nvGrpSpPr>
          <p:grpSpPr>
            <a:xfrm>
              <a:off x="838200" y="1387354"/>
              <a:ext cx="4459287" cy="4968996"/>
              <a:chOff x="4260850" y="1387354"/>
              <a:chExt cx="4459287" cy="4968996"/>
            </a:xfrm>
            <a:grpFill/>
          </p:grpSpPr>
          <p:grpSp>
            <p:nvGrpSpPr>
              <p:cNvPr id="22" name="Group 21">
                <a:extLst>
                  <a:ext uri="{FF2B5EF4-FFF2-40B4-BE49-F238E27FC236}">
                    <a16:creationId xmlns:a16="http://schemas.microsoft.com/office/drawing/2014/main" id="{0F15A3CF-A8A0-4408-B55A-4F0827BDB7D1}"/>
                  </a:ext>
                </a:extLst>
              </p:cNvPr>
              <p:cNvGrpSpPr/>
              <p:nvPr/>
            </p:nvGrpSpPr>
            <p:grpSpPr>
              <a:xfrm>
                <a:off x="4260850" y="1387354"/>
                <a:ext cx="4459287" cy="4961058"/>
                <a:chOff x="4260850" y="1387354"/>
                <a:chExt cx="4459287" cy="4961058"/>
              </a:xfrm>
              <a:grpFill/>
            </p:grpSpPr>
            <p:pic>
              <p:nvPicPr>
                <p:cNvPr id="24" name="Picture 23">
                  <a:extLst>
                    <a:ext uri="{FF2B5EF4-FFF2-40B4-BE49-F238E27FC236}">
                      <a16:creationId xmlns:a16="http://schemas.microsoft.com/office/drawing/2014/main" id="{B739A3FA-6851-4D97-AE27-95AF3375DCEA}"/>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25" name="Straight Connector 24">
                  <a:extLst>
                    <a:ext uri="{FF2B5EF4-FFF2-40B4-BE49-F238E27FC236}">
                      <a16:creationId xmlns:a16="http://schemas.microsoft.com/office/drawing/2014/main" id="{3F38C36A-F03A-4BBF-824A-4872617AAED5}"/>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25972EC3-A0E8-437C-8888-2E1B70F267AD}"/>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96B2B40-9F22-4C26-B6E3-0ACF96EDC1D9}"/>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Freeform: Shape 20">
              <a:extLst>
                <a:ext uri="{FF2B5EF4-FFF2-40B4-BE49-F238E27FC236}">
                  <a16:creationId xmlns:a16="http://schemas.microsoft.com/office/drawing/2014/main" id="{1D2CF20E-0509-45EF-9F07-AECE61E95617}"/>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43624" y="1389529"/>
                <a:ext cx="5210175" cy="4921102"/>
              </a:xfrm>
            </p:spPr>
            <p:txBody>
              <a:bodyPr>
                <a:normAutofit/>
              </a:bodyPr>
              <a:lstStyle/>
              <a:p>
                <a:pPr marL="571500" indent="-457200"/>
                <a:r>
                  <a:rPr lang="en-US" sz="2400" dirty="0"/>
                  <a:t>The equation system that provides the optimum solution is</a:t>
                </a:r>
              </a:p>
              <a:p>
                <a:pPr marL="11430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m:rPr>
                          <m:aln/>
                        </m:rPr>
                        <a:rPr lang="en-US" sz="2400" b="0" i="1" smtClean="0">
                          <a:latin typeface="Cambria Math" panose="02040503050406030204" pitchFamily="18" charset="0"/>
                        </a:rPr>
                        <m:t>=</m:t>
                      </m:r>
                      <m:r>
                        <a:rPr lang="en-US" sz="2400" b="0" i="1" smtClean="0">
                          <a:latin typeface="Cambria Math" panose="02040503050406030204" pitchFamily="18" charset="0"/>
                        </a:rPr>
                        <m:t>100</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m:rPr>
                          <m:aln/>
                        </m:rPr>
                        <a:rPr lang="en-US" sz="2400" b="0" i="1" smtClean="0">
                          <a:latin typeface="Cambria Math" panose="02040503050406030204" pitchFamily="18" charset="0"/>
                        </a:rPr>
                        <m:t>=</m:t>
                      </m:r>
                      <m:r>
                        <a:rPr lang="en-US" sz="2400" b="0" i="1" smtClean="0">
                          <a:latin typeface="Cambria Math" panose="02040503050406030204" pitchFamily="18" charset="0"/>
                        </a:rPr>
                        <m:t>80+</m:t>
                      </m:r>
                      <m:r>
                        <m:rPr>
                          <m:sty m:val="p"/>
                        </m:rPr>
                        <a:rPr lang="en-US" sz="2400" b="0" i="0" smtClean="0">
                          <a:latin typeface="Cambria Math" panose="02040503050406030204" pitchFamily="18" charset="0"/>
                        </a:rPr>
                        <m:t>Δ</m:t>
                      </m:r>
                    </m:oMath>
                  </m:oMathPara>
                </a14:m>
                <a:endParaRPr lang="en-US" sz="2400" dirty="0"/>
              </a:p>
              <a:p>
                <a:pPr marL="457200" indent="-342900"/>
                <a:r>
                  <a:rPr lang="en-US" sz="2400" dirty="0"/>
                  <a:t>So, the solution is</a:t>
                </a:r>
              </a:p>
              <a:p>
                <a:pPr marL="114300" indent="0">
                  <a:buNone/>
                </a:pPr>
                <a14:m>
                  <m:oMathPara xmlns:m="http://schemas.openxmlformats.org/officeDocument/2006/math">
                    <m:oMathParaPr>
                      <m:jc m:val="centerGroup"/>
                    </m:oMathParaPr>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=20−</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 </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=60+2</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 </m:t>
                      </m:r>
                    </m:oMath>
                  </m:oMathPara>
                </a14:m>
                <a:endParaRPr lang="en-US" sz="2400" b="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=180+</m:t>
                      </m:r>
                      <m:r>
                        <m:rPr>
                          <m:sty m:val="p"/>
                        </m:rPr>
                        <a:rPr lang="en-US" sz="2400" b="0" i="0" smtClean="0">
                          <a:latin typeface="Cambria Math" panose="02040503050406030204" pitchFamily="18" charset="0"/>
                        </a:rPr>
                        <m:t>Δ</m:t>
                      </m:r>
                    </m:oMath>
                  </m:oMathPara>
                </a14:m>
                <a:endParaRPr lang="en-US" sz="2400" dirty="0"/>
              </a:p>
              <a:p>
                <a:pPr marL="457200" indent="-342900"/>
                <a:r>
                  <a:rPr lang="en-US" sz="2400" dirty="0"/>
                  <a:t>Similarly above solution is only valid when </a:t>
                </a:r>
              </a:p>
              <a:p>
                <a:pPr marL="11430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i="1">
                          <a:latin typeface="Cambria Math" panose="02040503050406030204" pitchFamily="18" charset="0"/>
                        </a:rPr>
                        <m:t>20≤</m:t>
                      </m:r>
                      <m:r>
                        <m:rPr>
                          <m:sty m:val="p"/>
                        </m:rPr>
                        <a:rPr lang="en-US" sz="2400">
                          <a:latin typeface="Cambria Math" panose="02040503050406030204" pitchFamily="18" charset="0"/>
                        </a:rPr>
                        <m:t>Δ</m:t>
                      </m:r>
                      <m:r>
                        <a:rPr lang="en-US" sz="2400" i="1">
                          <a:latin typeface="Cambria Math" panose="02040503050406030204" pitchFamily="18" charset="0"/>
                        </a:rPr>
                        <m:t>≤20</m:t>
                      </m:r>
                    </m:oMath>
                  </m:oMathPara>
                </a14:m>
                <a:endParaRPr lang="en-US" sz="2400" dirty="0"/>
              </a:p>
              <a:p>
                <a:pPr marL="114300" indent="0">
                  <a:buNone/>
                </a:pPr>
                <a:endParaRPr lang="tr-TR"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43624" y="1389529"/>
                <a:ext cx="5210175" cy="4921102"/>
              </a:xfrm>
              <a:blipFill>
                <a:blip r:embed="rId3"/>
                <a:stretch>
                  <a:fillRect t="-173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003935" y="2046720"/>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CB6F2EE-6FEC-4EBA-A01A-A521E639F11C}"/>
              </a:ext>
            </a:extLst>
          </p:cNvPr>
          <p:cNvCxnSpPr>
            <a:cxnSpLocks/>
          </p:cNvCxnSpPr>
          <p:nvPr/>
        </p:nvCxnSpPr>
        <p:spPr>
          <a:xfrm>
            <a:off x="358774" y="2642235"/>
            <a:ext cx="3735070" cy="3850640"/>
          </a:xfrm>
          <a:prstGeom prst="line">
            <a:avLst/>
          </a:prstGeom>
          <a:ln w="38100">
            <a:solidFill>
              <a:schemeClr val="accent6">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AF10F5A-DCD6-480B-990E-9C923B917BA4}"/>
              </a:ext>
            </a:extLst>
          </p:cNvPr>
          <p:cNvCxnSpPr>
            <a:cxnSpLocks/>
          </p:cNvCxnSpPr>
          <p:nvPr/>
        </p:nvCxnSpPr>
        <p:spPr>
          <a:xfrm>
            <a:off x="1003935" y="1717040"/>
            <a:ext cx="4048761" cy="4218940"/>
          </a:xfrm>
          <a:prstGeom prst="line">
            <a:avLst/>
          </a:prstGeom>
          <a:ln w="38100">
            <a:solidFill>
              <a:schemeClr val="accent6">
                <a:lumMod val="50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33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F6AF5C68-1DD9-422A-8B4E-5B6C504B27AD}"/>
              </a:ext>
            </a:extLst>
          </p:cNvPr>
          <p:cNvGrpSpPr/>
          <p:nvPr/>
        </p:nvGrpSpPr>
        <p:grpSpPr>
          <a:xfrm>
            <a:off x="838200" y="1387354"/>
            <a:ext cx="4459287" cy="4968996"/>
            <a:chOff x="838200" y="1387354"/>
            <a:chExt cx="4459287" cy="4968996"/>
          </a:xfrm>
          <a:solidFill>
            <a:schemeClr val="bg1">
              <a:lumMod val="75000"/>
            </a:schemeClr>
          </a:solidFill>
        </p:grpSpPr>
        <p:grpSp>
          <p:nvGrpSpPr>
            <p:cNvPr id="20" name="Group 19">
              <a:extLst>
                <a:ext uri="{FF2B5EF4-FFF2-40B4-BE49-F238E27FC236}">
                  <a16:creationId xmlns:a16="http://schemas.microsoft.com/office/drawing/2014/main" id="{C811C119-483A-4BD5-BC66-5007CCD8656B}"/>
                </a:ext>
              </a:extLst>
            </p:cNvPr>
            <p:cNvGrpSpPr/>
            <p:nvPr/>
          </p:nvGrpSpPr>
          <p:grpSpPr>
            <a:xfrm>
              <a:off x="838200" y="1387354"/>
              <a:ext cx="4459287" cy="4968996"/>
              <a:chOff x="4260850" y="1387354"/>
              <a:chExt cx="4459287" cy="4968996"/>
            </a:xfrm>
            <a:grpFill/>
          </p:grpSpPr>
          <p:grpSp>
            <p:nvGrpSpPr>
              <p:cNvPr id="22" name="Group 21">
                <a:extLst>
                  <a:ext uri="{FF2B5EF4-FFF2-40B4-BE49-F238E27FC236}">
                    <a16:creationId xmlns:a16="http://schemas.microsoft.com/office/drawing/2014/main" id="{0F15A3CF-A8A0-4408-B55A-4F0827BDB7D1}"/>
                  </a:ext>
                </a:extLst>
              </p:cNvPr>
              <p:cNvGrpSpPr/>
              <p:nvPr/>
            </p:nvGrpSpPr>
            <p:grpSpPr>
              <a:xfrm>
                <a:off x="4260850" y="1387354"/>
                <a:ext cx="4459287" cy="4961058"/>
                <a:chOff x="4260850" y="1387354"/>
                <a:chExt cx="4459287" cy="4961058"/>
              </a:xfrm>
              <a:grpFill/>
            </p:grpSpPr>
            <p:pic>
              <p:nvPicPr>
                <p:cNvPr id="24" name="Picture 23">
                  <a:extLst>
                    <a:ext uri="{FF2B5EF4-FFF2-40B4-BE49-F238E27FC236}">
                      <a16:creationId xmlns:a16="http://schemas.microsoft.com/office/drawing/2014/main" id="{B739A3FA-6851-4D97-AE27-95AF3375DCEA}"/>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25" name="Straight Connector 24">
                  <a:extLst>
                    <a:ext uri="{FF2B5EF4-FFF2-40B4-BE49-F238E27FC236}">
                      <a16:creationId xmlns:a16="http://schemas.microsoft.com/office/drawing/2014/main" id="{3F38C36A-F03A-4BBF-824A-4872617AAED5}"/>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25972EC3-A0E8-437C-8888-2E1B70F267AD}"/>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96B2B40-9F22-4C26-B6E3-0ACF96EDC1D9}"/>
                  </a:ext>
                </a:extLst>
              </p:cNvPr>
              <p:cNvCxnSpPr/>
              <p:nvPr/>
            </p:nvCxnSpPr>
            <p:spPr>
              <a:xfrm flipV="1">
                <a:off x="6228080" y="191008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Freeform: Shape 20">
              <a:extLst>
                <a:ext uri="{FF2B5EF4-FFF2-40B4-BE49-F238E27FC236}">
                  <a16:creationId xmlns:a16="http://schemas.microsoft.com/office/drawing/2014/main" id="{1D2CF20E-0509-45EF-9F07-AECE61E95617}"/>
                </a:ext>
              </a:extLst>
            </p:cNvPr>
            <p:cNvSpPr/>
            <p:nvPr/>
          </p:nvSpPr>
          <p:spPr>
            <a:xfrm>
              <a:off x="1310640" y="2827020"/>
              <a:ext cx="15087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8760" h="3108960">
                  <a:moveTo>
                    <a:pt x="15240" y="3078480"/>
                  </a:moveTo>
                  <a:lnTo>
                    <a:pt x="0" y="0"/>
                  </a:lnTo>
                  <a:lnTo>
                    <a:pt x="739140" y="746760"/>
                  </a:lnTo>
                  <a:lnTo>
                    <a:pt x="1508760" y="2346960"/>
                  </a:lnTo>
                  <a:lnTo>
                    <a:pt x="149352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a:bodyPr>
          <a:lstStyle/>
          <a:p>
            <a:pPr marL="571500" indent="-457200" algn="just"/>
            <a:r>
              <a:rPr lang="tr-TR" sz="2400" dirty="0"/>
              <a:t>Let us look at the demand for soldiers.</a:t>
            </a:r>
          </a:p>
          <a:p>
            <a:pPr marL="571500" indent="-457200" algn="just"/>
            <a:r>
              <a:rPr lang="tr-TR" sz="2400" dirty="0"/>
              <a:t>What if we have more demand on soldiers, say 45?</a:t>
            </a:r>
          </a:p>
          <a:p>
            <a:pPr marL="571500" indent="-457200" algn="just"/>
            <a:r>
              <a:rPr lang="tr-TR" sz="2400" dirty="0"/>
              <a:t>Do we produce more soldiers?</a:t>
            </a:r>
          </a:p>
          <a:p>
            <a:pPr marL="114300" indent="0">
              <a:buNone/>
            </a:pPr>
            <a:endParaRPr lang="tr-TR" sz="2400" dirty="0"/>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003935" y="2046720"/>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542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F6AF5C68-1DD9-422A-8B4E-5B6C504B27AD}"/>
              </a:ext>
            </a:extLst>
          </p:cNvPr>
          <p:cNvGrpSpPr/>
          <p:nvPr/>
        </p:nvGrpSpPr>
        <p:grpSpPr>
          <a:xfrm>
            <a:off x="838200" y="1387354"/>
            <a:ext cx="4459287" cy="4984236"/>
            <a:chOff x="838200" y="1387354"/>
            <a:chExt cx="4459287" cy="4984236"/>
          </a:xfrm>
          <a:solidFill>
            <a:schemeClr val="bg1">
              <a:lumMod val="75000"/>
            </a:schemeClr>
          </a:solidFill>
        </p:grpSpPr>
        <p:grpSp>
          <p:nvGrpSpPr>
            <p:cNvPr id="20" name="Group 19">
              <a:extLst>
                <a:ext uri="{FF2B5EF4-FFF2-40B4-BE49-F238E27FC236}">
                  <a16:creationId xmlns:a16="http://schemas.microsoft.com/office/drawing/2014/main" id="{C811C119-483A-4BD5-BC66-5007CCD8656B}"/>
                </a:ext>
              </a:extLst>
            </p:cNvPr>
            <p:cNvGrpSpPr/>
            <p:nvPr/>
          </p:nvGrpSpPr>
          <p:grpSpPr>
            <a:xfrm>
              <a:off x="838200" y="1387354"/>
              <a:ext cx="4459287" cy="4984236"/>
              <a:chOff x="4260850" y="1387354"/>
              <a:chExt cx="4459287" cy="4984236"/>
            </a:xfrm>
            <a:grpFill/>
          </p:grpSpPr>
          <p:grpSp>
            <p:nvGrpSpPr>
              <p:cNvPr id="22" name="Group 21">
                <a:extLst>
                  <a:ext uri="{FF2B5EF4-FFF2-40B4-BE49-F238E27FC236}">
                    <a16:creationId xmlns:a16="http://schemas.microsoft.com/office/drawing/2014/main" id="{0F15A3CF-A8A0-4408-B55A-4F0827BDB7D1}"/>
                  </a:ext>
                </a:extLst>
              </p:cNvPr>
              <p:cNvGrpSpPr/>
              <p:nvPr/>
            </p:nvGrpSpPr>
            <p:grpSpPr>
              <a:xfrm>
                <a:off x="4260850" y="1387354"/>
                <a:ext cx="4459287" cy="4961058"/>
                <a:chOff x="4260850" y="1387354"/>
                <a:chExt cx="4459287" cy="4961058"/>
              </a:xfrm>
              <a:grpFill/>
            </p:grpSpPr>
            <p:pic>
              <p:nvPicPr>
                <p:cNvPr id="24" name="Picture 23">
                  <a:extLst>
                    <a:ext uri="{FF2B5EF4-FFF2-40B4-BE49-F238E27FC236}">
                      <a16:creationId xmlns:a16="http://schemas.microsoft.com/office/drawing/2014/main" id="{B739A3FA-6851-4D97-AE27-95AF3375DCEA}"/>
                    </a:ext>
                  </a:extLst>
                </p:cNvPr>
                <p:cNvPicPr>
                  <a:picLocks noChangeAspect="1"/>
                </p:cNvPicPr>
                <p:nvPr/>
              </p:nvPicPr>
              <p:blipFill>
                <a:blip r:embed="rId2"/>
                <a:stretch>
                  <a:fillRect/>
                </a:stretch>
              </p:blipFill>
              <p:spPr>
                <a:xfrm>
                  <a:off x="4260850" y="1387354"/>
                  <a:ext cx="4459287" cy="4961058"/>
                </a:xfrm>
                <a:prstGeom prst="rect">
                  <a:avLst/>
                </a:prstGeom>
                <a:grpFill/>
                <a:ln>
                  <a:solidFill>
                    <a:schemeClr val="tx1"/>
                  </a:solidFill>
                </a:ln>
              </p:spPr>
            </p:pic>
            <p:cxnSp>
              <p:nvCxnSpPr>
                <p:cNvPr id="25" name="Straight Connector 24">
                  <a:extLst>
                    <a:ext uri="{FF2B5EF4-FFF2-40B4-BE49-F238E27FC236}">
                      <a16:creationId xmlns:a16="http://schemas.microsoft.com/office/drawing/2014/main" id="{3F38C36A-F03A-4BBF-824A-4872617AAED5}"/>
                    </a:ext>
                  </a:extLst>
                </p:cNvPr>
                <p:cNvCxnSpPr>
                  <a:cxnSpLocks/>
                </p:cNvCxnSpPr>
                <p:nvPr/>
              </p:nvCxnSpPr>
              <p:spPr>
                <a:xfrm>
                  <a:off x="4582160" y="1717040"/>
                  <a:ext cx="2184400" cy="4561840"/>
                </a:xfrm>
                <a:prstGeom prst="line">
                  <a:avLst/>
                </a:prstGeom>
                <a:grpFill/>
                <a:ln>
                  <a:solidFill>
                    <a:schemeClr val="tx1"/>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25972EC3-A0E8-437C-8888-2E1B70F267AD}"/>
                    </a:ext>
                  </a:extLst>
                </p:cNvPr>
                <p:cNvCxnSpPr>
                  <a:cxnSpLocks/>
                </p:cNvCxnSpPr>
                <p:nvPr/>
              </p:nvCxnSpPr>
              <p:spPr>
                <a:xfrm>
                  <a:off x="4409440" y="2468880"/>
                  <a:ext cx="3586480" cy="373888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B96B2B40-9F22-4C26-B6E3-0ACF96EDC1D9}"/>
                  </a:ext>
                </a:extLst>
              </p:cNvPr>
              <p:cNvCxnSpPr/>
              <p:nvPr/>
            </p:nvCxnSpPr>
            <p:spPr>
              <a:xfrm flipV="1">
                <a:off x="6410960" y="1925320"/>
                <a:ext cx="0" cy="444627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Freeform: Shape 20">
              <a:extLst>
                <a:ext uri="{FF2B5EF4-FFF2-40B4-BE49-F238E27FC236}">
                  <a16:creationId xmlns:a16="http://schemas.microsoft.com/office/drawing/2014/main" id="{1D2CF20E-0509-45EF-9F07-AECE61E95617}"/>
                </a:ext>
              </a:extLst>
            </p:cNvPr>
            <p:cNvSpPr/>
            <p:nvPr/>
          </p:nvSpPr>
          <p:spPr>
            <a:xfrm>
              <a:off x="1310640" y="2827020"/>
              <a:ext cx="1686560" cy="3108960"/>
            </a:xfrm>
            <a:custGeom>
              <a:avLst/>
              <a:gdLst>
                <a:gd name="connsiteX0" fmla="*/ 15240 w 1508760"/>
                <a:gd name="connsiteY0" fmla="*/ 3078480 h 3108960"/>
                <a:gd name="connsiteX1" fmla="*/ 0 w 1508760"/>
                <a:gd name="connsiteY1" fmla="*/ 0 h 3108960"/>
                <a:gd name="connsiteX2" fmla="*/ 739140 w 1508760"/>
                <a:gd name="connsiteY2" fmla="*/ 746760 h 3108960"/>
                <a:gd name="connsiteX3" fmla="*/ 1508760 w 1508760"/>
                <a:gd name="connsiteY3" fmla="*/ 2346960 h 3108960"/>
                <a:gd name="connsiteX4" fmla="*/ 1493520 w 1508760"/>
                <a:gd name="connsiteY4" fmla="*/ 3108960 h 3108960"/>
                <a:gd name="connsiteX5" fmla="*/ 15240 w 1508760"/>
                <a:gd name="connsiteY5" fmla="*/ 3078480 h 3108960"/>
                <a:gd name="connsiteX0" fmla="*/ 15240 w 1711960"/>
                <a:gd name="connsiteY0" fmla="*/ 3078480 h 3108960"/>
                <a:gd name="connsiteX1" fmla="*/ 0 w 1711960"/>
                <a:gd name="connsiteY1" fmla="*/ 0 h 3108960"/>
                <a:gd name="connsiteX2" fmla="*/ 739140 w 1711960"/>
                <a:gd name="connsiteY2" fmla="*/ 746760 h 3108960"/>
                <a:gd name="connsiteX3" fmla="*/ 1711960 w 1711960"/>
                <a:gd name="connsiteY3" fmla="*/ 2763520 h 3108960"/>
                <a:gd name="connsiteX4" fmla="*/ 1493520 w 1711960"/>
                <a:gd name="connsiteY4" fmla="*/ 3108960 h 3108960"/>
                <a:gd name="connsiteX5" fmla="*/ 15240 w 1711960"/>
                <a:gd name="connsiteY5" fmla="*/ 3078480 h 3108960"/>
                <a:gd name="connsiteX0" fmla="*/ 15240 w 1711960"/>
                <a:gd name="connsiteY0" fmla="*/ 3078480 h 3108960"/>
                <a:gd name="connsiteX1" fmla="*/ 0 w 1711960"/>
                <a:gd name="connsiteY1" fmla="*/ 0 h 3108960"/>
                <a:gd name="connsiteX2" fmla="*/ 739140 w 1711960"/>
                <a:gd name="connsiteY2" fmla="*/ 746760 h 3108960"/>
                <a:gd name="connsiteX3" fmla="*/ 1711960 w 1711960"/>
                <a:gd name="connsiteY3" fmla="*/ 2763520 h 3108960"/>
                <a:gd name="connsiteX4" fmla="*/ 1686560 w 1711960"/>
                <a:gd name="connsiteY4" fmla="*/ 3108960 h 3108960"/>
                <a:gd name="connsiteX5" fmla="*/ 15240 w 1711960"/>
                <a:gd name="connsiteY5" fmla="*/ 3078480 h 3108960"/>
                <a:gd name="connsiteX0" fmla="*/ 15240 w 1701800"/>
                <a:gd name="connsiteY0" fmla="*/ 3078480 h 3108960"/>
                <a:gd name="connsiteX1" fmla="*/ 0 w 1701800"/>
                <a:gd name="connsiteY1" fmla="*/ 0 h 3108960"/>
                <a:gd name="connsiteX2" fmla="*/ 739140 w 1701800"/>
                <a:gd name="connsiteY2" fmla="*/ 746760 h 3108960"/>
                <a:gd name="connsiteX3" fmla="*/ 1701800 w 1701800"/>
                <a:gd name="connsiteY3" fmla="*/ 2722880 h 3108960"/>
                <a:gd name="connsiteX4" fmla="*/ 1686560 w 1701800"/>
                <a:gd name="connsiteY4" fmla="*/ 3108960 h 3108960"/>
                <a:gd name="connsiteX5" fmla="*/ 15240 w 1701800"/>
                <a:gd name="connsiteY5" fmla="*/ 3078480 h 3108960"/>
                <a:gd name="connsiteX0" fmla="*/ 15240 w 1686560"/>
                <a:gd name="connsiteY0" fmla="*/ 3078480 h 3108960"/>
                <a:gd name="connsiteX1" fmla="*/ 0 w 1686560"/>
                <a:gd name="connsiteY1" fmla="*/ 0 h 3108960"/>
                <a:gd name="connsiteX2" fmla="*/ 739140 w 1686560"/>
                <a:gd name="connsiteY2" fmla="*/ 746760 h 3108960"/>
                <a:gd name="connsiteX3" fmla="*/ 1678940 w 1686560"/>
                <a:gd name="connsiteY3" fmla="*/ 2717165 h 3108960"/>
                <a:gd name="connsiteX4" fmla="*/ 1686560 w 1686560"/>
                <a:gd name="connsiteY4" fmla="*/ 3108960 h 3108960"/>
                <a:gd name="connsiteX5" fmla="*/ 15240 w 1686560"/>
                <a:gd name="connsiteY5" fmla="*/ 3078480 h 310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6560" h="3108960">
                  <a:moveTo>
                    <a:pt x="15240" y="3078480"/>
                  </a:moveTo>
                  <a:lnTo>
                    <a:pt x="0" y="0"/>
                  </a:lnTo>
                  <a:lnTo>
                    <a:pt x="739140" y="746760"/>
                  </a:lnTo>
                  <a:lnTo>
                    <a:pt x="1678940" y="2717165"/>
                  </a:lnTo>
                  <a:lnTo>
                    <a:pt x="1686560" y="3108960"/>
                  </a:lnTo>
                  <a:lnTo>
                    <a:pt x="15240" y="3078480"/>
                  </a:lnTo>
                  <a:close/>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en-US" dirty="0"/>
              <a:t>Changes in the RHS of the Constraints </a:t>
            </a:r>
          </a:p>
        </p:txBody>
      </p:sp>
      <p:sp>
        <p:nvSpPr>
          <p:cNvPr id="3" name="Content Placeholder 2"/>
          <p:cNvSpPr>
            <a:spLocks noGrp="1"/>
          </p:cNvSpPr>
          <p:nvPr>
            <p:ph idx="1"/>
          </p:nvPr>
        </p:nvSpPr>
        <p:spPr>
          <a:xfrm>
            <a:off x="6143624" y="1389529"/>
            <a:ext cx="5210175" cy="4921102"/>
          </a:xfrm>
        </p:spPr>
        <p:txBody>
          <a:bodyPr>
            <a:normAutofit fontScale="92500"/>
          </a:bodyPr>
          <a:lstStyle/>
          <a:p>
            <a:pPr marL="571500" indent="-457200" algn="just"/>
            <a:r>
              <a:rPr lang="tr-TR" sz="2400" dirty="0"/>
              <a:t>Let us look at the demand for soldiers.</a:t>
            </a:r>
          </a:p>
          <a:p>
            <a:pPr marL="571500" indent="-457200" algn="just"/>
            <a:r>
              <a:rPr lang="tr-TR" sz="2400" dirty="0"/>
              <a:t>What if we have more demand on soldiers, say 45?</a:t>
            </a:r>
          </a:p>
          <a:p>
            <a:pPr marL="571500" indent="-457200" algn="just"/>
            <a:r>
              <a:rPr lang="tr-TR" sz="2400" dirty="0"/>
              <a:t>Do we produce more soldiers?</a:t>
            </a:r>
            <a:endParaRPr lang="en-US" sz="2400" dirty="0"/>
          </a:p>
          <a:p>
            <a:pPr marL="571500" indent="-457200"/>
            <a:r>
              <a:rPr lang="tr-TR" sz="2400" dirty="0"/>
              <a:t>The feasible region changed but the optimum solution remains the same, because we cannot move the iso-profit line to the right.</a:t>
            </a:r>
          </a:p>
          <a:p>
            <a:pPr marL="571500" indent="-457200"/>
            <a:r>
              <a:rPr lang="tr-TR" sz="2400" dirty="0"/>
              <a:t>Our optimal profit remains the same.</a:t>
            </a:r>
          </a:p>
          <a:p>
            <a:pPr marL="571500" indent="-457200"/>
            <a:r>
              <a:rPr lang="tr-TR" sz="2400" dirty="0"/>
              <a:t>Having more demand does not contribute to our profit.</a:t>
            </a:r>
          </a:p>
          <a:p>
            <a:pPr marL="571500" indent="-457200"/>
            <a:r>
              <a:rPr lang="tr-TR" sz="2400" dirty="0"/>
              <a:t>The shadow price of the demand is zero. </a:t>
            </a:r>
          </a:p>
          <a:p>
            <a:pPr marL="114300" indent="0">
              <a:buNone/>
            </a:pPr>
            <a:endParaRPr lang="tr-TR" sz="2400" dirty="0"/>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cxnSp>
        <p:nvCxnSpPr>
          <p:cNvPr id="14" name="Straight Connector 13"/>
          <p:cNvCxnSpPr/>
          <p:nvPr/>
        </p:nvCxnSpPr>
        <p:spPr>
          <a:xfrm>
            <a:off x="1003935" y="2046720"/>
            <a:ext cx="2495549" cy="3642326"/>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4013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tr-TR" dirty="0"/>
              <a:t>Sensitivity Analysis</a:t>
            </a:r>
            <a:endParaRPr lang="en-US" dirty="0"/>
          </a:p>
        </p:txBody>
      </p:sp>
      <p:sp>
        <p:nvSpPr>
          <p:cNvPr id="3" name="Content Placeholder 2"/>
          <p:cNvSpPr>
            <a:spLocks noGrp="1"/>
          </p:cNvSpPr>
          <p:nvPr>
            <p:ph idx="1"/>
          </p:nvPr>
        </p:nvSpPr>
        <p:spPr/>
        <p:txBody>
          <a:bodyPr>
            <a:normAutofit/>
          </a:bodyPr>
          <a:lstStyle/>
          <a:p>
            <a:pPr marL="571500" indent="-457200"/>
            <a:r>
              <a:rPr lang="tr-TR" dirty="0"/>
              <a:t>We will not be doing this kind of analysis graphically for all problems.</a:t>
            </a:r>
          </a:p>
          <a:p>
            <a:pPr marL="571500" indent="-457200"/>
            <a:r>
              <a:rPr lang="tr-TR" dirty="0"/>
              <a:t>It is even impossible to solve problems with more than 3 variables graphically </a:t>
            </a:r>
          </a:p>
          <a:p>
            <a:pPr marL="571500" indent="-457200"/>
            <a:r>
              <a:rPr lang="tr-TR" dirty="0"/>
              <a:t>Excel solver provides a sensitivity report that gives us insights on these questions.</a:t>
            </a:r>
          </a:p>
          <a:p>
            <a:pPr marL="571500" indent="-457200"/>
            <a:r>
              <a:rPr lang="tr-TR" dirty="0"/>
              <a:t>Let’s solve the Giapetto problem in excel solver and produce sensitivity report.</a:t>
            </a:r>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spTree>
    <p:extLst>
      <p:ext uri="{BB962C8B-B14F-4D97-AF65-F5344CB8AC3E}">
        <p14:creationId xmlns:p14="http://schemas.microsoft.com/office/powerpoint/2010/main" val="34436952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tr-TR" dirty="0"/>
              <a:t>Solver Sensitivity Report</a:t>
            </a:r>
            <a:endParaRPr lang="en-US" dirty="0"/>
          </a:p>
        </p:txBody>
      </p:sp>
      <p:sp>
        <p:nvSpPr>
          <p:cNvPr id="3" name="Content Placeholder 2"/>
          <p:cNvSpPr>
            <a:spLocks noGrp="1"/>
          </p:cNvSpPr>
          <p:nvPr>
            <p:ph idx="1"/>
          </p:nvPr>
        </p:nvSpPr>
        <p:spPr>
          <a:xfrm>
            <a:off x="838199" y="1389529"/>
            <a:ext cx="3583329" cy="4921102"/>
          </a:xfrm>
        </p:spPr>
        <p:txBody>
          <a:bodyPr>
            <a:normAutofit/>
          </a:bodyPr>
          <a:lstStyle/>
          <a:p>
            <a:pPr marL="571500" indent="-457200"/>
            <a:r>
              <a:rPr lang="tr-TR" sz="2200" dirty="0"/>
              <a:t>After solving the problem, you need to select sensitivity to create sensitivity report</a:t>
            </a:r>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2" name="Picture 1"/>
          <p:cNvPicPr>
            <a:picLocks noChangeAspect="1"/>
          </p:cNvPicPr>
          <p:nvPr/>
        </p:nvPicPr>
        <p:blipFill>
          <a:blip r:embed="rId2"/>
          <a:stretch>
            <a:fillRect/>
          </a:stretch>
        </p:blipFill>
        <p:spPr>
          <a:xfrm>
            <a:off x="4524375" y="1389529"/>
            <a:ext cx="6829425" cy="4514850"/>
          </a:xfrm>
          <a:prstGeom prst="rect">
            <a:avLst/>
          </a:prstGeom>
        </p:spPr>
      </p:pic>
    </p:spTree>
    <p:extLst>
      <p:ext uri="{BB962C8B-B14F-4D97-AF65-F5344CB8AC3E}">
        <p14:creationId xmlns:p14="http://schemas.microsoft.com/office/powerpoint/2010/main" val="4169349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8">
            <a:extLst>
              <a:ext uri="{FF2B5EF4-FFF2-40B4-BE49-F238E27FC236}">
                <a16:creationId xmlns:a16="http://schemas.microsoft.com/office/drawing/2014/main" id="{915B1347-F5E4-49E4-B111-FBB664BA099B}"/>
              </a:ext>
            </a:extLst>
          </p:cNvPr>
          <p:cNvSpPr>
            <a:spLocks noGrp="1"/>
          </p:cNvSpPr>
          <p:nvPr>
            <p:ph type="title"/>
          </p:nvPr>
        </p:nvSpPr>
        <p:spPr/>
        <p:txBody>
          <a:bodyPr>
            <a:normAutofit/>
          </a:bodyPr>
          <a:lstStyle/>
          <a:p>
            <a:r>
              <a:rPr lang="tr-TR" dirty="0"/>
              <a:t>Solver Sensitivity Report</a:t>
            </a:r>
            <a:endParaRPr lang="en-US" dirty="0"/>
          </a:p>
        </p:txBody>
      </p:sp>
      <p:sp>
        <p:nvSpPr>
          <p:cNvPr id="4" name="Footer Placeholder 3">
            <a:extLst>
              <a:ext uri="{FF2B5EF4-FFF2-40B4-BE49-F238E27FC236}">
                <a16:creationId xmlns:a16="http://schemas.microsoft.com/office/drawing/2014/main" id="{EF0C5AD7-418D-479A-9DA2-06EC47251E57}"/>
              </a:ext>
            </a:extLst>
          </p:cNvPr>
          <p:cNvSpPr>
            <a:spLocks noGrp="1"/>
          </p:cNvSpPr>
          <p:nvPr>
            <p:ph type="ftr" sz="quarter" idx="11"/>
          </p:nvPr>
        </p:nvSpPr>
        <p:spPr/>
        <p:txBody>
          <a:bodyPr/>
          <a:lstStyle/>
          <a:p>
            <a:pPr>
              <a:defRPr/>
            </a:pPr>
            <a:r>
              <a:rPr lang="en-US" altLang="en-US"/>
              <a:t>ITU - Business Analytics - Mehmet Yasin Ulukuş</a:t>
            </a:r>
            <a:endParaRPr lang="en-US" altLang="en-US" i="0"/>
          </a:p>
        </p:txBody>
      </p:sp>
      <p:pic>
        <p:nvPicPr>
          <p:cNvPr id="5" name="Picture 4"/>
          <p:cNvPicPr>
            <a:picLocks noChangeAspect="1"/>
          </p:cNvPicPr>
          <p:nvPr/>
        </p:nvPicPr>
        <p:blipFill>
          <a:blip r:embed="rId2"/>
          <a:stretch>
            <a:fillRect/>
          </a:stretch>
        </p:blipFill>
        <p:spPr>
          <a:xfrm>
            <a:off x="2734036" y="1368312"/>
            <a:ext cx="6687756" cy="5031740"/>
          </a:xfrm>
          <a:prstGeom prst="rect">
            <a:avLst/>
          </a:prstGeom>
        </p:spPr>
      </p:pic>
      <p:sp>
        <p:nvSpPr>
          <p:cNvPr id="8" name="Rectangle 7"/>
          <p:cNvSpPr/>
          <p:nvPr/>
        </p:nvSpPr>
        <p:spPr>
          <a:xfrm>
            <a:off x="4692090" y="3670795"/>
            <a:ext cx="509765" cy="5655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8" idx="1"/>
            <a:endCxn id="11" idx="3"/>
          </p:cNvCxnSpPr>
          <p:nvPr/>
        </p:nvCxnSpPr>
        <p:spPr>
          <a:xfrm flipH="1" flipV="1">
            <a:off x="2556922" y="3212556"/>
            <a:ext cx="2135168" cy="74100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18140" y="2797057"/>
            <a:ext cx="1638782" cy="830997"/>
          </a:xfrm>
          <a:prstGeom prst="rect">
            <a:avLst/>
          </a:prstGeom>
          <a:noFill/>
          <a:ln>
            <a:solidFill>
              <a:srgbClr val="C00000"/>
            </a:solidFill>
          </a:ln>
        </p:spPr>
        <p:txBody>
          <a:bodyPr wrap="square" rtlCol="0">
            <a:spAutoFit/>
          </a:bodyPr>
          <a:lstStyle>
            <a:defPPr>
              <a:defRPr lang="tr-TR"/>
            </a:defPPr>
            <a:lvl1pPr>
              <a:defRPr sz="1600"/>
            </a:lvl1pPr>
          </a:lstStyle>
          <a:p>
            <a:r>
              <a:rPr lang="tr-TR" dirty="0"/>
              <a:t>Optimal Values of Decision Variables</a:t>
            </a:r>
            <a:endParaRPr lang="en-US" dirty="0"/>
          </a:p>
        </p:txBody>
      </p:sp>
      <p:sp>
        <p:nvSpPr>
          <p:cNvPr id="12" name="Rectangle 11"/>
          <p:cNvSpPr/>
          <p:nvPr/>
        </p:nvSpPr>
        <p:spPr>
          <a:xfrm>
            <a:off x="7470493" y="3670795"/>
            <a:ext cx="1245243" cy="60188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559479" y="1885124"/>
            <a:ext cx="2794321" cy="1077218"/>
          </a:xfrm>
          <a:prstGeom prst="rect">
            <a:avLst/>
          </a:prstGeom>
          <a:noFill/>
          <a:ln>
            <a:solidFill>
              <a:srgbClr val="C00000"/>
            </a:solidFill>
          </a:ln>
        </p:spPr>
        <p:txBody>
          <a:bodyPr wrap="square" rtlCol="0">
            <a:spAutoFit/>
          </a:bodyPr>
          <a:lstStyle/>
          <a:p>
            <a:r>
              <a:rPr lang="tr-TR" sz="1600" dirty="0"/>
              <a:t>Ranges for which objective function coefficients can vary without changing the optimum solution</a:t>
            </a:r>
            <a:endParaRPr lang="en-US" sz="1600" dirty="0"/>
          </a:p>
        </p:txBody>
      </p:sp>
      <p:cxnSp>
        <p:nvCxnSpPr>
          <p:cNvPr id="14" name="Straight Arrow Connector 13"/>
          <p:cNvCxnSpPr>
            <a:stCxn id="12" idx="3"/>
            <a:endCxn id="13" idx="2"/>
          </p:cNvCxnSpPr>
          <p:nvPr/>
        </p:nvCxnSpPr>
        <p:spPr>
          <a:xfrm flipV="1">
            <a:off x="8715736" y="2962342"/>
            <a:ext cx="1240904" cy="100939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641448" y="5277318"/>
            <a:ext cx="767787" cy="77809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2807" y="4882440"/>
            <a:ext cx="1824458" cy="1323439"/>
          </a:xfrm>
          <a:prstGeom prst="rect">
            <a:avLst/>
          </a:prstGeom>
          <a:noFill/>
          <a:ln>
            <a:solidFill>
              <a:srgbClr val="C00000"/>
            </a:solidFill>
          </a:ln>
        </p:spPr>
        <p:txBody>
          <a:bodyPr wrap="square" rtlCol="0">
            <a:spAutoFit/>
          </a:bodyPr>
          <a:lstStyle>
            <a:defPPr>
              <a:defRPr lang="tr-TR"/>
            </a:defPPr>
            <a:lvl1pPr>
              <a:defRPr sz="1600"/>
            </a:lvl1pPr>
          </a:lstStyle>
          <a:p>
            <a:r>
              <a:rPr lang="tr-TR" dirty="0"/>
              <a:t>The values of left hand side of the constraints (gives us how much of the resource is used) </a:t>
            </a:r>
            <a:endParaRPr lang="en-US" dirty="0"/>
          </a:p>
        </p:txBody>
      </p:sp>
      <p:cxnSp>
        <p:nvCxnSpPr>
          <p:cNvPr id="19" name="Straight Arrow Connector 18"/>
          <p:cNvCxnSpPr>
            <a:endCxn id="18" idx="3"/>
          </p:cNvCxnSpPr>
          <p:nvPr/>
        </p:nvCxnSpPr>
        <p:spPr>
          <a:xfrm flipH="1" flipV="1">
            <a:off x="2537265" y="5544160"/>
            <a:ext cx="2402234" cy="1821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461080" y="5277318"/>
            <a:ext cx="767787" cy="77809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endCxn id="24" idx="1"/>
          </p:cNvCxnSpPr>
          <p:nvPr/>
        </p:nvCxnSpPr>
        <p:spPr>
          <a:xfrm flipV="1">
            <a:off x="5988572" y="5596416"/>
            <a:ext cx="2838089" cy="7906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8826661" y="4934696"/>
            <a:ext cx="2527139" cy="1323439"/>
          </a:xfrm>
          <a:prstGeom prst="rect">
            <a:avLst/>
          </a:prstGeom>
          <a:noFill/>
          <a:ln>
            <a:solidFill>
              <a:srgbClr val="C00000"/>
            </a:solidFill>
          </a:ln>
        </p:spPr>
        <p:txBody>
          <a:bodyPr wrap="square" rtlCol="0">
            <a:spAutoFit/>
          </a:bodyPr>
          <a:lstStyle>
            <a:defPPr>
              <a:defRPr lang="tr-TR"/>
            </a:defPPr>
            <a:lvl1pPr>
              <a:defRPr sz="1600"/>
            </a:lvl1pPr>
          </a:lstStyle>
          <a:p>
            <a:r>
              <a:rPr lang="tr-TR" dirty="0"/>
              <a:t>Shadow Prices (gives us how much our objective changes by a unit change in the right hand side of the constraint)</a:t>
            </a:r>
            <a:endParaRPr lang="en-US" dirty="0"/>
          </a:p>
        </p:txBody>
      </p:sp>
      <p:sp>
        <p:nvSpPr>
          <p:cNvPr id="33" name="Rectangle 32"/>
          <p:cNvSpPr/>
          <p:nvPr/>
        </p:nvSpPr>
        <p:spPr>
          <a:xfrm>
            <a:off x="5571526" y="3692421"/>
            <a:ext cx="509765" cy="5655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0355178"/>
      </p:ext>
    </p:extLst>
  </p:cSld>
  <p:clrMapOvr>
    <a:masterClrMapping/>
  </p:clrMapOvr>
</p:sld>
</file>

<file path=ppt/theme/theme1.xml><?xml version="1.0" encoding="utf-8"?>
<a:theme xmlns:a="http://schemas.openxmlformats.org/drawingml/2006/main" name="ITU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750</TotalTime>
  <Words>3550</Words>
  <Application>Microsoft Office PowerPoint</Application>
  <PresentationFormat>Widescreen</PresentationFormat>
  <Paragraphs>556</Paragraphs>
  <Slides>55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Cambria Math</vt:lpstr>
      <vt:lpstr>ITU Layout</vt:lpstr>
      <vt:lpstr>Business Analytics</vt:lpstr>
      <vt:lpstr>Analytical Geometry Revisited</vt:lpstr>
      <vt:lpstr>Wyndor Glass Co Example</vt:lpstr>
      <vt:lpstr>Wyndor Glass Co LP Problem</vt:lpstr>
      <vt:lpstr>Feasible Region</vt:lpstr>
      <vt:lpstr>Feasible Region</vt:lpstr>
      <vt:lpstr>Feasible Region</vt:lpstr>
      <vt:lpstr>Finding Optimal Solution</vt:lpstr>
      <vt:lpstr>Extreme Points – Binding Constraints</vt:lpstr>
      <vt:lpstr>Terminology</vt:lpstr>
      <vt:lpstr>Infeasible Solution</vt:lpstr>
      <vt:lpstr>Infeasible Solution</vt:lpstr>
      <vt:lpstr>Multiple Optimal Solutions</vt:lpstr>
      <vt:lpstr>Multiple Optimal Solutions</vt:lpstr>
      <vt:lpstr>Multiple Optimal Solutions</vt:lpstr>
      <vt:lpstr>Unbounded Solutions</vt:lpstr>
      <vt:lpstr>Insights Gained - Graphical Method</vt:lpstr>
      <vt:lpstr>EXCEL SOLVER</vt:lpstr>
      <vt:lpstr>Example – Wyndco – EXCEL SOLVER</vt:lpstr>
      <vt:lpstr>Example – Wyndco – EXCEL SOLVER</vt:lpstr>
      <vt:lpstr>Example – Wyndco – EXCEL SOLVER</vt:lpstr>
      <vt:lpstr>Example – Wyndco – EXCEL SOLVER</vt:lpstr>
      <vt:lpstr>Example – Wyndco – EXCEL SOLVER</vt:lpstr>
      <vt:lpstr>Example – Wyndco – EXCEL SOLVER</vt:lpstr>
      <vt:lpstr>SENSITIVITY ANALYSIS </vt:lpstr>
      <vt:lpstr>EXAMPLE - Giapetto Toys </vt:lpstr>
      <vt:lpstr>Giapetto Toys-LP FORM</vt:lpstr>
      <vt:lpstr>GRAPHICAL APPROACH</vt:lpstr>
      <vt:lpstr>CHANGES IN THE OBJECTIVE FUNCTION COEFFICIENTS</vt:lpstr>
      <vt:lpstr>CHANGES IN THE OBJECTIVE FUNCTION COEFFICIENTS</vt:lpstr>
      <vt:lpstr>GRAPHICAL APPROACH</vt:lpstr>
      <vt:lpstr>GRAPHICAL APPROACH</vt:lpstr>
      <vt:lpstr>Let’s look at the graph again</vt:lpstr>
      <vt:lpstr>Let’s look at the graph again</vt:lpstr>
      <vt:lpstr>Let’s look at the graph again</vt:lpstr>
      <vt:lpstr>Interval for the price of soldier is found</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Changes in the RHS of the Constraints </vt:lpstr>
      <vt:lpstr>Sensitivity Analysis</vt:lpstr>
      <vt:lpstr>Solver Sensitivity Report</vt:lpstr>
      <vt:lpstr>Solver Sensitivity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MEHMET YASİN ULUKUŞ</dc:creator>
  <cp:lastModifiedBy>Mehmet Yasin Ulukus</cp:lastModifiedBy>
  <cp:revision>160</cp:revision>
  <dcterms:created xsi:type="dcterms:W3CDTF">2020-10-15T19:58:41Z</dcterms:created>
  <dcterms:modified xsi:type="dcterms:W3CDTF">2024-10-11T17:35:39Z</dcterms:modified>
</cp:coreProperties>
</file>