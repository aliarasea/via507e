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7" r:id="rId4"/>
    <p:sldId id="260" r:id="rId5"/>
    <p:sldId id="262" r:id="rId6"/>
    <p:sldId id="263" r:id="rId7"/>
    <p:sldId id="264" r:id="rId8"/>
    <p:sldId id="261" r:id="rId9"/>
    <p:sldId id="285" r:id="rId10"/>
    <p:sldId id="286" r:id="rId11"/>
    <p:sldId id="287" r:id="rId12"/>
    <p:sldId id="288" r:id="rId13"/>
    <p:sldId id="265" r:id="rId14"/>
    <p:sldId id="266" r:id="rId15"/>
    <p:sldId id="268" r:id="rId16"/>
    <p:sldId id="269" r:id="rId17"/>
    <p:sldId id="274" r:id="rId18"/>
    <p:sldId id="275" r:id="rId19"/>
    <p:sldId id="276" r:id="rId20"/>
    <p:sldId id="277" r:id="rId21"/>
    <p:sldId id="278" r:id="rId22"/>
    <p:sldId id="279" r:id="rId23"/>
    <p:sldId id="280" r:id="rId24"/>
    <p:sldId id="281" r:id="rId25"/>
    <p:sldId id="282" r:id="rId26"/>
    <p:sldId id="283" r:id="rId27"/>
    <p:sldId id="284" r:id="rId2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C5E0B4"/>
    <a:srgbClr val="0043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7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02265-1F21-4BE8-AE87-4F76FEDB1F7C}"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3A208-E792-499F-9D6D-AC8FC94E1589}" type="slidenum">
              <a:rPr lang="en-US" smtClean="0"/>
              <a:t>‹#›</a:t>
            </a:fld>
            <a:endParaRPr lang="en-US"/>
          </a:p>
        </p:txBody>
      </p:sp>
    </p:spTree>
    <p:extLst>
      <p:ext uri="{BB962C8B-B14F-4D97-AF65-F5344CB8AC3E}">
        <p14:creationId xmlns:p14="http://schemas.microsoft.com/office/powerpoint/2010/main" val="643014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57601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799261"/>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3927406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389529"/>
            <a:ext cx="10515600" cy="49211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7" name="Rectangle 6"/>
          <p:cNvSpPr/>
          <p:nvPr userDrawn="1"/>
        </p:nvSpPr>
        <p:spPr>
          <a:xfrm>
            <a:off x="838200" y="1272988"/>
            <a:ext cx="105156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70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281328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452375"/>
            <a:ext cx="5181600" cy="472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452375"/>
            <a:ext cx="5181600" cy="472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8" name="Rectangle 7"/>
          <p:cNvSpPr/>
          <p:nvPr userDrawn="1"/>
        </p:nvSpPr>
        <p:spPr>
          <a:xfrm>
            <a:off x="838200" y="1272988"/>
            <a:ext cx="105156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539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a:t>ITU - Business Analytics - Mehmet Yasin Ulukuş</a:t>
            </a: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75854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ITU - Business Analytics - Mehmet Yasin Ulukuş</a:t>
            </a: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261121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ITU - Business Analytics - Mehmet Yasin Ulukuş</a:t>
            </a: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152652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92695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901776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144497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87141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Yasin Cou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104B0-B4FD-470E-9F94-D0A011F15760}"/>
              </a:ext>
            </a:extLst>
          </p:cNvPr>
          <p:cNvSpPr>
            <a:spLocks noGrp="1"/>
          </p:cNvSpPr>
          <p:nvPr>
            <p:ph type="title"/>
          </p:nvPr>
        </p:nvSpPr>
        <p:spPr>
          <a:xfrm>
            <a:off x="914400" y="228600"/>
            <a:ext cx="10363200" cy="1219200"/>
          </a:xfrm>
        </p:spPr>
        <p:txBody>
          <a:bodyPr/>
          <a:lstStyle>
            <a:lvl1pPr>
              <a:defRPr b="1"/>
            </a:lvl1pPr>
          </a:lstStyle>
          <a:p>
            <a:r>
              <a:rPr lang="en-US" dirty="0"/>
              <a:t>Click to edit Master title style</a:t>
            </a:r>
          </a:p>
        </p:txBody>
      </p:sp>
      <p:sp>
        <p:nvSpPr>
          <p:cNvPr id="3" name="Text Placeholder 2">
            <a:extLst>
              <a:ext uri="{FF2B5EF4-FFF2-40B4-BE49-F238E27FC236}">
                <a16:creationId xmlns:a16="http://schemas.microsoft.com/office/drawing/2014/main" id="{2ED0AB8B-4994-4C71-8D45-4CD65A31D1BE}"/>
              </a:ext>
            </a:extLst>
          </p:cNvPr>
          <p:cNvSpPr>
            <a:spLocks noGrp="1"/>
          </p:cNvSpPr>
          <p:nvPr>
            <p:ph type="body" sz="half" idx="1"/>
          </p:nvPr>
        </p:nvSpPr>
        <p:spPr>
          <a:xfrm>
            <a:off x="914400" y="1524000"/>
            <a:ext cx="1036320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E96C7-E505-44D6-B1D8-B942E2771FA2}"/>
              </a:ext>
            </a:extLst>
          </p:cNvPr>
          <p:cNvSpPr>
            <a:spLocks noGrp="1" noChangeArrowheads="1"/>
          </p:cNvSpPr>
          <p:nvPr>
            <p:ph type="dt" sz="half" idx="10"/>
          </p:nvPr>
        </p:nvSpPr>
        <p:spPr>
          <a:xfrm>
            <a:off x="838200" y="6356352"/>
            <a:ext cx="2743200" cy="365125"/>
          </a:xfrm>
          <a:prstGeom prst="rect">
            <a:avLst/>
          </a:prstGeom>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60D3006-5145-4CA3-840D-F763F6748174}"/>
              </a:ext>
            </a:extLst>
          </p:cNvPr>
          <p:cNvSpPr>
            <a:spLocks noGrp="1" noChangeArrowheads="1"/>
          </p:cNvSpPr>
          <p:nvPr>
            <p:ph type="ftr" sz="quarter" idx="11"/>
          </p:nvPr>
        </p:nvSpPr>
        <p:spPr>
          <a:ln/>
        </p:spPr>
        <p:txBody>
          <a:bodyPr/>
          <a:lstStyle>
            <a:lvl1pPr>
              <a:defRPr/>
            </a:lvl1pPr>
          </a:lstStyle>
          <a:p>
            <a:pPr>
              <a:defRPr/>
            </a:pPr>
            <a:r>
              <a:rPr lang="en-US" altLang="en-US"/>
              <a:t>ITU - Business Analytics - Mehmet Yasin Ulukuş</a:t>
            </a:r>
            <a:endParaRPr lang="en-US" altLang="en-US" i="0" dirty="0"/>
          </a:p>
        </p:txBody>
      </p:sp>
      <p:sp>
        <p:nvSpPr>
          <p:cNvPr id="7" name="Slide Number Placeholder 6">
            <a:extLst>
              <a:ext uri="{FF2B5EF4-FFF2-40B4-BE49-F238E27FC236}">
                <a16:creationId xmlns:a16="http://schemas.microsoft.com/office/drawing/2014/main" id="{0AE0426F-2674-44A3-BDE8-AFE74A7FD6E1}"/>
              </a:ext>
            </a:extLst>
          </p:cNvPr>
          <p:cNvSpPr>
            <a:spLocks noGrp="1" noChangeArrowheads="1"/>
          </p:cNvSpPr>
          <p:nvPr>
            <p:ph type="sldNum" sz="quarter" idx="12"/>
          </p:nvPr>
        </p:nvSpPr>
        <p:spPr>
          <a:xfrm>
            <a:off x="8610600" y="6356352"/>
            <a:ext cx="2743200" cy="365125"/>
          </a:xfrm>
          <a:prstGeom prst="rect">
            <a:avLst/>
          </a:prstGeom>
          <a:ln/>
        </p:spPr>
        <p:txBody>
          <a:bodyPr/>
          <a:lstStyle>
            <a:lvl1pPr>
              <a:defRPr/>
            </a:lvl1pPr>
          </a:lstStyle>
          <a:p>
            <a:pPr>
              <a:defRPr/>
            </a:pPr>
            <a:fld id="{B0B4E47A-8363-4036-90DE-956001968EA4}" type="slidenum">
              <a:rPr lang="en-US" altLang="en-US" smtClean="0"/>
              <a:pPr>
                <a:defRPr/>
              </a:pPr>
              <a:t>‹#›</a:t>
            </a:fld>
            <a:endParaRPr lang="en-US" altLang="en-US" dirty="0"/>
          </a:p>
        </p:txBody>
      </p:sp>
      <p:sp>
        <p:nvSpPr>
          <p:cNvPr id="8" name="Rectangle 7">
            <a:extLst>
              <a:ext uri="{FF2B5EF4-FFF2-40B4-BE49-F238E27FC236}">
                <a16:creationId xmlns:a16="http://schemas.microsoft.com/office/drawing/2014/main" id="{D15A3947-35DA-44C0-8632-B6A13D2C2431}"/>
              </a:ext>
            </a:extLst>
          </p:cNvPr>
          <p:cNvSpPr/>
          <p:nvPr userDrawn="1"/>
        </p:nvSpPr>
        <p:spPr>
          <a:xfrm>
            <a:off x="711200" y="1295401"/>
            <a:ext cx="10058400" cy="45719"/>
          </a:xfrm>
          <a:prstGeom prst="rect">
            <a:avLst/>
          </a:prstGeom>
          <a:solidFill>
            <a:srgbClr val="12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595431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90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389529"/>
            <a:ext cx="10515600" cy="478743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0437A"/>
                </a:solidFill>
              </a:defRPr>
            </a:lvl1pPr>
          </a:lstStyle>
          <a:p>
            <a:r>
              <a:rPr lang="en-US"/>
              <a:t>ITU - Business Analytics - Mehmet Yasin Ulukuş</a:t>
            </a:r>
            <a:endParaRPr lang="en-US" dirty="0"/>
          </a:p>
        </p:txBody>
      </p:sp>
      <p:pic>
        <p:nvPicPr>
          <p:cNvPr id="7" name="Picture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983625" y="6176963"/>
            <a:ext cx="1082869" cy="609331"/>
          </a:xfrm>
          <a:prstGeom prst="rect">
            <a:avLst/>
          </a:prstGeom>
        </p:spPr>
      </p:pic>
    </p:spTree>
    <p:extLst>
      <p:ext uri="{BB962C8B-B14F-4D97-AF65-F5344CB8AC3E}">
        <p14:creationId xmlns:p14="http://schemas.microsoft.com/office/powerpoint/2010/main" val="3740735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rgbClr val="00437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t>Business Analytics</a:t>
            </a:r>
            <a:endParaRPr lang="en-US" dirty="0"/>
          </a:p>
        </p:txBody>
      </p:sp>
      <p:sp>
        <p:nvSpPr>
          <p:cNvPr id="3" name="Subtitle 2"/>
          <p:cNvSpPr>
            <a:spLocks noGrp="1"/>
          </p:cNvSpPr>
          <p:nvPr>
            <p:ph type="subTitle" idx="1"/>
          </p:nvPr>
        </p:nvSpPr>
        <p:spPr/>
        <p:txBody>
          <a:bodyPr/>
          <a:lstStyle/>
          <a:p>
            <a:r>
              <a:rPr lang="tr-TR" dirty="0"/>
              <a:t>Dr. Mehmet Yasin Ulukuş</a:t>
            </a:r>
          </a:p>
          <a:p>
            <a:r>
              <a:rPr lang="tr-TR" dirty="0"/>
              <a:t>Lecture 3</a:t>
            </a:r>
          </a:p>
          <a:p>
            <a:r>
              <a:rPr lang="tr-TR" dirty="0"/>
              <a:t>Applications of LP – Solving LP with Python PuLP</a:t>
            </a:r>
            <a:endParaRPr lang="en-US" dirty="0"/>
          </a:p>
        </p:txBody>
      </p:sp>
      <p:sp>
        <p:nvSpPr>
          <p:cNvPr id="4" name="Footer Placeholder 3"/>
          <p:cNvSpPr>
            <a:spLocks noGrp="1"/>
          </p:cNvSpPr>
          <p:nvPr>
            <p:ph type="ftr" sz="quarter" idx="11"/>
          </p:nvPr>
        </p:nvSpPr>
        <p:spPr/>
        <p:txBody>
          <a:bodyPr/>
          <a:lstStyle/>
          <a:p>
            <a:r>
              <a:rPr lang="en-US"/>
              <a:t>ITU - Business Analytics - Mehmet Yasin Ulukuş</a:t>
            </a:r>
            <a:endParaRPr lang="en-US" dirty="0"/>
          </a:p>
        </p:txBody>
      </p:sp>
    </p:spTree>
    <p:extLst>
      <p:ext uri="{BB962C8B-B14F-4D97-AF65-F5344CB8AC3E}">
        <p14:creationId xmlns:p14="http://schemas.microsoft.com/office/powerpoint/2010/main" val="3533089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Applications of LP</a:t>
            </a:r>
            <a:endParaRPr lang="en-US" dirty="0"/>
          </a:p>
        </p:txBody>
      </p:sp>
      <p:sp>
        <p:nvSpPr>
          <p:cNvPr id="4" name="Content Placeholder 3"/>
          <p:cNvSpPr>
            <a:spLocks noGrp="1"/>
          </p:cNvSpPr>
          <p:nvPr>
            <p:ph idx="1"/>
          </p:nvPr>
        </p:nvSpPr>
        <p:spPr/>
        <p:txBody>
          <a:bodyPr>
            <a:normAutofit/>
          </a:bodyPr>
          <a:lstStyle/>
          <a:p>
            <a:r>
              <a:rPr lang="tr-TR" dirty="0"/>
              <a:t>LP a</a:t>
            </a:r>
            <a:r>
              <a:rPr lang="en-US" dirty="0" err="1"/>
              <a:t>pplications</a:t>
            </a:r>
            <a:r>
              <a:rPr lang="en-US" dirty="0"/>
              <a:t> abound in operations, finance,</a:t>
            </a:r>
            <a:r>
              <a:rPr lang="tr-TR" dirty="0"/>
              <a:t> </a:t>
            </a:r>
            <a:r>
              <a:rPr lang="en-US" dirty="0"/>
              <a:t>marketing,</a:t>
            </a:r>
            <a:r>
              <a:rPr lang="tr-TR" dirty="0"/>
              <a:t> </a:t>
            </a:r>
            <a:r>
              <a:rPr lang="en-US" dirty="0"/>
              <a:t>engineering, and many other disciplines</a:t>
            </a:r>
            <a:r>
              <a:rPr lang="tr-TR" dirty="0"/>
              <a:t>.</a:t>
            </a:r>
          </a:p>
          <a:p>
            <a:r>
              <a:rPr lang="en-US" dirty="0"/>
              <a:t>Building optimization models is more of an art than a science because there</a:t>
            </a:r>
            <a:r>
              <a:rPr lang="tr-TR" dirty="0"/>
              <a:t> </a:t>
            </a:r>
            <a:r>
              <a:rPr lang="en-US" dirty="0"/>
              <a:t>often are several ways of formulating a particular problem.</a:t>
            </a:r>
            <a:endParaRPr lang="tr-TR" dirty="0"/>
          </a:p>
          <a:p>
            <a:r>
              <a:rPr lang="en-US" dirty="0"/>
              <a:t>Learning how to build</a:t>
            </a:r>
            <a:r>
              <a:rPr lang="tr-TR" dirty="0"/>
              <a:t> </a:t>
            </a:r>
            <a:r>
              <a:rPr lang="en-US" dirty="0"/>
              <a:t>optimization models requires logical thought but can be facilitated by studying</a:t>
            </a:r>
            <a:r>
              <a:rPr lang="tr-TR" dirty="0"/>
              <a:t> </a:t>
            </a:r>
            <a:r>
              <a:rPr lang="en-US" dirty="0"/>
              <a:t>examples</a:t>
            </a:r>
            <a:r>
              <a:rPr lang="tr-TR" dirty="0"/>
              <a:t> </a:t>
            </a:r>
            <a:r>
              <a:rPr lang="en-US" dirty="0"/>
              <a:t>of different models and observing their characteristics.</a:t>
            </a:r>
            <a:endParaRPr lang="tr-TR" dirty="0"/>
          </a:p>
          <a:p>
            <a:r>
              <a:rPr lang="tr-TR" dirty="0"/>
              <a:t>In this class we will </a:t>
            </a:r>
          </a:p>
          <a:p>
            <a:pPr lvl="1"/>
            <a:r>
              <a:rPr lang="tr-TR" dirty="0"/>
              <a:t>Build different types of LP models </a:t>
            </a:r>
          </a:p>
          <a:p>
            <a:pPr lvl="1"/>
            <a:r>
              <a:rPr lang="tr-TR" dirty="0"/>
              <a:t>Learn how to build and solve an LP in Python via PuLP library</a:t>
            </a:r>
            <a:endParaRPr lang="en-US"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500942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a:t>
            </a:r>
            <a:endParaRPr lang="en-US" dirty="0"/>
          </a:p>
        </p:txBody>
      </p:sp>
      <p:sp>
        <p:nvSpPr>
          <p:cNvPr id="4" name="Content Placeholder 3"/>
          <p:cNvSpPr>
            <a:spLocks noGrp="1"/>
          </p:cNvSpPr>
          <p:nvPr>
            <p:ph idx="1"/>
          </p:nvPr>
        </p:nvSpPr>
        <p:spPr/>
        <p:txBody>
          <a:bodyPr>
            <a:normAutofit/>
          </a:bodyPr>
          <a:lstStyle/>
          <a:p>
            <a:pPr marL="0" indent="0">
              <a:buNone/>
            </a:pPr>
            <a:r>
              <a:rPr lang="en-US" sz="2000" dirty="0"/>
              <a:t>Camm Textiles has a mill that produces three types of fabrics</a:t>
            </a:r>
            <a:r>
              <a:rPr lang="tr-TR" sz="2000" dirty="0"/>
              <a:t> </a:t>
            </a:r>
            <a:r>
              <a:rPr lang="en-US" sz="2000" dirty="0"/>
              <a:t>on a make-to-order basis. The mill operates on a 24/7</a:t>
            </a:r>
            <a:r>
              <a:rPr lang="tr-TR" sz="2000" dirty="0"/>
              <a:t> </a:t>
            </a:r>
            <a:r>
              <a:rPr lang="en-US" sz="2000" dirty="0"/>
              <a:t>basis. The key decision facing the plant manager is about</a:t>
            </a:r>
            <a:r>
              <a:rPr lang="tr-TR" sz="2000" dirty="0"/>
              <a:t> </a:t>
            </a:r>
            <a:r>
              <a:rPr lang="en-US" sz="2000" dirty="0"/>
              <a:t>the type of loom needed to process each fabric during the</a:t>
            </a:r>
            <a:r>
              <a:rPr lang="tr-TR" sz="2000" dirty="0"/>
              <a:t> </a:t>
            </a:r>
            <a:r>
              <a:rPr lang="en-US" sz="2000" dirty="0"/>
              <a:t>coming quarter (13 weeks) to meet demands for the three</a:t>
            </a:r>
            <a:r>
              <a:rPr lang="tr-TR" sz="2000" dirty="0"/>
              <a:t> </a:t>
            </a:r>
            <a:r>
              <a:rPr lang="en-US" sz="2000" dirty="0"/>
              <a:t>fabrics and not exceed the capacity of the looms in</a:t>
            </a:r>
            <a:r>
              <a:rPr lang="tr-TR" sz="2000" dirty="0"/>
              <a:t> </a:t>
            </a:r>
            <a:r>
              <a:rPr lang="en-US" sz="2000" dirty="0"/>
              <a:t>the mill. Two types of looms are used: </a:t>
            </a:r>
            <a:r>
              <a:rPr lang="en-US" sz="2000" dirty="0" err="1"/>
              <a:t>dobbie</a:t>
            </a:r>
            <a:r>
              <a:rPr lang="en-US" sz="2000" dirty="0"/>
              <a:t> and regular.</a:t>
            </a:r>
            <a:r>
              <a:rPr lang="tr-TR" sz="2000" dirty="0"/>
              <a:t> </a:t>
            </a:r>
            <a:r>
              <a:rPr lang="en-US" sz="2000" dirty="0"/>
              <a:t>Dobbie looms can be used to make all fabrics and are the</a:t>
            </a:r>
            <a:r>
              <a:rPr lang="tr-TR" sz="2000" dirty="0"/>
              <a:t> </a:t>
            </a:r>
            <a:r>
              <a:rPr lang="en-US" sz="2000" dirty="0"/>
              <a:t>only looms that can weave certain fabrics, such as plaids.</a:t>
            </a:r>
            <a:r>
              <a:rPr lang="tr-TR" sz="2000" dirty="0"/>
              <a:t> </a:t>
            </a:r>
            <a:r>
              <a:rPr lang="en-US" sz="2000" dirty="0"/>
              <a:t>Demands, variable costs for each fabric, and production</a:t>
            </a:r>
            <a:r>
              <a:rPr lang="tr-TR" sz="2000" dirty="0"/>
              <a:t> </a:t>
            </a:r>
            <a:r>
              <a:rPr lang="en-US" sz="2000" dirty="0"/>
              <a:t>rates on the looms are given in Table. The mill has 15</a:t>
            </a:r>
            <a:r>
              <a:rPr lang="tr-TR" sz="2000" dirty="0"/>
              <a:t> </a:t>
            </a:r>
            <a:r>
              <a:rPr lang="en-US" sz="2000" dirty="0"/>
              <a:t>regular looms and 3 </a:t>
            </a:r>
            <a:r>
              <a:rPr lang="en-US" sz="2000" dirty="0" err="1"/>
              <a:t>dobbie</a:t>
            </a:r>
            <a:r>
              <a:rPr lang="en-US" sz="2000" dirty="0"/>
              <a:t> looms. After weaving, fabrics</a:t>
            </a:r>
            <a:r>
              <a:rPr lang="tr-TR" sz="2000" dirty="0"/>
              <a:t> </a:t>
            </a:r>
            <a:r>
              <a:rPr lang="en-US" sz="2000" dirty="0"/>
              <a:t>are sent to the finishing department and then sold. Any</a:t>
            </a:r>
            <a:r>
              <a:rPr lang="tr-TR" sz="2000" dirty="0"/>
              <a:t> </a:t>
            </a:r>
            <a:r>
              <a:rPr lang="en-US" sz="2000" dirty="0"/>
              <a:t>fabrics that cannot be woven in the mill because of limited</a:t>
            </a:r>
            <a:r>
              <a:rPr lang="tr-TR" sz="2000" dirty="0"/>
              <a:t> </a:t>
            </a:r>
            <a:r>
              <a:rPr lang="en-US" sz="2000" dirty="0"/>
              <a:t>capacity will be purchased from an external supplier, finished</a:t>
            </a:r>
            <a:r>
              <a:rPr lang="tr-TR" sz="2000" dirty="0"/>
              <a:t> </a:t>
            </a:r>
            <a:r>
              <a:rPr lang="en-US" sz="2000" dirty="0"/>
              <a:t>at the mill, and sold at the selling price. In addition</a:t>
            </a:r>
            <a:r>
              <a:rPr lang="tr-TR" sz="2000" dirty="0"/>
              <a:t> </a:t>
            </a:r>
            <a:r>
              <a:rPr lang="en-US" sz="2000" dirty="0"/>
              <a:t>to determining which looms to use to process the fabrics,</a:t>
            </a:r>
            <a:r>
              <a:rPr lang="tr-TR" sz="2000" dirty="0"/>
              <a:t> </a:t>
            </a:r>
            <a:r>
              <a:rPr lang="en-US" sz="2000" dirty="0"/>
              <a:t>the manager also needs to determine which fabrics to buy</a:t>
            </a:r>
            <a:r>
              <a:rPr lang="tr-TR" sz="2000" dirty="0"/>
              <a:t> </a:t>
            </a:r>
            <a:r>
              <a:rPr lang="en-US" sz="2000" dirty="0"/>
              <a:t>externally.</a:t>
            </a:r>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5" name="Picture 4"/>
          <p:cNvPicPr>
            <a:picLocks noChangeAspect="1"/>
          </p:cNvPicPr>
          <p:nvPr/>
        </p:nvPicPr>
        <p:blipFill>
          <a:blip r:embed="rId2"/>
          <a:stretch>
            <a:fillRect/>
          </a:stretch>
        </p:blipFill>
        <p:spPr>
          <a:xfrm>
            <a:off x="1074700" y="4524375"/>
            <a:ext cx="10042599" cy="1786256"/>
          </a:xfrm>
          <a:prstGeom prst="rect">
            <a:avLst/>
          </a:prstGeom>
        </p:spPr>
      </p:pic>
    </p:spTree>
    <p:extLst>
      <p:ext uri="{BB962C8B-B14F-4D97-AF65-F5344CB8AC3E}">
        <p14:creationId xmlns:p14="http://schemas.microsoft.com/office/powerpoint/2010/main" val="918209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tr-TR" sz="2200" dirty="0"/>
              </a:p>
              <a:p>
                <a:endParaRPr lang="tr-TR" sz="2200" dirty="0"/>
              </a:p>
              <a:p>
                <a:endParaRPr lang="tr-TR" sz="2200" dirty="0"/>
              </a:p>
              <a:p>
                <a:endParaRPr lang="tr-TR" sz="2200" dirty="0"/>
              </a:p>
              <a:p>
                <a:r>
                  <a:rPr lang="tr-TR" sz="2200" dirty="0"/>
                  <a:t>Decision variables:</a:t>
                </a:r>
              </a:p>
              <a:p>
                <a:pPr marL="0" indent="361950">
                  <a:buNone/>
                </a:pPr>
                <a14:m>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𝑖</m:t>
                        </m:r>
                      </m:sub>
                    </m:sSub>
                    <m:r>
                      <a:rPr lang="tr-TR" sz="2200" b="0" i="1" smtClean="0">
                        <a:latin typeface="Cambria Math" panose="02040503050406030204" pitchFamily="18" charset="0"/>
                      </a:rPr>
                      <m:t>=</m:t>
                    </m:r>
                  </m:oMath>
                </a14:m>
                <a:r>
                  <a:rPr lang="tr-TR" sz="2200" dirty="0"/>
                  <a:t> N</a:t>
                </a:r>
                <a:r>
                  <a:rPr lang="en-US" sz="2200" dirty="0"/>
                  <a:t>umber of yards of fabric </a:t>
                </a:r>
                <a14:m>
                  <m:oMath xmlns:m="http://schemas.openxmlformats.org/officeDocument/2006/math">
                    <m:r>
                      <a:rPr lang="en-US" sz="2200" i="1" dirty="0" smtClean="0">
                        <a:latin typeface="Cambria Math" panose="02040503050406030204" pitchFamily="18" charset="0"/>
                      </a:rPr>
                      <m:t>𝑖</m:t>
                    </m:r>
                  </m:oMath>
                </a14:m>
                <a:r>
                  <a:rPr lang="en-US" sz="2200" dirty="0"/>
                  <a:t> to produce on </a:t>
                </a:r>
                <a:r>
                  <a:rPr lang="en-US" sz="2200" dirty="0" err="1"/>
                  <a:t>dobbie</a:t>
                </a:r>
                <a:r>
                  <a:rPr lang="tr-TR" sz="2200" dirty="0"/>
                  <a:t> </a:t>
                </a:r>
                <a:r>
                  <a:rPr lang="en-US" sz="2200" dirty="0"/>
                  <a:t>looms, </a:t>
                </a:r>
                <a14:m>
                  <m:oMath xmlns:m="http://schemas.openxmlformats.org/officeDocument/2006/math">
                    <m:r>
                      <a:rPr lang="en-US" sz="2200" i="1" dirty="0" smtClean="0">
                        <a:latin typeface="Cambria Math" panose="02040503050406030204" pitchFamily="18" charset="0"/>
                      </a:rPr>
                      <m:t>𝑖</m:t>
                    </m:r>
                    <m:r>
                      <a:rPr lang="tr-TR" sz="2200" b="0" i="1" dirty="0" smtClean="0">
                        <a:latin typeface="Cambria Math" panose="02040503050406030204" pitchFamily="18" charset="0"/>
                      </a:rPr>
                      <m:t>=1,2,3.</m:t>
                    </m:r>
                  </m:oMath>
                </a14:m>
                <a:endParaRPr lang="tr-TR" sz="2200" dirty="0"/>
              </a:p>
              <a:p>
                <a:pPr marL="0" indent="361950">
                  <a:buNone/>
                </a:pPr>
                <a14:m>
                  <m:oMath xmlns:m="http://schemas.openxmlformats.org/officeDocument/2006/math">
                    <m:sSub>
                      <m:sSubPr>
                        <m:ctrlPr>
                          <a:rPr lang="tr-TR" sz="2200" i="1">
                            <a:latin typeface="Cambria Math" panose="02040503050406030204" pitchFamily="18" charset="0"/>
                          </a:rPr>
                        </m:ctrlPr>
                      </m:sSubPr>
                      <m:e>
                        <m:r>
                          <a:rPr lang="tr-TR" sz="2200" b="0" i="1" smtClean="0">
                            <a:latin typeface="Cambria Math" panose="02040503050406030204" pitchFamily="18" charset="0"/>
                          </a:rPr>
                          <m:t>𝑅</m:t>
                        </m:r>
                      </m:e>
                      <m:sub>
                        <m:r>
                          <a:rPr lang="tr-TR" sz="2200" i="1">
                            <a:latin typeface="Cambria Math" panose="02040503050406030204" pitchFamily="18" charset="0"/>
                          </a:rPr>
                          <m:t>𝑖</m:t>
                        </m:r>
                      </m:sub>
                    </m:sSub>
                    <m:r>
                      <a:rPr lang="tr-TR" sz="2200" i="1">
                        <a:latin typeface="Cambria Math" panose="02040503050406030204" pitchFamily="18" charset="0"/>
                      </a:rPr>
                      <m:t>=</m:t>
                    </m:r>
                  </m:oMath>
                </a14:m>
                <a:r>
                  <a:rPr lang="tr-TR" sz="2200" dirty="0"/>
                  <a:t> N</a:t>
                </a:r>
                <a:r>
                  <a:rPr lang="en-US" sz="2200" dirty="0"/>
                  <a:t>umber of yards of fabric </a:t>
                </a:r>
                <a14:m>
                  <m:oMath xmlns:m="http://schemas.openxmlformats.org/officeDocument/2006/math">
                    <m:r>
                      <a:rPr lang="en-US" sz="2200" i="1" dirty="0">
                        <a:latin typeface="Cambria Math" panose="02040503050406030204" pitchFamily="18" charset="0"/>
                      </a:rPr>
                      <m:t>𝑖</m:t>
                    </m:r>
                  </m:oMath>
                </a14:m>
                <a:r>
                  <a:rPr lang="en-US" sz="2200" dirty="0"/>
                  <a:t> to produce on </a:t>
                </a:r>
                <a:r>
                  <a:rPr lang="tr-TR" sz="2200" dirty="0"/>
                  <a:t>regular </a:t>
                </a:r>
                <a:r>
                  <a:rPr lang="en-US" sz="2200" dirty="0"/>
                  <a:t>looms, </a:t>
                </a:r>
                <a14:m>
                  <m:oMath xmlns:m="http://schemas.openxmlformats.org/officeDocument/2006/math">
                    <m:r>
                      <a:rPr lang="en-US" sz="2200" i="1" dirty="0">
                        <a:latin typeface="Cambria Math" panose="02040503050406030204" pitchFamily="18" charset="0"/>
                      </a:rPr>
                      <m:t>𝑖</m:t>
                    </m:r>
                    <m:r>
                      <a:rPr lang="tr-TR" sz="2200" i="1" dirty="0">
                        <a:latin typeface="Cambria Math" panose="02040503050406030204" pitchFamily="18" charset="0"/>
                      </a:rPr>
                      <m:t>=2,3</m:t>
                    </m:r>
                    <m:r>
                      <a:rPr lang="tr-TR" sz="2200" b="0" i="1" dirty="0" smtClean="0">
                        <a:latin typeface="Cambria Math" panose="02040503050406030204" pitchFamily="18" charset="0"/>
                      </a:rPr>
                      <m:t>.</m:t>
                    </m:r>
                  </m:oMath>
                </a14:m>
                <a:endParaRPr lang="tr-TR" sz="2200" dirty="0"/>
              </a:p>
              <a:p>
                <a:pPr marL="0" indent="361950">
                  <a:buNone/>
                </a:pPr>
                <a14:m>
                  <m:oMath xmlns:m="http://schemas.openxmlformats.org/officeDocument/2006/math">
                    <m:sSub>
                      <m:sSubPr>
                        <m:ctrlPr>
                          <a:rPr lang="tr-TR" sz="2200" i="1">
                            <a:latin typeface="Cambria Math" panose="02040503050406030204" pitchFamily="18" charset="0"/>
                          </a:rPr>
                        </m:ctrlPr>
                      </m:sSubPr>
                      <m:e>
                        <m:r>
                          <a:rPr lang="tr-TR" sz="2200" b="0" i="1" smtClean="0">
                            <a:latin typeface="Cambria Math" panose="02040503050406030204" pitchFamily="18" charset="0"/>
                          </a:rPr>
                          <m:t>𝑃</m:t>
                        </m:r>
                      </m:e>
                      <m:sub>
                        <m:r>
                          <a:rPr lang="tr-TR" sz="2200" i="1">
                            <a:latin typeface="Cambria Math" panose="02040503050406030204" pitchFamily="18" charset="0"/>
                          </a:rPr>
                          <m:t>𝑖</m:t>
                        </m:r>
                      </m:sub>
                    </m:sSub>
                    <m:r>
                      <a:rPr lang="tr-TR" sz="2200" i="1">
                        <a:latin typeface="Cambria Math" panose="02040503050406030204" pitchFamily="18" charset="0"/>
                      </a:rPr>
                      <m:t>=</m:t>
                    </m:r>
                  </m:oMath>
                </a14:m>
                <a:r>
                  <a:rPr lang="tr-TR" sz="2200" dirty="0"/>
                  <a:t> N</a:t>
                </a:r>
                <a:r>
                  <a:rPr lang="en-US" sz="2200" dirty="0"/>
                  <a:t>umber of yards of fabric </a:t>
                </a:r>
                <a14:m>
                  <m:oMath xmlns:m="http://schemas.openxmlformats.org/officeDocument/2006/math">
                    <m:r>
                      <a:rPr lang="en-US" sz="2200" i="1" dirty="0">
                        <a:latin typeface="Cambria Math" panose="02040503050406030204" pitchFamily="18" charset="0"/>
                      </a:rPr>
                      <m:t>𝑖</m:t>
                    </m:r>
                  </m:oMath>
                </a14:m>
                <a:r>
                  <a:rPr lang="en-US" sz="2200" dirty="0"/>
                  <a:t> to o purchase from an</a:t>
                </a:r>
                <a:r>
                  <a:rPr lang="tr-TR" sz="2200" dirty="0"/>
                  <a:t> </a:t>
                </a:r>
                <a:r>
                  <a:rPr lang="en-US" sz="2200" dirty="0"/>
                  <a:t>outside supplier, </a:t>
                </a:r>
                <a14:m>
                  <m:oMath xmlns:m="http://schemas.openxmlformats.org/officeDocument/2006/math">
                    <m:r>
                      <a:rPr lang="en-US" sz="2200" i="1" dirty="0">
                        <a:latin typeface="Cambria Math" panose="02040503050406030204" pitchFamily="18" charset="0"/>
                      </a:rPr>
                      <m:t>𝑖</m:t>
                    </m:r>
                    <m:r>
                      <a:rPr lang="tr-TR" sz="2200" i="1" dirty="0">
                        <a:latin typeface="Cambria Math" panose="02040503050406030204" pitchFamily="18" charset="0"/>
                      </a:rPr>
                      <m:t>=1,2,3.</m:t>
                    </m:r>
                  </m:oMath>
                </a14:m>
                <a:endParaRPr lang="tr-TR" sz="2200" dirty="0"/>
              </a:p>
              <a:p>
                <a:r>
                  <a:rPr lang="tr-TR" sz="2200" dirty="0"/>
                  <a:t>Objective Function:</a:t>
                </a:r>
              </a:p>
              <a:p>
                <a:pPr marL="0" indent="0">
                  <a:buNone/>
                </a:pPr>
                <a14:m>
                  <m:oMathPara xmlns:m="http://schemas.openxmlformats.org/officeDocument/2006/math">
                    <m:oMathParaPr>
                      <m:jc m:val="centerGroup"/>
                    </m:oMathParaPr>
                    <m:oMath xmlns:m="http://schemas.openxmlformats.org/officeDocument/2006/math">
                      <m:r>
                        <a:rPr lang="tr-TR" sz="2200" i="1" dirty="0" smtClean="0">
                          <a:latin typeface="Cambria Math" panose="02040503050406030204" pitchFamily="18" charset="0"/>
                        </a:rPr>
                        <m:t>𝑀𝑖𝑛</m:t>
                      </m:r>
                      <m:r>
                        <a:rPr lang="tr-TR" sz="2200" i="1" dirty="0" smtClean="0">
                          <a:latin typeface="Cambria Math" panose="02040503050406030204" pitchFamily="18" charset="0"/>
                        </a:rPr>
                        <m:t> 0.65</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𝐷</m:t>
                          </m:r>
                        </m:e>
                        <m:sub>
                          <m:r>
                            <a:rPr lang="tr-TR" sz="2200" b="0" i="1" dirty="0" smtClean="0">
                              <a:latin typeface="Cambria Math" panose="02040503050406030204" pitchFamily="18" charset="0"/>
                            </a:rPr>
                            <m:t>1</m:t>
                          </m:r>
                        </m:sub>
                      </m:sSub>
                      <m:r>
                        <a:rPr lang="tr-TR" sz="2200" b="0" i="1" dirty="0" smtClean="0">
                          <a:latin typeface="Cambria Math" panose="02040503050406030204" pitchFamily="18" charset="0"/>
                        </a:rPr>
                        <m:t>+0.61</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𝐷</m:t>
                          </m:r>
                        </m:e>
                        <m:sub>
                          <m:r>
                            <a:rPr lang="tr-TR" sz="2200" b="0" i="1" dirty="0" smtClean="0">
                              <a:latin typeface="Cambria Math" panose="02040503050406030204" pitchFamily="18" charset="0"/>
                            </a:rPr>
                            <m:t>2</m:t>
                          </m:r>
                        </m:sub>
                      </m:sSub>
                      <m:r>
                        <a:rPr lang="tr-TR" sz="2200" b="0" i="1" dirty="0" smtClean="0">
                          <a:latin typeface="Cambria Math" panose="02040503050406030204" pitchFamily="18" charset="0"/>
                        </a:rPr>
                        <m:t>+0.50</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𝐷</m:t>
                          </m:r>
                        </m:e>
                        <m:sub>
                          <m:r>
                            <a:rPr lang="tr-TR" sz="2200" b="0" i="1" dirty="0" smtClean="0">
                              <a:latin typeface="Cambria Math" panose="02040503050406030204" pitchFamily="18" charset="0"/>
                            </a:rPr>
                            <m:t>3</m:t>
                          </m:r>
                        </m:sub>
                      </m:sSub>
                      <m:r>
                        <a:rPr lang="tr-TR" sz="2200" b="0" i="1" dirty="0" smtClean="0">
                          <a:latin typeface="Cambria Math" panose="02040503050406030204" pitchFamily="18" charset="0"/>
                        </a:rPr>
                        <m:t>+0.61</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𝑅</m:t>
                          </m:r>
                        </m:e>
                        <m:sub>
                          <m:r>
                            <a:rPr lang="tr-TR" sz="2200" b="0" i="1" dirty="0" smtClean="0">
                              <a:latin typeface="Cambria Math" panose="02040503050406030204" pitchFamily="18" charset="0"/>
                            </a:rPr>
                            <m:t>2</m:t>
                          </m:r>
                        </m:sub>
                      </m:sSub>
                      <m:r>
                        <a:rPr lang="tr-TR" sz="2200" b="0" i="1" dirty="0" smtClean="0">
                          <a:latin typeface="Cambria Math" panose="02040503050406030204" pitchFamily="18" charset="0"/>
                        </a:rPr>
                        <m:t>+0.50</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𝑅</m:t>
                          </m:r>
                        </m:e>
                        <m:sub>
                          <m:r>
                            <a:rPr lang="tr-TR" sz="2200" b="0" i="1" dirty="0" smtClean="0">
                              <a:latin typeface="Cambria Math" panose="02040503050406030204" pitchFamily="18" charset="0"/>
                            </a:rPr>
                            <m:t>3</m:t>
                          </m:r>
                        </m:sub>
                      </m:sSub>
                      <m:r>
                        <a:rPr lang="tr-TR" sz="2200" b="0" i="1" dirty="0" smtClean="0">
                          <a:latin typeface="Cambria Math" panose="02040503050406030204" pitchFamily="18" charset="0"/>
                        </a:rPr>
                        <m:t>+0.85</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𝑃</m:t>
                          </m:r>
                        </m:e>
                        <m:sub>
                          <m:r>
                            <a:rPr lang="tr-TR" sz="2200" b="0" i="1" dirty="0" smtClean="0">
                              <a:latin typeface="Cambria Math" panose="02040503050406030204" pitchFamily="18" charset="0"/>
                            </a:rPr>
                            <m:t>1</m:t>
                          </m:r>
                        </m:sub>
                      </m:sSub>
                      <m:r>
                        <a:rPr lang="tr-TR" sz="2200" b="0" i="1" dirty="0" smtClean="0">
                          <a:latin typeface="Cambria Math" panose="02040503050406030204" pitchFamily="18" charset="0"/>
                        </a:rPr>
                        <m:t>+0.75</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𝑃</m:t>
                          </m:r>
                        </m:e>
                        <m:sub>
                          <m:r>
                            <a:rPr lang="tr-TR" sz="2200" b="0" i="1" dirty="0" smtClean="0">
                              <a:latin typeface="Cambria Math" panose="02040503050406030204" pitchFamily="18" charset="0"/>
                            </a:rPr>
                            <m:t>2</m:t>
                          </m:r>
                        </m:sub>
                      </m:sSub>
                      <m:r>
                        <a:rPr lang="tr-TR" sz="2200" b="0" i="1" dirty="0" smtClean="0">
                          <a:latin typeface="Cambria Math" panose="02040503050406030204" pitchFamily="18" charset="0"/>
                        </a:rPr>
                        <m:t>+0.65</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𝑃</m:t>
                          </m:r>
                        </m:e>
                        <m:sub>
                          <m:r>
                            <a:rPr lang="tr-TR" sz="2200" b="0" i="1" dirty="0" smtClean="0">
                              <a:latin typeface="Cambria Math" panose="02040503050406030204" pitchFamily="18" charset="0"/>
                            </a:rPr>
                            <m:t>3</m:t>
                          </m:r>
                        </m:sub>
                      </m:sSub>
                    </m:oMath>
                  </m:oMathPara>
                </a14:m>
                <a:endParaRPr lang="tr-TR" sz="2200" dirty="0"/>
              </a:p>
              <a:p>
                <a:pPr marL="0" indent="361950">
                  <a:buNone/>
                </a:pPr>
                <a:endParaRPr lang="tr-TR" sz="2200" dirty="0"/>
              </a:p>
              <a:p>
                <a:pPr marL="0" indent="0">
                  <a:buNone/>
                </a:pPr>
                <a:endParaRPr lang="tr-TR" sz="22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p:cNvPicPr>
            <a:picLocks noChangeAspect="1"/>
          </p:cNvPicPr>
          <p:nvPr/>
        </p:nvPicPr>
        <p:blipFill>
          <a:blip r:embed="rId3"/>
          <a:stretch>
            <a:fillRect/>
          </a:stretch>
        </p:blipFill>
        <p:spPr>
          <a:xfrm>
            <a:off x="1074700" y="1389529"/>
            <a:ext cx="10042599" cy="1786256"/>
          </a:xfrm>
          <a:prstGeom prst="rect">
            <a:avLst/>
          </a:prstGeom>
        </p:spPr>
      </p:pic>
    </p:spTree>
    <p:extLst>
      <p:ext uri="{BB962C8B-B14F-4D97-AF65-F5344CB8AC3E}">
        <p14:creationId xmlns:p14="http://schemas.microsoft.com/office/powerpoint/2010/main" val="365021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tr-TR" sz="2200" dirty="0"/>
              </a:p>
              <a:p>
                <a:endParaRPr lang="tr-TR" sz="2200" dirty="0"/>
              </a:p>
              <a:p>
                <a:endParaRPr lang="tr-TR" sz="2200" dirty="0"/>
              </a:p>
              <a:p>
                <a:endParaRPr lang="tr-TR" sz="2200" dirty="0"/>
              </a:p>
              <a:p>
                <a:r>
                  <a:rPr lang="tr-TR" sz="2200" dirty="0"/>
                  <a:t>Constraints:</a:t>
                </a:r>
              </a:p>
              <a:p>
                <a:pPr marL="0" indent="361950">
                  <a:buNone/>
                </a:pPr>
                <a:r>
                  <a:rPr lang="tr-TR" sz="2200" dirty="0"/>
                  <a:t>Demand Constraint:</a:t>
                </a:r>
              </a:p>
              <a:p>
                <a:pPr marL="0" indent="361950">
                  <a:buNone/>
                </a:pPr>
                <a14:m>
                  <m:oMathPara xmlns:m="http://schemas.openxmlformats.org/officeDocument/2006/math">
                    <m:oMathParaPr>
                      <m:jc m:val="centerGroup"/>
                    </m:oMathParaPr>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1</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𝑃</m:t>
                          </m:r>
                        </m:e>
                        <m:sub>
                          <m:r>
                            <a:rPr lang="tr-TR" sz="2200" b="0" i="1" smtClean="0">
                              <a:latin typeface="Cambria Math" panose="02040503050406030204" pitchFamily="18" charset="0"/>
                            </a:rPr>
                            <m:t>1</m:t>
                          </m:r>
                        </m:sub>
                      </m:sSub>
                      <m:r>
                        <a:rPr lang="tr-TR" sz="2200" b="0" i="1" smtClean="0">
                          <a:latin typeface="Cambria Math" panose="02040503050406030204" pitchFamily="18" charset="0"/>
                        </a:rPr>
                        <m:t>=45000</m:t>
                      </m:r>
                    </m:oMath>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2</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𝑅</m:t>
                          </m:r>
                        </m:e>
                        <m:sub>
                          <m:r>
                            <a:rPr lang="tr-TR" sz="2200" b="0" i="1" smtClean="0">
                              <a:latin typeface="Cambria Math" panose="02040503050406030204" pitchFamily="18" charset="0"/>
                            </a:rPr>
                            <m:t>2</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𝑃</m:t>
                          </m:r>
                        </m:e>
                        <m:sub>
                          <m:r>
                            <a:rPr lang="tr-TR" sz="2200" b="0" i="1" smtClean="0">
                              <a:latin typeface="Cambria Math" panose="02040503050406030204" pitchFamily="18" charset="0"/>
                            </a:rPr>
                            <m:t>2</m:t>
                          </m:r>
                        </m:sub>
                      </m:sSub>
                      <m:r>
                        <a:rPr lang="tr-TR" sz="2200" b="0" i="1" smtClean="0">
                          <a:latin typeface="Cambria Math" panose="02040503050406030204" pitchFamily="18" charset="0"/>
                        </a:rPr>
                        <m:t>=76500</m:t>
                      </m:r>
                    </m:oMath>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3</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𝑅</m:t>
                          </m:r>
                        </m:e>
                        <m:sub>
                          <m:r>
                            <a:rPr lang="tr-TR" sz="2200" b="0" i="1" smtClean="0">
                              <a:latin typeface="Cambria Math" panose="02040503050406030204" pitchFamily="18" charset="0"/>
                            </a:rPr>
                            <m:t>3</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𝑃</m:t>
                          </m:r>
                        </m:e>
                        <m:sub>
                          <m:r>
                            <a:rPr lang="tr-TR" sz="2200" b="0" i="1" smtClean="0">
                              <a:latin typeface="Cambria Math" panose="02040503050406030204" pitchFamily="18" charset="0"/>
                            </a:rPr>
                            <m:t>3</m:t>
                          </m:r>
                        </m:sub>
                      </m:sSub>
                      <m:r>
                        <a:rPr lang="tr-TR" sz="2200" b="0" i="1" smtClean="0">
                          <a:latin typeface="Cambria Math" panose="02040503050406030204" pitchFamily="18" charset="0"/>
                        </a:rPr>
                        <m:t>=10000</m:t>
                      </m:r>
                    </m:oMath>
                  </m:oMathPara>
                </a14:m>
                <a:endParaRPr lang="tr-TR" sz="2200" b="0" dirty="0"/>
              </a:p>
              <a:p>
                <a:pPr marL="0" indent="361950">
                  <a:buNone/>
                </a:pPr>
                <a:endParaRPr lang="tr-TR" sz="2200" dirty="0"/>
              </a:p>
              <a:p>
                <a:pPr marL="0" indent="0">
                  <a:buNone/>
                </a:pPr>
                <a:endParaRPr lang="tr-TR" sz="22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p:cNvPicPr>
            <a:picLocks noChangeAspect="1"/>
          </p:cNvPicPr>
          <p:nvPr/>
        </p:nvPicPr>
        <p:blipFill>
          <a:blip r:embed="rId3"/>
          <a:stretch>
            <a:fillRect/>
          </a:stretch>
        </p:blipFill>
        <p:spPr>
          <a:xfrm>
            <a:off x="1074700" y="1389529"/>
            <a:ext cx="10042599" cy="1786256"/>
          </a:xfrm>
          <a:prstGeom prst="rect">
            <a:avLst/>
          </a:prstGeom>
        </p:spPr>
      </p:pic>
    </p:spTree>
    <p:extLst>
      <p:ext uri="{BB962C8B-B14F-4D97-AF65-F5344CB8AC3E}">
        <p14:creationId xmlns:p14="http://schemas.microsoft.com/office/powerpoint/2010/main" val="97676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tr-TR" sz="2200" dirty="0"/>
              </a:p>
              <a:p>
                <a:endParaRPr lang="tr-TR" sz="2200" dirty="0"/>
              </a:p>
              <a:p>
                <a:endParaRPr lang="tr-TR" sz="2200" dirty="0"/>
              </a:p>
              <a:p>
                <a:pPr marL="0" indent="361950">
                  <a:buNone/>
                </a:pPr>
                <a:endParaRPr lang="tr-TR" sz="2200" dirty="0"/>
              </a:p>
              <a:p>
                <a:pPr marL="0" indent="361950">
                  <a:buNone/>
                </a:pPr>
                <a:endParaRPr lang="tr-TR" sz="2200" dirty="0"/>
              </a:p>
              <a:p>
                <a:pPr marL="0" indent="361950">
                  <a:buNone/>
                </a:pPr>
                <a:r>
                  <a:rPr lang="tr-TR" sz="2200" dirty="0"/>
                  <a:t>Capacity Constraints:</a:t>
                </a:r>
              </a:p>
              <a:p>
                <a:pPr marL="361950" indent="0">
                  <a:buNone/>
                </a:pPr>
                <a:r>
                  <a:rPr lang="tr-TR" sz="2200" dirty="0"/>
                  <a:t>First convert yards/hour to hour/yards to find how many hours needed per yard for each fabric at each loom.</a:t>
                </a:r>
              </a:p>
              <a:p>
                <a:pPr marL="361950" indent="0">
                  <a:buNone/>
                </a:pPr>
                <a14:m>
                  <m:oMathPara xmlns:m="http://schemas.openxmlformats.org/officeDocument/2006/math">
                    <m:oMathParaPr>
                      <m:jc m:val="centerGroup"/>
                    </m:oMathParaPr>
                    <m:oMath xmlns:m="http://schemas.openxmlformats.org/officeDocument/2006/math">
                      <m:f>
                        <m:fPr>
                          <m:type m:val="lin"/>
                          <m:ctrlPr>
                            <a:rPr lang="tr-TR" sz="2000" b="0" i="1" smtClean="0">
                              <a:latin typeface="Cambria Math" panose="02040503050406030204" pitchFamily="18" charset="0"/>
                            </a:rPr>
                          </m:ctrlPr>
                        </m:fPr>
                        <m:num>
                          <m:r>
                            <a:rPr lang="tr-TR" sz="2000" b="0" i="1" smtClean="0">
                              <a:latin typeface="Cambria Math" panose="02040503050406030204" pitchFamily="18" charset="0"/>
                            </a:rPr>
                            <m:t>1</m:t>
                          </m:r>
                        </m:num>
                        <m:den>
                          <m:r>
                            <a:rPr lang="tr-TR" sz="2000" b="0" i="1" smtClean="0">
                              <a:latin typeface="Cambria Math" panose="02040503050406030204" pitchFamily="18" charset="0"/>
                            </a:rPr>
                            <m:t>4.7</m:t>
                          </m:r>
                        </m:den>
                      </m:f>
                      <m:r>
                        <a:rPr lang="tr-TR" sz="2000" b="0" i="1" smtClean="0">
                          <a:latin typeface="Cambria Math" panose="02040503050406030204" pitchFamily="18" charset="0"/>
                        </a:rPr>
                        <m:t>=0.213,  </m:t>
                      </m:r>
                      <m:f>
                        <m:fPr>
                          <m:type m:val="lin"/>
                          <m:ctrlPr>
                            <a:rPr lang="tr-TR" sz="2000" b="0" i="1" smtClean="0">
                              <a:latin typeface="Cambria Math" panose="02040503050406030204" pitchFamily="18" charset="0"/>
                            </a:rPr>
                          </m:ctrlPr>
                        </m:fPr>
                        <m:num>
                          <m:r>
                            <a:rPr lang="tr-TR" sz="2000" b="0" i="1" smtClean="0">
                              <a:latin typeface="Cambria Math" panose="02040503050406030204" pitchFamily="18" charset="0"/>
                            </a:rPr>
                            <m:t>1</m:t>
                          </m:r>
                        </m:num>
                        <m:den>
                          <m:r>
                            <a:rPr lang="tr-TR" sz="2000" b="0" i="1" smtClean="0">
                              <a:latin typeface="Cambria Math" panose="02040503050406030204" pitchFamily="18" charset="0"/>
                            </a:rPr>
                            <m:t>5.2</m:t>
                          </m:r>
                        </m:den>
                      </m:f>
                      <m:r>
                        <a:rPr lang="tr-TR" sz="2000" b="0" i="1" smtClean="0">
                          <a:latin typeface="Cambria Math" panose="02040503050406030204" pitchFamily="18" charset="0"/>
                        </a:rPr>
                        <m:t>=0.192,  </m:t>
                      </m:r>
                      <m:f>
                        <m:fPr>
                          <m:type m:val="lin"/>
                          <m:ctrlPr>
                            <a:rPr lang="tr-TR" sz="2000" b="0" i="1" smtClean="0">
                              <a:latin typeface="Cambria Math" panose="02040503050406030204" pitchFamily="18" charset="0"/>
                            </a:rPr>
                          </m:ctrlPr>
                        </m:fPr>
                        <m:num>
                          <m:r>
                            <a:rPr lang="tr-TR" sz="2000" b="0" i="1" smtClean="0">
                              <a:latin typeface="Cambria Math" panose="02040503050406030204" pitchFamily="18" charset="0"/>
                            </a:rPr>
                            <m:t>1</m:t>
                          </m:r>
                        </m:num>
                        <m:den>
                          <m:r>
                            <a:rPr lang="tr-TR" sz="2000" b="0" i="1" smtClean="0">
                              <a:latin typeface="Cambria Math" panose="02040503050406030204" pitchFamily="18" charset="0"/>
                            </a:rPr>
                            <m:t>4.4</m:t>
                          </m:r>
                        </m:den>
                      </m:f>
                      <m:r>
                        <a:rPr lang="tr-TR" sz="2000" b="0" i="1" smtClean="0">
                          <a:latin typeface="Cambria Math" panose="02040503050406030204" pitchFamily="18" charset="0"/>
                        </a:rPr>
                        <m:t>=0.227</m:t>
                      </m:r>
                    </m:oMath>
                  </m:oMathPara>
                </a14:m>
                <a:endParaRPr lang="tr-TR" sz="2000" dirty="0"/>
              </a:p>
              <a:p>
                <a:pPr marL="361950" indent="0">
                  <a:buNone/>
                </a:pPr>
                <a:r>
                  <a:rPr lang="tr-TR" sz="2200" dirty="0"/>
                  <a:t>Also compute how many hours of capacity we have from dobbie looms and regular looms in 13 weeks. </a:t>
                </a:r>
              </a:p>
              <a:p>
                <a:pPr marL="361950" indent="0">
                  <a:buNone/>
                </a:pPr>
                <a14:m>
                  <m:oMathPara xmlns:m="http://schemas.openxmlformats.org/officeDocument/2006/math">
                    <m:oMathParaPr>
                      <m:jc m:val="centerGroup"/>
                    </m:oMathParaPr>
                    <m:oMath xmlns:m="http://schemas.openxmlformats.org/officeDocument/2006/math">
                      <m:d>
                        <m:dPr>
                          <m:ctrlPr>
                            <a:rPr lang="tr-TR" sz="2200" b="0" i="1" smtClean="0">
                              <a:latin typeface="Cambria Math" panose="02040503050406030204" pitchFamily="18" charset="0"/>
                            </a:rPr>
                          </m:ctrlPr>
                        </m:dPr>
                        <m:e>
                          <m:r>
                            <a:rPr lang="tr-TR" sz="2200" b="0" i="1" smtClean="0">
                              <a:latin typeface="Cambria Math" panose="02040503050406030204" pitchFamily="18" charset="0"/>
                            </a:rPr>
                            <m:t>13</m:t>
                          </m:r>
                          <m:r>
                            <a:rPr lang="tr-TR" sz="2200" b="0" i="1" smtClean="0">
                              <a:latin typeface="Cambria Math" panose="02040503050406030204" pitchFamily="18" charset="0"/>
                            </a:rPr>
                            <m:t>𝑤𝑒𝑒𝑘𝑠</m:t>
                          </m:r>
                        </m:e>
                      </m:d>
                      <m:d>
                        <m:dPr>
                          <m:ctrlPr>
                            <a:rPr lang="tr-TR" sz="2200" b="0" i="1" smtClean="0">
                              <a:latin typeface="Cambria Math" panose="02040503050406030204" pitchFamily="18" charset="0"/>
                            </a:rPr>
                          </m:ctrlPr>
                        </m:dPr>
                        <m:e>
                          <m:r>
                            <a:rPr lang="tr-TR" sz="2200" b="0" i="1" smtClean="0">
                              <a:latin typeface="Cambria Math" panose="02040503050406030204" pitchFamily="18" charset="0"/>
                            </a:rPr>
                            <m:t>7</m:t>
                          </m:r>
                          <m:r>
                            <a:rPr lang="tr-TR" sz="2200" b="0" i="1" smtClean="0">
                              <a:latin typeface="Cambria Math" panose="02040503050406030204" pitchFamily="18" charset="0"/>
                            </a:rPr>
                            <m:t>𝑑𝑎𝑦𝑠</m:t>
                          </m:r>
                        </m:e>
                      </m:d>
                      <m:d>
                        <m:dPr>
                          <m:ctrlPr>
                            <a:rPr lang="tr-TR" sz="2200" b="0" i="1" smtClean="0">
                              <a:latin typeface="Cambria Math" panose="02040503050406030204" pitchFamily="18" charset="0"/>
                            </a:rPr>
                          </m:ctrlPr>
                        </m:dPr>
                        <m:e>
                          <m:r>
                            <a:rPr lang="tr-TR" sz="2200" b="0" i="1" smtClean="0">
                              <a:latin typeface="Cambria Math" panose="02040503050406030204" pitchFamily="18" charset="0"/>
                            </a:rPr>
                            <m:t>24</m:t>
                          </m:r>
                          <m:r>
                            <a:rPr lang="tr-TR" sz="2200" b="0" i="1" smtClean="0">
                              <a:latin typeface="Cambria Math" panose="02040503050406030204" pitchFamily="18" charset="0"/>
                            </a:rPr>
                            <m:t>h𝑜𝑢𝑟𝑠</m:t>
                          </m:r>
                        </m:e>
                      </m:d>
                      <m:d>
                        <m:dPr>
                          <m:ctrlPr>
                            <a:rPr lang="tr-TR" sz="2200" b="0" i="1" smtClean="0">
                              <a:latin typeface="Cambria Math" panose="02040503050406030204" pitchFamily="18" charset="0"/>
                            </a:rPr>
                          </m:ctrlPr>
                        </m:dPr>
                        <m:e>
                          <m:r>
                            <a:rPr lang="tr-TR" sz="2200" b="0" i="1" smtClean="0">
                              <a:latin typeface="Cambria Math" panose="02040503050406030204" pitchFamily="18" charset="0"/>
                            </a:rPr>
                            <m:t>3</m:t>
                          </m:r>
                          <m:r>
                            <a:rPr lang="tr-TR" sz="2200" b="0" i="1" smtClean="0">
                              <a:latin typeface="Cambria Math" panose="02040503050406030204" pitchFamily="18" charset="0"/>
                            </a:rPr>
                            <m:t>𝑑𝑜𝑏𝑏𝑖𝑒𝑠</m:t>
                          </m:r>
                        </m:e>
                      </m:d>
                      <m:r>
                        <a:rPr lang="tr-TR" sz="2200" b="0" i="1" smtClean="0">
                          <a:latin typeface="Cambria Math" panose="02040503050406030204" pitchFamily="18" charset="0"/>
                        </a:rPr>
                        <m:t>=6552 </m:t>
                      </m:r>
                      <m:r>
                        <a:rPr lang="tr-TR" sz="2200" b="0" i="1" smtClean="0">
                          <a:latin typeface="Cambria Math" panose="02040503050406030204" pitchFamily="18" charset="0"/>
                        </a:rPr>
                        <m:t>𝑑𝑜𝑏𝑏𝑖𝑒</m:t>
                      </m:r>
                      <m:r>
                        <a:rPr lang="tr-TR" sz="2200" b="0" i="1" smtClean="0">
                          <a:latin typeface="Cambria Math" panose="02040503050406030204" pitchFamily="18" charset="0"/>
                        </a:rPr>
                        <m:t> </m:t>
                      </m:r>
                      <m:r>
                        <a:rPr lang="tr-TR" sz="2200" b="0" i="1" smtClean="0">
                          <a:latin typeface="Cambria Math" panose="02040503050406030204" pitchFamily="18" charset="0"/>
                        </a:rPr>
                        <m:t>h𝑜𝑢𝑟𝑠</m:t>
                      </m:r>
                    </m:oMath>
                    <m:oMath xmlns:m="http://schemas.openxmlformats.org/officeDocument/2006/math">
                      <m:d>
                        <m:dPr>
                          <m:ctrlPr>
                            <a:rPr lang="tr-TR" sz="2200" i="1">
                              <a:latin typeface="Cambria Math" panose="02040503050406030204" pitchFamily="18" charset="0"/>
                            </a:rPr>
                          </m:ctrlPr>
                        </m:dPr>
                        <m:e>
                          <m:r>
                            <a:rPr lang="tr-TR" sz="2200" i="1">
                              <a:latin typeface="Cambria Math" panose="02040503050406030204" pitchFamily="18" charset="0"/>
                            </a:rPr>
                            <m:t>13</m:t>
                          </m:r>
                          <m:r>
                            <a:rPr lang="tr-TR" sz="2200" i="1">
                              <a:latin typeface="Cambria Math" panose="02040503050406030204" pitchFamily="18" charset="0"/>
                            </a:rPr>
                            <m:t>𝑤𝑒𝑒𝑘𝑠</m:t>
                          </m:r>
                        </m:e>
                      </m:d>
                      <m:d>
                        <m:dPr>
                          <m:ctrlPr>
                            <a:rPr lang="tr-TR" sz="2200" i="1">
                              <a:latin typeface="Cambria Math" panose="02040503050406030204" pitchFamily="18" charset="0"/>
                            </a:rPr>
                          </m:ctrlPr>
                        </m:dPr>
                        <m:e>
                          <m:r>
                            <a:rPr lang="tr-TR" sz="2200" i="1">
                              <a:latin typeface="Cambria Math" panose="02040503050406030204" pitchFamily="18" charset="0"/>
                            </a:rPr>
                            <m:t>7</m:t>
                          </m:r>
                          <m:r>
                            <a:rPr lang="tr-TR" sz="2200" i="1">
                              <a:latin typeface="Cambria Math" panose="02040503050406030204" pitchFamily="18" charset="0"/>
                            </a:rPr>
                            <m:t>𝑑𝑎𝑦𝑠</m:t>
                          </m:r>
                        </m:e>
                      </m:d>
                      <m:d>
                        <m:dPr>
                          <m:ctrlPr>
                            <a:rPr lang="tr-TR" sz="2200" i="1">
                              <a:latin typeface="Cambria Math" panose="02040503050406030204" pitchFamily="18" charset="0"/>
                            </a:rPr>
                          </m:ctrlPr>
                        </m:dPr>
                        <m:e>
                          <m:r>
                            <a:rPr lang="tr-TR" sz="2200" i="1">
                              <a:latin typeface="Cambria Math" panose="02040503050406030204" pitchFamily="18" charset="0"/>
                            </a:rPr>
                            <m:t>24</m:t>
                          </m:r>
                          <m:r>
                            <a:rPr lang="tr-TR" sz="2200" i="1">
                              <a:latin typeface="Cambria Math" panose="02040503050406030204" pitchFamily="18" charset="0"/>
                            </a:rPr>
                            <m:t>h𝑜𝑢𝑟𝑠</m:t>
                          </m:r>
                        </m:e>
                      </m:d>
                      <m:d>
                        <m:dPr>
                          <m:ctrlPr>
                            <a:rPr lang="tr-TR" sz="2200" i="1">
                              <a:latin typeface="Cambria Math" panose="02040503050406030204" pitchFamily="18" charset="0"/>
                            </a:rPr>
                          </m:ctrlPr>
                        </m:dPr>
                        <m:e>
                          <m:r>
                            <a:rPr lang="tr-TR" sz="2200" b="0" i="1" smtClean="0">
                              <a:latin typeface="Cambria Math" panose="02040503050406030204" pitchFamily="18" charset="0"/>
                            </a:rPr>
                            <m:t>15</m:t>
                          </m:r>
                          <m:r>
                            <a:rPr lang="tr-TR" sz="2200" b="0" i="1" smtClean="0">
                              <a:latin typeface="Cambria Math" panose="02040503050406030204" pitchFamily="18" charset="0"/>
                            </a:rPr>
                            <m:t>𝑟𝑒𝑔𝑢𝑙𝑎𝑟𝑠</m:t>
                          </m:r>
                        </m:e>
                      </m:d>
                      <m:r>
                        <a:rPr lang="tr-TR" sz="2200" i="1">
                          <a:latin typeface="Cambria Math" panose="02040503050406030204" pitchFamily="18" charset="0"/>
                        </a:rPr>
                        <m:t>=</m:t>
                      </m:r>
                      <m:r>
                        <a:rPr lang="tr-TR" sz="2200" b="0" i="1" smtClean="0">
                          <a:latin typeface="Cambria Math" panose="02040503050406030204" pitchFamily="18" charset="0"/>
                        </a:rPr>
                        <m:t>32760</m:t>
                      </m:r>
                      <m:r>
                        <a:rPr lang="tr-TR" sz="2200" i="1">
                          <a:latin typeface="Cambria Math" panose="02040503050406030204" pitchFamily="18" charset="0"/>
                        </a:rPr>
                        <m:t> </m:t>
                      </m:r>
                      <m:r>
                        <a:rPr lang="tr-TR" sz="2200" b="0" i="1" smtClean="0">
                          <a:latin typeface="Cambria Math" panose="02040503050406030204" pitchFamily="18" charset="0"/>
                        </a:rPr>
                        <m:t> </m:t>
                      </m:r>
                      <m:r>
                        <a:rPr lang="tr-TR" sz="2200" b="0" i="1" smtClean="0">
                          <a:latin typeface="Cambria Math" panose="02040503050406030204" pitchFamily="18" charset="0"/>
                        </a:rPr>
                        <m:t>𝑟𝑒𝑔𝑢𝑙𝑎𝑟</m:t>
                      </m:r>
                      <m:r>
                        <a:rPr lang="tr-TR" sz="2200" b="0" i="1" smtClean="0">
                          <a:latin typeface="Cambria Math" panose="02040503050406030204" pitchFamily="18" charset="0"/>
                        </a:rPr>
                        <m:t> </m:t>
                      </m:r>
                      <m:r>
                        <a:rPr lang="tr-TR" sz="2200" i="1">
                          <a:latin typeface="Cambria Math" panose="02040503050406030204" pitchFamily="18" charset="0"/>
                        </a:rPr>
                        <m:t>h𝑜𝑢𝑟𝑠</m:t>
                      </m:r>
                    </m:oMath>
                  </m:oMathPara>
                </a14:m>
                <a:endParaRPr lang="tr-TR" sz="2200" dirty="0"/>
              </a:p>
              <a:p>
                <a:pPr marL="361950" indent="0">
                  <a:buNone/>
                </a:pPr>
                <a:endParaRPr lang="tr-TR" sz="2200" dirty="0"/>
              </a:p>
              <a:p>
                <a:pPr marL="0" indent="361950">
                  <a:buNone/>
                </a:pPr>
                <a:endParaRPr lang="tr-TR"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b="-620"/>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p:cNvPicPr>
            <a:picLocks noChangeAspect="1"/>
          </p:cNvPicPr>
          <p:nvPr/>
        </p:nvPicPr>
        <p:blipFill>
          <a:blip r:embed="rId3"/>
          <a:stretch>
            <a:fillRect/>
          </a:stretch>
        </p:blipFill>
        <p:spPr>
          <a:xfrm>
            <a:off x="1074700" y="1389529"/>
            <a:ext cx="10042599" cy="1786256"/>
          </a:xfrm>
          <a:prstGeom prst="rect">
            <a:avLst/>
          </a:prstGeom>
        </p:spPr>
      </p:pic>
    </p:spTree>
    <p:extLst>
      <p:ext uri="{BB962C8B-B14F-4D97-AF65-F5344CB8AC3E}">
        <p14:creationId xmlns:p14="http://schemas.microsoft.com/office/powerpoint/2010/main" val="316505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tr-TR" sz="2200" dirty="0"/>
              </a:p>
              <a:p>
                <a:endParaRPr lang="tr-TR" sz="2200" dirty="0"/>
              </a:p>
              <a:p>
                <a:endParaRPr lang="tr-TR" sz="2200" dirty="0"/>
              </a:p>
              <a:p>
                <a:pPr marL="0" indent="361950">
                  <a:buNone/>
                </a:pPr>
                <a:endParaRPr lang="tr-TR" sz="2200" dirty="0"/>
              </a:p>
              <a:p>
                <a:pPr marL="0" indent="361950">
                  <a:buNone/>
                </a:pPr>
                <a:endParaRPr lang="tr-TR" sz="2200" dirty="0"/>
              </a:p>
              <a:p>
                <a:pPr marL="0" indent="361950">
                  <a:buNone/>
                </a:pPr>
                <a:r>
                  <a:rPr lang="tr-TR" sz="2200" dirty="0"/>
                  <a:t>Capacity Constraints:</a:t>
                </a:r>
              </a:p>
              <a:p>
                <a:pPr marL="0" indent="361950">
                  <a:buNone/>
                </a:pPr>
                <a14:m>
                  <m:oMathPara xmlns:m="http://schemas.openxmlformats.org/officeDocument/2006/math">
                    <m:oMathParaPr>
                      <m:jc m:val="centerGroup"/>
                    </m:oMathParaPr>
                    <m:oMath xmlns:m="http://schemas.openxmlformats.org/officeDocument/2006/math">
                      <m:r>
                        <a:rPr lang="tr-TR" sz="2200" b="0" i="1" smtClean="0">
                          <a:latin typeface="Cambria Math" panose="02040503050406030204" pitchFamily="18" charset="0"/>
                        </a:rPr>
                        <m:t>0.213</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1</m:t>
                          </m:r>
                        </m:sub>
                      </m:sSub>
                      <m:r>
                        <a:rPr lang="tr-TR" sz="2200" b="0" i="1" smtClean="0">
                          <a:latin typeface="Cambria Math" panose="02040503050406030204" pitchFamily="18" charset="0"/>
                        </a:rPr>
                        <m:t>+0.192</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2</m:t>
                          </m:r>
                        </m:sub>
                      </m:sSub>
                      <m:r>
                        <a:rPr lang="tr-TR" sz="2200" b="0" i="1" smtClean="0">
                          <a:latin typeface="Cambria Math" panose="02040503050406030204" pitchFamily="18" charset="0"/>
                        </a:rPr>
                        <m:t>+0.227</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𝐷</m:t>
                          </m:r>
                        </m:e>
                        <m:sub>
                          <m:r>
                            <a:rPr lang="tr-TR" sz="2200" b="0" i="1" smtClean="0">
                              <a:latin typeface="Cambria Math" panose="02040503050406030204" pitchFamily="18" charset="0"/>
                            </a:rPr>
                            <m:t>3</m:t>
                          </m:r>
                        </m:sub>
                      </m:sSub>
                      <m:r>
                        <a:rPr lang="tr-TR" sz="2200" b="0" i="1" smtClean="0">
                          <a:latin typeface="Cambria Math" panose="02040503050406030204" pitchFamily="18" charset="0"/>
                        </a:rPr>
                        <m:t>≤6552</m:t>
                      </m:r>
                    </m:oMath>
                    <m:oMath xmlns:m="http://schemas.openxmlformats.org/officeDocument/2006/math">
                      <m:r>
                        <a:rPr lang="tr-TR" sz="2200" i="1">
                          <a:latin typeface="Cambria Math" panose="02040503050406030204" pitchFamily="18" charset="0"/>
                        </a:rPr>
                        <m:t>0.192</m:t>
                      </m:r>
                      <m:sSub>
                        <m:sSubPr>
                          <m:ctrlPr>
                            <a:rPr lang="tr-TR" sz="2200" i="1">
                              <a:latin typeface="Cambria Math" panose="02040503050406030204" pitchFamily="18" charset="0"/>
                            </a:rPr>
                          </m:ctrlPr>
                        </m:sSubPr>
                        <m:e>
                          <m:r>
                            <a:rPr lang="tr-TR" sz="2200" b="0" i="1" smtClean="0">
                              <a:latin typeface="Cambria Math" panose="02040503050406030204" pitchFamily="18" charset="0"/>
                            </a:rPr>
                            <m:t>𝑅</m:t>
                          </m:r>
                        </m:e>
                        <m:sub>
                          <m:r>
                            <a:rPr lang="tr-TR" sz="2200" i="1">
                              <a:latin typeface="Cambria Math" panose="02040503050406030204" pitchFamily="18" charset="0"/>
                            </a:rPr>
                            <m:t>2</m:t>
                          </m:r>
                        </m:sub>
                      </m:sSub>
                      <m:r>
                        <a:rPr lang="tr-TR" sz="2200" i="1">
                          <a:latin typeface="Cambria Math" panose="02040503050406030204" pitchFamily="18" charset="0"/>
                        </a:rPr>
                        <m:t>+0.227</m:t>
                      </m:r>
                      <m:sSub>
                        <m:sSubPr>
                          <m:ctrlPr>
                            <a:rPr lang="tr-TR" sz="2200" i="1">
                              <a:latin typeface="Cambria Math" panose="02040503050406030204" pitchFamily="18" charset="0"/>
                            </a:rPr>
                          </m:ctrlPr>
                        </m:sSubPr>
                        <m:e>
                          <m:r>
                            <a:rPr lang="tr-TR" sz="2200" b="0" i="1" smtClean="0">
                              <a:latin typeface="Cambria Math" panose="02040503050406030204" pitchFamily="18" charset="0"/>
                            </a:rPr>
                            <m:t>𝑅</m:t>
                          </m:r>
                        </m:e>
                        <m:sub>
                          <m:r>
                            <a:rPr lang="tr-TR" sz="2200" i="1">
                              <a:latin typeface="Cambria Math" panose="02040503050406030204" pitchFamily="18" charset="0"/>
                            </a:rPr>
                            <m:t>3</m:t>
                          </m:r>
                        </m:sub>
                      </m:sSub>
                      <m:r>
                        <a:rPr lang="tr-TR" sz="2200" b="0" i="1" smtClean="0">
                          <a:latin typeface="Cambria Math" panose="02040503050406030204" pitchFamily="18" charset="0"/>
                        </a:rPr>
                        <m:t>≤32760</m:t>
                      </m:r>
                    </m:oMath>
                  </m:oMathPara>
                </a14:m>
                <a:endParaRPr lang="tr-TR" sz="2200" dirty="0"/>
              </a:p>
              <a:p>
                <a:pPr marL="361950" indent="0">
                  <a:buNone/>
                </a:pPr>
                <a:endParaRPr lang="tr-TR" sz="2200" dirty="0"/>
              </a:p>
              <a:p>
                <a:pPr marL="0" indent="361950">
                  <a:buNone/>
                </a:pPr>
                <a:endParaRPr lang="tr-TR" sz="2200" dirty="0"/>
              </a:p>
              <a:p>
                <a:pPr marL="0" indent="0">
                  <a:buNone/>
                </a:pPr>
                <a:endParaRPr lang="tr-TR" sz="22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p:cNvPicPr>
            <a:picLocks noChangeAspect="1"/>
          </p:cNvPicPr>
          <p:nvPr/>
        </p:nvPicPr>
        <p:blipFill>
          <a:blip r:embed="rId3"/>
          <a:stretch>
            <a:fillRect/>
          </a:stretch>
        </p:blipFill>
        <p:spPr>
          <a:xfrm>
            <a:off x="1074700" y="1389529"/>
            <a:ext cx="10042599" cy="1786256"/>
          </a:xfrm>
          <a:prstGeom prst="rect">
            <a:avLst/>
          </a:prstGeom>
        </p:spPr>
      </p:pic>
    </p:spTree>
    <p:extLst>
      <p:ext uri="{BB962C8B-B14F-4D97-AF65-F5344CB8AC3E}">
        <p14:creationId xmlns:p14="http://schemas.microsoft.com/office/powerpoint/2010/main" val="4116326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837797137"/>
                  </p:ext>
                </p:extLst>
              </p:nvPr>
            </p:nvGraphicFramePr>
            <p:xfrm>
              <a:off x="1284661" y="2364053"/>
              <a:ext cx="9743447" cy="2595880"/>
            </p:xfrm>
            <a:graphic>
              <a:graphicData uri="http://schemas.openxmlformats.org/drawingml/2006/table">
                <a:tbl>
                  <a:tblPr firstRow="1" bandRow="1">
                    <a:tableStyleId>{2D5ABB26-0587-4C30-8999-92F81FD0307C}</a:tableStyleId>
                  </a:tblPr>
                  <a:tblGrid>
                    <a:gridCol w="1045083">
                      <a:extLst>
                        <a:ext uri="{9D8B030D-6E8A-4147-A177-3AD203B41FA5}">
                          <a16:colId xmlns:a16="http://schemas.microsoft.com/office/drawing/2014/main" val="3888021187"/>
                        </a:ext>
                      </a:extLst>
                    </a:gridCol>
                    <a:gridCol w="844042">
                      <a:extLst>
                        <a:ext uri="{9D8B030D-6E8A-4147-A177-3AD203B41FA5}">
                          <a16:colId xmlns:a16="http://schemas.microsoft.com/office/drawing/2014/main" val="3534266932"/>
                        </a:ext>
                      </a:extLst>
                    </a:gridCol>
                    <a:gridCol w="1036891">
                      <a:extLst>
                        <a:ext uri="{9D8B030D-6E8A-4147-A177-3AD203B41FA5}">
                          <a16:colId xmlns:a16="http://schemas.microsoft.com/office/drawing/2014/main" val="3559686337"/>
                        </a:ext>
                      </a:extLst>
                    </a:gridCol>
                    <a:gridCol w="1036891">
                      <a:extLst>
                        <a:ext uri="{9D8B030D-6E8A-4147-A177-3AD203B41FA5}">
                          <a16:colId xmlns:a16="http://schemas.microsoft.com/office/drawing/2014/main" val="1347294665"/>
                        </a:ext>
                      </a:extLst>
                    </a:gridCol>
                    <a:gridCol w="928941">
                      <a:extLst>
                        <a:ext uri="{9D8B030D-6E8A-4147-A177-3AD203B41FA5}">
                          <a16:colId xmlns:a16="http://schemas.microsoft.com/office/drawing/2014/main" val="2673935178"/>
                        </a:ext>
                      </a:extLst>
                    </a:gridCol>
                    <a:gridCol w="1033717">
                      <a:extLst>
                        <a:ext uri="{9D8B030D-6E8A-4147-A177-3AD203B41FA5}">
                          <a16:colId xmlns:a16="http://schemas.microsoft.com/office/drawing/2014/main" val="2754673891"/>
                        </a:ext>
                      </a:extLst>
                    </a:gridCol>
                    <a:gridCol w="904113">
                      <a:extLst>
                        <a:ext uri="{9D8B030D-6E8A-4147-A177-3AD203B41FA5}">
                          <a16:colId xmlns:a16="http://schemas.microsoft.com/office/drawing/2014/main" val="3913864312"/>
                        </a:ext>
                      </a:extLst>
                    </a:gridCol>
                    <a:gridCol w="908558">
                      <a:extLst>
                        <a:ext uri="{9D8B030D-6E8A-4147-A177-3AD203B41FA5}">
                          <a16:colId xmlns:a16="http://schemas.microsoft.com/office/drawing/2014/main" val="1603966149"/>
                        </a:ext>
                      </a:extLst>
                    </a:gridCol>
                    <a:gridCol w="908558">
                      <a:extLst>
                        <a:ext uri="{9D8B030D-6E8A-4147-A177-3AD203B41FA5}">
                          <a16:colId xmlns:a16="http://schemas.microsoft.com/office/drawing/2014/main" val="3574507723"/>
                        </a:ext>
                      </a:extLst>
                    </a:gridCol>
                    <a:gridCol w="368617">
                      <a:extLst>
                        <a:ext uri="{9D8B030D-6E8A-4147-A177-3AD203B41FA5}">
                          <a16:colId xmlns:a16="http://schemas.microsoft.com/office/drawing/2014/main" val="1158957883"/>
                        </a:ext>
                      </a:extLst>
                    </a:gridCol>
                    <a:gridCol w="728036">
                      <a:extLst>
                        <a:ext uri="{9D8B030D-6E8A-4147-A177-3AD203B41FA5}">
                          <a16:colId xmlns:a16="http://schemas.microsoft.com/office/drawing/2014/main" val="3407547115"/>
                        </a:ext>
                      </a:extLst>
                    </a:gridCol>
                  </a:tblGrid>
                  <a:tr h="370840">
                    <a:tc>
                      <a:txBody>
                        <a:bodyPr/>
                        <a:lstStyle/>
                        <a:p>
                          <a:r>
                            <a:rPr lang="tr-TR" sz="1500" dirty="0"/>
                            <a:t>Min    </a:t>
                          </a:r>
                          <a14:m>
                            <m:oMath xmlns:m="http://schemas.openxmlformats.org/officeDocument/2006/math">
                              <m:r>
                                <a:rPr lang="tr-TR" sz="1500" b="0" i="1" smtClean="0">
                                  <a:latin typeface="Cambria Math" panose="02040503050406030204" pitchFamily="18" charset="0"/>
                                </a:rPr>
                                <m:t>𝑍</m:t>
                              </m:r>
                              <m:r>
                                <a:rPr lang="tr-TR" sz="1500" b="0" i="1" smtClean="0">
                                  <a:latin typeface="Cambria Math" panose="02040503050406030204" pitchFamily="18" charset="0"/>
                                </a:rPr>
                                <m:t>=</m:t>
                              </m:r>
                            </m:oMath>
                          </a14:m>
                          <a:endParaRPr lang="en-US" sz="150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0.65</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0.62</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2</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0.50</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3</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0.62</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2</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0.50</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3</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0.85</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1</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+0.75</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2</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+0.65</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3</m:t>
                                    </m:r>
                                  </m:sub>
                                </m:sSub>
                              </m:oMath>
                            </m:oMathPara>
                          </a14:m>
                          <a:endParaRPr lang="en-US" sz="1500" b="0" dirty="0"/>
                        </a:p>
                      </a:txBody>
                      <a:tcPr/>
                    </a:tc>
                    <a:tc>
                      <a:txBody>
                        <a:bodyPr/>
                        <a:lstStyle/>
                        <a:p>
                          <a:endParaRPr lang="en-US" sz="1500" b="0"/>
                        </a:p>
                      </a:txBody>
                      <a:tcPr/>
                    </a:tc>
                    <a:tc>
                      <a:txBody>
                        <a:bodyPr/>
                        <a:lstStyle/>
                        <a:p>
                          <a:endParaRPr lang="en-US" sz="1500" b="0" dirty="0"/>
                        </a:p>
                      </a:txBody>
                      <a:tcPr/>
                    </a:tc>
                    <a:extLst>
                      <a:ext uri="{0D108BD9-81ED-4DB2-BD59-A6C34878D82A}">
                        <a16:rowId xmlns:a16="http://schemas.microsoft.com/office/drawing/2014/main" val="1915566640"/>
                      </a:ext>
                    </a:extLst>
                  </a:tr>
                  <a:tr h="370840">
                    <a:tc>
                      <a:txBody>
                        <a:bodyPr/>
                        <a:lstStyle/>
                        <a:p>
                          <a:r>
                            <a:rPr lang="tr-TR" sz="1500" dirty="0"/>
                            <a:t>Subject to</a:t>
                          </a:r>
                          <a:endParaRPr lang="en-US" sz="15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1</m:t>
                                    </m:r>
                                  </m:sub>
                                </m:sSub>
                              </m:oMath>
                            </m:oMathPara>
                          </a14:m>
                          <a:endParaRPr lang="en-US" sz="1500" b="0" dirty="0"/>
                        </a:p>
                      </a:txBody>
                      <a:tcPr/>
                    </a:tc>
                    <a:tc>
                      <a:txBody>
                        <a:bodyPr/>
                        <a:lstStyle/>
                        <a:p>
                          <a:pPr algn="r"/>
                          <a:endParaRPr lang="en-US" sz="1500" b="0" dirty="0"/>
                        </a:p>
                      </a:txBody>
                      <a:tcPr/>
                    </a:tc>
                    <a:tc>
                      <a:txBody>
                        <a:bodyPr/>
                        <a:lstStyle/>
                        <a:p>
                          <a:endParaRPr lang="en-US" sz="1500" b="0" dirty="0"/>
                        </a:p>
                      </a:txBody>
                      <a:tcPr/>
                    </a:tc>
                    <a:tc>
                      <a:txBody>
                        <a:bodyPr/>
                        <a:lstStyle/>
                        <a:p>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1</m:t>
                                    </m:r>
                                  </m:sub>
                                </m:sSub>
                              </m:oMath>
                            </m:oMathPara>
                          </a14:m>
                          <a:endParaRPr lang="en-US" sz="1500" b="0" dirty="0"/>
                        </a:p>
                      </a:txBody>
                      <a:tcPr/>
                    </a:tc>
                    <a:tc>
                      <a:txBody>
                        <a:bodyPr/>
                        <a:lstStyle/>
                        <a:p>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45000</a:t>
                          </a:r>
                          <a:endParaRPr lang="en-US" sz="1500" b="0" dirty="0"/>
                        </a:p>
                      </a:txBody>
                      <a:tcPr/>
                    </a:tc>
                    <a:extLst>
                      <a:ext uri="{0D108BD9-81ED-4DB2-BD59-A6C34878D82A}">
                        <a16:rowId xmlns:a16="http://schemas.microsoft.com/office/drawing/2014/main" val="1849586065"/>
                      </a:ext>
                    </a:extLst>
                  </a:tr>
                  <a:tr h="370840">
                    <a:tc>
                      <a:txBody>
                        <a:bodyPr/>
                        <a:lstStyle/>
                        <a:p>
                          <a:endParaRPr lang="en-US" sz="150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2</m:t>
                                    </m:r>
                                  </m:sub>
                                </m:sSub>
                              </m:oMath>
                            </m:oMathPara>
                          </a14:m>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2</m:t>
                                    </m:r>
                                  </m:sub>
                                </m:sSub>
                              </m:oMath>
                            </m:oMathPara>
                          </a14:m>
                          <a:endParaRPr lang="en-US" sz="1500" b="0" dirty="0"/>
                        </a:p>
                      </a:txBody>
                      <a:tcPr/>
                    </a:tc>
                    <a:tc>
                      <a:txBody>
                        <a:bodyPr/>
                        <a:lstStyle/>
                        <a:p>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2</m:t>
                                    </m:r>
                                  </m:sub>
                                </m:sSub>
                              </m:oMath>
                            </m:oMathPara>
                          </a14:m>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76500</a:t>
                          </a:r>
                          <a:endParaRPr lang="en-US" sz="1500" b="0" dirty="0"/>
                        </a:p>
                      </a:txBody>
                      <a:tcPr/>
                    </a:tc>
                    <a:extLst>
                      <a:ext uri="{0D108BD9-81ED-4DB2-BD59-A6C34878D82A}">
                        <a16:rowId xmlns:a16="http://schemas.microsoft.com/office/drawing/2014/main" val="3907794430"/>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3</m:t>
                                    </m:r>
                                  </m:sub>
                                </m:sSub>
                              </m:oMath>
                            </m:oMathPara>
                          </a14:m>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3</m:t>
                                    </m:r>
                                  </m:sub>
                                </m:sSub>
                              </m:oMath>
                            </m:oMathPara>
                          </a14:m>
                          <a:endParaRPr lang="en-US" sz="1500" b="0" dirty="0"/>
                        </a:p>
                      </a:txBody>
                      <a:tcPr/>
                    </a:tc>
                    <a:tc>
                      <a:txBody>
                        <a:bodyPr/>
                        <a:lstStyle/>
                        <a:p>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3</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10000</a:t>
                          </a:r>
                          <a:endParaRPr lang="en-US" sz="1500" b="0" dirty="0"/>
                        </a:p>
                      </a:txBody>
                      <a:tcPr/>
                    </a:tc>
                    <a:extLst>
                      <a:ext uri="{0D108BD9-81ED-4DB2-BD59-A6C34878D82A}">
                        <a16:rowId xmlns:a16="http://schemas.microsoft.com/office/drawing/2014/main" val="3381761340"/>
                      </a:ext>
                    </a:extLst>
                  </a:tr>
                  <a:tr h="370840">
                    <a:tc>
                      <a:txBody>
                        <a:bodyPr/>
                        <a:lstStyle/>
                        <a:p>
                          <a:endParaRPr lang="en-US" sz="150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dirty="0" smtClean="0">
                                    <a:latin typeface="Cambria Math" panose="02040503050406030204" pitchFamily="18" charset="0"/>
                                  </a:rPr>
                                  <m:t>0.213</m:t>
                                </m:r>
                                <m:sSub>
                                  <m:sSubPr>
                                    <m:ctrlPr>
                                      <a:rPr lang="tr-TR" sz="1500" b="0" i="1" dirty="0" smtClean="0">
                                        <a:latin typeface="Cambria Math" panose="02040503050406030204" pitchFamily="18" charset="0"/>
                                      </a:rPr>
                                    </m:ctrlPr>
                                  </m:sSubPr>
                                  <m:e>
                                    <m:r>
                                      <a:rPr lang="tr-TR" sz="1500" b="0" i="1" dirty="0" smtClean="0">
                                        <a:latin typeface="Cambria Math" panose="02040503050406030204" pitchFamily="18" charset="0"/>
                                      </a:rPr>
                                      <m:t>𝐷</m:t>
                                    </m:r>
                                  </m:e>
                                  <m:sub>
                                    <m:r>
                                      <a:rPr lang="tr-TR" sz="1500" b="0" i="1" dirty="0" smtClean="0">
                                        <a:latin typeface="Cambria Math" panose="02040503050406030204" pitchFamily="18" charset="0"/>
                                      </a:rPr>
                                      <m:t>1</m:t>
                                    </m:r>
                                  </m:sub>
                                </m:sSub>
                              </m:oMath>
                            </m:oMathPara>
                          </a14:m>
                          <a:endParaRPr lang="en-US" sz="1500" b="0" dirty="0"/>
                        </a:p>
                      </a:txBody>
                      <a:tcPr/>
                    </a:tc>
                    <a:tc>
                      <a:txBody>
                        <a:bodyPr/>
                        <a:lstStyle/>
                        <a:p>
                          <a:pPr algn="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+0.192</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2</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+0.227</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3</m:t>
                                    </m:r>
                                  </m:sub>
                                </m:sSub>
                              </m:oMath>
                            </m:oMathPara>
                          </a14:m>
                          <a:endParaRPr lang="en-US" sz="1500" b="0" dirty="0"/>
                        </a:p>
                      </a:txBody>
                      <a:tcPr/>
                    </a:tc>
                    <a:tc>
                      <a:txBody>
                        <a:bodyPr/>
                        <a:lstStyle/>
                        <a:p>
                          <a:endParaRPr lang="en-US" sz="1500" b="0" dirty="0"/>
                        </a:p>
                      </a:txBody>
                      <a:tcPr/>
                    </a:tc>
                    <a:tc>
                      <a:txBody>
                        <a:bodyPr/>
                        <a:lstStyle/>
                        <a:p>
                          <a:endParaRPr lang="en-US" sz="1500" b="0" dirty="0"/>
                        </a:p>
                      </a:txBody>
                      <a:tcPr/>
                    </a:tc>
                    <a:tc>
                      <a:txBody>
                        <a:bodyPr/>
                        <a:lstStyle/>
                        <a:p>
                          <a:endParaRPr lang="en-US" sz="1500" b="0" dirty="0"/>
                        </a:p>
                      </a:txBody>
                      <a:tcPr/>
                    </a:tc>
                    <a:tc>
                      <a:txBody>
                        <a:bodyPr/>
                        <a:lstStyle/>
                        <a:p>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6552</a:t>
                          </a:r>
                          <a:endParaRPr lang="en-US" sz="1500" b="0" dirty="0"/>
                        </a:p>
                      </a:txBody>
                      <a:tcPr/>
                    </a:tc>
                    <a:extLst>
                      <a:ext uri="{0D108BD9-81ED-4DB2-BD59-A6C34878D82A}">
                        <a16:rowId xmlns:a16="http://schemas.microsoft.com/office/drawing/2014/main" val="3976070994"/>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0.192</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2</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+0.227</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3</m:t>
                                    </m:r>
                                  </m:sub>
                                </m:sSub>
                              </m:oMath>
                            </m:oMathPara>
                          </a14:m>
                          <a:endParaRPr lang="en-US" sz="1500" b="0" dirty="0"/>
                        </a:p>
                      </a:txBody>
                      <a:tcPr/>
                    </a:tc>
                    <a:tc>
                      <a:txBody>
                        <a:bodyPr/>
                        <a:lstStyle/>
                        <a:p>
                          <a:endParaRPr lang="en-US" sz="1500" b="0" dirty="0"/>
                        </a:p>
                      </a:txBody>
                      <a:tcPr/>
                    </a:tc>
                    <a:tc>
                      <a:txBody>
                        <a:bodyPr/>
                        <a:lstStyle/>
                        <a:p>
                          <a:endParaRPr lang="en-US" sz="1500" b="0" dirty="0"/>
                        </a:p>
                      </a:txBody>
                      <a:tcPr/>
                    </a:tc>
                    <a:tc>
                      <a:txBody>
                        <a:bodyPr/>
                        <a:lstStyle/>
                        <a:p>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32760</a:t>
                          </a:r>
                          <a:endParaRPr lang="en-US" sz="1500" b="0" dirty="0"/>
                        </a:p>
                      </a:txBody>
                      <a:tcPr/>
                    </a:tc>
                    <a:extLst>
                      <a:ext uri="{0D108BD9-81ED-4DB2-BD59-A6C34878D82A}">
                        <a16:rowId xmlns:a16="http://schemas.microsoft.com/office/drawing/2014/main" val="2970995290"/>
                      </a:ext>
                    </a:extLst>
                  </a:tr>
                  <a:tr h="370840">
                    <a:tc>
                      <a:txBody>
                        <a:bodyPr/>
                        <a:lstStyle/>
                        <a:p>
                          <a:endParaRPr lang="en-US" sz="15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1</m:t>
                                    </m:r>
                                  </m:sub>
                                </m:sSub>
                              </m:oMath>
                            </m:oMathPara>
                          </a14:m>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2</m:t>
                                    </m:r>
                                  </m:sub>
                                </m:sSub>
                              </m:oMath>
                            </m:oMathPara>
                          </a14:m>
                          <a:endParaRPr lang="en-US" sz="15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𝐷</m:t>
                                    </m:r>
                                  </m:e>
                                  <m:sub>
                                    <m:r>
                                      <a:rPr lang="tr-TR" sz="1500" b="0" i="1" smtClean="0">
                                        <a:latin typeface="Cambria Math" panose="02040503050406030204" pitchFamily="18" charset="0"/>
                                      </a:rPr>
                                      <m:t>3</m:t>
                                    </m:r>
                                  </m:sub>
                                </m:sSub>
                              </m:oMath>
                            </m:oMathPara>
                          </a14:m>
                          <a:endParaRPr lang="en-US" sz="15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2</m:t>
                                    </m:r>
                                  </m:sub>
                                </m:sSub>
                              </m:oMath>
                            </m:oMathPara>
                          </a14:m>
                          <a:endParaRPr lang="en-US" sz="15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𝑅</m:t>
                                    </m:r>
                                  </m:e>
                                  <m:sub>
                                    <m:r>
                                      <a:rPr lang="tr-TR" sz="1500" b="0" i="1" smtClean="0">
                                        <a:latin typeface="Cambria Math" panose="02040503050406030204" pitchFamily="18" charset="0"/>
                                      </a:rPr>
                                      <m:t>3</m:t>
                                    </m:r>
                                  </m:sub>
                                </m:sSub>
                              </m:oMath>
                            </m:oMathPara>
                          </a14:m>
                          <a:endParaRPr lang="en-US" sz="15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1</m:t>
                                    </m:r>
                                  </m:sub>
                                </m:sSub>
                              </m:oMath>
                            </m:oMathPara>
                          </a14:m>
                          <a:endParaRPr lang="en-US" sz="15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2</m:t>
                                    </m:r>
                                  </m:sub>
                                </m:sSub>
                              </m:oMath>
                            </m:oMathPara>
                          </a14:m>
                          <a:endParaRPr lang="en-US" sz="15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𝑃</m:t>
                                    </m:r>
                                  </m:e>
                                  <m:sub>
                                    <m:r>
                                      <a:rPr lang="tr-TR" sz="1500" b="0" i="1" smtClean="0">
                                        <a:latin typeface="Cambria Math" panose="02040503050406030204" pitchFamily="18" charset="0"/>
                                      </a:rPr>
                                      <m:t>3</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0</a:t>
                          </a:r>
                          <a:endParaRPr lang="en-US" sz="15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837797137"/>
                  </p:ext>
                </p:extLst>
              </p:nvPr>
            </p:nvGraphicFramePr>
            <p:xfrm>
              <a:off x="1284661" y="2364053"/>
              <a:ext cx="9743447" cy="2595880"/>
            </p:xfrm>
            <a:graphic>
              <a:graphicData uri="http://schemas.openxmlformats.org/drawingml/2006/table">
                <a:tbl>
                  <a:tblPr firstRow="1" bandRow="1">
                    <a:tableStyleId>{2D5ABB26-0587-4C30-8999-92F81FD0307C}</a:tableStyleId>
                  </a:tblPr>
                  <a:tblGrid>
                    <a:gridCol w="1045083">
                      <a:extLst>
                        <a:ext uri="{9D8B030D-6E8A-4147-A177-3AD203B41FA5}">
                          <a16:colId xmlns:a16="http://schemas.microsoft.com/office/drawing/2014/main" val="3888021187"/>
                        </a:ext>
                      </a:extLst>
                    </a:gridCol>
                    <a:gridCol w="844042">
                      <a:extLst>
                        <a:ext uri="{9D8B030D-6E8A-4147-A177-3AD203B41FA5}">
                          <a16:colId xmlns:a16="http://schemas.microsoft.com/office/drawing/2014/main" val="3534266932"/>
                        </a:ext>
                      </a:extLst>
                    </a:gridCol>
                    <a:gridCol w="1036891">
                      <a:extLst>
                        <a:ext uri="{9D8B030D-6E8A-4147-A177-3AD203B41FA5}">
                          <a16:colId xmlns:a16="http://schemas.microsoft.com/office/drawing/2014/main" val="3559686337"/>
                        </a:ext>
                      </a:extLst>
                    </a:gridCol>
                    <a:gridCol w="1036891">
                      <a:extLst>
                        <a:ext uri="{9D8B030D-6E8A-4147-A177-3AD203B41FA5}">
                          <a16:colId xmlns:a16="http://schemas.microsoft.com/office/drawing/2014/main" val="1347294665"/>
                        </a:ext>
                      </a:extLst>
                    </a:gridCol>
                    <a:gridCol w="928941">
                      <a:extLst>
                        <a:ext uri="{9D8B030D-6E8A-4147-A177-3AD203B41FA5}">
                          <a16:colId xmlns:a16="http://schemas.microsoft.com/office/drawing/2014/main" val="2673935178"/>
                        </a:ext>
                      </a:extLst>
                    </a:gridCol>
                    <a:gridCol w="1033717">
                      <a:extLst>
                        <a:ext uri="{9D8B030D-6E8A-4147-A177-3AD203B41FA5}">
                          <a16:colId xmlns:a16="http://schemas.microsoft.com/office/drawing/2014/main" val="2754673891"/>
                        </a:ext>
                      </a:extLst>
                    </a:gridCol>
                    <a:gridCol w="904113">
                      <a:extLst>
                        <a:ext uri="{9D8B030D-6E8A-4147-A177-3AD203B41FA5}">
                          <a16:colId xmlns:a16="http://schemas.microsoft.com/office/drawing/2014/main" val="3913864312"/>
                        </a:ext>
                      </a:extLst>
                    </a:gridCol>
                    <a:gridCol w="908558">
                      <a:extLst>
                        <a:ext uri="{9D8B030D-6E8A-4147-A177-3AD203B41FA5}">
                          <a16:colId xmlns:a16="http://schemas.microsoft.com/office/drawing/2014/main" val="1603966149"/>
                        </a:ext>
                      </a:extLst>
                    </a:gridCol>
                    <a:gridCol w="908558">
                      <a:extLst>
                        <a:ext uri="{9D8B030D-6E8A-4147-A177-3AD203B41FA5}">
                          <a16:colId xmlns:a16="http://schemas.microsoft.com/office/drawing/2014/main" val="3574507723"/>
                        </a:ext>
                      </a:extLst>
                    </a:gridCol>
                    <a:gridCol w="368617">
                      <a:extLst>
                        <a:ext uri="{9D8B030D-6E8A-4147-A177-3AD203B41FA5}">
                          <a16:colId xmlns:a16="http://schemas.microsoft.com/office/drawing/2014/main" val="1158957883"/>
                        </a:ext>
                      </a:extLst>
                    </a:gridCol>
                    <a:gridCol w="728036">
                      <a:extLst>
                        <a:ext uri="{9D8B030D-6E8A-4147-A177-3AD203B41FA5}">
                          <a16:colId xmlns:a16="http://schemas.microsoft.com/office/drawing/2014/main" val="3407547115"/>
                        </a:ext>
                      </a:extLst>
                    </a:gridCol>
                  </a:tblGrid>
                  <a:tr h="370840">
                    <a:tc>
                      <a:txBody>
                        <a:bodyPr/>
                        <a:lstStyle/>
                        <a:p>
                          <a:endParaRPr lang="tr-TR"/>
                        </a:p>
                      </a:txBody>
                      <a:tcPr>
                        <a:blipFill>
                          <a:blip r:embed="rId2"/>
                          <a:stretch>
                            <a:fillRect t="-1639" r="-830233" b="-603279"/>
                          </a:stretch>
                        </a:blipFill>
                      </a:tcPr>
                    </a:tc>
                    <a:tc>
                      <a:txBody>
                        <a:bodyPr/>
                        <a:lstStyle/>
                        <a:p>
                          <a:endParaRPr lang="tr-TR"/>
                        </a:p>
                      </a:txBody>
                      <a:tcPr>
                        <a:blipFill>
                          <a:blip r:embed="rId2"/>
                          <a:stretch>
                            <a:fillRect l="-124638" t="-1639" r="-934783" b="-603279"/>
                          </a:stretch>
                        </a:blipFill>
                      </a:tcPr>
                    </a:tc>
                    <a:tc>
                      <a:txBody>
                        <a:bodyPr/>
                        <a:lstStyle/>
                        <a:p>
                          <a:endParaRPr lang="tr-TR"/>
                        </a:p>
                      </a:txBody>
                      <a:tcPr>
                        <a:blipFill>
                          <a:blip r:embed="rId2"/>
                          <a:stretch>
                            <a:fillRect l="-182353" t="-1639" r="-658824" b="-603279"/>
                          </a:stretch>
                        </a:blipFill>
                      </a:tcPr>
                    </a:tc>
                    <a:tc>
                      <a:txBody>
                        <a:bodyPr/>
                        <a:lstStyle/>
                        <a:p>
                          <a:endParaRPr lang="tr-TR"/>
                        </a:p>
                      </a:txBody>
                      <a:tcPr>
                        <a:blipFill>
                          <a:blip r:embed="rId2"/>
                          <a:stretch>
                            <a:fillRect l="-280702" t="-1639" r="-554971" b="-603279"/>
                          </a:stretch>
                        </a:blipFill>
                      </a:tcPr>
                    </a:tc>
                    <a:tc>
                      <a:txBody>
                        <a:bodyPr/>
                        <a:lstStyle/>
                        <a:p>
                          <a:endParaRPr lang="tr-TR"/>
                        </a:p>
                      </a:txBody>
                      <a:tcPr>
                        <a:blipFill>
                          <a:blip r:embed="rId2"/>
                          <a:stretch>
                            <a:fillRect l="-428289" t="-1639" r="-524342" b="-603279"/>
                          </a:stretch>
                        </a:blipFill>
                      </a:tcPr>
                    </a:tc>
                    <a:tc>
                      <a:txBody>
                        <a:bodyPr/>
                        <a:lstStyle/>
                        <a:p>
                          <a:endParaRPr lang="tr-TR"/>
                        </a:p>
                      </a:txBody>
                      <a:tcPr>
                        <a:blipFill>
                          <a:blip r:embed="rId2"/>
                          <a:stretch>
                            <a:fillRect l="-472353" t="-1639" r="-368824" b="-603279"/>
                          </a:stretch>
                        </a:blipFill>
                      </a:tcPr>
                    </a:tc>
                    <a:tc>
                      <a:txBody>
                        <a:bodyPr/>
                        <a:lstStyle/>
                        <a:p>
                          <a:endParaRPr lang="tr-TR"/>
                        </a:p>
                      </a:txBody>
                      <a:tcPr>
                        <a:blipFill>
                          <a:blip r:embed="rId2"/>
                          <a:stretch>
                            <a:fillRect l="-653020" t="-1639" r="-320805" b="-603279"/>
                          </a:stretch>
                        </a:blipFill>
                      </a:tcPr>
                    </a:tc>
                    <a:tc>
                      <a:txBody>
                        <a:bodyPr/>
                        <a:lstStyle/>
                        <a:p>
                          <a:endParaRPr lang="tr-TR"/>
                        </a:p>
                      </a:txBody>
                      <a:tcPr>
                        <a:blipFill>
                          <a:blip r:embed="rId2"/>
                          <a:stretch>
                            <a:fillRect l="-753020" t="-1639" r="-220805" b="-603279"/>
                          </a:stretch>
                        </a:blipFill>
                      </a:tcPr>
                    </a:tc>
                    <a:tc>
                      <a:txBody>
                        <a:bodyPr/>
                        <a:lstStyle/>
                        <a:p>
                          <a:endParaRPr lang="tr-TR"/>
                        </a:p>
                      </a:txBody>
                      <a:tcPr>
                        <a:blipFill>
                          <a:blip r:embed="rId2"/>
                          <a:stretch>
                            <a:fillRect l="-853020" t="-1639" r="-120805" b="-603279"/>
                          </a:stretch>
                        </a:blipFill>
                      </a:tcPr>
                    </a:tc>
                    <a:tc>
                      <a:txBody>
                        <a:bodyPr/>
                        <a:lstStyle/>
                        <a:p>
                          <a:endParaRPr lang="en-US" sz="1500" b="0"/>
                        </a:p>
                      </a:txBody>
                      <a:tcPr/>
                    </a:tc>
                    <a:tc>
                      <a:txBody>
                        <a:bodyPr/>
                        <a:lstStyle/>
                        <a:p>
                          <a:endParaRPr lang="en-US" sz="1500" b="0" dirty="0"/>
                        </a:p>
                      </a:txBody>
                      <a:tcPr/>
                    </a:tc>
                    <a:extLst>
                      <a:ext uri="{0D108BD9-81ED-4DB2-BD59-A6C34878D82A}">
                        <a16:rowId xmlns:a16="http://schemas.microsoft.com/office/drawing/2014/main" val="1915566640"/>
                      </a:ext>
                    </a:extLst>
                  </a:tr>
                  <a:tr h="370840">
                    <a:tc>
                      <a:txBody>
                        <a:bodyPr/>
                        <a:lstStyle/>
                        <a:p>
                          <a:r>
                            <a:rPr lang="tr-TR" sz="1500" dirty="0"/>
                            <a:t>Subject to</a:t>
                          </a:r>
                          <a:endParaRPr lang="en-US" sz="1500" dirty="0"/>
                        </a:p>
                      </a:txBody>
                      <a:tcPr/>
                    </a:tc>
                    <a:tc>
                      <a:txBody>
                        <a:bodyPr/>
                        <a:lstStyle/>
                        <a:p>
                          <a:endParaRPr lang="tr-TR"/>
                        </a:p>
                      </a:txBody>
                      <a:tcPr>
                        <a:blipFill>
                          <a:blip r:embed="rId2"/>
                          <a:stretch>
                            <a:fillRect l="-124638" t="-101639" r="-934783" b="-503279"/>
                          </a:stretch>
                        </a:blipFill>
                      </a:tcPr>
                    </a:tc>
                    <a:tc>
                      <a:txBody>
                        <a:bodyPr/>
                        <a:lstStyle/>
                        <a:p>
                          <a:pPr algn="r"/>
                          <a:endParaRPr lang="en-US" sz="1500" b="0" dirty="0"/>
                        </a:p>
                      </a:txBody>
                      <a:tcPr/>
                    </a:tc>
                    <a:tc>
                      <a:txBody>
                        <a:bodyPr/>
                        <a:lstStyle/>
                        <a:p>
                          <a:pPr/>
                          <a:endParaRPr lang="en-US" sz="1500" b="0" dirty="0"/>
                        </a:p>
                      </a:txBody>
                      <a:tcPr/>
                    </a:tc>
                    <a:tc>
                      <a:txBody>
                        <a:bodyPr/>
                        <a:lstStyle/>
                        <a:p>
                          <a:pPr/>
                          <a:endParaRPr lang="en-US" sz="1500" b="0" dirty="0"/>
                        </a:p>
                      </a:txBody>
                      <a:tcPr/>
                    </a:tc>
                    <a:tc>
                      <a:txBody>
                        <a:bodyPr/>
                        <a:lstStyle/>
                        <a:p>
                          <a:pPr/>
                          <a:endParaRPr lang="en-US" sz="1500" b="0" dirty="0"/>
                        </a:p>
                      </a:txBody>
                      <a:tcPr/>
                    </a:tc>
                    <a:tc>
                      <a:txBody>
                        <a:bodyPr/>
                        <a:lstStyle/>
                        <a:p>
                          <a:endParaRPr lang="tr-TR"/>
                        </a:p>
                      </a:txBody>
                      <a:tcPr>
                        <a:blipFill>
                          <a:blip r:embed="rId2"/>
                          <a:stretch>
                            <a:fillRect l="-653020" t="-101639" r="-320805" b="-503279"/>
                          </a:stretch>
                        </a:blipFill>
                      </a:tcPr>
                    </a:tc>
                    <a:tc>
                      <a:txBody>
                        <a:bodyPr/>
                        <a:lstStyle/>
                        <a:p>
                          <a:pPr/>
                          <a:endParaRPr lang="en-US" sz="1500" b="0" dirty="0"/>
                        </a:p>
                      </a:txBody>
                      <a:tcPr/>
                    </a:tc>
                    <a:tc>
                      <a:txBody>
                        <a:bodyPr/>
                        <a:lstStyle/>
                        <a:p>
                          <a:pPr/>
                          <a:endParaRPr lang="en-US" sz="1500" b="0" dirty="0"/>
                        </a:p>
                      </a:txBody>
                      <a:tcPr/>
                    </a:tc>
                    <a:tc>
                      <a:txBody>
                        <a:bodyPr/>
                        <a:lstStyle/>
                        <a:p>
                          <a:endParaRPr lang="tr-TR"/>
                        </a:p>
                      </a:txBody>
                      <a:tcPr>
                        <a:blipFill>
                          <a:blip r:embed="rId2"/>
                          <a:stretch>
                            <a:fillRect l="-2366667" t="-101639" r="-200000" b="-503279"/>
                          </a:stretch>
                        </a:blipFill>
                      </a:tcPr>
                    </a:tc>
                    <a:tc>
                      <a:txBody>
                        <a:bodyPr/>
                        <a:lstStyle/>
                        <a:p>
                          <a:r>
                            <a:rPr lang="tr-TR" sz="1500" b="0" dirty="0" smtClean="0"/>
                            <a:t>45000</a:t>
                          </a:r>
                          <a:endParaRPr lang="en-US" sz="1500" b="0" dirty="0"/>
                        </a:p>
                      </a:txBody>
                      <a:tcPr/>
                    </a:tc>
                    <a:extLst>
                      <a:ext uri="{0D108BD9-81ED-4DB2-BD59-A6C34878D82A}">
                        <a16:rowId xmlns:a16="http://schemas.microsoft.com/office/drawing/2014/main" val="1849586065"/>
                      </a:ext>
                    </a:extLst>
                  </a:tr>
                  <a:tr h="370840">
                    <a:tc>
                      <a:txBody>
                        <a:bodyPr/>
                        <a:lstStyle/>
                        <a:p>
                          <a:endParaRPr lang="en-US" sz="1500" dirty="0"/>
                        </a:p>
                      </a:txBody>
                      <a:tcPr/>
                    </a:tc>
                    <a:tc>
                      <a:txBody>
                        <a:bodyPr/>
                        <a:lstStyle/>
                        <a:p>
                          <a:pPr algn="r"/>
                          <a:endParaRPr lang="en-US" sz="1500" b="0" dirty="0"/>
                        </a:p>
                      </a:txBody>
                      <a:tcPr/>
                    </a:tc>
                    <a:tc>
                      <a:txBody>
                        <a:bodyPr/>
                        <a:lstStyle/>
                        <a:p>
                          <a:endParaRPr lang="tr-TR"/>
                        </a:p>
                      </a:txBody>
                      <a:tcPr>
                        <a:blipFill>
                          <a:blip r:embed="rId2"/>
                          <a:stretch>
                            <a:fillRect l="-182353" t="-201639" r="-658824" b="-403279"/>
                          </a:stretch>
                        </a:blipFill>
                      </a:tcPr>
                    </a:tc>
                    <a:tc>
                      <a:txBody>
                        <a:bodyPr/>
                        <a:lstStyle/>
                        <a:p>
                          <a:pPr/>
                          <a:endParaRPr lang="en-US" sz="1500" b="0" dirty="0"/>
                        </a:p>
                      </a:txBody>
                      <a:tcPr/>
                    </a:tc>
                    <a:tc>
                      <a:txBody>
                        <a:bodyPr/>
                        <a:lstStyle/>
                        <a:p>
                          <a:endParaRPr lang="tr-TR"/>
                        </a:p>
                      </a:txBody>
                      <a:tcPr>
                        <a:blipFill>
                          <a:blip r:embed="rId2"/>
                          <a:stretch>
                            <a:fillRect l="-428289" t="-201639" r="-524342" b="-403279"/>
                          </a:stretch>
                        </a:blipFill>
                      </a:tcPr>
                    </a:tc>
                    <a:tc>
                      <a:txBody>
                        <a:bodyPr/>
                        <a:lstStyle/>
                        <a:p>
                          <a:pPr/>
                          <a:endParaRPr lang="en-US" sz="1500" b="0" dirty="0"/>
                        </a:p>
                      </a:txBody>
                      <a:tcPr/>
                    </a:tc>
                    <a:tc>
                      <a:txBody>
                        <a:bodyPr/>
                        <a:lstStyle/>
                        <a:p>
                          <a:pPr/>
                          <a:endParaRPr lang="en-US" sz="1500" b="0" dirty="0"/>
                        </a:p>
                      </a:txBody>
                      <a:tcPr/>
                    </a:tc>
                    <a:tc>
                      <a:txBody>
                        <a:bodyPr/>
                        <a:lstStyle/>
                        <a:p>
                          <a:endParaRPr lang="tr-TR"/>
                        </a:p>
                      </a:txBody>
                      <a:tcPr>
                        <a:blipFill>
                          <a:blip r:embed="rId2"/>
                          <a:stretch>
                            <a:fillRect l="-753020" t="-201639" r="-220805" b="-403279"/>
                          </a:stretch>
                        </a:blipFill>
                      </a:tcPr>
                    </a:tc>
                    <a:tc>
                      <a:txBody>
                        <a:bodyPr/>
                        <a:lstStyle/>
                        <a:p>
                          <a:pPr/>
                          <a:endParaRPr lang="en-US" sz="1500" b="0" dirty="0"/>
                        </a:p>
                      </a:txBody>
                      <a:tcPr/>
                    </a:tc>
                    <a:tc>
                      <a:txBody>
                        <a:bodyPr/>
                        <a:lstStyle/>
                        <a:p>
                          <a:endParaRPr lang="tr-TR"/>
                        </a:p>
                      </a:txBody>
                      <a:tcPr>
                        <a:blipFill>
                          <a:blip r:embed="rId2"/>
                          <a:stretch>
                            <a:fillRect l="-2366667" t="-201639" r="-200000" b="-403279"/>
                          </a:stretch>
                        </a:blipFill>
                      </a:tcPr>
                    </a:tc>
                    <a:tc>
                      <a:txBody>
                        <a:bodyPr/>
                        <a:lstStyle/>
                        <a:p>
                          <a:r>
                            <a:rPr lang="tr-TR" sz="1500" b="0" dirty="0" smtClean="0"/>
                            <a:t>76500</a:t>
                          </a:r>
                          <a:endParaRPr lang="en-US" sz="1500" b="0" dirty="0"/>
                        </a:p>
                      </a:txBody>
                      <a:tcPr/>
                    </a:tc>
                    <a:extLst>
                      <a:ext uri="{0D108BD9-81ED-4DB2-BD59-A6C34878D82A}">
                        <a16:rowId xmlns:a16="http://schemas.microsoft.com/office/drawing/2014/main" val="3907794430"/>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280702" t="-301639" r="-554971" b="-303279"/>
                          </a:stretch>
                        </a:blipFill>
                      </a:tcPr>
                    </a:tc>
                    <a:tc>
                      <a:txBody>
                        <a:bodyPr/>
                        <a:lstStyle/>
                        <a:p>
                          <a:pPr/>
                          <a:endParaRPr lang="en-US" sz="1500" b="0" dirty="0"/>
                        </a:p>
                      </a:txBody>
                      <a:tcPr/>
                    </a:tc>
                    <a:tc>
                      <a:txBody>
                        <a:bodyPr/>
                        <a:lstStyle/>
                        <a:p>
                          <a:endParaRPr lang="tr-TR"/>
                        </a:p>
                      </a:txBody>
                      <a:tcPr>
                        <a:blipFill>
                          <a:blip r:embed="rId2"/>
                          <a:stretch>
                            <a:fillRect l="-472353" t="-301639" r="-368824" b="-303279"/>
                          </a:stretch>
                        </a:blipFill>
                      </a:tcPr>
                    </a:tc>
                    <a:tc>
                      <a:txBody>
                        <a:bodyPr/>
                        <a:lstStyle/>
                        <a:p>
                          <a:pPr/>
                          <a:endParaRPr lang="en-US" sz="1500" b="0" dirty="0"/>
                        </a:p>
                      </a:txBody>
                      <a:tcPr/>
                    </a:tc>
                    <a:tc>
                      <a:txBody>
                        <a:bodyPr/>
                        <a:lstStyle/>
                        <a:p>
                          <a:pPr/>
                          <a:endParaRPr lang="en-US" sz="1500" b="0" dirty="0"/>
                        </a:p>
                      </a:txBody>
                      <a:tcPr/>
                    </a:tc>
                    <a:tc>
                      <a:txBody>
                        <a:bodyPr/>
                        <a:lstStyle/>
                        <a:p>
                          <a:endParaRPr lang="tr-TR"/>
                        </a:p>
                      </a:txBody>
                      <a:tcPr>
                        <a:blipFill>
                          <a:blip r:embed="rId2"/>
                          <a:stretch>
                            <a:fillRect l="-853020" t="-301639" r="-120805" b="-303279"/>
                          </a:stretch>
                        </a:blipFill>
                      </a:tcPr>
                    </a:tc>
                    <a:tc>
                      <a:txBody>
                        <a:bodyPr/>
                        <a:lstStyle/>
                        <a:p>
                          <a:endParaRPr lang="tr-TR"/>
                        </a:p>
                      </a:txBody>
                      <a:tcPr>
                        <a:blipFill>
                          <a:blip r:embed="rId2"/>
                          <a:stretch>
                            <a:fillRect l="-2366667" t="-301639" r="-200000" b="-303279"/>
                          </a:stretch>
                        </a:blipFill>
                      </a:tcPr>
                    </a:tc>
                    <a:tc>
                      <a:txBody>
                        <a:bodyPr/>
                        <a:lstStyle/>
                        <a:p>
                          <a:r>
                            <a:rPr lang="tr-TR" sz="1500" b="0" dirty="0" smtClean="0"/>
                            <a:t>10000</a:t>
                          </a:r>
                          <a:endParaRPr lang="en-US" sz="1500" b="0" dirty="0"/>
                        </a:p>
                      </a:txBody>
                      <a:tcPr/>
                    </a:tc>
                    <a:extLst>
                      <a:ext uri="{0D108BD9-81ED-4DB2-BD59-A6C34878D82A}">
                        <a16:rowId xmlns:a16="http://schemas.microsoft.com/office/drawing/2014/main" val="3381761340"/>
                      </a:ext>
                    </a:extLst>
                  </a:tr>
                  <a:tr h="370840">
                    <a:tc>
                      <a:txBody>
                        <a:bodyPr/>
                        <a:lstStyle/>
                        <a:p>
                          <a:endParaRPr lang="en-US" sz="1500" dirty="0"/>
                        </a:p>
                      </a:txBody>
                      <a:tcPr/>
                    </a:tc>
                    <a:tc>
                      <a:txBody>
                        <a:bodyPr/>
                        <a:lstStyle/>
                        <a:p>
                          <a:endParaRPr lang="tr-TR"/>
                        </a:p>
                      </a:txBody>
                      <a:tcPr>
                        <a:blipFill>
                          <a:blip r:embed="rId2"/>
                          <a:stretch>
                            <a:fillRect l="-124638" t="-401639" r="-934783" b="-203279"/>
                          </a:stretch>
                        </a:blipFill>
                      </a:tcPr>
                    </a:tc>
                    <a:tc>
                      <a:txBody>
                        <a:bodyPr/>
                        <a:lstStyle/>
                        <a:p>
                          <a:endParaRPr lang="tr-TR"/>
                        </a:p>
                      </a:txBody>
                      <a:tcPr>
                        <a:blipFill>
                          <a:blip r:embed="rId2"/>
                          <a:stretch>
                            <a:fillRect l="-182353" t="-401639" r="-658824" b="-203279"/>
                          </a:stretch>
                        </a:blipFill>
                      </a:tcPr>
                    </a:tc>
                    <a:tc>
                      <a:txBody>
                        <a:bodyPr/>
                        <a:lstStyle/>
                        <a:p>
                          <a:endParaRPr lang="tr-TR"/>
                        </a:p>
                      </a:txBody>
                      <a:tcPr>
                        <a:blipFill>
                          <a:blip r:embed="rId2"/>
                          <a:stretch>
                            <a:fillRect l="-280702" t="-401639" r="-554971" b="-203279"/>
                          </a:stretch>
                        </a:blipFill>
                      </a:tcPr>
                    </a:tc>
                    <a:tc>
                      <a:txBody>
                        <a:bodyPr/>
                        <a:lstStyle/>
                        <a:p>
                          <a:pPr/>
                          <a:endParaRPr lang="en-US" sz="1500" b="0" dirty="0"/>
                        </a:p>
                      </a:txBody>
                      <a:tcPr/>
                    </a:tc>
                    <a:tc>
                      <a:txBody>
                        <a:bodyPr/>
                        <a:lstStyle/>
                        <a:p>
                          <a:pPr/>
                          <a:endParaRPr lang="en-US" sz="1500" b="0" dirty="0"/>
                        </a:p>
                      </a:txBody>
                      <a:tcPr/>
                    </a:tc>
                    <a:tc>
                      <a:txBody>
                        <a:bodyPr/>
                        <a:lstStyle/>
                        <a:p>
                          <a:pPr/>
                          <a:endParaRPr lang="en-US" sz="1500" b="0" dirty="0"/>
                        </a:p>
                      </a:txBody>
                      <a:tcPr/>
                    </a:tc>
                    <a:tc>
                      <a:txBody>
                        <a:bodyPr/>
                        <a:lstStyle/>
                        <a:p>
                          <a:pPr/>
                          <a:endParaRPr lang="en-US" sz="1500" b="0" dirty="0"/>
                        </a:p>
                      </a:txBody>
                      <a:tcPr/>
                    </a:tc>
                    <a:tc>
                      <a:txBody>
                        <a:bodyPr/>
                        <a:lstStyle/>
                        <a:p>
                          <a:pPr/>
                          <a:endParaRPr lang="en-US" sz="1500" b="0" dirty="0"/>
                        </a:p>
                      </a:txBody>
                      <a:tcPr/>
                    </a:tc>
                    <a:tc>
                      <a:txBody>
                        <a:bodyPr/>
                        <a:lstStyle/>
                        <a:p>
                          <a:endParaRPr lang="tr-TR"/>
                        </a:p>
                      </a:txBody>
                      <a:tcPr>
                        <a:blipFill>
                          <a:blip r:embed="rId2"/>
                          <a:stretch>
                            <a:fillRect l="-2366667" t="-401639" r="-200000" b="-203279"/>
                          </a:stretch>
                        </a:blipFill>
                      </a:tcPr>
                    </a:tc>
                    <a:tc>
                      <a:txBody>
                        <a:bodyPr/>
                        <a:lstStyle/>
                        <a:p>
                          <a:r>
                            <a:rPr lang="tr-TR" sz="1500" b="0" dirty="0" smtClean="0"/>
                            <a:t>6552</a:t>
                          </a:r>
                          <a:endParaRPr lang="en-US" sz="1500" b="0" dirty="0"/>
                        </a:p>
                      </a:txBody>
                      <a:tcPr/>
                    </a:tc>
                    <a:extLst>
                      <a:ext uri="{0D108BD9-81ED-4DB2-BD59-A6C34878D82A}">
                        <a16:rowId xmlns:a16="http://schemas.microsoft.com/office/drawing/2014/main" val="3976070994"/>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pPr/>
                          <a:endParaRPr lang="en-US" sz="1500" b="0" dirty="0"/>
                        </a:p>
                      </a:txBody>
                      <a:tcPr/>
                    </a:tc>
                    <a:tc>
                      <a:txBody>
                        <a:bodyPr/>
                        <a:lstStyle/>
                        <a:p>
                          <a:endParaRPr lang="tr-TR"/>
                        </a:p>
                      </a:txBody>
                      <a:tcPr>
                        <a:blipFill>
                          <a:blip r:embed="rId2"/>
                          <a:stretch>
                            <a:fillRect l="-428289" t="-501639" r="-524342" b="-103279"/>
                          </a:stretch>
                        </a:blipFill>
                      </a:tcPr>
                    </a:tc>
                    <a:tc>
                      <a:txBody>
                        <a:bodyPr/>
                        <a:lstStyle/>
                        <a:p>
                          <a:endParaRPr lang="tr-TR"/>
                        </a:p>
                      </a:txBody>
                      <a:tcPr>
                        <a:blipFill>
                          <a:blip r:embed="rId2"/>
                          <a:stretch>
                            <a:fillRect l="-472353" t="-501639" r="-368824" b="-103279"/>
                          </a:stretch>
                        </a:blipFill>
                      </a:tcPr>
                    </a:tc>
                    <a:tc>
                      <a:txBody>
                        <a:bodyPr/>
                        <a:lstStyle/>
                        <a:p>
                          <a:pPr/>
                          <a:endParaRPr lang="en-US" sz="1500" b="0" dirty="0"/>
                        </a:p>
                      </a:txBody>
                      <a:tcPr/>
                    </a:tc>
                    <a:tc>
                      <a:txBody>
                        <a:bodyPr/>
                        <a:lstStyle/>
                        <a:p>
                          <a:pPr/>
                          <a:endParaRPr lang="en-US" sz="1500" b="0" dirty="0"/>
                        </a:p>
                      </a:txBody>
                      <a:tcPr/>
                    </a:tc>
                    <a:tc>
                      <a:txBody>
                        <a:bodyPr/>
                        <a:lstStyle/>
                        <a:p>
                          <a:pPr/>
                          <a:endParaRPr lang="en-US" sz="1500" b="0" dirty="0"/>
                        </a:p>
                      </a:txBody>
                      <a:tcPr/>
                    </a:tc>
                    <a:tc>
                      <a:txBody>
                        <a:bodyPr/>
                        <a:lstStyle/>
                        <a:p>
                          <a:endParaRPr lang="tr-TR"/>
                        </a:p>
                      </a:txBody>
                      <a:tcPr>
                        <a:blipFill>
                          <a:blip r:embed="rId2"/>
                          <a:stretch>
                            <a:fillRect l="-2366667" t="-501639" r="-200000" b="-103279"/>
                          </a:stretch>
                        </a:blipFill>
                      </a:tcPr>
                    </a:tc>
                    <a:tc>
                      <a:txBody>
                        <a:bodyPr/>
                        <a:lstStyle/>
                        <a:p>
                          <a:r>
                            <a:rPr lang="tr-TR" sz="1500" b="0" dirty="0" smtClean="0"/>
                            <a:t>32760</a:t>
                          </a:r>
                          <a:endParaRPr lang="en-US" sz="1500" b="0" dirty="0"/>
                        </a:p>
                      </a:txBody>
                      <a:tcPr/>
                    </a:tc>
                    <a:extLst>
                      <a:ext uri="{0D108BD9-81ED-4DB2-BD59-A6C34878D82A}">
                        <a16:rowId xmlns:a16="http://schemas.microsoft.com/office/drawing/2014/main" val="2970995290"/>
                      </a:ext>
                    </a:extLst>
                  </a:tr>
                  <a:tr h="370840">
                    <a:tc>
                      <a:txBody>
                        <a:bodyPr/>
                        <a:lstStyle/>
                        <a:p>
                          <a:endParaRPr lang="en-US" sz="1500" dirty="0"/>
                        </a:p>
                      </a:txBody>
                      <a:tcPr/>
                    </a:tc>
                    <a:tc>
                      <a:txBody>
                        <a:bodyPr/>
                        <a:lstStyle/>
                        <a:p>
                          <a:endParaRPr lang="tr-TR"/>
                        </a:p>
                      </a:txBody>
                      <a:tcPr>
                        <a:blipFill>
                          <a:blip r:embed="rId2"/>
                          <a:stretch>
                            <a:fillRect l="-124638" t="-601639" r="-934783" b="-3279"/>
                          </a:stretch>
                        </a:blipFill>
                      </a:tcPr>
                    </a:tc>
                    <a:tc>
                      <a:txBody>
                        <a:bodyPr/>
                        <a:lstStyle/>
                        <a:p>
                          <a:endParaRPr lang="tr-TR"/>
                        </a:p>
                      </a:txBody>
                      <a:tcPr>
                        <a:blipFill>
                          <a:blip r:embed="rId2"/>
                          <a:stretch>
                            <a:fillRect l="-182353" t="-601639" r="-658824" b="-3279"/>
                          </a:stretch>
                        </a:blipFill>
                      </a:tcPr>
                    </a:tc>
                    <a:tc>
                      <a:txBody>
                        <a:bodyPr/>
                        <a:lstStyle/>
                        <a:p>
                          <a:endParaRPr lang="tr-TR"/>
                        </a:p>
                      </a:txBody>
                      <a:tcPr>
                        <a:blipFill>
                          <a:blip r:embed="rId2"/>
                          <a:stretch>
                            <a:fillRect l="-280702" t="-601639" r="-554971" b="-3279"/>
                          </a:stretch>
                        </a:blipFill>
                      </a:tcPr>
                    </a:tc>
                    <a:tc>
                      <a:txBody>
                        <a:bodyPr/>
                        <a:lstStyle/>
                        <a:p>
                          <a:endParaRPr lang="tr-TR"/>
                        </a:p>
                      </a:txBody>
                      <a:tcPr>
                        <a:blipFill>
                          <a:blip r:embed="rId2"/>
                          <a:stretch>
                            <a:fillRect l="-428289" t="-601639" r="-524342" b="-3279"/>
                          </a:stretch>
                        </a:blipFill>
                      </a:tcPr>
                    </a:tc>
                    <a:tc>
                      <a:txBody>
                        <a:bodyPr/>
                        <a:lstStyle/>
                        <a:p>
                          <a:endParaRPr lang="tr-TR"/>
                        </a:p>
                      </a:txBody>
                      <a:tcPr>
                        <a:blipFill>
                          <a:blip r:embed="rId2"/>
                          <a:stretch>
                            <a:fillRect l="-472353" t="-601639" r="-368824" b="-3279"/>
                          </a:stretch>
                        </a:blipFill>
                      </a:tcPr>
                    </a:tc>
                    <a:tc>
                      <a:txBody>
                        <a:bodyPr/>
                        <a:lstStyle/>
                        <a:p>
                          <a:endParaRPr lang="tr-TR"/>
                        </a:p>
                      </a:txBody>
                      <a:tcPr>
                        <a:blipFill>
                          <a:blip r:embed="rId2"/>
                          <a:stretch>
                            <a:fillRect l="-653020" t="-601639" r="-320805" b="-3279"/>
                          </a:stretch>
                        </a:blipFill>
                      </a:tcPr>
                    </a:tc>
                    <a:tc>
                      <a:txBody>
                        <a:bodyPr/>
                        <a:lstStyle/>
                        <a:p>
                          <a:endParaRPr lang="tr-TR"/>
                        </a:p>
                      </a:txBody>
                      <a:tcPr>
                        <a:blipFill>
                          <a:blip r:embed="rId2"/>
                          <a:stretch>
                            <a:fillRect l="-753020" t="-601639" r="-220805" b="-3279"/>
                          </a:stretch>
                        </a:blipFill>
                      </a:tcPr>
                    </a:tc>
                    <a:tc>
                      <a:txBody>
                        <a:bodyPr/>
                        <a:lstStyle/>
                        <a:p>
                          <a:endParaRPr lang="tr-TR"/>
                        </a:p>
                      </a:txBody>
                      <a:tcPr>
                        <a:blipFill>
                          <a:blip r:embed="rId2"/>
                          <a:stretch>
                            <a:fillRect l="-853020" t="-601639" r="-120805" b="-3279"/>
                          </a:stretch>
                        </a:blipFill>
                      </a:tcPr>
                    </a:tc>
                    <a:tc>
                      <a:txBody>
                        <a:bodyPr/>
                        <a:lstStyle/>
                        <a:p>
                          <a:endParaRPr lang="tr-TR"/>
                        </a:p>
                      </a:txBody>
                      <a:tcPr>
                        <a:blipFill>
                          <a:blip r:embed="rId2"/>
                          <a:stretch>
                            <a:fillRect l="-2366667" t="-601639" r="-200000" b="-3279"/>
                          </a:stretch>
                        </a:blipFill>
                      </a:tcPr>
                    </a:tc>
                    <a:tc>
                      <a:txBody>
                        <a:bodyPr/>
                        <a:lstStyle/>
                        <a:p>
                          <a:r>
                            <a:rPr lang="tr-TR" sz="1500" b="0" dirty="0"/>
                            <a:t>0</a:t>
                          </a:r>
                          <a:endParaRPr lang="en-US" sz="15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336473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 -PuLP</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p:cNvPicPr>
            <a:picLocks noChangeAspect="1"/>
          </p:cNvPicPr>
          <p:nvPr/>
        </p:nvPicPr>
        <p:blipFill rotWithShape="1">
          <a:blip r:embed="rId2"/>
          <a:srcRect r="44677" b="60979"/>
          <a:stretch/>
        </p:blipFill>
        <p:spPr>
          <a:xfrm>
            <a:off x="1790700" y="2305266"/>
            <a:ext cx="7143750" cy="3089628"/>
          </a:xfrm>
          <a:prstGeom prst="rect">
            <a:avLst/>
          </a:prstGeom>
        </p:spPr>
      </p:pic>
      <p:sp>
        <p:nvSpPr>
          <p:cNvPr id="5" name="Rectangle 4"/>
          <p:cNvSpPr/>
          <p:nvPr/>
        </p:nvSpPr>
        <p:spPr>
          <a:xfrm>
            <a:off x="2609850" y="2686051"/>
            <a:ext cx="1952625" cy="2476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5" idx="0"/>
          </p:cNvCxnSpPr>
          <p:nvPr/>
        </p:nvCxnSpPr>
        <p:spPr>
          <a:xfrm flipV="1">
            <a:off x="3586163" y="1981201"/>
            <a:ext cx="280987" cy="7048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771736" y="1650789"/>
            <a:ext cx="2486065" cy="369332"/>
          </a:xfrm>
          <a:prstGeom prst="rect">
            <a:avLst/>
          </a:prstGeom>
          <a:noFill/>
        </p:spPr>
        <p:txBody>
          <a:bodyPr wrap="none" rtlCol="0">
            <a:spAutoFit/>
          </a:bodyPr>
          <a:lstStyle/>
          <a:p>
            <a:r>
              <a:rPr lang="tr-TR" dirty="0"/>
              <a:t>Import PuLP Library First</a:t>
            </a:r>
            <a:endParaRPr lang="en-US" dirty="0"/>
          </a:p>
        </p:txBody>
      </p:sp>
      <p:sp>
        <p:nvSpPr>
          <p:cNvPr id="12" name="Rectangle 11"/>
          <p:cNvSpPr/>
          <p:nvPr/>
        </p:nvSpPr>
        <p:spPr>
          <a:xfrm>
            <a:off x="2609849" y="3190661"/>
            <a:ext cx="5543551" cy="23833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endCxn id="15" idx="1"/>
          </p:cNvCxnSpPr>
          <p:nvPr/>
        </p:nvCxnSpPr>
        <p:spPr>
          <a:xfrm flipV="1">
            <a:off x="5146288" y="2089092"/>
            <a:ext cx="1863191" cy="109928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009479" y="1627427"/>
            <a:ext cx="3779240" cy="923330"/>
          </a:xfrm>
          <a:prstGeom prst="rect">
            <a:avLst/>
          </a:prstGeom>
          <a:noFill/>
        </p:spPr>
        <p:txBody>
          <a:bodyPr wrap="none" rtlCol="0">
            <a:spAutoFit/>
          </a:bodyPr>
          <a:lstStyle/>
          <a:p>
            <a:r>
              <a:rPr lang="tr-TR" dirty="0"/>
              <a:t>Define your problem as an LPProblem </a:t>
            </a:r>
          </a:p>
          <a:p>
            <a:r>
              <a:rPr lang="tr-TR" dirty="0"/>
              <a:t>with a name. State whether it is a </a:t>
            </a:r>
          </a:p>
          <a:p>
            <a:r>
              <a:rPr lang="tr-TR" dirty="0"/>
              <a:t>maximization or minimization problem</a:t>
            </a:r>
            <a:endParaRPr lang="en-US" dirty="0"/>
          </a:p>
        </p:txBody>
      </p:sp>
      <p:sp>
        <p:nvSpPr>
          <p:cNvPr id="19" name="Rectangle 18"/>
          <p:cNvSpPr/>
          <p:nvPr/>
        </p:nvSpPr>
        <p:spPr>
          <a:xfrm>
            <a:off x="2609849" y="3466494"/>
            <a:ext cx="4034019" cy="192839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p:nvPr/>
        </p:nvCxnSpPr>
        <p:spPr>
          <a:xfrm>
            <a:off x="6643868" y="4399721"/>
            <a:ext cx="1747778" cy="348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8448314" y="3553531"/>
            <a:ext cx="2671996" cy="2031325"/>
          </a:xfrm>
          <a:prstGeom prst="rect">
            <a:avLst/>
          </a:prstGeom>
          <a:noFill/>
        </p:spPr>
        <p:txBody>
          <a:bodyPr wrap="square" rtlCol="0">
            <a:spAutoFit/>
          </a:bodyPr>
          <a:lstStyle/>
          <a:p>
            <a:r>
              <a:rPr lang="tr-TR" dirty="0"/>
              <a:t>Define variables with LpVariable function. </a:t>
            </a:r>
          </a:p>
          <a:p>
            <a:r>
              <a:rPr lang="tr-TR" dirty="0"/>
              <a:t>You can name them, add lower bounds or upper bounds or define it as a continuous or integer variables</a:t>
            </a:r>
            <a:endParaRPr lang="en-US" dirty="0"/>
          </a:p>
        </p:txBody>
      </p:sp>
    </p:spTree>
    <p:extLst>
      <p:ext uri="{BB962C8B-B14F-4D97-AF65-F5344CB8AC3E}">
        <p14:creationId xmlns:p14="http://schemas.microsoft.com/office/powerpoint/2010/main" val="678075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278497" y="2686051"/>
            <a:ext cx="9635005" cy="2811430"/>
          </a:xfrm>
          <a:prstGeom prst="rect">
            <a:avLst/>
          </a:prstGeom>
        </p:spPr>
      </p:pic>
      <p:sp>
        <p:nvSpPr>
          <p:cNvPr id="2" name="Title 1"/>
          <p:cNvSpPr>
            <a:spLocks noGrp="1"/>
          </p:cNvSpPr>
          <p:nvPr>
            <p:ph type="title"/>
          </p:nvPr>
        </p:nvSpPr>
        <p:spPr/>
        <p:txBody>
          <a:bodyPr>
            <a:normAutofit/>
          </a:bodyPr>
          <a:lstStyle/>
          <a:p>
            <a:r>
              <a:rPr lang="tr-TR" dirty="0"/>
              <a:t>Process Selection Models -PuLP</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5" name="Rectangle 4"/>
          <p:cNvSpPr/>
          <p:nvPr/>
        </p:nvSpPr>
        <p:spPr>
          <a:xfrm>
            <a:off x="1990386" y="2802592"/>
            <a:ext cx="8923116" cy="31464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5" idx="0"/>
          </p:cNvCxnSpPr>
          <p:nvPr/>
        </p:nvCxnSpPr>
        <p:spPr>
          <a:xfrm flipV="1">
            <a:off x="3586163" y="1981201"/>
            <a:ext cx="280987" cy="7048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771736" y="1650789"/>
            <a:ext cx="2822952" cy="369332"/>
          </a:xfrm>
          <a:prstGeom prst="rect">
            <a:avLst/>
          </a:prstGeom>
          <a:noFill/>
        </p:spPr>
        <p:txBody>
          <a:bodyPr wrap="none" rtlCol="0">
            <a:spAutoFit/>
          </a:bodyPr>
          <a:lstStyle/>
          <a:p>
            <a:r>
              <a:rPr lang="tr-TR" dirty="0"/>
              <a:t>Write the objective function</a:t>
            </a:r>
          </a:p>
        </p:txBody>
      </p:sp>
      <p:sp>
        <p:nvSpPr>
          <p:cNvPr id="19" name="Rectangle 18"/>
          <p:cNvSpPr/>
          <p:nvPr/>
        </p:nvSpPr>
        <p:spPr>
          <a:xfrm>
            <a:off x="1203042" y="3304915"/>
            <a:ext cx="6783490" cy="202111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p:nvPr/>
        </p:nvCxnSpPr>
        <p:spPr>
          <a:xfrm flipV="1">
            <a:off x="7986532" y="3968582"/>
            <a:ext cx="1296364" cy="33355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282896" y="3424975"/>
            <a:ext cx="2146359" cy="2031325"/>
          </a:xfrm>
          <a:prstGeom prst="rect">
            <a:avLst/>
          </a:prstGeom>
          <a:noFill/>
        </p:spPr>
        <p:txBody>
          <a:bodyPr wrap="square" rtlCol="0">
            <a:spAutoFit/>
          </a:bodyPr>
          <a:lstStyle/>
          <a:p>
            <a:r>
              <a:rPr lang="tr-TR" dirty="0"/>
              <a:t>Define constraints</a:t>
            </a:r>
          </a:p>
          <a:p>
            <a:r>
              <a:rPr lang="tr-TR" dirty="0"/>
              <a:t>Note that += is used to add objective function and constraints to the prob variable</a:t>
            </a:r>
          </a:p>
          <a:p>
            <a:endParaRPr lang="en-US" dirty="0"/>
          </a:p>
        </p:txBody>
      </p:sp>
    </p:spTree>
    <p:extLst>
      <p:ext uri="{BB962C8B-B14F-4D97-AF65-F5344CB8AC3E}">
        <p14:creationId xmlns:p14="http://schemas.microsoft.com/office/powerpoint/2010/main" val="1243020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03042" y="2333897"/>
            <a:ext cx="10085507" cy="3350991"/>
          </a:xfrm>
          <a:prstGeom prst="rect">
            <a:avLst/>
          </a:prstGeom>
        </p:spPr>
      </p:pic>
      <p:sp>
        <p:nvSpPr>
          <p:cNvPr id="2" name="Title 1"/>
          <p:cNvSpPr>
            <a:spLocks noGrp="1"/>
          </p:cNvSpPr>
          <p:nvPr>
            <p:ph type="title"/>
          </p:nvPr>
        </p:nvSpPr>
        <p:spPr/>
        <p:txBody>
          <a:bodyPr>
            <a:normAutofit/>
          </a:bodyPr>
          <a:lstStyle/>
          <a:p>
            <a:r>
              <a:rPr lang="tr-TR" dirty="0"/>
              <a:t>Process Selection Models -PuLP</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19" name="Rectangle 18"/>
          <p:cNvSpPr/>
          <p:nvPr/>
        </p:nvSpPr>
        <p:spPr>
          <a:xfrm>
            <a:off x="1203042" y="3304915"/>
            <a:ext cx="6783490" cy="33325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p:nvPr/>
        </p:nvCxnSpPr>
        <p:spPr>
          <a:xfrm flipV="1">
            <a:off x="4829956" y="2049357"/>
            <a:ext cx="1628717" cy="123269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689796" y="1720465"/>
            <a:ext cx="4455066" cy="369332"/>
          </a:xfrm>
          <a:prstGeom prst="rect">
            <a:avLst/>
          </a:prstGeom>
          <a:noFill/>
        </p:spPr>
        <p:txBody>
          <a:bodyPr wrap="none" rtlCol="0">
            <a:spAutoFit/>
          </a:bodyPr>
          <a:lstStyle/>
          <a:p>
            <a:r>
              <a:rPr lang="tr-TR" dirty="0"/>
              <a:t>Reports whether the problem is solved or not</a:t>
            </a:r>
          </a:p>
        </p:txBody>
      </p:sp>
    </p:spTree>
    <p:extLst>
      <p:ext uri="{BB962C8B-B14F-4D97-AF65-F5344CB8AC3E}">
        <p14:creationId xmlns:p14="http://schemas.microsoft.com/office/powerpoint/2010/main" val="348770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Process Selection Models -PuLP</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8" name="Picture 7"/>
          <p:cNvPicPr>
            <a:picLocks noChangeAspect="1"/>
          </p:cNvPicPr>
          <p:nvPr/>
        </p:nvPicPr>
        <p:blipFill>
          <a:blip r:embed="rId2"/>
          <a:stretch>
            <a:fillRect/>
          </a:stretch>
        </p:blipFill>
        <p:spPr>
          <a:xfrm>
            <a:off x="1206360" y="2004378"/>
            <a:ext cx="10147440" cy="2886075"/>
          </a:xfrm>
          <a:prstGeom prst="rect">
            <a:avLst/>
          </a:prstGeom>
        </p:spPr>
      </p:pic>
    </p:spTree>
    <p:extLst>
      <p:ext uri="{BB962C8B-B14F-4D97-AF65-F5344CB8AC3E}">
        <p14:creationId xmlns:p14="http://schemas.microsoft.com/office/powerpoint/2010/main" val="354982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Blending Models</a:t>
            </a:r>
            <a:endParaRPr lang="en-US" dirty="0"/>
          </a:p>
        </p:txBody>
      </p:sp>
      <p:sp>
        <p:nvSpPr>
          <p:cNvPr id="4" name="Content Placeholder 3"/>
          <p:cNvSpPr>
            <a:spLocks noGrp="1"/>
          </p:cNvSpPr>
          <p:nvPr>
            <p:ph idx="1"/>
          </p:nvPr>
        </p:nvSpPr>
        <p:spPr/>
        <p:txBody>
          <a:bodyPr>
            <a:normAutofit/>
          </a:bodyPr>
          <a:lstStyle/>
          <a:p>
            <a:pPr marL="0" indent="0">
              <a:buNone/>
            </a:pPr>
            <a:r>
              <a:rPr lang="en-US" sz="1800" dirty="0"/>
              <a:t>Uncle Ben’s want to produce their cat food products as cheaply as possible while ensuring they meet the stated nutritional analysis requirements shown on the cans. Thus they want to vary the quantities of each ingredient used (the main ingredients being chicken, beef, mutton, rice, wheat and gel) while still meeting their nutritional standards. The costs of the chicken, beef, and mutton are $0.013, $0.008 and $0.010 respectively, while the costs of the rice, wheat and gel are $0.002, $0.005 and $0.001 respectively (All costs are per gram.) Each ingredient contributes to the total weight of protein, fat, </a:t>
            </a:r>
            <a:r>
              <a:rPr lang="en-US" sz="1800" dirty="0" err="1"/>
              <a:t>fibre</a:t>
            </a:r>
            <a:r>
              <a:rPr lang="en-US" sz="1800" dirty="0"/>
              <a:t> and salt in the final product. To meet the nutritional analysis requirements, we need to have at least 8g of Protein, 6g of fat, but no more than 2g of </a:t>
            </a:r>
            <a:r>
              <a:rPr lang="en-US" sz="1800" dirty="0" err="1"/>
              <a:t>fibre</a:t>
            </a:r>
            <a:r>
              <a:rPr lang="en-US" sz="1800" dirty="0"/>
              <a:t> and 0.4g of salt</a:t>
            </a:r>
            <a:r>
              <a:rPr lang="tr-TR" sz="1800" dirty="0"/>
              <a:t> </a:t>
            </a:r>
            <a:r>
              <a:rPr lang="en-US" sz="1800" dirty="0"/>
              <a:t>per 100g</a:t>
            </a:r>
            <a:r>
              <a:rPr lang="tr-TR" sz="1800" dirty="0"/>
              <a:t> of cat food</a:t>
            </a:r>
            <a:r>
              <a:rPr lang="en-US" sz="1800" dirty="0"/>
              <a:t>.</a:t>
            </a:r>
            <a:r>
              <a:rPr lang="tr-TR" sz="1800" dirty="0"/>
              <a:t> </a:t>
            </a:r>
            <a:r>
              <a:rPr lang="en-US" sz="1800" dirty="0"/>
              <a:t>The contributions (in grams) per gram of ingredient are given in the table below.</a:t>
            </a:r>
            <a:r>
              <a:rPr lang="tr-TR" sz="1800" dirty="0"/>
              <a:t> </a:t>
            </a:r>
            <a:endParaRPr lang="en-US" sz="1800"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aphicFrame>
        <p:nvGraphicFramePr>
          <p:cNvPr id="7" name="Table 6"/>
          <p:cNvGraphicFramePr>
            <a:graphicFrameLocks noGrp="1"/>
          </p:cNvGraphicFramePr>
          <p:nvPr>
            <p:extLst>
              <p:ext uri="{D42A27DB-BD31-4B8C-83A1-F6EECF244321}">
                <p14:modId xmlns:p14="http://schemas.microsoft.com/office/powerpoint/2010/main" val="1609066144"/>
              </p:ext>
            </p:extLst>
          </p:nvPr>
        </p:nvGraphicFramePr>
        <p:xfrm>
          <a:off x="3879853" y="3714751"/>
          <a:ext cx="3670023" cy="2133600"/>
        </p:xfrm>
        <a:graphic>
          <a:graphicData uri="http://schemas.openxmlformats.org/drawingml/2006/table">
            <a:tbl>
              <a:tblPr firstRow="1" bandRow="1">
                <a:tableStyleId>{5940675A-B579-460E-94D1-54222C63F5DA}</a:tableStyleId>
              </a:tblPr>
              <a:tblGrid>
                <a:gridCol w="1082485">
                  <a:extLst>
                    <a:ext uri="{9D8B030D-6E8A-4147-A177-3AD203B41FA5}">
                      <a16:colId xmlns:a16="http://schemas.microsoft.com/office/drawing/2014/main" val="3333965635"/>
                    </a:ext>
                  </a:extLst>
                </a:gridCol>
                <a:gridCol w="738611">
                  <a:extLst>
                    <a:ext uri="{9D8B030D-6E8A-4147-A177-3AD203B41FA5}">
                      <a16:colId xmlns:a16="http://schemas.microsoft.com/office/drawing/2014/main" val="1819818939"/>
                    </a:ext>
                  </a:extLst>
                </a:gridCol>
                <a:gridCol w="616309">
                  <a:extLst>
                    <a:ext uri="{9D8B030D-6E8A-4147-A177-3AD203B41FA5}">
                      <a16:colId xmlns:a16="http://schemas.microsoft.com/office/drawing/2014/main" val="1899134126"/>
                    </a:ext>
                  </a:extLst>
                </a:gridCol>
                <a:gridCol w="616309">
                  <a:extLst>
                    <a:ext uri="{9D8B030D-6E8A-4147-A177-3AD203B41FA5}">
                      <a16:colId xmlns:a16="http://schemas.microsoft.com/office/drawing/2014/main" val="85019364"/>
                    </a:ext>
                  </a:extLst>
                </a:gridCol>
                <a:gridCol w="616309">
                  <a:extLst>
                    <a:ext uri="{9D8B030D-6E8A-4147-A177-3AD203B41FA5}">
                      <a16:colId xmlns:a16="http://schemas.microsoft.com/office/drawing/2014/main" val="3663548154"/>
                    </a:ext>
                  </a:extLst>
                </a:gridCol>
              </a:tblGrid>
              <a:tr h="283028">
                <a:tc>
                  <a:txBody>
                    <a:bodyPr/>
                    <a:lstStyle/>
                    <a:p>
                      <a:r>
                        <a:rPr lang="tr-TR" sz="1400" dirty="0"/>
                        <a:t>Ingredient</a:t>
                      </a:r>
                      <a:endParaRPr lang="en-US" sz="1400" dirty="0"/>
                    </a:p>
                  </a:txBody>
                  <a:tcPr/>
                </a:tc>
                <a:tc>
                  <a:txBody>
                    <a:bodyPr/>
                    <a:lstStyle/>
                    <a:p>
                      <a:r>
                        <a:rPr lang="tr-TR" sz="1400" dirty="0"/>
                        <a:t>Protein</a:t>
                      </a:r>
                      <a:endParaRPr lang="en-US" sz="1400" dirty="0"/>
                    </a:p>
                  </a:txBody>
                  <a:tcPr/>
                </a:tc>
                <a:tc>
                  <a:txBody>
                    <a:bodyPr/>
                    <a:lstStyle/>
                    <a:p>
                      <a:r>
                        <a:rPr lang="tr-TR" sz="1400" dirty="0"/>
                        <a:t>Fat</a:t>
                      </a:r>
                      <a:endParaRPr lang="en-US" sz="1400" dirty="0"/>
                    </a:p>
                  </a:txBody>
                  <a:tcPr/>
                </a:tc>
                <a:tc>
                  <a:txBody>
                    <a:bodyPr/>
                    <a:lstStyle/>
                    <a:p>
                      <a:r>
                        <a:rPr lang="tr-TR" sz="1400" dirty="0"/>
                        <a:t>Fiber</a:t>
                      </a:r>
                      <a:endParaRPr lang="en-US" sz="1400" dirty="0"/>
                    </a:p>
                  </a:txBody>
                  <a:tcPr/>
                </a:tc>
                <a:tc>
                  <a:txBody>
                    <a:bodyPr/>
                    <a:lstStyle/>
                    <a:p>
                      <a:r>
                        <a:rPr lang="tr-TR" sz="1400" dirty="0"/>
                        <a:t>Salt</a:t>
                      </a:r>
                      <a:endParaRPr lang="en-US" sz="1400" dirty="0"/>
                    </a:p>
                  </a:txBody>
                  <a:tcPr/>
                </a:tc>
                <a:extLst>
                  <a:ext uri="{0D108BD9-81ED-4DB2-BD59-A6C34878D82A}">
                    <a16:rowId xmlns:a16="http://schemas.microsoft.com/office/drawing/2014/main" val="572563123"/>
                  </a:ext>
                </a:extLst>
              </a:tr>
              <a:tr h="283028">
                <a:tc>
                  <a:txBody>
                    <a:bodyPr/>
                    <a:lstStyle/>
                    <a:p>
                      <a:r>
                        <a:rPr lang="tr-TR" sz="1400" dirty="0"/>
                        <a:t>Chicken</a:t>
                      </a:r>
                      <a:endParaRPr lang="en-US" sz="1400" dirty="0"/>
                    </a:p>
                  </a:txBody>
                  <a:tcPr/>
                </a:tc>
                <a:tc>
                  <a:txBody>
                    <a:bodyPr/>
                    <a:lstStyle/>
                    <a:p>
                      <a:r>
                        <a:rPr lang="tr-TR" sz="1400" dirty="0"/>
                        <a:t>0.100</a:t>
                      </a:r>
                      <a:endParaRPr lang="en-US" sz="1400" dirty="0"/>
                    </a:p>
                  </a:txBody>
                  <a:tcPr/>
                </a:tc>
                <a:tc>
                  <a:txBody>
                    <a:bodyPr/>
                    <a:lstStyle/>
                    <a:p>
                      <a:r>
                        <a:rPr lang="tr-TR" sz="1400" dirty="0"/>
                        <a:t>0.080</a:t>
                      </a:r>
                      <a:endParaRPr lang="en-US" sz="1400" dirty="0"/>
                    </a:p>
                  </a:txBody>
                  <a:tcPr/>
                </a:tc>
                <a:tc>
                  <a:txBody>
                    <a:bodyPr/>
                    <a:lstStyle/>
                    <a:p>
                      <a:r>
                        <a:rPr lang="tr-TR" sz="1400" dirty="0"/>
                        <a:t>0.001</a:t>
                      </a:r>
                      <a:endParaRPr lang="en-US" sz="1400" dirty="0"/>
                    </a:p>
                  </a:txBody>
                  <a:tcPr/>
                </a:tc>
                <a:tc>
                  <a:txBody>
                    <a:bodyPr/>
                    <a:lstStyle/>
                    <a:p>
                      <a:r>
                        <a:rPr lang="tr-TR" sz="1400" dirty="0"/>
                        <a:t>0.002</a:t>
                      </a:r>
                      <a:endParaRPr lang="en-US" sz="1400" dirty="0"/>
                    </a:p>
                  </a:txBody>
                  <a:tcPr/>
                </a:tc>
                <a:extLst>
                  <a:ext uri="{0D108BD9-81ED-4DB2-BD59-A6C34878D82A}">
                    <a16:rowId xmlns:a16="http://schemas.microsoft.com/office/drawing/2014/main" val="2265641094"/>
                  </a:ext>
                </a:extLst>
              </a:tr>
              <a:tr h="283028">
                <a:tc>
                  <a:txBody>
                    <a:bodyPr/>
                    <a:lstStyle/>
                    <a:p>
                      <a:r>
                        <a:rPr lang="tr-TR" sz="1400" dirty="0"/>
                        <a:t>Beef</a:t>
                      </a:r>
                      <a:endParaRPr lang="en-US" sz="1400" dirty="0"/>
                    </a:p>
                  </a:txBody>
                  <a:tcPr/>
                </a:tc>
                <a:tc>
                  <a:txBody>
                    <a:bodyPr/>
                    <a:lstStyle/>
                    <a:p>
                      <a:r>
                        <a:rPr lang="tr-TR" sz="1400" dirty="0"/>
                        <a:t>0.200</a:t>
                      </a:r>
                      <a:endParaRPr lang="en-US" sz="1400" dirty="0"/>
                    </a:p>
                  </a:txBody>
                  <a:tcPr/>
                </a:tc>
                <a:tc>
                  <a:txBody>
                    <a:bodyPr/>
                    <a:lstStyle/>
                    <a:p>
                      <a:r>
                        <a:rPr lang="tr-TR" sz="1400" dirty="0"/>
                        <a:t>0.100</a:t>
                      </a:r>
                      <a:endParaRPr lang="en-US" sz="1400" dirty="0"/>
                    </a:p>
                  </a:txBody>
                  <a:tcPr/>
                </a:tc>
                <a:tc>
                  <a:txBody>
                    <a:bodyPr/>
                    <a:lstStyle/>
                    <a:p>
                      <a:r>
                        <a:rPr lang="tr-TR" sz="1400" dirty="0"/>
                        <a:t>0.005</a:t>
                      </a:r>
                      <a:endParaRPr lang="en-US" sz="1400" dirty="0"/>
                    </a:p>
                  </a:txBody>
                  <a:tcPr/>
                </a:tc>
                <a:tc>
                  <a:txBody>
                    <a:bodyPr/>
                    <a:lstStyle/>
                    <a:p>
                      <a:r>
                        <a:rPr lang="tr-TR" sz="1400" dirty="0"/>
                        <a:t>0.005</a:t>
                      </a:r>
                      <a:endParaRPr lang="en-US" sz="1400" dirty="0"/>
                    </a:p>
                  </a:txBody>
                  <a:tcPr/>
                </a:tc>
                <a:extLst>
                  <a:ext uri="{0D108BD9-81ED-4DB2-BD59-A6C34878D82A}">
                    <a16:rowId xmlns:a16="http://schemas.microsoft.com/office/drawing/2014/main" val="2175544492"/>
                  </a:ext>
                </a:extLst>
              </a:tr>
              <a:tr h="283028">
                <a:tc>
                  <a:txBody>
                    <a:bodyPr/>
                    <a:lstStyle/>
                    <a:p>
                      <a:r>
                        <a:rPr lang="tr-TR" sz="1400" dirty="0"/>
                        <a:t>Mutton</a:t>
                      </a:r>
                      <a:endParaRPr lang="en-US" sz="1400" dirty="0"/>
                    </a:p>
                  </a:txBody>
                  <a:tcPr/>
                </a:tc>
                <a:tc>
                  <a:txBody>
                    <a:bodyPr/>
                    <a:lstStyle/>
                    <a:p>
                      <a:r>
                        <a:rPr lang="tr-TR" sz="1400" dirty="0"/>
                        <a:t>0.150</a:t>
                      </a:r>
                      <a:endParaRPr lang="en-US" sz="1400" dirty="0"/>
                    </a:p>
                  </a:txBody>
                  <a:tcPr/>
                </a:tc>
                <a:tc>
                  <a:txBody>
                    <a:bodyPr/>
                    <a:lstStyle/>
                    <a:p>
                      <a:r>
                        <a:rPr lang="tr-TR" sz="1400" dirty="0"/>
                        <a:t>0.110</a:t>
                      </a:r>
                      <a:endParaRPr lang="en-US" sz="1400" dirty="0"/>
                    </a:p>
                  </a:txBody>
                  <a:tcPr/>
                </a:tc>
                <a:tc>
                  <a:txBody>
                    <a:bodyPr/>
                    <a:lstStyle/>
                    <a:p>
                      <a:r>
                        <a:rPr lang="tr-TR" sz="1400" dirty="0"/>
                        <a:t>0.003</a:t>
                      </a:r>
                      <a:endParaRPr lang="en-US" sz="1400" dirty="0"/>
                    </a:p>
                  </a:txBody>
                  <a:tcPr/>
                </a:tc>
                <a:tc>
                  <a:txBody>
                    <a:bodyPr/>
                    <a:lstStyle/>
                    <a:p>
                      <a:r>
                        <a:rPr lang="tr-TR" sz="1400" dirty="0"/>
                        <a:t>0.007</a:t>
                      </a:r>
                      <a:endParaRPr lang="en-US" sz="1400" dirty="0"/>
                    </a:p>
                  </a:txBody>
                  <a:tcPr/>
                </a:tc>
                <a:extLst>
                  <a:ext uri="{0D108BD9-81ED-4DB2-BD59-A6C34878D82A}">
                    <a16:rowId xmlns:a16="http://schemas.microsoft.com/office/drawing/2014/main" val="1192464839"/>
                  </a:ext>
                </a:extLst>
              </a:tr>
              <a:tr h="283028">
                <a:tc>
                  <a:txBody>
                    <a:bodyPr/>
                    <a:lstStyle/>
                    <a:p>
                      <a:r>
                        <a:rPr lang="tr-TR" sz="1400" dirty="0"/>
                        <a:t>Rice</a:t>
                      </a:r>
                      <a:endParaRPr lang="en-US" sz="1400" dirty="0"/>
                    </a:p>
                  </a:txBody>
                  <a:tcPr/>
                </a:tc>
                <a:tc>
                  <a:txBody>
                    <a:bodyPr/>
                    <a:lstStyle/>
                    <a:p>
                      <a:r>
                        <a:rPr lang="tr-TR" sz="1400" dirty="0"/>
                        <a:t>0.000</a:t>
                      </a:r>
                    </a:p>
                  </a:txBody>
                  <a:tcPr/>
                </a:tc>
                <a:tc>
                  <a:txBody>
                    <a:bodyPr/>
                    <a:lstStyle/>
                    <a:p>
                      <a:r>
                        <a:rPr lang="tr-TR" sz="1400" dirty="0"/>
                        <a:t>0.010</a:t>
                      </a:r>
                      <a:endParaRPr lang="en-US" sz="1400" dirty="0"/>
                    </a:p>
                  </a:txBody>
                  <a:tcPr/>
                </a:tc>
                <a:tc>
                  <a:txBody>
                    <a:bodyPr/>
                    <a:lstStyle/>
                    <a:p>
                      <a:r>
                        <a:rPr lang="tr-TR" sz="1400" dirty="0"/>
                        <a:t>0.100</a:t>
                      </a:r>
                      <a:endParaRPr lang="en-US" sz="1400" dirty="0"/>
                    </a:p>
                  </a:txBody>
                  <a:tcPr/>
                </a:tc>
                <a:tc>
                  <a:txBody>
                    <a:bodyPr/>
                    <a:lstStyle/>
                    <a:p>
                      <a:r>
                        <a:rPr lang="tr-TR" sz="1400" dirty="0"/>
                        <a:t>0.002</a:t>
                      </a:r>
                      <a:endParaRPr lang="en-US" sz="1400" dirty="0"/>
                    </a:p>
                  </a:txBody>
                  <a:tcPr/>
                </a:tc>
                <a:extLst>
                  <a:ext uri="{0D108BD9-81ED-4DB2-BD59-A6C34878D82A}">
                    <a16:rowId xmlns:a16="http://schemas.microsoft.com/office/drawing/2014/main" val="581238503"/>
                  </a:ext>
                </a:extLst>
              </a:tr>
              <a:tr h="283028">
                <a:tc>
                  <a:txBody>
                    <a:bodyPr/>
                    <a:lstStyle/>
                    <a:p>
                      <a:r>
                        <a:rPr lang="tr-TR" sz="1400" dirty="0"/>
                        <a:t>Wheat Bran</a:t>
                      </a:r>
                      <a:endParaRPr lang="en-US" sz="1400" dirty="0"/>
                    </a:p>
                  </a:txBody>
                  <a:tcPr/>
                </a:tc>
                <a:tc>
                  <a:txBody>
                    <a:bodyPr/>
                    <a:lstStyle/>
                    <a:p>
                      <a:r>
                        <a:rPr lang="tr-TR" sz="1400" dirty="0"/>
                        <a:t>0.040</a:t>
                      </a:r>
                      <a:endParaRPr lang="en-US" sz="1400" dirty="0"/>
                    </a:p>
                  </a:txBody>
                  <a:tcPr/>
                </a:tc>
                <a:tc>
                  <a:txBody>
                    <a:bodyPr/>
                    <a:lstStyle/>
                    <a:p>
                      <a:r>
                        <a:rPr lang="tr-TR" sz="1400" dirty="0"/>
                        <a:t>0.010</a:t>
                      </a:r>
                      <a:endParaRPr lang="en-US" sz="1400" dirty="0"/>
                    </a:p>
                  </a:txBody>
                  <a:tcPr/>
                </a:tc>
                <a:tc>
                  <a:txBody>
                    <a:bodyPr/>
                    <a:lstStyle/>
                    <a:p>
                      <a:r>
                        <a:rPr lang="tr-TR" sz="1400" dirty="0"/>
                        <a:t>0.150</a:t>
                      </a:r>
                      <a:endParaRPr lang="en-US" sz="1400" dirty="0"/>
                    </a:p>
                  </a:txBody>
                  <a:tcPr/>
                </a:tc>
                <a:tc>
                  <a:txBody>
                    <a:bodyPr/>
                    <a:lstStyle/>
                    <a:p>
                      <a:r>
                        <a:rPr lang="tr-TR" sz="1400" dirty="0"/>
                        <a:t>0.008</a:t>
                      </a:r>
                      <a:endParaRPr lang="en-US" sz="1400" dirty="0"/>
                    </a:p>
                  </a:txBody>
                  <a:tcPr/>
                </a:tc>
                <a:extLst>
                  <a:ext uri="{0D108BD9-81ED-4DB2-BD59-A6C34878D82A}">
                    <a16:rowId xmlns:a16="http://schemas.microsoft.com/office/drawing/2014/main" val="3452090961"/>
                  </a:ext>
                </a:extLst>
              </a:tr>
              <a:tr h="283028">
                <a:tc>
                  <a:txBody>
                    <a:bodyPr/>
                    <a:lstStyle/>
                    <a:p>
                      <a:r>
                        <a:rPr lang="tr-TR" sz="1400" dirty="0"/>
                        <a:t>Gel</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extLst>
                  <a:ext uri="{0D108BD9-81ED-4DB2-BD59-A6C34878D82A}">
                    <a16:rowId xmlns:a16="http://schemas.microsoft.com/office/drawing/2014/main" val="1122679131"/>
                  </a:ext>
                </a:extLst>
              </a:tr>
            </a:tbl>
          </a:graphicData>
        </a:graphic>
      </p:graphicFrame>
    </p:spTree>
    <p:extLst>
      <p:ext uri="{BB962C8B-B14F-4D97-AF65-F5344CB8AC3E}">
        <p14:creationId xmlns:p14="http://schemas.microsoft.com/office/powerpoint/2010/main" val="4107258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Blending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tr-TR" sz="2200" dirty="0"/>
              </a:p>
              <a:p>
                <a:pPr marL="0" indent="0">
                  <a:buNone/>
                </a:pPr>
                <a:endParaRPr lang="tr-TR" sz="2200" dirty="0"/>
              </a:p>
              <a:p>
                <a:endParaRPr lang="tr-TR" sz="2200" dirty="0"/>
              </a:p>
              <a:p>
                <a:endParaRPr lang="tr-TR" sz="2200" dirty="0"/>
              </a:p>
              <a:p>
                <a:endParaRPr lang="tr-TR" sz="2200" dirty="0"/>
              </a:p>
              <a:p>
                <a:r>
                  <a:rPr lang="tr-TR" sz="2200" dirty="0"/>
                  <a:t>Decision variables:</a:t>
                </a:r>
              </a:p>
              <a:p>
                <a:pPr marL="0" indent="361950">
                  <a:buNone/>
                </a:pPr>
                <a14:m>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𝑋</m:t>
                        </m:r>
                      </m:e>
                      <m:sub>
                        <m:r>
                          <a:rPr lang="tr-TR" sz="2200" b="0" i="1" smtClean="0">
                            <a:latin typeface="Cambria Math" panose="02040503050406030204" pitchFamily="18" charset="0"/>
                          </a:rPr>
                          <m:t>𝑖</m:t>
                        </m:r>
                      </m:sub>
                    </m:sSub>
                    <m:r>
                      <a:rPr lang="tr-TR" sz="2200" b="0" i="1" smtClean="0">
                        <a:latin typeface="Cambria Math" panose="02040503050406030204" pitchFamily="18" charset="0"/>
                      </a:rPr>
                      <m:t>=</m:t>
                    </m:r>
                  </m:oMath>
                </a14:m>
                <a:r>
                  <a:rPr lang="tr-TR" sz="2200" dirty="0"/>
                  <a:t> grams of ingredient i </a:t>
                </a:r>
                <a:r>
                  <a:rPr lang="en-US" sz="2200" dirty="0"/>
                  <a:t>in a </a:t>
                </a:r>
                <a:r>
                  <a:rPr lang="tr-TR" sz="2200" dirty="0"/>
                  <a:t>100 gram </a:t>
                </a:r>
                <a:r>
                  <a:rPr lang="en-US" sz="2200" dirty="0"/>
                  <a:t>can of cat food, </a:t>
                </a:r>
                <a14:m>
                  <m:oMath xmlns:m="http://schemas.openxmlformats.org/officeDocument/2006/math">
                    <m:r>
                      <a:rPr lang="en-US" sz="2200" i="1" dirty="0" smtClean="0">
                        <a:latin typeface="Cambria Math" panose="02040503050406030204" pitchFamily="18" charset="0"/>
                      </a:rPr>
                      <m:t>𝑖</m:t>
                    </m:r>
                    <m:r>
                      <a:rPr lang="tr-TR" sz="2200" b="0" i="1" dirty="0" smtClean="0">
                        <a:latin typeface="Cambria Math" panose="02040503050406030204" pitchFamily="18" charset="0"/>
                      </a:rPr>
                      <m:t>=1,2,…,6.</m:t>
                    </m:r>
                  </m:oMath>
                </a14:m>
                <a:endParaRPr lang="tr-TR" sz="2200" dirty="0"/>
              </a:p>
              <a:p>
                <a:r>
                  <a:rPr lang="tr-TR" sz="2200" dirty="0"/>
                  <a:t>Objective Function:</a:t>
                </a:r>
              </a:p>
              <a:p>
                <a:pPr marL="0" indent="0">
                  <a:buNone/>
                </a:pPr>
                <a14:m>
                  <m:oMathPara xmlns:m="http://schemas.openxmlformats.org/officeDocument/2006/math">
                    <m:oMathParaPr>
                      <m:jc m:val="centerGroup"/>
                    </m:oMathParaPr>
                    <m:oMath xmlns:m="http://schemas.openxmlformats.org/officeDocument/2006/math">
                      <m:r>
                        <a:rPr lang="tr-TR" sz="2200" i="1" dirty="0" smtClean="0">
                          <a:latin typeface="Cambria Math" panose="02040503050406030204" pitchFamily="18" charset="0"/>
                        </a:rPr>
                        <m:t>𝑀𝑖𝑛</m:t>
                      </m:r>
                      <m:r>
                        <a:rPr lang="tr-TR" sz="2200" i="1" dirty="0" smtClean="0">
                          <a:latin typeface="Cambria Math" panose="02040503050406030204" pitchFamily="18" charset="0"/>
                        </a:rPr>
                        <m:t>  0.013</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𝑋</m:t>
                          </m:r>
                        </m:e>
                        <m:sub>
                          <m:r>
                            <a:rPr lang="tr-TR" sz="2200" b="0" i="1" dirty="0" smtClean="0">
                              <a:latin typeface="Cambria Math" panose="02040503050406030204" pitchFamily="18" charset="0"/>
                            </a:rPr>
                            <m:t>1</m:t>
                          </m:r>
                        </m:sub>
                      </m:sSub>
                      <m:r>
                        <a:rPr lang="tr-TR" sz="2200" b="0" i="1" dirty="0" smtClean="0">
                          <a:latin typeface="Cambria Math" panose="02040503050406030204" pitchFamily="18" charset="0"/>
                        </a:rPr>
                        <m:t>+0.008</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𝑋</m:t>
                          </m:r>
                        </m:e>
                        <m:sub>
                          <m:r>
                            <a:rPr lang="tr-TR" sz="2200" b="0" i="1" dirty="0" smtClean="0">
                              <a:latin typeface="Cambria Math" panose="02040503050406030204" pitchFamily="18" charset="0"/>
                            </a:rPr>
                            <m:t>2</m:t>
                          </m:r>
                        </m:sub>
                      </m:sSub>
                      <m:r>
                        <a:rPr lang="tr-TR" sz="2200" b="0" i="1" dirty="0" smtClean="0">
                          <a:latin typeface="Cambria Math" panose="02040503050406030204" pitchFamily="18" charset="0"/>
                        </a:rPr>
                        <m:t>+0.010</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𝑋</m:t>
                          </m:r>
                        </m:e>
                        <m:sub>
                          <m:r>
                            <a:rPr lang="tr-TR" sz="2200" b="0" i="1" dirty="0" smtClean="0">
                              <a:latin typeface="Cambria Math" panose="02040503050406030204" pitchFamily="18" charset="0"/>
                            </a:rPr>
                            <m:t>3</m:t>
                          </m:r>
                        </m:sub>
                      </m:sSub>
                      <m:r>
                        <a:rPr lang="tr-TR" sz="2200" b="0" i="1" dirty="0" smtClean="0">
                          <a:latin typeface="Cambria Math" panose="02040503050406030204" pitchFamily="18" charset="0"/>
                        </a:rPr>
                        <m:t>+0.002</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𝑋</m:t>
                          </m:r>
                        </m:e>
                        <m:sub>
                          <m:r>
                            <a:rPr lang="tr-TR" sz="2200" b="0" i="1" dirty="0" smtClean="0">
                              <a:latin typeface="Cambria Math" panose="02040503050406030204" pitchFamily="18" charset="0"/>
                            </a:rPr>
                            <m:t>4</m:t>
                          </m:r>
                        </m:sub>
                      </m:sSub>
                      <m:r>
                        <a:rPr lang="tr-TR" sz="2200" b="0" i="1" dirty="0" smtClean="0">
                          <a:latin typeface="Cambria Math" panose="02040503050406030204" pitchFamily="18" charset="0"/>
                        </a:rPr>
                        <m:t>+0.005</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𝑋</m:t>
                          </m:r>
                        </m:e>
                        <m:sub>
                          <m:r>
                            <a:rPr lang="tr-TR" sz="2200" b="0" i="1" dirty="0" smtClean="0">
                              <a:latin typeface="Cambria Math" panose="02040503050406030204" pitchFamily="18" charset="0"/>
                            </a:rPr>
                            <m:t>5</m:t>
                          </m:r>
                        </m:sub>
                      </m:sSub>
                      <m:r>
                        <a:rPr lang="tr-TR" sz="2200" b="0" i="1" dirty="0" smtClean="0">
                          <a:latin typeface="Cambria Math" panose="02040503050406030204" pitchFamily="18" charset="0"/>
                        </a:rPr>
                        <m:t>+0.001</m:t>
                      </m:r>
                      <m:sSub>
                        <m:sSubPr>
                          <m:ctrlPr>
                            <a:rPr lang="tr-TR" sz="2200" b="0" i="1" dirty="0" smtClean="0">
                              <a:latin typeface="Cambria Math" panose="02040503050406030204" pitchFamily="18" charset="0"/>
                            </a:rPr>
                          </m:ctrlPr>
                        </m:sSubPr>
                        <m:e>
                          <m:r>
                            <a:rPr lang="tr-TR" sz="2200" b="0" i="1" dirty="0" smtClean="0">
                              <a:latin typeface="Cambria Math" panose="02040503050406030204" pitchFamily="18" charset="0"/>
                            </a:rPr>
                            <m:t>𝑋</m:t>
                          </m:r>
                        </m:e>
                        <m:sub>
                          <m:r>
                            <a:rPr lang="tr-TR" sz="2200" b="0" i="1" dirty="0" smtClean="0">
                              <a:latin typeface="Cambria Math" panose="02040503050406030204" pitchFamily="18" charset="0"/>
                            </a:rPr>
                            <m:t>6</m:t>
                          </m:r>
                        </m:sub>
                      </m:sSub>
                    </m:oMath>
                  </m:oMathPara>
                </a14:m>
                <a:endParaRPr lang="tr-TR" sz="2200" dirty="0"/>
              </a:p>
              <a:p>
                <a:r>
                  <a:rPr lang="tr-TR" sz="2200" dirty="0"/>
                  <a:t>Constraints:</a:t>
                </a:r>
              </a:p>
              <a:p>
                <a:pPr marL="0" indent="0">
                  <a:buNone/>
                </a:pPr>
                <a:r>
                  <a:rPr lang="tr-TR" sz="2200" dirty="0"/>
                  <a:t>	Total mix must be 100 grams</a:t>
                </a:r>
              </a:p>
              <a:p>
                <a:pPr marL="0" indent="361950">
                  <a:buNone/>
                </a:pPr>
                <a14:m>
                  <m:oMathPara xmlns:m="http://schemas.openxmlformats.org/officeDocument/2006/math">
                    <m:oMathParaPr>
                      <m:jc m:val="centerGroup"/>
                    </m:oMathParaPr>
                    <m:oMath xmlns:m="http://schemas.openxmlformats.org/officeDocument/2006/math">
                      <m:sSub>
                        <m:sSubPr>
                          <m:ctrlPr>
                            <a:rPr lang="tr-TR" sz="2200" i="1" dirty="0">
                              <a:latin typeface="Cambria Math" panose="02040503050406030204" pitchFamily="18" charset="0"/>
                            </a:rPr>
                          </m:ctrlPr>
                        </m:sSubPr>
                        <m:e>
                          <m:r>
                            <a:rPr lang="tr-TR" sz="2200" i="1" dirty="0">
                              <a:latin typeface="Cambria Math" panose="02040503050406030204" pitchFamily="18" charset="0"/>
                            </a:rPr>
                            <m:t>𝑋</m:t>
                          </m:r>
                        </m:e>
                        <m:sub>
                          <m:r>
                            <a:rPr lang="tr-TR" sz="2200" i="1" dirty="0">
                              <a:latin typeface="Cambria Math" panose="02040503050406030204" pitchFamily="18" charset="0"/>
                            </a:rPr>
                            <m:t>1</m:t>
                          </m:r>
                        </m:sub>
                      </m:sSub>
                      <m:r>
                        <a:rPr lang="tr-TR" sz="2200" i="1" dirty="0">
                          <a:latin typeface="Cambria Math" panose="02040503050406030204" pitchFamily="18" charset="0"/>
                        </a:rPr>
                        <m:t>+</m:t>
                      </m:r>
                      <m:sSub>
                        <m:sSubPr>
                          <m:ctrlPr>
                            <a:rPr lang="tr-TR" sz="2200" i="1" dirty="0">
                              <a:latin typeface="Cambria Math" panose="02040503050406030204" pitchFamily="18" charset="0"/>
                            </a:rPr>
                          </m:ctrlPr>
                        </m:sSubPr>
                        <m:e>
                          <m:r>
                            <a:rPr lang="tr-TR" sz="2200" i="1" dirty="0">
                              <a:latin typeface="Cambria Math" panose="02040503050406030204" pitchFamily="18" charset="0"/>
                            </a:rPr>
                            <m:t>𝑋</m:t>
                          </m:r>
                        </m:e>
                        <m:sub>
                          <m:r>
                            <a:rPr lang="tr-TR" sz="2200" i="1" dirty="0">
                              <a:latin typeface="Cambria Math" panose="02040503050406030204" pitchFamily="18" charset="0"/>
                            </a:rPr>
                            <m:t>2</m:t>
                          </m:r>
                        </m:sub>
                      </m:sSub>
                      <m:r>
                        <a:rPr lang="tr-TR" sz="2200" i="1" dirty="0">
                          <a:latin typeface="Cambria Math" panose="02040503050406030204" pitchFamily="18" charset="0"/>
                        </a:rPr>
                        <m:t>+</m:t>
                      </m:r>
                      <m:sSub>
                        <m:sSubPr>
                          <m:ctrlPr>
                            <a:rPr lang="tr-TR" sz="2200" i="1" dirty="0">
                              <a:latin typeface="Cambria Math" panose="02040503050406030204" pitchFamily="18" charset="0"/>
                            </a:rPr>
                          </m:ctrlPr>
                        </m:sSubPr>
                        <m:e>
                          <m:r>
                            <a:rPr lang="tr-TR" sz="2200" i="1" dirty="0">
                              <a:latin typeface="Cambria Math" panose="02040503050406030204" pitchFamily="18" charset="0"/>
                            </a:rPr>
                            <m:t>𝑋</m:t>
                          </m:r>
                        </m:e>
                        <m:sub>
                          <m:r>
                            <a:rPr lang="tr-TR" sz="2200" i="1" dirty="0">
                              <a:latin typeface="Cambria Math" panose="02040503050406030204" pitchFamily="18" charset="0"/>
                            </a:rPr>
                            <m:t>3</m:t>
                          </m:r>
                        </m:sub>
                      </m:sSub>
                      <m:r>
                        <a:rPr lang="tr-TR" sz="2200" i="1" dirty="0">
                          <a:latin typeface="Cambria Math" panose="02040503050406030204" pitchFamily="18" charset="0"/>
                        </a:rPr>
                        <m:t>+</m:t>
                      </m:r>
                      <m:sSub>
                        <m:sSubPr>
                          <m:ctrlPr>
                            <a:rPr lang="tr-TR" sz="2200" i="1" dirty="0">
                              <a:latin typeface="Cambria Math" panose="02040503050406030204" pitchFamily="18" charset="0"/>
                            </a:rPr>
                          </m:ctrlPr>
                        </m:sSubPr>
                        <m:e>
                          <m:r>
                            <a:rPr lang="tr-TR" sz="2200" i="1" dirty="0">
                              <a:latin typeface="Cambria Math" panose="02040503050406030204" pitchFamily="18" charset="0"/>
                            </a:rPr>
                            <m:t>𝑋</m:t>
                          </m:r>
                        </m:e>
                        <m:sub>
                          <m:r>
                            <a:rPr lang="tr-TR" sz="2200" i="1" dirty="0">
                              <a:latin typeface="Cambria Math" panose="02040503050406030204" pitchFamily="18" charset="0"/>
                            </a:rPr>
                            <m:t>4</m:t>
                          </m:r>
                        </m:sub>
                      </m:sSub>
                      <m:r>
                        <a:rPr lang="tr-TR" sz="2200" i="1" dirty="0">
                          <a:latin typeface="Cambria Math" panose="02040503050406030204" pitchFamily="18" charset="0"/>
                        </a:rPr>
                        <m:t>+</m:t>
                      </m:r>
                      <m:sSub>
                        <m:sSubPr>
                          <m:ctrlPr>
                            <a:rPr lang="tr-TR" sz="2200" i="1" dirty="0">
                              <a:latin typeface="Cambria Math" panose="02040503050406030204" pitchFamily="18" charset="0"/>
                            </a:rPr>
                          </m:ctrlPr>
                        </m:sSubPr>
                        <m:e>
                          <m:r>
                            <a:rPr lang="tr-TR" sz="2200" i="1" dirty="0">
                              <a:latin typeface="Cambria Math" panose="02040503050406030204" pitchFamily="18" charset="0"/>
                            </a:rPr>
                            <m:t>𝑋</m:t>
                          </m:r>
                        </m:e>
                        <m:sub>
                          <m:r>
                            <a:rPr lang="tr-TR" sz="2200" i="1" dirty="0">
                              <a:latin typeface="Cambria Math" panose="02040503050406030204" pitchFamily="18" charset="0"/>
                            </a:rPr>
                            <m:t>5</m:t>
                          </m:r>
                        </m:sub>
                      </m:sSub>
                      <m:r>
                        <a:rPr lang="tr-TR" sz="2200" i="1" dirty="0">
                          <a:latin typeface="Cambria Math" panose="02040503050406030204" pitchFamily="18" charset="0"/>
                        </a:rPr>
                        <m:t>+</m:t>
                      </m:r>
                      <m:sSub>
                        <m:sSubPr>
                          <m:ctrlPr>
                            <a:rPr lang="tr-TR" sz="2200" i="1" dirty="0">
                              <a:latin typeface="Cambria Math" panose="02040503050406030204" pitchFamily="18" charset="0"/>
                            </a:rPr>
                          </m:ctrlPr>
                        </m:sSubPr>
                        <m:e>
                          <m:r>
                            <a:rPr lang="tr-TR" sz="2200" i="1" dirty="0">
                              <a:latin typeface="Cambria Math" panose="02040503050406030204" pitchFamily="18" charset="0"/>
                            </a:rPr>
                            <m:t>𝑋</m:t>
                          </m:r>
                        </m:e>
                        <m:sub>
                          <m:r>
                            <a:rPr lang="tr-TR" sz="2200" i="1" dirty="0">
                              <a:latin typeface="Cambria Math" panose="02040503050406030204" pitchFamily="18" charset="0"/>
                            </a:rPr>
                            <m:t>6</m:t>
                          </m:r>
                        </m:sub>
                      </m:sSub>
                      <m:r>
                        <a:rPr lang="tr-TR" sz="2200" i="1" dirty="0">
                          <a:latin typeface="Cambria Math" panose="02040503050406030204" pitchFamily="18" charset="0"/>
                        </a:rPr>
                        <m:t>=100</m:t>
                      </m:r>
                    </m:oMath>
                  </m:oMathPara>
                </a14:m>
                <a:endParaRPr lang="tr-TR" sz="2200" dirty="0"/>
              </a:p>
              <a:p>
                <a:endParaRPr lang="tr-TR" sz="2200" dirty="0"/>
              </a:p>
              <a:p>
                <a:pPr marL="0" indent="0">
                  <a:buNone/>
                </a:pPr>
                <a:endParaRPr lang="tr-TR" sz="22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aphicFrame>
        <p:nvGraphicFramePr>
          <p:cNvPr id="10" name="Table 9"/>
          <p:cNvGraphicFramePr>
            <a:graphicFrameLocks noGrp="1"/>
          </p:cNvGraphicFramePr>
          <p:nvPr>
            <p:extLst>
              <p:ext uri="{D42A27DB-BD31-4B8C-83A1-F6EECF244321}">
                <p14:modId xmlns:p14="http://schemas.microsoft.com/office/powerpoint/2010/main" val="1984851024"/>
              </p:ext>
            </p:extLst>
          </p:nvPr>
        </p:nvGraphicFramePr>
        <p:xfrm>
          <a:off x="4260988" y="1343810"/>
          <a:ext cx="3670023" cy="2133600"/>
        </p:xfrm>
        <a:graphic>
          <a:graphicData uri="http://schemas.openxmlformats.org/drawingml/2006/table">
            <a:tbl>
              <a:tblPr firstRow="1" bandRow="1">
                <a:tableStyleId>{5940675A-B579-460E-94D1-54222C63F5DA}</a:tableStyleId>
              </a:tblPr>
              <a:tblGrid>
                <a:gridCol w="1082485">
                  <a:extLst>
                    <a:ext uri="{9D8B030D-6E8A-4147-A177-3AD203B41FA5}">
                      <a16:colId xmlns:a16="http://schemas.microsoft.com/office/drawing/2014/main" val="3333965635"/>
                    </a:ext>
                  </a:extLst>
                </a:gridCol>
                <a:gridCol w="738611">
                  <a:extLst>
                    <a:ext uri="{9D8B030D-6E8A-4147-A177-3AD203B41FA5}">
                      <a16:colId xmlns:a16="http://schemas.microsoft.com/office/drawing/2014/main" val="1819818939"/>
                    </a:ext>
                  </a:extLst>
                </a:gridCol>
                <a:gridCol w="616309">
                  <a:extLst>
                    <a:ext uri="{9D8B030D-6E8A-4147-A177-3AD203B41FA5}">
                      <a16:colId xmlns:a16="http://schemas.microsoft.com/office/drawing/2014/main" val="1899134126"/>
                    </a:ext>
                  </a:extLst>
                </a:gridCol>
                <a:gridCol w="616309">
                  <a:extLst>
                    <a:ext uri="{9D8B030D-6E8A-4147-A177-3AD203B41FA5}">
                      <a16:colId xmlns:a16="http://schemas.microsoft.com/office/drawing/2014/main" val="85019364"/>
                    </a:ext>
                  </a:extLst>
                </a:gridCol>
                <a:gridCol w="616309">
                  <a:extLst>
                    <a:ext uri="{9D8B030D-6E8A-4147-A177-3AD203B41FA5}">
                      <a16:colId xmlns:a16="http://schemas.microsoft.com/office/drawing/2014/main" val="3663548154"/>
                    </a:ext>
                  </a:extLst>
                </a:gridCol>
              </a:tblGrid>
              <a:tr h="283028">
                <a:tc>
                  <a:txBody>
                    <a:bodyPr/>
                    <a:lstStyle/>
                    <a:p>
                      <a:r>
                        <a:rPr lang="tr-TR" sz="1400" dirty="0"/>
                        <a:t>Ingredient</a:t>
                      </a:r>
                      <a:endParaRPr lang="en-US" sz="1400" dirty="0"/>
                    </a:p>
                  </a:txBody>
                  <a:tcPr/>
                </a:tc>
                <a:tc>
                  <a:txBody>
                    <a:bodyPr/>
                    <a:lstStyle/>
                    <a:p>
                      <a:r>
                        <a:rPr lang="tr-TR" sz="1400" dirty="0"/>
                        <a:t>Protein</a:t>
                      </a:r>
                      <a:endParaRPr lang="en-US" sz="1400" dirty="0"/>
                    </a:p>
                  </a:txBody>
                  <a:tcPr/>
                </a:tc>
                <a:tc>
                  <a:txBody>
                    <a:bodyPr/>
                    <a:lstStyle/>
                    <a:p>
                      <a:r>
                        <a:rPr lang="tr-TR" sz="1400" dirty="0"/>
                        <a:t>Fat</a:t>
                      </a:r>
                      <a:endParaRPr lang="en-US" sz="1400" dirty="0"/>
                    </a:p>
                  </a:txBody>
                  <a:tcPr/>
                </a:tc>
                <a:tc>
                  <a:txBody>
                    <a:bodyPr/>
                    <a:lstStyle/>
                    <a:p>
                      <a:r>
                        <a:rPr lang="tr-TR" sz="1400" dirty="0"/>
                        <a:t>Fiber</a:t>
                      </a:r>
                      <a:endParaRPr lang="en-US" sz="1400" dirty="0"/>
                    </a:p>
                  </a:txBody>
                  <a:tcPr/>
                </a:tc>
                <a:tc>
                  <a:txBody>
                    <a:bodyPr/>
                    <a:lstStyle/>
                    <a:p>
                      <a:r>
                        <a:rPr lang="tr-TR" sz="1400" dirty="0"/>
                        <a:t>Salt</a:t>
                      </a:r>
                      <a:endParaRPr lang="en-US" sz="1400" dirty="0"/>
                    </a:p>
                  </a:txBody>
                  <a:tcPr/>
                </a:tc>
                <a:extLst>
                  <a:ext uri="{0D108BD9-81ED-4DB2-BD59-A6C34878D82A}">
                    <a16:rowId xmlns:a16="http://schemas.microsoft.com/office/drawing/2014/main" val="572563123"/>
                  </a:ext>
                </a:extLst>
              </a:tr>
              <a:tr h="283028">
                <a:tc>
                  <a:txBody>
                    <a:bodyPr/>
                    <a:lstStyle/>
                    <a:p>
                      <a:r>
                        <a:rPr lang="tr-TR" sz="1400" dirty="0"/>
                        <a:t>Chicken</a:t>
                      </a:r>
                      <a:endParaRPr lang="en-US" sz="1400" dirty="0"/>
                    </a:p>
                  </a:txBody>
                  <a:tcPr/>
                </a:tc>
                <a:tc>
                  <a:txBody>
                    <a:bodyPr/>
                    <a:lstStyle/>
                    <a:p>
                      <a:r>
                        <a:rPr lang="tr-TR" sz="1400" dirty="0"/>
                        <a:t>0.100</a:t>
                      </a:r>
                      <a:endParaRPr lang="en-US" sz="1400" dirty="0"/>
                    </a:p>
                  </a:txBody>
                  <a:tcPr/>
                </a:tc>
                <a:tc>
                  <a:txBody>
                    <a:bodyPr/>
                    <a:lstStyle/>
                    <a:p>
                      <a:r>
                        <a:rPr lang="tr-TR" sz="1400" dirty="0"/>
                        <a:t>0.080</a:t>
                      </a:r>
                      <a:endParaRPr lang="en-US" sz="1400" dirty="0"/>
                    </a:p>
                  </a:txBody>
                  <a:tcPr/>
                </a:tc>
                <a:tc>
                  <a:txBody>
                    <a:bodyPr/>
                    <a:lstStyle/>
                    <a:p>
                      <a:r>
                        <a:rPr lang="tr-TR" sz="1400" dirty="0"/>
                        <a:t>0.001</a:t>
                      </a:r>
                      <a:endParaRPr lang="en-US" sz="1400" dirty="0"/>
                    </a:p>
                  </a:txBody>
                  <a:tcPr/>
                </a:tc>
                <a:tc>
                  <a:txBody>
                    <a:bodyPr/>
                    <a:lstStyle/>
                    <a:p>
                      <a:r>
                        <a:rPr lang="tr-TR" sz="1400" dirty="0"/>
                        <a:t>0.002</a:t>
                      </a:r>
                      <a:endParaRPr lang="en-US" sz="1400" dirty="0"/>
                    </a:p>
                  </a:txBody>
                  <a:tcPr/>
                </a:tc>
                <a:extLst>
                  <a:ext uri="{0D108BD9-81ED-4DB2-BD59-A6C34878D82A}">
                    <a16:rowId xmlns:a16="http://schemas.microsoft.com/office/drawing/2014/main" val="2265641094"/>
                  </a:ext>
                </a:extLst>
              </a:tr>
              <a:tr h="283028">
                <a:tc>
                  <a:txBody>
                    <a:bodyPr/>
                    <a:lstStyle/>
                    <a:p>
                      <a:r>
                        <a:rPr lang="tr-TR" sz="1400" dirty="0"/>
                        <a:t>Beef</a:t>
                      </a:r>
                      <a:endParaRPr lang="en-US" sz="1400" dirty="0"/>
                    </a:p>
                  </a:txBody>
                  <a:tcPr/>
                </a:tc>
                <a:tc>
                  <a:txBody>
                    <a:bodyPr/>
                    <a:lstStyle/>
                    <a:p>
                      <a:r>
                        <a:rPr lang="tr-TR" sz="1400" dirty="0"/>
                        <a:t>0.200</a:t>
                      </a:r>
                      <a:endParaRPr lang="en-US" sz="1400" dirty="0"/>
                    </a:p>
                  </a:txBody>
                  <a:tcPr/>
                </a:tc>
                <a:tc>
                  <a:txBody>
                    <a:bodyPr/>
                    <a:lstStyle/>
                    <a:p>
                      <a:r>
                        <a:rPr lang="tr-TR" sz="1400" dirty="0"/>
                        <a:t>0.100</a:t>
                      </a:r>
                      <a:endParaRPr lang="en-US" sz="1400" dirty="0"/>
                    </a:p>
                  </a:txBody>
                  <a:tcPr/>
                </a:tc>
                <a:tc>
                  <a:txBody>
                    <a:bodyPr/>
                    <a:lstStyle/>
                    <a:p>
                      <a:r>
                        <a:rPr lang="tr-TR" sz="1400" dirty="0"/>
                        <a:t>0.005</a:t>
                      </a:r>
                      <a:endParaRPr lang="en-US" sz="1400" dirty="0"/>
                    </a:p>
                  </a:txBody>
                  <a:tcPr/>
                </a:tc>
                <a:tc>
                  <a:txBody>
                    <a:bodyPr/>
                    <a:lstStyle/>
                    <a:p>
                      <a:r>
                        <a:rPr lang="tr-TR" sz="1400" dirty="0"/>
                        <a:t>0.005</a:t>
                      </a:r>
                      <a:endParaRPr lang="en-US" sz="1400" dirty="0"/>
                    </a:p>
                  </a:txBody>
                  <a:tcPr/>
                </a:tc>
                <a:extLst>
                  <a:ext uri="{0D108BD9-81ED-4DB2-BD59-A6C34878D82A}">
                    <a16:rowId xmlns:a16="http://schemas.microsoft.com/office/drawing/2014/main" val="2175544492"/>
                  </a:ext>
                </a:extLst>
              </a:tr>
              <a:tr h="283028">
                <a:tc>
                  <a:txBody>
                    <a:bodyPr/>
                    <a:lstStyle/>
                    <a:p>
                      <a:r>
                        <a:rPr lang="tr-TR" sz="1400" dirty="0"/>
                        <a:t>Mutton</a:t>
                      </a:r>
                      <a:endParaRPr lang="en-US" sz="1400" dirty="0"/>
                    </a:p>
                  </a:txBody>
                  <a:tcPr/>
                </a:tc>
                <a:tc>
                  <a:txBody>
                    <a:bodyPr/>
                    <a:lstStyle/>
                    <a:p>
                      <a:r>
                        <a:rPr lang="tr-TR" sz="1400" dirty="0"/>
                        <a:t>0.150</a:t>
                      </a:r>
                      <a:endParaRPr lang="en-US" sz="1400" dirty="0"/>
                    </a:p>
                  </a:txBody>
                  <a:tcPr/>
                </a:tc>
                <a:tc>
                  <a:txBody>
                    <a:bodyPr/>
                    <a:lstStyle/>
                    <a:p>
                      <a:r>
                        <a:rPr lang="tr-TR" sz="1400" dirty="0"/>
                        <a:t>0.110</a:t>
                      </a:r>
                      <a:endParaRPr lang="en-US" sz="1400" dirty="0"/>
                    </a:p>
                  </a:txBody>
                  <a:tcPr/>
                </a:tc>
                <a:tc>
                  <a:txBody>
                    <a:bodyPr/>
                    <a:lstStyle/>
                    <a:p>
                      <a:r>
                        <a:rPr lang="tr-TR" sz="1400" dirty="0"/>
                        <a:t>0.003</a:t>
                      </a:r>
                      <a:endParaRPr lang="en-US" sz="1400" dirty="0"/>
                    </a:p>
                  </a:txBody>
                  <a:tcPr/>
                </a:tc>
                <a:tc>
                  <a:txBody>
                    <a:bodyPr/>
                    <a:lstStyle/>
                    <a:p>
                      <a:r>
                        <a:rPr lang="tr-TR" sz="1400" dirty="0"/>
                        <a:t>0.007</a:t>
                      </a:r>
                      <a:endParaRPr lang="en-US" sz="1400" dirty="0"/>
                    </a:p>
                  </a:txBody>
                  <a:tcPr/>
                </a:tc>
                <a:extLst>
                  <a:ext uri="{0D108BD9-81ED-4DB2-BD59-A6C34878D82A}">
                    <a16:rowId xmlns:a16="http://schemas.microsoft.com/office/drawing/2014/main" val="1192464839"/>
                  </a:ext>
                </a:extLst>
              </a:tr>
              <a:tr h="283028">
                <a:tc>
                  <a:txBody>
                    <a:bodyPr/>
                    <a:lstStyle/>
                    <a:p>
                      <a:r>
                        <a:rPr lang="tr-TR" sz="1400" dirty="0"/>
                        <a:t>Rice</a:t>
                      </a:r>
                      <a:endParaRPr lang="en-US" sz="1400" dirty="0"/>
                    </a:p>
                  </a:txBody>
                  <a:tcPr/>
                </a:tc>
                <a:tc>
                  <a:txBody>
                    <a:bodyPr/>
                    <a:lstStyle/>
                    <a:p>
                      <a:r>
                        <a:rPr lang="tr-TR" sz="1400" dirty="0"/>
                        <a:t>0.000</a:t>
                      </a:r>
                    </a:p>
                  </a:txBody>
                  <a:tcPr/>
                </a:tc>
                <a:tc>
                  <a:txBody>
                    <a:bodyPr/>
                    <a:lstStyle/>
                    <a:p>
                      <a:r>
                        <a:rPr lang="tr-TR" sz="1400" dirty="0"/>
                        <a:t>0.010</a:t>
                      </a:r>
                      <a:endParaRPr lang="en-US" sz="1400" dirty="0"/>
                    </a:p>
                  </a:txBody>
                  <a:tcPr/>
                </a:tc>
                <a:tc>
                  <a:txBody>
                    <a:bodyPr/>
                    <a:lstStyle/>
                    <a:p>
                      <a:r>
                        <a:rPr lang="tr-TR" sz="1400" dirty="0"/>
                        <a:t>0.100</a:t>
                      </a:r>
                      <a:endParaRPr lang="en-US" sz="1400" dirty="0"/>
                    </a:p>
                  </a:txBody>
                  <a:tcPr/>
                </a:tc>
                <a:tc>
                  <a:txBody>
                    <a:bodyPr/>
                    <a:lstStyle/>
                    <a:p>
                      <a:r>
                        <a:rPr lang="tr-TR" sz="1400" dirty="0"/>
                        <a:t>0.002</a:t>
                      </a:r>
                      <a:endParaRPr lang="en-US" sz="1400" dirty="0"/>
                    </a:p>
                  </a:txBody>
                  <a:tcPr/>
                </a:tc>
                <a:extLst>
                  <a:ext uri="{0D108BD9-81ED-4DB2-BD59-A6C34878D82A}">
                    <a16:rowId xmlns:a16="http://schemas.microsoft.com/office/drawing/2014/main" val="581238503"/>
                  </a:ext>
                </a:extLst>
              </a:tr>
              <a:tr h="283028">
                <a:tc>
                  <a:txBody>
                    <a:bodyPr/>
                    <a:lstStyle/>
                    <a:p>
                      <a:r>
                        <a:rPr lang="tr-TR" sz="1400" dirty="0"/>
                        <a:t>Wheat Bran</a:t>
                      </a:r>
                      <a:endParaRPr lang="en-US" sz="1400" dirty="0"/>
                    </a:p>
                  </a:txBody>
                  <a:tcPr/>
                </a:tc>
                <a:tc>
                  <a:txBody>
                    <a:bodyPr/>
                    <a:lstStyle/>
                    <a:p>
                      <a:r>
                        <a:rPr lang="tr-TR" sz="1400" dirty="0"/>
                        <a:t>0.040</a:t>
                      </a:r>
                      <a:endParaRPr lang="en-US" sz="1400" dirty="0"/>
                    </a:p>
                  </a:txBody>
                  <a:tcPr/>
                </a:tc>
                <a:tc>
                  <a:txBody>
                    <a:bodyPr/>
                    <a:lstStyle/>
                    <a:p>
                      <a:r>
                        <a:rPr lang="tr-TR" sz="1400" dirty="0"/>
                        <a:t>0.010</a:t>
                      </a:r>
                      <a:endParaRPr lang="en-US" sz="1400" dirty="0"/>
                    </a:p>
                  </a:txBody>
                  <a:tcPr/>
                </a:tc>
                <a:tc>
                  <a:txBody>
                    <a:bodyPr/>
                    <a:lstStyle/>
                    <a:p>
                      <a:r>
                        <a:rPr lang="tr-TR" sz="1400" dirty="0"/>
                        <a:t>0.150</a:t>
                      </a:r>
                      <a:endParaRPr lang="en-US" sz="1400" dirty="0"/>
                    </a:p>
                  </a:txBody>
                  <a:tcPr/>
                </a:tc>
                <a:tc>
                  <a:txBody>
                    <a:bodyPr/>
                    <a:lstStyle/>
                    <a:p>
                      <a:r>
                        <a:rPr lang="tr-TR" sz="1400" dirty="0"/>
                        <a:t>0.008</a:t>
                      </a:r>
                      <a:endParaRPr lang="en-US" sz="1400" dirty="0"/>
                    </a:p>
                  </a:txBody>
                  <a:tcPr/>
                </a:tc>
                <a:extLst>
                  <a:ext uri="{0D108BD9-81ED-4DB2-BD59-A6C34878D82A}">
                    <a16:rowId xmlns:a16="http://schemas.microsoft.com/office/drawing/2014/main" val="3452090961"/>
                  </a:ext>
                </a:extLst>
              </a:tr>
              <a:tr h="283028">
                <a:tc>
                  <a:txBody>
                    <a:bodyPr/>
                    <a:lstStyle/>
                    <a:p>
                      <a:r>
                        <a:rPr lang="tr-TR" sz="1400" dirty="0"/>
                        <a:t>Gel</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extLst>
                  <a:ext uri="{0D108BD9-81ED-4DB2-BD59-A6C34878D82A}">
                    <a16:rowId xmlns:a16="http://schemas.microsoft.com/office/drawing/2014/main" val="1122679131"/>
                  </a:ext>
                </a:extLst>
              </a:tr>
            </a:tbl>
          </a:graphicData>
        </a:graphic>
      </p:graphicFrame>
    </p:spTree>
    <p:extLst>
      <p:ext uri="{BB962C8B-B14F-4D97-AF65-F5344CB8AC3E}">
        <p14:creationId xmlns:p14="http://schemas.microsoft.com/office/powerpoint/2010/main" val="241059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Blending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tr-TR" sz="2200" dirty="0"/>
              </a:p>
              <a:p>
                <a:pPr marL="0" indent="0">
                  <a:buNone/>
                </a:pPr>
                <a:endParaRPr lang="tr-TR" sz="2200" dirty="0"/>
              </a:p>
              <a:p>
                <a:endParaRPr lang="tr-TR" sz="2200" dirty="0"/>
              </a:p>
              <a:p>
                <a:endParaRPr lang="tr-TR" sz="2200" dirty="0"/>
              </a:p>
              <a:p>
                <a:r>
                  <a:rPr lang="tr-TR" sz="2000" dirty="0"/>
                  <a:t>Constraints:</a:t>
                </a:r>
              </a:p>
              <a:p>
                <a:pPr marL="0" indent="0">
                  <a:buNone/>
                </a:pPr>
                <a:r>
                  <a:rPr lang="tr-TR" sz="2000" dirty="0"/>
                  <a:t>	Total protein weight must be greater than 8 grams</a:t>
                </a:r>
                <a:endParaRPr lang="tr-TR" sz="2000" i="1" dirty="0">
                  <a:latin typeface="Cambria Math" panose="02040503050406030204" pitchFamily="18" charset="0"/>
                </a:endParaRPr>
              </a:p>
              <a:p>
                <a:pPr marL="0" indent="361950">
                  <a:buNone/>
                </a:pPr>
                <a14:m>
                  <m:oMathPara xmlns:m="http://schemas.openxmlformats.org/officeDocument/2006/math">
                    <m:oMathParaPr>
                      <m:jc m:val="centerGroup"/>
                    </m:oMathParaPr>
                    <m:oMath xmlns:m="http://schemas.openxmlformats.org/officeDocument/2006/math">
                      <m:r>
                        <a:rPr lang="tr-TR" sz="2000" i="1" dirty="0">
                          <a:latin typeface="Cambria Math" panose="02040503050406030204" pitchFamily="18" charset="0"/>
                        </a:rPr>
                        <m:t>0.</m:t>
                      </m:r>
                      <m:r>
                        <a:rPr lang="tr-TR" sz="2000" b="0" i="1" dirty="0" smtClean="0">
                          <a:latin typeface="Cambria Math" panose="02040503050406030204" pitchFamily="18" charset="0"/>
                        </a:rPr>
                        <m:t>1</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1</m:t>
                          </m:r>
                        </m:sub>
                      </m:sSub>
                      <m:r>
                        <a:rPr lang="tr-TR" sz="2000" i="1" dirty="0">
                          <a:latin typeface="Cambria Math" panose="02040503050406030204" pitchFamily="18" charset="0"/>
                        </a:rPr>
                        <m:t>+0.</m:t>
                      </m:r>
                      <m:r>
                        <a:rPr lang="tr-TR" sz="2000" b="0" i="1" dirty="0" smtClean="0">
                          <a:latin typeface="Cambria Math" panose="02040503050406030204" pitchFamily="18" charset="0"/>
                        </a:rPr>
                        <m:t>2</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2</m:t>
                          </m:r>
                        </m:sub>
                      </m:sSub>
                      <m:r>
                        <a:rPr lang="tr-TR" sz="2000" i="1" dirty="0">
                          <a:latin typeface="Cambria Math" panose="02040503050406030204" pitchFamily="18" charset="0"/>
                        </a:rPr>
                        <m:t>+0.</m:t>
                      </m:r>
                      <m:r>
                        <a:rPr lang="tr-TR" sz="2000" b="0" i="1" dirty="0" smtClean="0">
                          <a:latin typeface="Cambria Math" panose="02040503050406030204" pitchFamily="18" charset="0"/>
                        </a:rPr>
                        <m:t>15</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3</m:t>
                          </m:r>
                        </m:sub>
                      </m:sSub>
                      <m:r>
                        <a:rPr lang="tr-TR" sz="2000" i="1" dirty="0">
                          <a:latin typeface="Cambria Math" panose="02040503050406030204" pitchFamily="18" charset="0"/>
                        </a:rPr>
                        <m:t>+0.0</m:t>
                      </m:r>
                      <m:r>
                        <a:rPr lang="tr-TR" sz="2000" b="0" i="1" dirty="0" smtClean="0">
                          <a:latin typeface="Cambria Math" panose="02040503050406030204" pitchFamily="18" charset="0"/>
                        </a:rPr>
                        <m:t>04</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5</m:t>
                          </m:r>
                        </m:sub>
                      </m:sSub>
                      <m:r>
                        <a:rPr lang="tr-TR" sz="2000" b="0" i="1" dirty="0" smtClean="0">
                          <a:latin typeface="Cambria Math" panose="02040503050406030204" pitchFamily="18" charset="0"/>
                        </a:rPr>
                        <m:t>≥8</m:t>
                      </m:r>
                    </m:oMath>
                  </m:oMathPara>
                </a14:m>
                <a:endParaRPr lang="tr-TR" sz="2000" b="0" dirty="0"/>
              </a:p>
              <a:p>
                <a:pPr marL="0" indent="0">
                  <a:buNone/>
                </a:pPr>
                <a:r>
                  <a:rPr lang="tr-TR" sz="2000" dirty="0"/>
                  <a:t>	Total fat weight must be greater than 6 </a:t>
                </a:r>
                <a:endParaRPr lang="tr-TR" sz="2000" i="1" dirty="0">
                  <a:latin typeface="Cambria Math" panose="02040503050406030204" pitchFamily="18" charset="0"/>
                </a:endParaRPr>
              </a:p>
              <a:p>
                <a:pPr marL="0" indent="361950">
                  <a:buNone/>
                </a:pPr>
                <a14:m>
                  <m:oMathPara xmlns:m="http://schemas.openxmlformats.org/officeDocument/2006/math">
                    <m:oMathParaPr>
                      <m:jc m:val="centerGroup"/>
                    </m:oMathParaPr>
                    <m:oMath xmlns:m="http://schemas.openxmlformats.org/officeDocument/2006/math">
                      <m:r>
                        <a:rPr lang="tr-TR" sz="2000" i="1" dirty="0">
                          <a:latin typeface="Cambria Math" panose="02040503050406030204" pitchFamily="18" charset="0"/>
                        </a:rPr>
                        <m:t>0.</m:t>
                      </m:r>
                      <m:r>
                        <a:rPr lang="tr-TR" sz="2000" i="1" dirty="0" smtClean="0">
                          <a:latin typeface="Cambria Math" panose="02040503050406030204" pitchFamily="18" charset="0"/>
                        </a:rPr>
                        <m:t>0</m:t>
                      </m:r>
                      <m:r>
                        <a:rPr lang="tr-TR" sz="2000" b="0" i="1" dirty="0" smtClean="0">
                          <a:latin typeface="Cambria Math" panose="02040503050406030204" pitchFamily="18" charset="0"/>
                        </a:rPr>
                        <m:t>08</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1</m:t>
                          </m:r>
                        </m:sub>
                      </m:sSub>
                      <m:r>
                        <a:rPr lang="tr-TR" sz="2000" i="1" dirty="0">
                          <a:latin typeface="Cambria Math" panose="02040503050406030204" pitchFamily="18" charset="0"/>
                        </a:rPr>
                        <m:t>+0.</m:t>
                      </m:r>
                      <m:r>
                        <a:rPr lang="tr-TR" sz="2000" b="0" i="1" dirty="0" smtClean="0">
                          <a:latin typeface="Cambria Math" panose="02040503050406030204" pitchFamily="18" charset="0"/>
                        </a:rPr>
                        <m:t>1</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2</m:t>
                          </m:r>
                        </m:sub>
                      </m:sSub>
                      <m:r>
                        <a:rPr lang="tr-TR" sz="2000" i="1" dirty="0">
                          <a:latin typeface="Cambria Math" panose="02040503050406030204" pitchFamily="18" charset="0"/>
                        </a:rPr>
                        <m:t>+0.</m:t>
                      </m:r>
                      <m:r>
                        <a:rPr lang="tr-TR" sz="2000" b="0" i="1" dirty="0" smtClean="0">
                          <a:latin typeface="Cambria Math" panose="02040503050406030204" pitchFamily="18" charset="0"/>
                        </a:rPr>
                        <m:t>11</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3</m:t>
                          </m:r>
                        </m:sub>
                      </m:sSub>
                      <m:r>
                        <a:rPr lang="tr-TR" sz="2000" i="1" dirty="0">
                          <a:latin typeface="Cambria Math" panose="02040503050406030204" pitchFamily="18" charset="0"/>
                        </a:rPr>
                        <m:t>+0.</m:t>
                      </m:r>
                      <m:r>
                        <a:rPr lang="tr-TR" sz="2000" b="0" i="1" dirty="0" smtClean="0">
                          <a:latin typeface="Cambria Math" panose="02040503050406030204" pitchFamily="18" charset="0"/>
                        </a:rPr>
                        <m:t>01</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4</m:t>
                          </m:r>
                        </m:sub>
                      </m:sSub>
                      <m:r>
                        <a:rPr lang="tr-TR" sz="2000" i="1" dirty="0">
                          <a:latin typeface="Cambria Math" panose="02040503050406030204" pitchFamily="18" charset="0"/>
                        </a:rPr>
                        <m:t>+0.0</m:t>
                      </m:r>
                      <m:r>
                        <a:rPr lang="tr-TR" sz="2000" b="0" i="1" dirty="0" smtClean="0">
                          <a:latin typeface="Cambria Math" panose="02040503050406030204" pitchFamily="18" charset="0"/>
                        </a:rPr>
                        <m:t>1</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5</m:t>
                          </m:r>
                        </m:sub>
                      </m:sSub>
                      <m:r>
                        <a:rPr lang="tr-TR" sz="2000" b="0" i="1" dirty="0" smtClean="0">
                          <a:latin typeface="Cambria Math" panose="02040503050406030204" pitchFamily="18" charset="0"/>
                        </a:rPr>
                        <m:t>≥6</m:t>
                      </m:r>
                    </m:oMath>
                  </m:oMathPara>
                </a14:m>
                <a:endParaRPr lang="tr-TR" sz="2000" b="0" dirty="0"/>
              </a:p>
              <a:p>
                <a:pPr marL="0" indent="361950">
                  <a:buNone/>
                </a:pPr>
                <a:r>
                  <a:rPr lang="tr-TR" sz="2000" dirty="0"/>
                  <a:t>	Total fiber weight must be greater than 2 grams</a:t>
                </a:r>
                <a:endParaRPr lang="tr-TR" sz="2000" dirty="0">
                  <a:latin typeface="Cambria Math" panose="02040503050406030204" pitchFamily="18" charset="0"/>
                </a:endParaRPr>
              </a:p>
              <a:p>
                <a:pPr marL="0" indent="361950">
                  <a:buNone/>
                </a:pPr>
                <a14:m>
                  <m:oMathPara xmlns:m="http://schemas.openxmlformats.org/officeDocument/2006/math">
                    <m:oMathParaPr>
                      <m:jc m:val="centerGroup"/>
                    </m:oMathParaPr>
                    <m:oMath xmlns:m="http://schemas.openxmlformats.org/officeDocument/2006/math">
                      <m:r>
                        <a:rPr lang="tr-TR" sz="2000" dirty="0">
                          <a:latin typeface="Cambria Math" panose="02040503050406030204" pitchFamily="18" charset="0"/>
                        </a:rPr>
                        <m:t>0.</m:t>
                      </m:r>
                      <m:r>
                        <a:rPr lang="tr-TR" sz="2000" b="0" i="1" dirty="0" smtClean="0">
                          <a:latin typeface="Cambria Math" panose="02040503050406030204" pitchFamily="18" charset="0"/>
                        </a:rPr>
                        <m:t>001</m:t>
                      </m:r>
                      <m:sSub>
                        <m:sSubPr>
                          <m:ctrlPr>
                            <a:rPr lang="tr-TR" sz="2000" i="1" dirty="0">
                              <a:latin typeface="Cambria Math" panose="02040503050406030204" pitchFamily="18" charset="0"/>
                            </a:rPr>
                          </m:ctrlPr>
                        </m:sSubPr>
                        <m:e>
                          <m:r>
                            <a:rPr lang="tr-TR" sz="2000" dirty="0">
                              <a:latin typeface="Cambria Math" panose="02040503050406030204" pitchFamily="18" charset="0"/>
                            </a:rPr>
                            <m:t>𝑋</m:t>
                          </m:r>
                        </m:e>
                        <m:sub>
                          <m:r>
                            <a:rPr lang="tr-TR" sz="2000" dirty="0">
                              <a:latin typeface="Cambria Math" panose="02040503050406030204" pitchFamily="18" charset="0"/>
                            </a:rPr>
                            <m:t>1</m:t>
                          </m:r>
                        </m:sub>
                      </m:sSub>
                      <m:r>
                        <a:rPr lang="tr-TR" sz="2000" dirty="0">
                          <a:latin typeface="Cambria Math" panose="02040503050406030204" pitchFamily="18" charset="0"/>
                        </a:rPr>
                        <m:t>+0.</m:t>
                      </m:r>
                      <m:r>
                        <a:rPr lang="tr-TR" sz="2000" b="0" i="0" dirty="0" smtClean="0">
                          <a:latin typeface="Cambria Math" panose="02040503050406030204" pitchFamily="18" charset="0"/>
                        </a:rPr>
                        <m:t>0</m:t>
                      </m:r>
                      <m:r>
                        <a:rPr lang="tr-TR" sz="2000" b="0" i="1" dirty="0" smtClean="0">
                          <a:latin typeface="Cambria Math" panose="02040503050406030204" pitchFamily="18" charset="0"/>
                        </a:rPr>
                        <m:t>05</m:t>
                      </m:r>
                      <m:sSub>
                        <m:sSubPr>
                          <m:ctrlPr>
                            <a:rPr lang="tr-TR" sz="2000" i="1" dirty="0">
                              <a:latin typeface="Cambria Math" panose="02040503050406030204" pitchFamily="18" charset="0"/>
                            </a:rPr>
                          </m:ctrlPr>
                        </m:sSubPr>
                        <m:e>
                          <m:r>
                            <a:rPr lang="tr-TR" sz="2000" dirty="0">
                              <a:latin typeface="Cambria Math" panose="02040503050406030204" pitchFamily="18" charset="0"/>
                            </a:rPr>
                            <m:t>𝑋</m:t>
                          </m:r>
                        </m:e>
                        <m:sub>
                          <m:r>
                            <a:rPr lang="tr-TR" sz="2000" dirty="0">
                              <a:latin typeface="Cambria Math" panose="02040503050406030204" pitchFamily="18" charset="0"/>
                            </a:rPr>
                            <m:t>2</m:t>
                          </m:r>
                        </m:sub>
                      </m:sSub>
                      <m:r>
                        <a:rPr lang="tr-TR" sz="2000" dirty="0">
                          <a:latin typeface="Cambria Math" panose="02040503050406030204" pitchFamily="18" charset="0"/>
                        </a:rPr>
                        <m:t>+0.</m:t>
                      </m:r>
                      <m:r>
                        <a:rPr lang="tr-TR" sz="2000" b="0" i="0" dirty="0" smtClean="0">
                          <a:latin typeface="Cambria Math" panose="02040503050406030204" pitchFamily="18" charset="0"/>
                        </a:rPr>
                        <m:t>003</m:t>
                      </m:r>
                      <m:sSub>
                        <m:sSubPr>
                          <m:ctrlPr>
                            <a:rPr lang="tr-TR" sz="2000" i="1" dirty="0">
                              <a:latin typeface="Cambria Math" panose="02040503050406030204" pitchFamily="18" charset="0"/>
                            </a:rPr>
                          </m:ctrlPr>
                        </m:sSubPr>
                        <m:e>
                          <m:r>
                            <a:rPr lang="tr-TR" sz="2000" dirty="0">
                              <a:latin typeface="Cambria Math" panose="02040503050406030204" pitchFamily="18" charset="0"/>
                            </a:rPr>
                            <m:t>𝑋</m:t>
                          </m:r>
                        </m:e>
                        <m:sub>
                          <m:r>
                            <a:rPr lang="tr-TR" sz="2000" dirty="0">
                              <a:latin typeface="Cambria Math" panose="02040503050406030204" pitchFamily="18" charset="0"/>
                            </a:rPr>
                            <m:t>3</m:t>
                          </m:r>
                        </m:sub>
                      </m:sSub>
                      <m:r>
                        <a:rPr lang="tr-TR" sz="2000" dirty="0">
                          <a:latin typeface="Cambria Math" panose="02040503050406030204" pitchFamily="18" charset="0"/>
                        </a:rPr>
                        <m:t>+0.</m:t>
                      </m:r>
                      <m:r>
                        <a:rPr lang="tr-TR" sz="2000" b="0" i="0" dirty="0" smtClean="0">
                          <a:latin typeface="Cambria Math" panose="02040503050406030204" pitchFamily="18" charset="0"/>
                        </a:rPr>
                        <m:t>1</m:t>
                      </m:r>
                      <m:sSub>
                        <m:sSubPr>
                          <m:ctrlPr>
                            <a:rPr lang="tr-TR" sz="2000" i="1" dirty="0">
                              <a:latin typeface="Cambria Math" panose="02040503050406030204" pitchFamily="18" charset="0"/>
                            </a:rPr>
                          </m:ctrlPr>
                        </m:sSubPr>
                        <m:e>
                          <m:r>
                            <a:rPr lang="tr-TR" sz="2000" dirty="0">
                              <a:latin typeface="Cambria Math" panose="02040503050406030204" pitchFamily="18" charset="0"/>
                            </a:rPr>
                            <m:t>𝑋</m:t>
                          </m:r>
                        </m:e>
                        <m:sub>
                          <m:r>
                            <a:rPr lang="tr-TR" sz="2000" dirty="0">
                              <a:latin typeface="Cambria Math" panose="02040503050406030204" pitchFamily="18" charset="0"/>
                            </a:rPr>
                            <m:t>4</m:t>
                          </m:r>
                        </m:sub>
                      </m:sSub>
                      <m:r>
                        <a:rPr lang="tr-TR" sz="2000" dirty="0">
                          <a:latin typeface="Cambria Math" panose="02040503050406030204" pitchFamily="18" charset="0"/>
                        </a:rPr>
                        <m:t>+0.</m:t>
                      </m:r>
                      <m:r>
                        <a:rPr lang="tr-TR" sz="2000" i="1" dirty="0" smtClean="0">
                          <a:latin typeface="Cambria Math" panose="02040503050406030204" pitchFamily="18" charset="0"/>
                        </a:rPr>
                        <m:t>1</m:t>
                      </m:r>
                      <m:r>
                        <a:rPr lang="tr-TR" sz="2000" b="0" i="1" dirty="0" smtClean="0">
                          <a:latin typeface="Cambria Math" panose="02040503050406030204" pitchFamily="18" charset="0"/>
                        </a:rPr>
                        <m:t>5</m:t>
                      </m:r>
                      <m:sSub>
                        <m:sSubPr>
                          <m:ctrlPr>
                            <a:rPr lang="tr-TR" sz="2000" i="1" dirty="0">
                              <a:latin typeface="Cambria Math" panose="02040503050406030204" pitchFamily="18" charset="0"/>
                            </a:rPr>
                          </m:ctrlPr>
                        </m:sSubPr>
                        <m:e>
                          <m:r>
                            <a:rPr lang="tr-TR" sz="2000" dirty="0">
                              <a:latin typeface="Cambria Math" panose="02040503050406030204" pitchFamily="18" charset="0"/>
                            </a:rPr>
                            <m:t>𝑋</m:t>
                          </m:r>
                        </m:e>
                        <m:sub>
                          <m:r>
                            <a:rPr lang="tr-TR" sz="2000" dirty="0">
                              <a:latin typeface="Cambria Math" panose="02040503050406030204" pitchFamily="18" charset="0"/>
                            </a:rPr>
                            <m:t>5</m:t>
                          </m:r>
                        </m:sub>
                      </m:sSub>
                      <m:r>
                        <a:rPr lang="en-US" sz="2000" b="0" i="1" dirty="0" smtClean="0">
                          <a:latin typeface="Cambria Math" panose="02040503050406030204" pitchFamily="18" charset="0"/>
                        </a:rPr>
                        <m:t>≤</m:t>
                      </m:r>
                      <m:r>
                        <a:rPr lang="tr-TR" sz="2000" b="0" i="1" dirty="0" smtClean="0">
                          <a:latin typeface="Cambria Math" panose="02040503050406030204" pitchFamily="18" charset="0"/>
                        </a:rPr>
                        <m:t>2</m:t>
                      </m:r>
                    </m:oMath>
                  </m:oMathPara>
                </a14:m>
                <a:endParaRPr lang="tr-TR" sz="2000" b="0" dirty="0"/>
              </a:p>
              <a:p>
                <a:pPr marL="0" indent="361950">
                  <a:buNone/>
                </a:pPr>
                <a:r>
                  <a:rPr lang="tr-TR" sz="2000" dirty="0"/>
                  <a:t>	</a:t>
                </a:r>
                <a:r>
                  <a:rPr lang="en-US" sz="2000" dirty="0"/>
                  <a:t>Total fiber weight must be greater than 2 grams</a:t>
                </a:r>
              </a:p>
              <a:p>
                <a:pPr marL="0" indent="0">
                  <a:buNone/>
                </a:pPr>
                <a:r>
                  <a:rPr lang="tr-TR" sz="2000" dirty="0"/>
                  <a:t>		</a:t>
                </a:r>
                <a14:m>
                  <m:oMath xmlns:m="http://schemas.openxmlformats.org/officeDocument/2006/math">
                    <m:r>
                      <a:rPr lang="en-US" sz="2000" i="1" dirty="0" smtClean="0">
                        <a:latin typeface="Cambria Math" panose="02040503050406030204" pitchFamily="18" charset="0"/>
                      </a:rPr>
                      <m:t>0.002</m:t>
                    </m:r>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1</m:t>
                        </m:r>
                      </m:sub>
                    </m:sSub>
                    <m:r>
                      <a:rPr lang="en-US" sz="2000" i="1" dirty="0">
                        <a:latin typeface="Cambria Math" panose="02040503050406030204" pitchFamily="18" charset="0"/>
                      </a:rPr>
                      <m:t>+0.005</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2</m:t>
                        </m:r>
                      </m:sub>
                    </m:sSub>
                    <m:r>
                      <a:rPr lang="en-US" sz="2000" i="1" dirty="0">
                        <a:latin typeface="Cambria Math" panose="02040503050406030204" pitchFamily="18" charset="0"/>
                      </a:rPr>
                      <m:t>+0.00</m:t>
                    </m:r>
                    <m:r>
                      <a:rPr lang="tr-TR" sz="2000" b="0" i="1" dirty="0" smtClean="0">
                        <a:latin typeface="Cambria Math" panose="02040503050406030204" pitchFamily="18" charset="0"/>
                      </a:rPr>
                      <m:t>7</m:t>
                    </m:r>
                    <m:sSub>
                      <m:sSubPr>
                        <m:ctrlPr>
                          <a:rPr lang="en-US" sz="2000" b="0" i="1" dirty="0" smtClean="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3</m:t>
                        </m:r>
                      </m:sub>
                    </m:sSub>
                    <m:r>
                      <a:rPr lang="en-US" sz="2000" i="1" dirty="0">
                        <a:latin typeface="Cambria Math" panose="02040503050406030204" pitchFamily="18" charset="0"/>
                      </a:rPr>
                      <m:t>+0.</m:t>
                    </m:r>
                    <m:r>
                      <a:rPr lang="tr-TR" sz="2000" b="0" i="1" dirty="0" smtClean="0">
                        <a:latin typeface="Cambria Math" panose="02040503050406030204" pitchFamily="18" charset="0"/>
                      </a:rPr>
                      <m:t>002</m:t>
                    </m:r>
                    <m:sSub>
                      <m:sSubPr>
                        <m:ctrlPr>
                          <a:rPr lang="en-US" sz="2000" b="0" i="1" dirty="0" smtClean="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4</m:t>
                        </m:r>
                      </m:sub>
                    </m:sSub>
                    <m:r>
                      <a:rPr lang="en-US" sz="2000" i="1" dirty="0">
                        <a:latin typeface="Cambria Math" panose="02040503050406030204" pitchFamily="18" charset="0"/>
                      </a:rPr>
                      <m:t>+0.</m:t>
                    </m:r>
                    <m:r>
                      <a:rPr lang="tr-TR" sz="2000" b="0" i="1" dirty="0" smtClean="0">
                        <a:latin typeface="Cambria Math" panose="02040503050406030204" pitchFamily="18" charset="0"/>
                      </a:rPr>
                      <m:t>008</m:t>
                    </m:r>
                    <m:sSub>
                      <m:sSubPr>
                        <m:ctrlPr>
                          <a:rPr lang="en-US" sz="2000" b="0" i="1" dirty="0" smtClean="0">
                            <a:latin typeface="Cambria Math" panose="02040503050406030204" pitchFamily="18" charset="0"/>
                          </a:rPr>
                        </m:ctrlPr>
                      </m:sSubPr>
                      <m:e>
                        <m:r>
                          <a:rPr lang="en-US" sz="2000" i="1" dirty="0">
                            <a:latin typeface="Cambria Math" panose="02040503050406030204" pitchFamily="18" charset="0"/>
                          </a:rPr>
                          <m:t>𝑋</m:t>
                        </m:r>
                      </m:e>
                      <m:sub>
                        <m:r>
                          <a:rPr lang="en-US" sz="2000" i="1" dirty="0">
                            <a:latin typeface="Cambria Math" panose="02040503050406030204" pitchFamily="18" charset="0"/>
                          </a:rPr>
                          <m:t>5</m:t>
                        </m:r>
                      </m:sub>
                    </m:sSub>
                    <m:r>
                      <a:rPr lang="en-US" sz="2000" b="0" i="1" dirty="0" smtClean="0">
                        <a:latin typeface="Cambria Math" panose="02040503050406030204" pitchFamily="18" charset="0"/>
                      </a:rPr>
                      <m:t>≤</m:t>
                    </m:r>
                    <m:r>
                      <a:rPr lang="en-US" sz="2000" i="1" dirty="0">
                        <a:latin typeface="Cambria Math" panose="02040503050406030204" pitchFamily="18" charset="0"/>
                      </a:rPr>
                      <m:t>0.4</m:t>
                    </m:r>
                  </m:oMath>
                </a14:m>
                <a:endParaRPr lang="en-US" sz="20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aphicFrame>
        <p:nvGraphicFramePr>
          <p:cNvPr id="10" name="Table 9"/>
          <p:cNvGraphicFramePr>
            <a:graphicFrameLocks noGrp="1"/>
          </p:cNvGraphicFramePr>
          <p:nvPr>
            <p:extLst>
              <p:ext uri="{D42A27DB-BD31-4B8C-83A1-F6EECF244321}">
                <p14:modId xmlns:p14="http://schemas.microsoft.com/office/powerpoint/2010/main" val="3154554884"/>
              </p:ext>
            </p:extLst>
          </p:nvPr>
        </p:nvGraphicFramePr>
        <p:xfrm>
          <a:off x="4260988" y="1343810"/>
          <a:ext cx="3670023" cy="2133600"/>
        </p:xfrm>
        <a:graphic>
          <a:graphicData uri="http://schemas.openxmlformats.org/drawingml/2006/table">
            <a:tbl>
              <a:tblPr firstRow="1" bandRow="1">
                <a:tableStyleId>{5940675A-B579-460E-94D1-54222C63F5DA}</a:tableStyleId>
              </a:tblPr>
              <a:tblGrid>
                <a:gridCol w="1082485">
                  <a:extLst>
                    <a:ext uri="{9D8B030D-6E8A-4147-A177-3AD203B41FA5}">
                      <a16:colId xmlns:a16="http://schemas.microsoft.com/office/drawing/2014/main" val="3333965635"/>
                    </a:ext>
                  </a:extLst>
                </a:gridCol>
                <a:gridCol w="738611">
                  <a:extLst>
                    <a:ext uri="{9D8B030D-6E8A-4147-A177-3AD203B41FA5}">
                      <a16:colId xmlns:a16="http://schemas.microsoft.com/office/drawing/2014/main" val="1819818939"/>
                    </a:ext>
                  </a:extLst>
                </a:gridCol>
                <a:gridCol w="616309">
                  <a:extLst>
                    <a:ext uri="{9D8B030D-6E8A-4147-A177-3AD203B41FA5}">
                      <a16:colId xmlns:a16="http://schemas.microsoft.com/office/drawing/2014/main" val="1899134126"/>
                    </a:ext>
                  </a:extLst>
                </a:gridCol>
                <a:gridCol w="616309">
                  <a:extLst>
                    <a:ext uri="{9D8B030D-6E8A-4147-A177-3AD203B41FA5}">
                      <a16:colId xmlns:a16="http://schemas.microsoft.com/office/drawing/2014/main" val="85019364"/>
                    </a:ext>
                  </a:extLst>
                </a:gridCol>
                <a:gridCol w="616309">
                  <a:extLst>
                    <a:ext uri="{9D8B030D-6E8A-4147-A177-3AD203B41FA5}">
                      <a16:colId xmlns:a16="http://schemas.microsoft.com/office/drawing/2014/main" val="3663548154"/>
                    </a:ext>
                  </a:extLst>
                </a:gridCol>
              </a:tblGrid>
              <a:tr h="283028">
                <a:tc>
                  <a:txBody>
                    <a:bodyPr/>
                    <a:lstStyle/>
                    <a:p>
                      <a:r>
                        <a:rPr lang="tr-TR" sz="1400" dirty="0"/>
                        <a:t>Ingredient</a:t>
                      </a:r>
                      <a:endParaRPr lang="en-US" sz="1400" dirty="0"/>
                    </a:p>
                  </a:txBody>
                  <a:tcPr/>
                </a:tc>
                <a:tc>
                  <a:txBody>
                    <a:bodyPr/>
                    <a:lstStyle/>
                    <a:p>
                      <a:r>
                        <a:rPr lang="tr-TR" sz="1400" dirty="0"/>
                        <a:t>Protein</a:t>
                      </a:r>
                      <a:endParaRPr lang="en-US" sz="1400" dirty="0"/>
                    </a:p>
                  </a:txBody>
                  <a:tcPr/>
                </a:tc>
                <a:tc>
                  <a:txBody>
                    <a:bodyPr/>
                    <a:lstStyle/>
                    <a:p>
                      <a:r>
                        <a:rPr lang="tr-TR" sz="1400" dirty="0"/>
                        <a:t>Fat</a:t>
                      </a:r>
                      <a:endParaRPr lang="en-US" sz="1400" dirty="0"/>
                    </a:p>
                  </a:txBody>
                  <a:tcPr/>
                </a:tc>
                <a:tc>
                  <a:txBody>
                    <a:bodyPr/>
                    <a:lstStyle/>
                    <a:p>
                      <a:r>
                        <a:rPr lang="tr-TR" sz="1400" dirty="0"/>
                        <a:t>Fiber</a:t>
                      </a:r>
                      <a:endParaRPr lang="en-US" sz="1400" dirty="0"/>
                    </a:p>
                  </a:txBody>
                  <a:tcPr/>
                </a:tc>
                <a:tc>
                  <a:txBody>
                    <a:bodyPr/>
                    <a:lstStyle/>
                    <a:p>
                      <a:r>
                        <a:rPr lang="tr-TR" sz="1400" dirty="0"/>
                        <a:t>Salt</a:t>
                      </a:r>
                      <a:endParaRPr lang="en-US" sz="1400" dirty="0"/>
                    </a:p>
                  </a:txBody>
                  <a:tcPr/>
                </a:tc>
                <a:extLst>
                  <a:ext uri="{0D108BD9-81ED-4DB2-BD59-A6C34878D82A}">
                    <a16:rowId xmlns:a16="http://schemas.microsoft.com/office/drawing/2014/main" val="572563123"/>
                  </a:ext>
                </a:extLst>
              </a:tr>
              <a:tr h="283028">
                <a:tc>
                  <a:txBody>
                    <a:bodyPr/>
                    <a:lstStyle/>
                    <a:p>
                      <a:r>
                        <a:rPr lang="tr-TR" sz="1400" dirty="0"/>
                        <a:t>Chicken</a:t>
                      </a:r>
                      <a:endParaRPr lang="en-US" sz="1400" dirty="0"/>
                    </a:p>
                  </a:txBody>
                  <a:tcPr/>
                </a:tc>
                <a:tc>
                  <a:txBody>
                    <a:bodyPr/>
                    <a:lstStyle/>
                    <a:p>
                      <a:r>
                        <a:rPr lang="tr-TR" sz="1400" dirty="0"/>
                        <a:t>0.100</a:t>
                      </a:r>
                      <a:endParaRPr lang="en-US" sz="1400" dirty="0"/>
                    </a:p>
                  </a:txBody>
                  <a:tcPr/>
                </a:tc>
                <a:tc>
                  <a:txBody>
                    <a:bodyPr/>
                    <a:lstStyle/>
                    <a:p>
                      <a:r>
                        <a:rPr lang="tr-TR" sz="1400" dirty="0"/>
                        <a:t>0.080</a:t>
                      </a:r>
                      <a:endParaRPr lang="en-US" sz="1400" dirty="0"/>
                    </a:p>
                  </a:txBody>
                  <a:tcPr/>
                </a:tc>
                <a:tc>
                  <a:txBody>
                    <a:bodyPr/>
                    <a:lstStyle/>
                    <a:p>
                      <a:r>
                        <a:rPr lang="tr-TR" sz="1400" dirty="0"/>
                        <a:t>0.001</a:t>
                      </a:r>
                      <a:endParaRPr lang="en-US" sz="1400" dirty="0"/>
                    </a:p>
                  </a:txBody>
                  <a:tcPr/>
                </a:tc>
                <a:tc>
                  <a:txBody>
                    <a:bodyPr/>
                    <a:lstStyle/>
                    <a:p>
                      <a:r>
                        <a:rPr lang="tr-TR" sz="1400" dirty="0"/>
                        <a:t>0.002</a:t>
                      </a:r>
                      <a:endParaRPr lang="en-US" sz="1400" dirty="0"/>
                    </a:p>
                  </a:txBody>
                  <a:tcPr/>
                </a:tc>
                <a:extLst>
                  <a:ext uri="{0D108BD9-81ED-4DB2-BD59-A6C34878D82A}">
                    <a16:rowId xmlns:a16="http://schemas.microsoft.com/office/drawing/2014/main" val="2265641094"/>
                  </a:ext>
                </a:extLst>
              </a:tr>
              <a:tr h="283028">
                <a:tc>
                  <a:txBody>
                    <a:bodyPr/>
                    <a:lstStyle/>
                    <a:p>
                      <a:r>
                        <a:rPr lang="tr-TR" sz="1400" dirty="0"/>
                        <a:t>Beef</a:t>
                      </a:r>
                      <a:endParaRPr lang="en-US" sz="1400" dirty="0"/>
                    </a:p>
                  </a:txBody>
                  <a:tcPr/>
                </a:tc>
                <a:tc>
                  <a:txBody>
                    <a:bodyPr/>
                    <a:lstStyle/>
                    <a:p>
                      <a:r>
                        <a:rPr lang="tr-TR" sz="1400" dirty="0"/>
                        <a:t>0.200</a:t>
                      </a:r>
                      <a:endParaRPr lang="en-US" sz="1400" dirty="0"/>
                    </a:p>
                  </a:txBody>
                  <a:tcPr/>
                </a:tc>
                <a:tc>
                  <a:txBody>
                    <a:bodyPr/>
                    <a:lstStyle/>
                    <a:p>
                      <a:r>
                        <a:rPr lang="tr-TR" sz="1400" dirty="0"/>
                        <a:t>0.100</a:t>
                      </a:r>
                      <a:endParaRPr lang="en-US" sz="1400" dirty="0"/>
                    </a:p>
                  </a:txBody>
                  <a:tcPr/>
                </a:tc>
                <a:tc>
                  <a:txBody>
                    <a:bodyPr/>
                    <a:lstStyle/>
                    <a:p>
                      <a:r>
                        <a:rPr lang="tr-TR" sz="1400" dirty="0"/>
                        <a:t>0.005</a:t>
                      </a:r>
                      <a:endParaRPr lang="en-US" sz="1400" dirty="0"/>
                    </a:p>
                  </a:txBody>
                  <a:tcPr/>
                </a:tc>
                <a:tc>
                  <a:txBody>
                    <a:bodyPr/>
                    <a:lstStyle/>
                    <a:p>
                      <a:r>
                        <a:rPr lang="tr-TR" sz="1400" dirty="0"/>
                        <a:t>0.005</a:t>
                      </a:r>
                      <a:endParaRPr lang="en-US" sz="1400" dirty="0"/>
                    </a:p>
                  </a:txBody>
                  <a:tcPr/>
                </a:tc>
                <a:extLst>
                  <a:ext uri="{0D108BD9-81ED-4DB2-BD59-A6C34878D82A}">
                    <a16:rowId xmlns:a16="http://schemas.microsoft.com/office/drawing/2014/main" val="2175544492"/>
                  </a:ext>
                </a:extLst>
              </a:tr>
              <a:tr h="283028">
                <a:tc>
                  <a:txBody>
                    <a:bodyPr/>
                    <a:lstStyle/>
                    <a:p>
                      <a:r>
                        <a:rPr lang="tr-TR" sz="1400" dirty="0"/>
                        <a:t>Mutton</a:t>
                      </a:r>
                      <a:endParaRPr lang="en-US" sz="1400" dirty="0"/>
                    </a:p>
                  </a:txBody>
                  <a:tcPr/>
                </a:tc>
                <a:tc>
                  <a:txBody>
                    <a:bodyPr/>
                    <a:lstStyle/>
                    <a:p>
                      <a:r>
                        <a:rPr lang="tr-TR" sz="1400" dirty="0"/>
                        <a:t>0.150</a:t>
                      </a:r>
                      <a:endParaRPr lang="en-US" sz="1400" dirty="0"/>
                    </a:p>
                  </a:txBody>
                  <a:tcPr/>
                </a:tc>
                <a:tc>
                  <a:txBody>
                    <a:bodyPr/>
                    <a:lstStyle/>
                    <a:p>
                      <a:r>
                        <a:rPr lang="tr-TR" sz="1400" dirty="0"/>
                        <a:t>0.110</a:t>
                      </a:r>
                      <a:endParaRPr lang="en-US" sz="1400" dirty="0"/>
                    </a:p>
                  </a:txBody>
                  <a:tcPr/>
                </a:tc>
                <a:tc>
                  <a:txBody>
                    <a:bodyPr/>
                    <a:lstStyle/>
                    <a:p>
                      <a:r>
                        <a:rPr lang="tr-TR" sz="1400" dirty="0"/>
                        <a:t>0.003</a:t>
                      </a:r>
                      <a:endParaRPr lang="en-US" sz="1400" dirty="0"/>
                    </a:p>
                  </a:txBody>
                  <a:tcPr/>
                </a:tc>
                <a:tc>
                  <a:txBody>
                    <a:bodyPr/>
                    <a:lstStyle/>
                    <a:p>
                      <a:r>
                        <a:rPr lang="tr-TR" sz="1400" dirty="0"/>
                        <a:t>0.007</a:t>
                      </a:r>
                      <a:endParaRPr lang="en-US" sz="1400" dirty="0"/>
                    </a:p>
                  </a:txBody>
                  <a:tcPr/>
                </a:tc>
                <a:extLst>
                  <a:ext uri="{0D108BD9-81ED-4DB2-BD59-A6C34878D82A}">
                    <a16:rowId xmlns:a16="http://schemas.microsoft.com/office/drawing/2014/main" val="1192464839"/>
                  </a:ext>
                </a:extLst>
              </a:tr>
              <a:tr h="283028">
                <a:tc>
                  <a:txBody>
                    <a:bodyPr/>
                    <a:lstStyle/>
                    <a:p>
                      <a:r>
                        <a:rPr lang="tr-TR" sz="1400" dirty="0"/>
                        <a:t>Rice</a:t>
                      </a:r>
                      <a:endParaRPr lang="en-US" sz="1400" dirty="0"/>
                    </a:p>
                  </a:txBody>
                  <a:tcPr/>
                </a:tc>
                <a:tc>
                  <a:txBody>
                    <a:bodyPr/>
                    <a:lstStyle/>
                    <a:p>
                      <a:r>
                        <a:rPr lang="tr-TR" sz="1400" dirty="0"/>
                        <a:t>0.000</a:t>
                      </a:r>
                    </a:p>
                  </a:txBody>
                  <a:tcPr/>
                </a:tc>
                <a:tc>
                  <a:txBody>
                    <a:bodyPr/>
                    <a:lstStyle/>
                    <a:p>
                      <a:r>
                        <a:rPr lang="tr-TR" sz="1400" dirty="0"/>
                        <a:t>0.010</a:t>
                      </a:r>
                      <a:endParaRPr lang="en-US" sz="1400" dirty="0"/>
                    </a:p>
                  </a:txBody>
                  <a:tcPr/>
                </a:tc>
                <a:tc>
                  <a:txBody>
                    <a:bodyPr/>
                    <a:lstStyle/>
                    <a:p>
                      <a:r>
                        <a:rPr lang="tr-TR" sz="1400" dirty="0"/>
                        <a:t>0.100</a:t>
                      </a:r>
                      <a:endParaRPr lang="en-US" sz="1400" dirty="0"/>
                    </a:p>
                  </a:txBody>
                  <a:tcPr/>
                </a:tc>
                <a:tc>
                  <a:txBody>
                    <a:bodyPr/>
                    <a:lstStyle/>
                    <a:p>
                      <a:r>
                        <a:rPr lang="tr-TR" sz="1400" dirty="0"/>
                        <a:t>0.002</a:t>
                      </a:r>
                      <a:endParaRPr lang="en-US" sz="1400" dirty="0"/>
                    </a:p>
                  </a:txBody>
                  <a:tcPr/>
                </a:tc>
                <a:extLst>
                  <a:ext uri="{0D108BD9-81ED-4DB2-BD59-A6C34878D82A}">
                    <a16:rowId xmlns:a16="http://schemas.microsoft.com/office/drawing/2014/main" val="581238503"/>
                  </a:ext>
                </a:extLst>
              </a:tr>
              <a:tr h="283028">
                <a:tc>
                  <a:txBody>
                    <a:bodyPr/>
                    <a:lstStyle/>
                    <a:p>
                      <a:r>
                        <a:rPr lang="tr-TR" sz="1400" dirty="0"/>
                        <a:t>Wheat Bran</a:t>
                      </a:r>
                      <a:endParaRPr lang="en-US" sz="1400" dirty="0"/>
                    </a:p>
                  </a:txBody>
                  <a:tcPr/>
                </a:tc>
                <a:tc>
                  <a:txBody>
                    <a:bodyPr/>
                    <a:lstStyle/>
                    <a:p>
                      <a:r>
                        <a:rPr lang="tr-TR" sz="1400" dirty="0"/>
                        <a:t>0.040</a:t>
                      </a:r>
                      <a:endParaRPr lang="en-US" sz="1400" dirty="0"/>
                    </a:p>
                  </a:txBody>
                  <a:tcPr/>
                </a:tc>
                <a:tc>
                  <a:txBody>
                    <a:bodyPr/>
                    <a:lstStyle/>
                    <a:p>
                      <a:r>
                        <a:rPr lang="tr-TR" sz="1400" dirty="0"/>
                        <a:t>0.010</a:t>
                      </a:r>
                      <a:endParaRPr lang="en-US" sz="1400" dirty="0"/>
                    </a:p>
                  </a:txBody>
                  <a:tcPr/>
                </a:tc>
                <a:tc>
                  <a:txBody>
                    <a:bodyPr/>
                    <a:lstStyle/>
                    <a:p>
                      <a:r>
                        <a:rPr lang="tr-TR" sz="1400" dirty="0"/>
                        <a:t>0.150</a:t>
                      </a:r>
                      <a:endParaRPr lang="en-US" sz="1400" dirty="0"/>
                    </a:p>
                  </a:txBody>
                  <a:tcPr/>
                </a:tc>
                <a:tc>
                  <a:txBody>
                    <a:bodyPr/>
                    <a:lstStyle/>
                    <a:p>
                      <a:r>
                        <a:rPr lang="tr-TR" sz="1400" dirty="0"/>
                        <a:t>0.008</a:t>
                      </a:r>
                      <a:endParaRPr lang="en-US" sz="1400" dirty="0"/>
                    </a:p>
                  </a:txBody>
                  <a:tcPr/>
                </a:tc>
                <a:extLst>
                  <a:ext uri="{0D108BD9-81ED-4DB2-BD59-A6C34878D82A}">
                    <a16:rowId xmlns:a16="http://schemas.microsoft.com/office/drawing/2014/main" val="3452090961"/>
                  </a:ext>
                </a:extLst>
              </a:tr>
              <a:tr h="283028">
                <a:tc>
                  <a:txBody>
                    <a:bodyPr/>
                    <a:lstStyle/>
                    <a:p>
                      <a:r>
                        <a:rPr lang="tr-TR" sz="1400" dirty="0"/>
                        <a:t>Gel</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tc>
                  <a:txBody>
                    <a:bodyPr/>
                    <a:lstStyle/>
                    <a:p>
                      <a:r>
                        <a:rPr lang="tr-TR" sz="1400" dirty="0"/>
                        <a:t>0.000</a:t>
                      </a:r>
                      <a:endParaRPr lang="en-US" sz="1400" dirty="0"/>
                    </a:p>
                  </a:txBody>
                  <a:tcPr/>
                </a:tc>
                <a:extLst>
                  <a:ext uri="{0D108BD9-81ED-4DB2-BD59-A6C34878D82A}">
                    <a16:rowId xmlns:a16="http://schemas.microsoft.com/office/drawing/2014/main" val="1122679131"/>
                  </a:ext>
                </a:extLst>
              </a:tr>
            </a:tbl>
          </a:graphicData>
        </a:graphic>
      </p:graphicFrame>
    </p:spTree>
    <p:extLst>
      <p:ext uri="{BB962C8B-B14F-4D97-AF65-F5344CB8AC3E}">
        <p14:creationId xmlns:p14="http://schemas.microsoft.com/office/powerpoint/2010/main" val="1639524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Blending Models</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843279124"/>
                  </p:ext>
                </p:extLst>
              </p:nvPr>
            </p:nvGraphicFramePr>
            <p:xfrm>
              <a:off x="1379911" y="2259278"/>
              <a:ext cx="9238997" cy="2595880"/>
            </p:xfrm>
            <a:graphic>
              <a:graphicData uri="http://schemas.openxmlformats.org/drawingml/2006/table">
                <a:tbl>
                  <a:tblPr firstRow="1" bandRow="1">
                    <a:tableStyleId>{2D5ABB26-0587-4C30-8999-92F81FD0307C}</a:tableStyleId>
                  </a:tblPr>
                  <a:tblGrid>
                    <a:gridCol w="1188593">
                      <a:extLst>
                        <a:ext uri="{9D8B030D-6E8A-4147-A177-3AD203B41FA5}">
                          <a16:colId xmlns:a16="http://schemas.microsoft.com/office/drawing/2014/main" val="3888021187"/>
                        </a:ext>
                      </a:extLst>
                    </a:gridCol>
                    <a:gridCol w="1029526">
                      <a:extLst>
                        <a:ext uri="{9D8B030D-6E8A-4147-A177-3AD203B41FA5}">
                          <a16:colId xmlns:a16="http://schemas.microsoft.com/office/drawing/2014/main" val="3534266932"/>
                        </a:ext>
                      </a:extLst>
                    </a:gridCol>
                    <a:gridCol w="1206246">
                      <a:extLst>
                        <a:ext uri="{9D8B030D-6E8A-4147-A177-3AD203B41FA5}">
                          <a16:colId xmlns:a16="http://schemas.microsoft.com/office/drawing/2014/main" val="3559686337"/>
                        </a:ext>
                      </a:extLst>
                    </a:gridCol>
                    <a:gridCol w="1206246">
                      <a:extLst>
                        <a:ext uri="{9D8B030D-6E8A-4147-A177-3AD203B41FA5}">
                          <a16:colId xmlns:a16="http://schemas.microsoft.com/office/drawing/2014/main" val="1347294665"/>
                        </a:ext>
                      </a:extLst>
                    </a:gridCol>
                    <a:gridCol w="1206246">
                      <a:extLst>
                        <a:ext uri="{9D8B030D-6E8A-4147-A177-3AD203B41FA5}">
                          <a16:colId xmlns:a16="http://schemas.microsoft.com/office/drawing/2014/main" val="2673935178"/>
                        </a:ext>
                      </a:extLst>
                    </a:gridCol>
                    <a:gridCol w="1206246">
                      <a:extLst>
                        <a:ext uri="{9D8B030D-6E8A-4147-A177-3AD203B41FA5}">
                          <a16:colId xmlns:a16="http://schemas.microsoft.com/office/drawing/2014/main" val="2754673891"/>
                        </a:ext>
                      </a:extLst>
                    </a:gridCol>
                    <a:gridCol w="1206246">
                      <a:extLst>
                        <a:ext uri="{9D8B030D-6E8A-4147-A177-3AD203B41FA5}">
                          <a16:colId xmlns:a16="http://schemas.microsoft.com/office/drawing/2014/main" val="3913864312"/>
                        </a:ext>
                      </a:extLst>
                    </a:gridCol>
                    <a:gridCol w="406718">
                      <a:extLst>
                        <a:ext uri="{9D8B030D-6E8A-4147-A177-3AD203B41FA5}">
                          <a16:colId xmlns:a16="http://schemas.microsoft.com/office/drawing/2014/main" val="1158957883"/>
                        </a:ext>
                      </a:extLst>
                    </a:gridCol>
                    <a:gridCol w="582930">
                      <a:extLst>
                        <a:ext uri="{9D8B030D-6E8A-4147-A177-3AD203B41FA5}">
                          <a16:colId xmlns:a16="http://schemas.microsoft.com/office/drawing/2014/main" val="3407547115"/>
                        </a:ext>
                      </a:extLst>
                    </a:gridCol>
                  </a:tblGrid>
                  <a:tr h="370840">
                    <a:tc>
                      <a:txBody>
                        <a:bodyPr/>
                        <a:lstStyle/>
                        <a:p>
                          <a:r>
                            <a:rPr lang="tr-TR" sz="1800" dirty="0"/>
                            <a:t>Min    </a:t>
                          </a:r>
                          <a14:m>
                            <m:oMath xmlns:m="http://schemas.openxmlformats.org/officeDocument/2006/math">
                              <m:r>
                                <a:rPr lang="tr-TR" sz="1800" b="0" i="1" smtClean="0">
                                  <a:latin typeface="Cambria Math" panose="02040503050406030204" pitchFamily="18" charset="0"/>
                                </a:rPr>
                                <m:t>𝑍</m:t>
                              </m:r>
                              <m:r>
                                <a:rPr lang="tr-TR" sz="1800" b="0" i="1" smtClean="0">
                                  <a:latin typeface="Cambria Math" panose="02040503050406030204" pitchFamily="18" charset="0"/>
                                </a:rPr>
                                <m:t>=</m:t>
                              </m:r>
                            </m:oMath>
                          </a14:m>
                          <a:endParaRPr lang="en-US" sz="1800" dirty="0"/>
                        </a:p>
                      </a:txBody>
                      <a:tcPr/>
                    </a:tc>
                    <a:tc>
                      <a:txBody>
                        <a:bodyPr/>
                        <a:lstStyle/>
                        <a:p>
                          <a:pPr algn="r"/>
                          <a14:m>
                            <m:oMathPara xmlns:m="http://schemas.openxmlformats.org/officeDocument/2006/math">
                              <m:oMathParaPr>
                                <m:jc m:val="right"/>
                              </m:oMathParaPr>
                              <m:oMath xmlns:m="http://schemas.openxmlformats.org/officeDocument/2006/math">
                                <m:r>
                                  <a:rPr lang="tr-TR" sz="1800" b="0" i="1" smtClean="0">
                                    <a:latin typeface="Cambria Math" panose="02040503050406030204" pitchFamily="18" charset="0"/>
                                  </a:rPr>
                                  <m:t>0.013</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0.008</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0.002</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4</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0.005</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6</m:t>
                                    </m:r>
                                  </m:sub>
                                </m:sSub>
                              </m:oMath>
                            </m:oMathPara>
                          </a14:m>
                          <a:endParaRPr lang="en-US" sz="1800" b="0" dirty="0"/>
                        </a:p>
                      </a:txBody>
                      <a:tcPr/>
                    </a:tc>
                    <a:tc>
                      <a:txBody>
                        <a:bodyPr/>
                        <a:lstStyle/>
                        <a:p>
                          <a:endParaRPr lang="en-US" sz="1800" b="0" dirty="0"/>
                        </a:p>
                      </a:txBody>
                      <a:tcPr/>
                    </a:tc>
                    <a:tc>
                      <a:txBody>
                        <a:bodyPr/>
                        <a:lstStyle/>
                        <a:p>
                          <a:endParaRPr lang="en-US" sz="1800" b="0" dirty="0"/>
                        </a:p>
                      </a:txBody>
                      <a:tcPr/>
                    </a:tc>
                    <a:extLst>
                      <a:ext uri="{0D108BD9-81ED-4DB2-BD59-A6C34878D82A}">
                        <a16:rowId xmlns:a16="http://schemas.microsoft.com/office/drawing/2014/main" val="1915566640"/>
                      </a:ext>
                    </a:extLst>
                  </a:tr>
                  <a:tr h="370840">
                    <a:tc>
                      <a:txBody>
                        <a:bodyPr/>
                        <a:lstStyle/>
                        <a:p>
                          <a:r>
                            <a:rPr lang="tr-TR" sz="1800" dirty="0"/>
                            <a:t>Subject to</a:t>
                          </a:r>
                          <a:endParaRPr lang="en-US" sz="18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4</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6</m:t>
                                    </m:r>
                                  </m:sub>
                                </m:sSub>
                              </m:oMath>
                            </m:oMathPara>
                          </a14:m>
                          <a:endParaRPr lang="en-US" sz="1800" b="0" dirty="0"/>
                        </a:p>
                      </a:txBody>
                      <a:tcPr/>
                    </a:tc>
                    <a:tc>
                      <a:txBody>
                        <a:bodyPr/>
                        <a:lstStyle/>
                        <a:p>
                          <a:pPr/>
                          <a14:m>
                            <m:oMathPara xmlns:m="http://schemas.openxmlformats.org/officeDocument/2006/math">
                              <m:oMathParaPr>
                                <m:jc m:val="centerGroup"/>
                              </m:oMathParaPr>
                              <m:oMath xmlns:m="http://schemas.openxmlformats.org/officeDocument/2006/math">
                                <m:r>
                                  <a:rPr lang="tr-TR" sz="1800" b="0" i="1" smtClean="0">
                                    <a:latin typeface="Cambria Math" panose="02040503050406030204" pitchFamily="18" charset="0"/>
                                  </a:rPr>
                                  <m:t>=</m:t>
                                </m:r>
                              </m:oMath>
                            </m:oMathPara>
                          </a14:m>
                          <a:endParaRPr lang="en-US" sz="1800" b="0" dirty="0"/>
                        </a:p>
                      </a:txBody>
                      <a:tcPr/>
                    </a:tc>
                    <a:tc>
                      <a:txBody>
                        <a:bodyPr/>
                        <a:lstStyle/>
                        <a:p>
                          <a:r>
                            <a:rPr lang="tr-TR" sz="1800" b="0" dirty="0"/>
                            <a:t>100</a:t>
                          </a:r>
                          <a:endParaRPr lang="en-US" sz="1800" b="0" dirty="0"/>
                        </a:p>
                      </a:txBody>
                      <a:tcPr/>
                    </a:tc>
                    <a:extLst>
                      <a:ext uri="{0D108BD9-81ED-4DB2-BD59-A6C34878D82A}">
                        <a16:rowId xmlns:a16="http://schemas.microsoft.com/office/drawing/2014/main" val="1849586065"/>
                      </a:ext>
                    </a:extLst>
                  </a:tr>
                  <a:tr h="370840">
                    <a:tc>
                      <a:txBody>
                        <a:bodyPr/>
                        <a:lstStyle/>
                        <a:p>
                          <a:endParaRPr lang="en-US" sz="1800" dirty="0"/>
                        </a:p>
                      </a:txBody>
                      <a:tcPr/>
                    </a:tc>
                    <a:tc>
                      <a:txBody>
                        <a:bodyPr/>
                        <a:lstStyle/>
                        <a:p>
                          <a:pPr algn="r"/>
                          <a14:m>
                            <m:oMathPara xmlns:m="http://schemas.openxmlformats.org/officeDocument/2006/math">
                              <m:oMathParaPr>
                                <m:jc m:val="right"/>
                              </m:oMathParaPr>
                              <m:oMath xmlns:m="http://schemas.openxmlformats.org/officeDocument/2006/math">
                                <m:r>
                                  <a:rPr lang="tr-TR" sz="1800" b="0" i="1" smtClean="0">
                                    <a:latin typeface="Cambria Math" panose="02040503050406030204" pitchFamily="18" charset="0"/>
                                  </a:rPr>
                                  <m:t>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0.2</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0.15</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algn="r"/>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0.04</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algn="r"/>
                          <a:endParaRPr lang="en-US" sz="1800" b="0" dirty="0"/>
                        </a:p>
                      </a:txBody>
                      <a:tcPr/>
                    </a:tc>
                    <a:tc>
                      <a:txBody>
                        <a:bodyPr/>
                        <a:lstStyle/>
                        <a:p>
                          <a:pPr/>
                          <a14:m>
                            <m:oMathPara xmlns:m="http://schemas.openxmlformats.org/officeDocument/2006/math">
                              <m:oMathParaPr>
                                <m:jc m:val="centerGroup"/>
                              </m:oMathParaPr>
                              <m:oMath xmlns:m="http://schemas.openxmlformats.org/officeDocument/2006/math">
                                <m:r>
                                  <a:rPr lang="tr-TR" sz="1800" b="0" i="1" smtClean="0">
                                    <a:latin typeface="Cambria Math" panose="02040503050406030204" pitchFamily="18" charset="0"/>
                                  </a:rPr>
                                  <m:t>≥</m:t>
                                </m:r>
                              </m:oMath>
                            </m:oMathPara>
                          </a14:m>
                          <a:endParaRPr lang="en-US" sz="1800" b="0" dirty="0"/>
                        </a:p>
                      </a:txBody>
                      <a:tcPr/>
                    </a:tc>
                    <a:tc>
                      <a:txBody>
                        <a:bodyPr/>
                        <a:lstStyle/>
                        <a:p>
                          <a:r>
                            <a:rPr lang="tr-TR" sz="1800" b="0" dirty="0"/>
                            <a:t>8</a:t>
                          </a:r>
                          <a:endParaRPr lang="en-US" sz="1800" b="0" dirty="0"/>
                        </a:p>
                      </a:txBody>
                      <a:tcPr/>
                    </a:tc>
                    <a:extLst>
                      <a:ext uri="{0D108BD9-81ED-4DB2-BD59-A6C34878D82A}">
                        <a16:rowId xmlns:a16="http://schemas.microsoft.com/office/drawing/2014/main" val="3907794430"/>
                      </a:ext>
                    </a:extLst>
                  </a:tr>
                  <a:tr h="370840">
                    <a:tc>
                      <a:txBody>
                        <a:bodyPr/>
                        <a:lstStyle/>
                        <a:p>
                          <a:endParaRPr lang="en-US" sz="1800" dirty="0"/>
                        </a:p>
                      </a:txBody>
                      <a:tcPr/>
                    </a:tc>
                    <a:tc>
                      <a:txBody>
                        <a:bodyPr/>
                        <a:lstStyle/>
                        <a:p>
                          <a:pPr algn="r"/>
                          <a14:m>
                            <m:oMathPara xmlns:m="http://schemas.openxmlformats.org/officeDocument/2006/math">
                              <m:oMathParaPr>
                                <m:jc m:val="right"/>
                              </m:oMathParaPr>
                              <m:oMath xmlns:m="http://schemas.openxmlformats.org/officeDocument/2006/math">
                                <m:r>
                                  <a:rPr lang="tr-TR" sz="1800" b="0" i="1" smtClean="0">
                                    <a:latin typeface="Cambria Math" panose="02040503050406030204" pitchFamily="18" charset="0"/>
                                  </a:rPr>
                                  <m:t>0.08</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0.11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4</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algn="r"/>
                          <a:endParaRPr lang="en-US" sz="1800" b="0" dirty="0"/>
                        </a:p>
                      </a:txBody>
                      <a:tcPr/>
                    </a:tc>
                    <a:tc>
                      <a:txBody>
                        <a:bodyPr/>
                        <a:lstStyle/>
                        <a:p>
                          <a:pPr/>
                          <a14:m>
                            <m:oMathPara xmlns:m="http://schemas.openxmlformats.org/officeDocument/2006/math">
                              <m:oMathParaPr>
                                <m:jc m:val="centerGroup"/>
                              </m:oMathParaPr>
                              <m:oMath xmlns:m="http://schemas.openxmlformats.org/officeDocument/2006/math">
                                <m:r>
                                  <a:rPr lang="tr-TR" sz="1800" b="0" i="1" smtClean="0">
                                    <a:latin typeface="Cambria Math" panose="02040503050406030204" pitchFamily="18" charset="0"/>
                                  </a:rPr>
                                  <m:t>≥</m:t>
                                </m:r>
                              </m:oMath>
                            </m:oMathPara>
                          </a14:m>
                          <a:endParaRPr lang="en-US" sz="1800" b="0" dirty="0"/>
                        </a:p>
                      </a:txBody>
                      <a:tcPr/>
                    </a:tc>
                    <a:tc>
                      <a:txBody>
                        <a:bodyPr/>
                        <a:lstStyle/>
                        <a:p>
                          <a:r>
                            <a:rPr lang="tr-TR" sz="1800" b="0" dirty="0"/>
                            <a:t>6</a:t>
                          </a:r>
                          <a:endParaRPr lang="en-US" sz="1800" b="0" dirty="0"/>
                        </a:p>
                      </a:txBody>
                      <a:tcPr/>
                    </a:tc>
                    <a:extLst>
                      <a:ext uri="{0D108BD9-81ED-4DB2-BD59-A6C34878D82A}">
                        <a16:rowId xmlns:a16="http://schemas.microsoft.com/office/drawing/2014/main" val="3381761340"/>
                      </a:ext>
                    </a:extLst>
                  </a:tr>
                  <a:tr h="370840">
                    <a:tc>
                      <a:txBody>
                        <a:bodyPr/>
                        <a:lstStyle/>
                        <a:p>
                          <a:endParaRPr lang="en-US" sz="1800" dirty="0"/>
                        </a:p>
                      </a:txBody>
                      <a:tcPr/>
                    </a:tc>
                    <a:tc>
                      <a:txBody>
                        <a:bodyPr/>
                        <a:lstStyle/>
                        <a:p>
                          <a:pPr algn="r"/>
                          <a14:m>
                            <m:oMathPara xmlns:m="http://schemas.openxmlformats.org/officeDocument/2006/math">
                              <m:oMathParaPr>
                                <m:jc m:val="right"/>
                              </m:oMathParaPr>
                              <m:oMath xmlns:m="http://schemas.openxmlformats.org/officeDocument/2006/math">
                                <m:r>
                                  <a:rPr lang="tr-TR" sz="1800" b="0" i="1" smtClean="0">
                                    <a:latin typeface="Cambria Math" panose="02040503050406030204" pitchFamily="18" charset="0"/>
                                  </a:rPr>
                                  <m:t>0.001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0.005</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0.003</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0.1</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4</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0.15</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algn="r"/>
                          <a:endParaRPr lang="en-US" sz="1800" b="0" dirty="0"/>
                        </a:p>
                      </a:txBody>
                      <a:tcPr/>
                    </a:tc>
                    <a:tc>
                      <a:txBody>
                        <a:bodyPr/>
                        <a:lstStyle/>
                        <a:p>
                          <a:pPr/>
                          <a14:m>
                            <m:oMathPara xmlns:m="http://schemas.openxmlformats.org/officeDocument/2006/math">
                              <m:oMathParaPr>
                                <m:jc m:val="centerGroup"/>
                              </m:oMathParaPr>
                              <m:oMath xmlns:m="http://schemas.openxmlformats.org/officeDocument/2006/math">
                                <m:r>
                                  <a:rPr lang="tr-TR" sz="1800" b="0" i="1" smtClean="0">
                                    <a:latin typeface="Cambria Math" panose="02040503050406030204" pitchFamily="18" charset="0"/>
                                  </a:rPr>
                                  <m:t>≤</m:t>
                                </m:r>
                              </m:oMath>
                            </m:oMathPara>
                          </a14:m>
                          <a:endParaRPr lang="en-US" sz="1800" b="0" dirty="0"/>
                        </a:p>
                      </a:txBody>
                      <a:tcPr/>
                    </a:tc>
                    <a:tc>
                      <a:txBody>
                        <a:bodyPr/>
                        <a:lstStyle/>
                        <a:p>
                          <a:r>
                            <a:rPr lang="tr-TR" sz="1800" b="0" dirty="0"/>
                            <a:t>2</a:t>
                          </a:r>
                          <a:endParaRPr lang="en-US" sz="1800" b="0" dirty="0"/>
                        </a:p>
                      </a:txBody>
                      <a:tcPr/>
                    </a:tc>
                    <a:extLst>
                      <a:ext uri="{0D108BD9-81ED-4DB2-BD59-A6C34878D82A}">
                        <a16:rowId xmlns:a16="http://schemas.microsoft.com/office/drawing/2014/main" val="3976070994"/>
                      </a:ext>
                    </a:extLst>
                  </a:tr>
                  <a:tr h="370840">
                    <a:tc>
                      <a:txBody>
                        <a:bodyPr/>
                        <a:lstStyle/>
                        <a:p>
                          <a:endParaRPr lang="en-US" sz="1800" dirty="0"/>
                        </a:p>
                      </a:txBody>
                      <a:tcPr/>
                    </a:tc>
                    <a:tc>
                      <a:txBody>
                        <a:bodyPr/>
                        <a:lstStyle/>
                        <a:p>
                          <a:pPr algn="r"/>
                          <a14:m>
                            <m:oMathPara xmlns:m="http://schemas.openxmlformats.org/officeDocument/2006/math">
                              <m:oMathParaPr>
                                <m:jc m:val="right"/>
                              </m:oMathParaPr>
                              <m:oMath xmlns:m="http://schemas.openxmlformats.org/officeDocument/2006/math">
                                <m:r>
                                  <a:rPr lang="tr-TR" sz="1800" b="0" i="1" smtClean="0">
                                    <a:latin typeface="Cambria Math" panose="02040503050406030204" pitchFamily="18" charset="0"/>
                                  </a:rPr>
                                  <m:t>0.002</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0.005</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0.007</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0.002</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4</m:t>
                                    </m:r>
                                  </m:sub>
                                </m:sSub>
                              </m:oMath>
                            </m:oMathPara>
                          </a14:m>
                          <a:endParaRPr lang="en-US" sz="1800" b="0" dirty="0"/>
                        </a:p>
                      </a:txBody>
                      <a:tcPr/>
                    </a:tc>
                    <a:tc>
                      <a:txBody>
                        <a:bodyPr/>
                        <a:lstStyle/>
                        <a:p>
                          <a:pPr algn="r"/>
                          <a14:m>
                            <m:oMathPara xmlns:m="http://schemas.openxmlformats.org/officeDocument/2006/math">
                              <m:oMathParaPr>
                                <m:jc m:val="right"/>
                              </m:oMathParaPr>
                              <m:oMath xmlns:m="http://schemas.openxmlformats.org/officeDocument/2006/math">
                                <m:r>
                                  <a:rPr lang="tr-TR" sz="1800" b="0" smtClean="0">
                                    <a:latin typeface="Cambria Math" panose="02040503050406030204" pitchFamily="18" charset="0"/>
                                  </a:rPr>
                                  <m:t>+</m:t>
                                </m:r>
                                <m:r>
                                  <a:rPr lang="tr-TR" sz="1800" b="0" i="1" smtClean="0">
                                    <a:latin typeface="Cambria Math" panose="02040503050406030204" pitchFamily="18" charset="0"/>
                                  </a:rPr>
                                  <m:t>0.008</m:t>
                                </m:r>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algn="r"/>
                          <a:endParaRPr lang="en-US" sz="1800" b="0" dirty="0"/>
                        </a:p>
                      </a:txBody>
                      <a:tcPr/>
                    </a:tc>
                    <a:tc>
                      <a:txBody>
                        <a:bodyPr/>
                        <a:lstStyle/>
                        <a:p>
                          <a:pPr/>
                          <a14:m>
                            <m:oMathPara xmlns:m="http://schemas.openxmlformats.org/officeDocument/2006/math">
                              <m:oMathParaPr>
                                <m:jc m:val="centerGroup"/>
                              </m:oMathParaPr>
                              <m:oMath xmlns:m="http://schemas.openxmlformats.org/officeDocument/2006/math">
                                <m:r>
                                  <a:rPr lang="tr-TR" sz="1800" b="0" i="1" smtClean="0">
                                    <a:latin typeface="Cambria Math" panose="02040503050406030204" pitchFamily="18" charset="0"/>
                                  </a:rPr>
                                  <m:t>≤</m:t>
                                </m:r>
                              </m:oMath>
                            </m:oMathPara>
                          </a14:m>
                          <a:endParaRPr lang="en-US" sz="1800" b="0" dirty="0"/>
                        </a:p>
                      </a:txBody>
                      <a:tcPr/>
                    </a:tc>
                    <a:tc>
                      <a:txBody>
                        <a:bodyPr/>
                        <a:lstStyle/>
                        <a:p>
                          <a:r>
                            <a:rPr lang="tr-TR" sz="1800" b="0" dirty="0"/>
                            <a:t>0.4</a:t>
                          </a:r>
                          <a:endParaRPr lang="en-US" sz="1800" b="0" dirty="0"/>
                        </a:p>
                      </a:txBody>
                      <a:tcPr/>
                    </a:tc>
                    <a:extLst>
                      <a:ext uri="{0D108BD9-81ED-4DB2-BD59-A6C34878D82A}">
                        <a16:rowId xmlns:a16="http://schemas.microsoft.com/office/drawing/2014/main" val="3153560475"/>
                      </a:ext>
                    </a:extLst>
                  </a:tr>
                  <a:tr h="370840">
                    <a:tc>
                      <a:txBody>
                        <a:bodyPr/>
                        <a:lstStyle/>
                        <a:p>
                          <a:endParaRPr lang="en-US" sz="18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1</m:t>
                                    </m:r>
                                  </m:sub>
                                </m:sSub>
                              </m:oMath>
                            </m:oMathPara>
                          </a14:m>
                          <a:endParaRPr lang="en-US" sz="1800" b="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2</m:t>
                                    </m:r>
                                  </m:sub>
                                </m:sSub>
                              </m:oMath>
                            </m:oMathPara>
                          </a14:m>
                          <a:endParaRPr lang="en-US" sz="18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3</m:t>
                                    </m:r>
                                  </m:sub>
                                </m:sSub>
                              </m:oMath>
                            </m:oMathPara>
                          </a14:m>
                          <a:endParaRPr lang="en-US" sz="18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4</m:t>
                                    </m:r>
                                  </m:sub>
                                </m:sSub>
                              </m:oMath>
                            </m:oMathPara>
                          </a14:m>
                          <a:endParaRPr lang="en-US" sz="18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5</m:t>
                                    </m:r>
                                  </m:sub>
                                </m:sSub>
                              </m:oMath>
                            </m:oMathPara>
                          </a14:m>
                          <a:endParaRPr lang="en-US" sz="18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tr-TR" sz="1800" b="0" i="1" smtClean="0">
                                        <a:latin typeface="Cambria Math" panose="02040503050406030204" pitchFamily="18" charset="0"/>
                                      </a:rPr>
                                    </m:ctrlPr>
                                  </m:sSubPr>
                                  <m:e>
                                    <m:r>
                                      <a:rPr lang="tr-TR" sz="1800" b="0" i="1" smtClean="0">
                                        <a:latin typeface="Cambria Math" panose="02040503050406030204" pitchFamily="18" charset="0"/>
                                      </a:rPr>
                                      <m:t>𝑋</m:t>
                                    </m:r>
                                  </m:e>
                                  <m:sub>
                                    <m:r>
                                      <a:rPr lang="tr-TR" sz="1800" b="0" i="1" smtClean="0">
                                        <a:latin typeface="Cambria Math" panose="02040503050406030204" pitchFamily="18" charset="0"/>
                                      </a:rPr>
                                      <m:t>6</m:t>
                                    </m:r>
                                  </m:sub>
                                </m:sSub>
                              </m:oMath>
                            </m:oMathPara>
                          </a14:m>
                          <a:endParaRPr lang="en-US" sz="1800" b="0" dirty="0"/>
                        </a:p>
                      </a:txBody>
                      <a:tcPr/>
                    </a:tc>
                    <a:tc>
                      <a:txBody>
                        <a:bodyPr/>
                        <a:lstStyle/>
                        <a:p>
                          <a:pPr/>
                          <a14:m>
                            <m:oMathPara xmlns:m="http://schemas.openxmlformats.org/officeDocument/2006/math">
                              <m:oMathParaPr>
                                <m:jc m:val="centerGroup"/>
                              </m:oMathParaPr>
                              <m:oMath xmlns:m="http://schemas.openxmlformats.org/officeDocument/2006/math">
                                <m:r>
                                  <a:rPr lang="tr-TR" sz="1800" b="0" i="1" smtClean="0">
                                    <a:latin typeface="Cambria Math" panose="02040503050406030204" pitchFamily="18" charset="0"/>
                                  </a:rPr>
                                  <m:t>≥</m:t>
                                </m:r>
                              </m:oMath>
                            </m:oMathPara>
                          </a14:m>
                          <a:endParaRPr lang="en-US" sz="1800" b="0" dirty="0"/>
                        </a:p>
                      </a:txBody>
                      <a:tcPr/>
                    </a:tc>
                    <a:tc>
                      <a:txBody>
                        <a:bodyPr/>
                        <a:lstStyle/>
                        <a:p>
                          <a:r>
                            <a:rPr lang="tr-TR" sz="1800" b="0" dirty="0"/>
                            <a:t>0</a:t>
                          </a:r>
                          <a:endParaRPr lang="en-US" sz="18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843279124"/>
                  </p:ext>
                </p:extLst>
              </p:nvPr>
            </p:nvGraphicFramePr>
            <p:xfrm>
              <a:off x="1379911" y="2259278"/>
              <a:ext cx="9238997" cy="2595880"/>
            </p:xfrm>
            <a:graphic>
              <a:graphicData uri="http://schemas.openxmlformats.org/drawingml/2006/table">
                <a:tbl>
                  <a:tblPr firstRow="1" bandRow="1">
                    <a:tableStyleId>{2D5ABB26-0587-4C30-8999-92F81FD0307C}</a:tableStyleId>
                  </a:tblPr>
                  <a:tblGrid>
                    <a:gridCol w="1188593">
                      <a:extLst>
                        <a:ext uri="{9D8B030D-6E8A-4147-A177-3AD203B41FA5}">
                          <a16:colId xmlns:a16="http://schemas.microsoft.com/office/drawing/2014/main" val="3888021187"/>
                        </a:ext>
                      </a:extLst>
                    </a:gridCol>
                    <a:gridCol w="1029526">
                      <a:extLst>
                        <a:ext uri="{9D8B030D-6E8A-4147-A177-3AD203B41FA5}">
                          <a16:colId xmlns:a16="http://schemas.microsoft.com/office/drawing/2014/main" val="3534266932"/>
                        </a:ext>
                      </a:extLst>
                    </a:gridCol>
                    <a:gridCol w="1206246">
                      <a:extLst>
                        <a:ext uri="{9D8B030D-6E8A-4147-A177-3AD203B41FA5}">
                          <a16:colId xmlns:a16="http://schemas.microsoft.com/office/drawing/2014/main" val="3559686337"/>
                        </a:ext>
                      </a:extLst>
                    </a:gridCol>
                    <a:gridCol w="1206246">
                      <a:extLst>
                        <a:ext uri="{9D8B030D-6E8A-4147-A177-3AD203B41FA5}">
                          <a16:colId xmlns:a16="http://schemas.microsoft.com/office/drawing/2014/main" val="1347294665"/>
                        </a:ext>
                      </a:extLst>
                    </a:gridCol>
                    <a:gridCol w="1206246">
                      <a:extLst>
                        <a:ext uri="{9D8B030D-6E8A-4147-A177-3AD203B41FA5}">
                          <a16:colId xmlns:a16="http://schemas.microsoft.com/office/drawing/2014/main" val="2673935178"/>
                        </a:ext>
                      </a:extLst>
                    </a:gridCol>
                    <a:gridCol w="1206246">
                      <a:extLst>
                        <a:ext uri="{9D8B030D-6E8A-4147-A177-3AD203B41FA5}">
                          <a16:colId xmlns:a16="http://schemas.microsoft.com/office/drawing/2014/main" val="2754673891"/>
                        </a:ext>
                      </a:extLst>
                    </a:gridCol>
                    <a:gridCol w="1206246">
                      <a:extLst>
                        <a:ext uri="{9D8B030D-6E8A-4147-A177-3AD203B41FA5}">
                          <a16:colId xmlns:a16="http://schemas.microsoft.com/office/drawing/2014/main" val="3913864312"/>
                        </a:ext>
                      </a:extLst>
                    </a:gridCol>
                    <a:gridCol w="406718">
                      <a:extLst>
                        <a:ext uri="{9D8B030D-6E8A-4147-A177-3AD203B41FA5}">
                          <a16:colId xmlns:a16="http://schemas.microsoft.com/office/drawing/2014/main" val="1158957883"/>
                        </a:ext>
                      </a:extLst>
                    </a:gridCol>
                    <a:gridCol w="582930">
                      <a:extLst>
                        <a:ext uri="{9D8B030D-6E8A-4147-A177-3AD203B41FA5}">
                          <a16:colId xmlns:a16="http://schemas.microsoft.com/office/drawing/2014/main" val="3407547115"/>
                        </a:ext>
                      </a:extLst>
                    </a:gridCol>
                  </a:tblGrid>
                  <a:tr h="370840">
                    <a:tc>
                      <a:txBody>
                        <a:bodyPr/>
                        <a:lstStyle/>
                        <a:p>
                          <a:endParaRPr lang="tr-TR"/>
                        </a:p>
                      </a:txBody>
                      <a:tcPr>
                        <a:blipFill>
                          <a:blip r:embed="rId2"/>
                          <a:stretch>
                            <a:fillRect t="-8197" r="-677436" b="-624590"/>
                          </a:stretch>
                        </a:blipFill>
                      </a:tcPr>
                    </a:tc>
                    <a:tc>
                      <a:txBody>
                        <a:bodyPr/>
                        <a:lstStyle/>
                        <a:p>
                          <a:endParaRPr lang="tr-TR"/>
                        </a:p>
                      </a:txBody>
                      <a:tcPr>
                        <a:blipFill>
                          <a:blip r:embed="rId2"/>
                          <a:stretch>
                            <a:fillRect l="-115385" t="-8197" r="-681657" b="-624590"/>
                          </a:stretch>
                        </a:blipFill>
                      </a:tcPr>
                    </a:tc>
                    <a:tc>
                      <a:txBody>
                        <a:bodyPr/>
                        <a:lstStyle/>
                        <a:p>
                          <a:endParaRPr lang="tr-TR"/>
                        </a:p>
                      </a:txBody>
                      <a:tcPr>
                        <a:blipFill>
                          <a:blip r:embed="rId2"/>
                          <a:stretch>
                            <a:fillRect l="-183838" t="-8197" r="-481818" b="-624590"/>
                          </a:stretch>
                        </a:blipFill>
                      </a:tcPr>
                    </a:tc>
                    <a:tc>
                      <a:txBody>
                        <a:bodyPr/>
                        <a:lstStyle/>
                        <a:p>
                          <a:endParaRPr lang="tr-TR"/>
                        </a:p>
                      </a:txBody>
                      <a:tcPr>
                        <a:blipFill>
                          <a:blip r:embed="rId2"/>
                          <a:stretch>
                            <a:fillRect l="-283838" t="-8197" r="-381818" b="-624590"/>
                          </a:stretch>
                        </a:blipFill>
                      </a:tcPr>
                    </a:tc>
                    <a:tc>
                      <a:txBody>
                        <a:bodyPr/>
                        <a:lstStyle/>
                        <a:p>
                          <a:endParaRPr lang="tr-TR"/>
                        </a:p>
                      </a:txBody>
                      <a:tcPr>
                        <a:blipFill>
                          <a:blip r:embed="rId2"/>
                          <a:stretch>
                            <a:fillRect l="-383838" t="-8197" r="-281818" b="-624590"/>
                          </a:stretch>
                        </a:blipFill>
                      </a:tcPr>
                    </a:tc>
                    <a:tc>
                      <a:txBody>
                        <a:bodyPr/>
                        <a:lstStyle/>
                        <a:p>
                          <a:endParaRPr lang="tr-TR"/>
                        </a:p>
                      </a:txBody>
                      <a:tcPr>
                        <a:blipFill>
                          <a:blip r:embed="rId2"/>
                          <a:stretch>
                            <a:fillRect l="-483838" t="-8197" r="-181818" b="-624590"/>
                          </a:stretch>
                        </a:blipFill>
                      </a:tcPr>
                    </a:tc>
                    <a:tc>
                      <a:txBody>
                        <a:bodyPr/>
                        <a:lstStyle/>
                        <a:p>
                          <a:endParaRPr lang="tr-TR"/>
                        </a:p>
                      </a:txBody>
                      <a:tcPr>
                        <a:blipFill>
                          <a:blip r:embed="rId2"/>
                          <a:stretch>
                            <a:fillRect l="-583838" t="-8197" r="-81818" b="-624590"/>
                          </a:stretch>
                        </a:blipFill>
                      </a:tcPr>
                    </a:tc>
                    <a:tc>
                      <a:txBody>
                        <a:bodyPr/>
                        <a:lstStyle/>
                        <a:p>
                          <a:endParaRPr lang="en-US" sz="1800" b="0" dirty="0"/>
                        </a:p>
                      </a:txBody>
                      <a:tcPr/>
                    </a:tc>
                    <a:tc>
                      <a:txBody>
                        <a:bodyPr/>
                        <a:lstStyle/>
                        <a:p>
                          <a:endParaRPr lang="en-US" sz="1800" b="0" dirty="0"/>
                        </a:p>
                      </a:txBody>
                      <a:tcPr/>
                    </a:tc>
                    <a:extLst>
                      <a:ext uri="{0D108BD9-81ED-4DB2-BD59-A6C34878D82A}">
                        <a16:rowId xmlns:a16="http://schemas.microsoft.com/office/drawing/2014/main" val="1915566640"/>
                      </a:ext>
                    </a:extLst>
                  </a:tr>
                  <a:tr h="370840">
                    <a:tc>
                      <a:txBody>
                        <a:bodyPr/>
                        <a:lstStyle/>
                        <a:p>
                          <a:r>
                            <a:rPr lang="tr-TR" sz="1800" dirty="0"/>
                            <a:t>Subject to</a:t>
                          </a:r>
                          <a:endParaRPr lang="en-US" sz="1800" dirty="0"/>
                        </a:p>
                      </a:txBody>
                      <a:tcPr/>
                    </a:tc>
                    <a:tc>
                      <a:txBody>
                        <a:bodyPr/>
                        <a:lstStyle/>
                        <a:p>
                          <a:endParaRPr lang="tr-TR"/>
                        </a:p>
                      </a:txBody>
                      <a:tcPr>
                        <a:blipFill>
                          <a:blip r:embed="rId2"/>
                          <a:stretch>
                            <a:fillRect l="-115385" t="-108197" r="-681657" b="-524590"/>
                          </a:stretch>
                        </a:blipFill>
                      </a:tcPr>
                    </a:tc>
                    <a:tc>
                      <a:txBody>
                        <a:bodyPr/>
                        <a:lstStyle/>
                        <a:p>
                          <a:endParaRPr lang="tr-TR"/>
                        </a:p>
                      </a:txBody>
                      <a:tcPr>
                        <a:blipFill>
                          <a:blip r:embed="rId2"/>
                          <a:stretch>
                            <a:fillRect l="-183838" t="-108197" r="-481818" b="-524590"/>
                          </a:stretch>
                        </a:blipFill>
                      </a:tcPr>
                    </a:tc>
                    <a:tc>
                      <a:txBody>
                        <a:bodyPr/>
                        <a:lstStyle/>
                        <a:p>
                          <a:endParaRPr lang="tr-TR"/>
                        </a:p>
                      </a:txBody>
                      <a:tcPr>
                        <a:blipFill>
                          <a:blip r:embed="rId2"/>
                          <a:stretch>
                            <a:fillRect l="-283838" t="-108197" r="-381818" b="-524590"/>
                          </a:stretch>
                        </a:blipFill>
                      </a:tcPr>
                    </a:tc>
                    <a:tc>
                      <a:txBody>
                        <a:bodyPr/>
                        <a:lstStyle/>
                        <a:p>
                          <a:endParaRPr lang="tr-TR"/>
                        </a:p>
                      </a:txBody>
                      <a:tcPr>
                        <a:blipFill>
                          <a:blip r:embed="rId2"/>
                          <a:stretch>
                            <a:fillRect l="-383838" t="-108197" r="-281818" b="-524590"/>
                          </a:stretch>
                        </a:blipFill>
                      </a:tcPr>
                    </a:tc>
                    <a:tc>
                      <a:txBody>
                        <a:bodyPr/>
                        <a:lstStyle/>
                        <a:p>
                          <a:endParaRPr lang="tr-TR"/>
                        </a:p>
                      </a:txBody>
                      <a:tcPr>
                        <a:blipFill>
                          <a:blip r:embed="rId2"/>
                          <a:stretch>
                            <a:fillRect l="-483838" t="-108197" r="-181818" b="-524590"/>
                          </a:stretch>
                        </a:blipFill>
                      </a:tcPr>
                    </a:tc>
                    <a:tc>
                      <a:txBody>
                        <a:bodyPr/>
                        <a:lstStyle/>
                        <a:p>
                          <a:endParaRPr lang="tr-TR"/>
                        </a:p>
                      </a:txBody>
                      <a:tcPr>
                        <a:blipFill>
                          <a:blip r:embed="rId2"/>
                          <a:stretch>
                            <a:fillRect l="-583838" t="-108197" r="-81818" b="-524590"/>
                          </a:stretch>
                        </a:blipFill>
                      </a:tcPr>
                    </a:tc>
                    <a:tc>
                      <a:txBody>
                        <a:bodyPr/>
                        <a:lstStyle/>
                        <a:p>
                          <a:endParaRPr lang="tr-TR"/>
                        </a:p>
                      </a:txBody>
                      <a:tcPr>
                        <a:blipFill>
                          <a:blip r:embed="rId2"/>
                          <a:stretch>
                            <a:fillRect l="-2051515" t="-108197" r="-145455" b="-524590"/>
                          </a:stretch>
                        </a:blipFill>
                      </a:tcPr>
                    </a:tc>
                    <a:tc>
                      <a:txBody>
                        <a:bodyPr/>
                        <a:lstStyle/>
                        <a:p>
                          <a:r>
                            <a:rPr lang="tr-TR" sz="1800" b="0" dirty="0" smtClean="0"/>
                            <a:t>100</a:t>
                          </a:r>
                          <a:endParaRPr lang="en-US" sz="1800" b="0" dirty="0"/>
                        </a:p>
                      </a:txBody>
                      <a:tcPr/>
                    </a:tc>
                    <a:extLst>
                      <a:ext uri="{0D108BD9-81ED-4DB2-BD59-A6C34878D82A}">
                        <a16:rowId xmlns:a16="http://schemas.microsoft.com/office/drawing/2014/main" val="1849586065"/>
                      </a:ext>
                    </a:extLst>
                  </a:tr>
                  <a:tr h="370840">
                    <a:tc>
                      <a:txBody>
                        <a:bodyPr/>
                        <a:lstStyle/>
                        <a:p>
                          <a:endParaRPr lang="en-US" sz="1800" dirty="0"/>
                        </a:p>
                      </a:txBody>
                      <a:tcPr/>
                    </a:tc>
                    <a:tc>
                      <a:txBody>
                        <a:bodyPr/>
                        <a:lstStyle/>
                        <a:p>
                          <a:endParaRPr lang="tr-TR"/>
                        </a:p>
                      </a:txBody>
                      <a:tcPr>
                        <a:blipFill>
                          <a:blip r:embed="rId2"/>
                          <a:stretch>
                            <a:fillRect l="-115385" t="-208197" r="-681657" b="-424590"/>
                          </a:stretch>
                        </a:blipFill>
                      </a:tcPr>
                    </a:tc>
                    <a:tc>
                      <a:txBody>
                        <a:bodyPr/>
                        <a:lstStyle/>
                        <a:p>
                          <a:endParaRPr lang="tr-TR"/>
                        </a:p>
                      </a:txBody>
                      <a:tcPr>
                        <a:blipFill>
                          <a:blip r:embed="rId2"/>
                          <a:stretch>
                            <a:fillRect l="-183838" t="-208197" r="-481818" b="-424590"/>
                          </a:stretch>
                        </a:blipFill>
                      </a:tcPr>
                    </a:tc>
                    <a:tc>
                      <a:txBody>
                        <a:bodyPr/>
                        <a:lstStyle/>
                        <a:p>
                          <a:endParaRPr lang="tr-TR"/>
                        </a:p>
                      </a:txBody>
                      <a:tcPr>
                        <a:blipFill>
                          <a:blip r:embed="rId2"/>
                          <a:stretch>
                            <a:fillRect l="-283838" t="-208197" r="-381818" b="-424590"/>
                          </a:stretch>
                        </a:blipFill>
                      </a:tcPr>
                    </a:tc>
                    <a:tc>
                      <a:txBody>
                        <a:bodyPr/>
                        <a:lstStyle/>
                        <a:p>
                          <a:pPr algn="r"/>
                          <a:endParaRPr lang="en-US" sz="1800" b="0" dirty="0"/>
                        </a:p>
                      </a:txBody>
                      <a:tcPr/>
                    </a:tc>
                    <a:tc>
                      <a:txBody>
                        <a:bodyPr/>
                        <a:lstStyle/>
                        <a:p>
                          <a:endParaRPr lang="tr-TR"/>
                        </a:p>
                      </a:txBody>
                      <a:tcPr>
                        <a:blipFill>
                          <a:blip r:embed="rId2"/>
                          <a:stretch>
                            <a:fillRect l="-483838" t="-208197" r="-181818" b="-424590"/>
                          </a:stretch>
                        </a:blipFill>
                      </a:tcPr>
                    </a:tc>
                    <a:tc>
                      <a:txBody>
                        <a:bodyPr/>
                        <a:lstStyle/>
                        <a:p>
                          <a:pPr algn="r"/>
                          <a:endParaRPr lang="en-US" sz="1800" b="0" dirty="0"/>
                        </a:p>
                      </a:txBody>
                      <a:tcPr/>
                    </a:tc>
                    <a:tc>
                      <a:txBody>
                        <a:bodyPr/>
                        <a:lstStyle/>
                        <a:p>
                          <a:endParaRPr lang="tr-TR"/>
                        </a:p>
                      </a:txBody>
                      <a:tcPr>
                        <a:blipFill>
                          <a:blip r:embed="rId2"/>
                          <a:stretch>
                            <a:fillRect l="-2051515" t="-208197" r="-145455" b="-424590"/>
                          </a:stretch>
                        </a:blipFill>
                      </a:tcPr>
                    </a:tc>
                    <a:tc>
                      <a:txBody>
                        <a:bodyPr/>
                        <a:lstStyle/>
                        <a:p>
                          <a:r>
                            <a:rPr lang="tr-TR" sz="1800" b="0" dirty="0" smtClean="0"/>
                            <a:t>8</a:t>
                          </a:r>
                          <a:endParaRPr lang="en-US" sz="1800" b="0" dirty="0"/>
                        </a:p>
                      </a:txBody>
                      <a:tcPr/>
                    </a:tc>
                    <a:extLst>
                      <a:ext uri="{0D108BD9-81ED-4DB2-BD59-A6C34878D82A}">
                        <a16:rowId xmlns:a16="http://schemas.microsoft.com/office/drawing/2014/main" val="3907794430"/>
                      </a:ext>
                    </a:extLst>
                  </a:tr>
                  <a:tr h="370840">
                    <a:tc>
                      <a:txBody>
                        <a:bodyPr/>
                        <a:lstStyle/>
                        <a:p>
                          <a:endParaRPr lang="en-US" sz="1800" dirty="0"/>
                        </a:p>
                      </a:txBody>
                      <a:tcPr/>
                    </a:tc>
                    <a:tc>
                      <a:txBody>
                        <a:bodyPr/>
                        <a:lstStyle/>
                        <a:p>
                          <a:endParaRPr lang="tr-TR"/>
                        </a:p>
                      </a:txBody>
                      <a:tcPr>
                        <a:blipFill>
                          <a:blip r:embed="rId2"/>
                          <a:stretch>
                            <a:fillRect l="-115385" t="-308197" r="-681657" b="-324590"/>
                          </a:stretch>
                        </a:blipFill>
                      </a:tcPr>
                    </a:tc>
                    <a:tc>
                      <a:txBody>
                        <a:bodyPr/>
                        <a:lstStyle/>
                        <a:p>
                          <a:endParaRPr lang="tr-TR"/>
                        </a:p>
                      </a:txBody>
                      <a:tcPr>
                        <a:blipFill>
                          <a:blip r:embed="rId2"/>
                          <a:stretch>
                            <a:fillRect l="-183838" t="-308197" r="-481818" b="-324590"/>
                          </a:stretch>
                        </a:blipFill>
                      </a:tcPr>
                    </a:tc>
                    <a:tc>
                      <a:txBody>
                        <a:bodyPr/>
                        <a:lstStyle/>
                        <a:p>
                          <a:endParaRPr lang="tr-TR"/>
                        </a:p>
                      </a:txBody>
                      <a:tcPr>
                        <a:blipFill>
                          <a:blip r:embed="rId2"/>
                          <a:stretch>
                            <a:fillRect l="-283838" t="-308197" r="-381818" b="-324590"/>
                          </a:stretch>
                        </a:blipFill>
                      </a:tcPr>
                    </a:tc>
                    <a:tc>
                      <a:txBody>
                        <a:bodyPr/>
                        <a:lstStyle/>
                        <a:p>
                          <a:endParaRPr lang="tr-TR"/>
                        </a:p>
                      </a:txBody>
                      <a:tcPr>
                        <a:blipFill>
                          <a:blip r:embed="rId2"/>
                          <a:stretch>
                            <a:fillRect l="-383838" t="-308197" r="-281818" b="-324590"/>
                          </a:stretch>
                        </a:blipFill>
                      </a:tcPr>
                    </a:tc>
                    <a:tc>
                      <a:txBody>
                        <a:bodyPr/>
                        <a:lstStyle/>
                        <a:p>
                          <a:endParaRPr lang="tr-TR"/>
                        </a:p>
                      </a:txBody>
                      <a:tcPr>
                        <a:blipFill>
                          <a:blip r:embed="rId2"/>
                          <a:stretch>
                            <a:fillRect l="-483838" t="-308197" r="-181818" b="-324590"/>
                          </a:stretch>
                        </a:blipFill>
                      </a:tcPr>
                    </a:tc>
                    <a:tc>
                      <a:txBody>
                        <a:bodyPr/>
                        <a:lstStyle/>
                        <a:p>
                          <a:pPr algn="r"/>
                          <a:endParaRPr lang="en-US" sz="1800" b="0" dirty="0"/>
                        </a:p>
                      </a:txBody>
                      <a:tcPr/>
                    </a:tc>
                    <a:tc>
                      <a:txBody>
                        <a:bodyPr/>
                        <a:lstStyle/>
                        <a:p>
                          <a:endParaRPr lang="tr-TR"/>
                        </a:p>
                      </a:txBody>
                      <a:tcPr>
                        <a:blipFill>
                          <a:blip r:embed="rId2"/>
                          <a:stretch>
                            <a:fillRect l="-2051515" t="-308197" r="-145455" b="-324590"/>
                          </a:stretch>
                        </a:blipFill>
                      </a:tcPr>
                    </a:tc>
                    <a:tc>
                      <a:txBody>
                        <a:bodyPr/>
                        <a:lstStyle/>
                        <a:p>
                          <a:r>
                            <a:rPr lang="tr-TR" sz="1800" b="0" dirty="0" smtClean="0"/>
                            <a:t>6</a:t>
                          </a:r>
                          <a:endParaRPr lang="en-US" sz="1800" b="0" dirty="0"/>
                        </a:p>
                      </a:txBody>
                      <a:tcPr/>
                    </a:tc>
                    <a:extLst>
                      <a:ext uri="{0D108BD9-81ED-4DB2-BD59-A6C34878D82A}">
                        <a16:rowId xmlns:a16="http://schemas.microsoft.com/office/drawing/2014/main" val="3381761340"/>
                      </a:ext>
                    </a:extLst>
                  </a:tr>
                  <a:tr h="370840">
                    <a:tc>
                      <a:txBody>
                        <a:bodyPr/>
                        <a:lstStyle/>
                        <a:p>
                          <a:endParaRPr lang="en-US" sz="1800" dirty="0"/>
                        </a:p>
                      </a:txBody>
                      <a:tcPr/>
                    </a:tc>
                    <a:tc>
                      <a:txBody>
                        <a:bodyPr/>
                        <a:lstStyle/>
                        <a:p>
                          <a:endParaRPr lang="tr-TR"/>
                        </a:p>
                      </a:txBody>
                      <a:tcPr>
                        <a:blipFill>
                          <a:blip r:embed="rId2"/>
                          <a:stretch>
                            <a:fillRect l="-115385" t="-408197" r="-681657" b="-224590"/>
                          </a:stretch>
                        </a:blipFill>
                      </a:tcPr>
                    </a:tc>
                    <a:tc>
                      <a:txBody>
                        <a:bodyPr/>
                        <a:lstStyle/>
                        <a:p>
                          <a:endParaRPr lang="tr-TR"/>
                        </a:p>
                      </a:txBody>
                      <a:tcPr>
                        <a:blipFill>
                          <a:blip r:embed="rId2"/>
                          <a:stretch>
                            <a:fillRect l="-183838" t="-408197" r="-481818" b="-224590"/>
                          </a:stretch>
                        </a:blipFill>
                      </a:tcPr>
                    </a:tc>
                    <a:tc>
                      <a:txBody>
                        <a:bodyPr/>
                        <a:lstStyle/>
                        <a:p>
                          <a:endParaRPr lang="tr-TR"/>
                        </a:p>
                      </a:txBody>
                      <a:tcPr>
                        <a:blipFill>
                          <a:blip r:embed="rId2"/>
                          <a:stretch>
                            <a:fillRect l="-283838" t="-408197" r="-381818" b="-224590"/>
                          </a:stretch>
                        </a:blipFill>
                      </a:tcPr>
                    </a:tc>
                    <a:tc>
                      <a:txBody>
                        <a:bodyPr/>
                        <a:lstStyle/>
                        <a:p>
                          <a:endParaRPr lang="tr-TR"/>
                        </a:p>
                      </a:txBody>
                      <a:tcPr>
                        <a:blipFill>
                          <a:blip r:embed="rId2"/>
                          <a:stretch>
                            <a:fillRect l="-383838" t="-408197" r="-281818" b="-224590"/>
                          </a:stretch>
                        </a:blipFill>
                      </a:tcPr>
                    </a:tc>
                    <a:tc>
                      <a:txBody>
                        <a:bodyPr/>
                        <a:lstStyle/>
                        <a:p>
                          <a:endParaRPr lang="tr-TR"/>
                        </a:p>
                      </a:txBody>
                      <a:tcPr>
                        <a:blipFill>
                          <a:blip r:embed="rId2"/>
                          <a:stretch>
                            <a:fillRect l="-483838" t="-408197" r="-181818" b="-224590"/>
                          </a:stretch>
                        </a:blipFill>
                      </a:tcPr>
                    </a:tc>
                    <a:tc>
                      <a:txBody>
                        <a:bodyPr/>
                        <a:lstStyle/>
                        <a:p>
                          <a:pPr algn="r"/>
                          <a:endParaRPr lang="en-US" sz="1800" b="0" dirty="0"/>
                        </a:p>
                      </a:txBody>
                      <a:tcPr/>
                    </a:tc>
                    <a:tc>
                      <a:txBody>
                        <a:bodyPr/>
                        <a:lstStyle/>
                        <a:p>
                          <a:endParaRPr lang="tr-TR"/>
                        </a:p>
                      </a:txBody>
                      <a:tcPr>
                        <a:blipFill>
                          <a:blip r:embed="rId2"/>
                          <a:stretch>
                            <a:fillRect l="-2051515" t="-408197" r="-145455" b="-224590"/>
                          </a:stretch>
                        </a:blipFill>
                      </a:tcPr>
                    </a:tc>
                    <a:tc>
                      <a:txBody>
                        <a:bodyPr/>
                        <a:lstStyle/>
                        <a:p>
                          <a:r>
                            <a:rPr lang="tr-TR" sz="1800" b="0" dirty="0" smtClean="0"/>
                            <a:t>2</a:t>
                          </a:r>
                          <a:endParaRPr lang="en-US" sz="1800" b="0" dirty="0"/>
                        </a:p>
                      </a:txBody>
                      <a:tcPr/>
                    </a:tc>
                    <a:extLst>
                      <a:ext uri="{0D108BD9-81ED-4DB2-BD59-A6C34878D82A}">
                        <a16:rowId xmlns:a16="http://schemas.microsoft.com/office/drawing/2014/main" val="3976070994"/>
                      </a:ext>
                    </a:extLst>
                  </a:tr>
                  <a:tr h="370840">
                    <a:tc>
                      <a:txBody>
                        <a:bodyPr/>
                        <a:lstStyle/>
                        <a:p>
                          <a:endParaRPr lang="en-US" sz="1800" dirty="0"/>
                        </a:p>
                      </a:txBody>
                      <a:tcPr/>
                    </a:tc>
                    <a:tc>
                      <a:txBody>
                        <a:bodyPr/>
                        <a:lstStyle/>
                        <a:p>
                          <a:endParaRPr lang="tr-TR"/>
                        </a:p>
                      </a:txBody>
                      <a:tcPr>
                        <a:blipFill>
                          <a:blip r:embed="rId2"/>
                          <a:stretch>
                            <a:fillRect l="-115385" t="-508197" r="-681657" b="-124590"/>
                          </a:stretch>
                        </a:blipFill>
                      </a:tcPr>
                    </a:tc>
                    <a:tc>
                      <a:txBody>
                        <a:bodyPr/>
                        <a:lstStyle/>
                        <a:p>
                          <a:endParaRPr lang="tr-TR"/>
                        </a:p>
                      </a:txBody>
                      <a:tcPr>
                        <a:blipFill>
                          <a:blip r:embed="rId2"/>
                          <a:stretch>
                            <a:fillRect l="-183838" t="-508197" r="-481818" b="-124590"/>
                          </a:stretch>
                        </a:blipFill>
                      </a:tcPr>
                    </a:tc>
                    <a:tc>
                      <a:txBody>
                        <a:bodyPr/>
                        <a:lstStyle/>
                        <a:p>
                          <a:endParaRPr lang="tr-TR"/>
                        </a:p>
                      </a:txBody>
                      <a:tcPr>
                        <a:blipFill>
                          <a:blip r:embed="rId2"/>
                          <a:stretch>
                            <a:fillRect l="-283838" t="-508197" r="-381818" b="-124590"/>
                          </a:stretch>
                        </a:blipFill>
                      </a:tcPr>
                    </a:tc>
                    <a:tc>
                      <a:txBody>
                        <a:bodyPr/>
                        <a:lstStyle/>
                        <a:p>
                          <a:endParaRPr lang="tr-TR"/>
                        </a:p>
                      </a:txBody>
                      <a:tcPr>
                        <a:blipFill>
                          <a:blip r:embed="rId2"/>
                          <a:stretch>
                            <a:fillRect l="-383838" t="-508197" r="-281818" b="-124590"/>
                          </a:stretch>
                        </a:blipFill>
                      </a:tcPr>
                    </a:tc>
                    <a:tc>
                      <a:txBody>
                        <a:bodyPr/>
                        <a:lstStyle/>
                        <a:p>
                          <a:endParaRPr lang="tr-TR"/>
                        </a:p>
                      </a:txBody>
                      <a:tcPr>
                        <a:blipFill>
                          <a:blip r:embed="rId2"/>
                          <a:stretch>
                            <a:fillRect l="-483838" t="-508197" r="-181818" b="-124590"/>
                          </a:stretch>
                        </a:blipFill>
                      </a:tcPr>
                    </a:tc>
                    <a:tc>
                      <a:txBody>
                        <a:bodyPr/>
                        <a:lstStyle/>
                        <a:p>
                          <a:pPr algn="r"/>
                          <a:endParaRPr lang="en-US" sz="1800" b="0" dirty="0"/>
                        </a:p>
                      </a:txBody>
                      <a:tcPr/>
                    </a:tc>
                    <a:tc>
                      <a:txBody>
                        <a:bodyPr/>
                        <a:lstStyle/>
                        <a:p>
                          <a:endParaRPr lang="tr-TR"/>
                        </a:p>
                      </a:txBody>
                      <a:tcPr>
                        <a:blipFill>
                          <a:blip r:embed="rId2"/>
                          <a:stretch>
                            <a:fillRect l="-2051515" t="-508197" r="-145455" b="-124590"/>
                          </a:stretch>
                        </a:blipFill>
                      </a:tcPr>
                    </a:tc>
                    <a:tc>
                      <a:txBody>
                        <a:bodyPr/>
                        <a:lstStyle/>
                        <a:p>
                          <a:r>
                            <a:rPr lang="tr-TR" sz="1800" b="0" dirty="0" smtClean="0"/>
                            <a:t>0.4</a:t>
                          </a:r>
                          <a:endParaRPr lang="en-US" sz="1800" b="0" dirty="0"/>
                        </a:p>
                      </a:txBody>
                      <a:tcPr/>
                    </a:tc>
                    <a:extLst>
                      <a:ext uri="{0D108BD9-81ED-4DB2-BD59-A6C34878D82A}">
                        <a16:rowId xmlns:a16="http://schemas.microsoft.com/office/drawing/2014/main" val="3153560475"/>
                      </a:ext>
                    </a:extLst>
                  </a:tr>
                  <a:tr h="370840">
                    <a:tc>
                      <a:txBody>
                        <a:bodyPr/>
                        <a:lstStyle/>
                        <a:p>
                          <a:endParaRPr lang="en-US" sz="1800" dirty="0"/>
                        </a:p>
                      </a:txBody>
                      <a:tcPr/>
                    </a:tc>
                    <a:tc>
                      <a:txBody>
                        <a:bodyPr/>
                        <a:lstStyle/>
                        <a:p>
                          <a:endParaRPr lang="tr-TR"/>
                        </a:p>
                      </a:txBody>
                      <a:tcPr>
                        <a:blipFill>
                          <a:blip r:embed="rId2"/>
                          <a:stretch>
                            <a:fillRect l="-115385" t="-608197" r="-681657" b="-24590"/>
                          </a:stretch>
                        </a:blipFill>
                      </a:tcPr>
                    </a:tc>
                    <a:tc>
                      <a:txBody>
                        <a:bodyPr/>
                        <a:lstStyle/>
                        <a:p>
                          <a:endParaRPr lang="tr-TR"/>
                        </a:p>
                      </a:txBody>
                      <a:tcPr>
                        <a:blipFill>
                          <a:blip r:embed="rId2"/>
                          <a:stretch>
                            <a:fillRect l="-183838" t="-608197" r="-481818" b="-24590"/>
                          </a:stretch>
                        </a:blipFill>
                      </a:tcPr>
                    </a:tc>
                    <a:tc>
                      <a:txBody>
                        <a:bodyPr/>
                        <a:lstStyle/>
                        <a:p>
                          <a:endParaRPr lang="tr-TR"/>
                        </a:p>
                      </a:txBody>
                      <a:tcPr>
                        <a:blipFill>
                          <a:blip r:embed="rId2"/>
                          <a:stretch>
                            <a:fillRect l="-283838" t="-608197" r="-381818" b="-24590"/>
                          </a:stretch>
                        </a:blipFill>
                      </a:tcPr>
                    </a:tc>
                    <a:tc>
                      <a:txBody>
                        <a:bodyPr/>
                        <a:lstStyle/>
                        <a:p>
                          <a:endParaRPr lang="tr-TR"/>
                        </a:p>
                      </a:txBody>
                      <a:tcPr>
                        <a:blipFill>
                          <a:blip r:embed="rId2"/>
                          <a:stretch>
                            <a:fillRect l="-383838" t="-608197" r="-281818" b="-24590"/>
                          </a:stretch>
                        </a:blipFill>
                      </a:tcPr>
                    </a:tc>
                    <a:tc>
                      <a:txBody>
                        <a:bodyPr/>
                        <a:lstStyle/>
                        <a:p>
                          <a:endParaRPr lang="tr-TR"/>
                        </a:p>
                      </a:txBody>
                      <a:tcPr>
                        <a:blipFill>
                          <a:blip r:embed="rId2"/>
                          <a:stretch>
                            <a:fillRect l="-483838" t="-608197" r="-181818" b="-24590"/>
                          </a:stretch>
                        </a:blipFill>
                      </a:tcPr>
                    </a:tc>
                    <a:tc>
                      <a:txBody>
                        <a:bodyPr/>
                        <a:lstStyle/>
                        <a:p>
                          <a:endParaRPr lang="tr-TR"/>
                        </a:p>
                      </a:txBody>
                      <a:tcPr>
                        <a:blipFill>
                          <a:blip r:embed="rId2"/>
                          <a:stretch>
                            <a:fillRect l="-583838" t="-608197" r="-81818" b="-24590"/>
                          </a:stretch>
                        </a:blipFill>
                      </a:tcPr>
                    </a:tc>
                    <a:tc>
                      <a:txBody>
                        <a:bodyPr/>
                        <a:lstStyle/>
                        <a:p>
                          <a:endParaRPr lang="tr-TR"/>
                        </a:p>
                      </a:txBody>
                      <a:tcPr>
                        <a:blipFill>
                          <a:blip r:embed="rId2"/>
                          <a:stretch>
                            <a:fillRect l="-2051515" t="-608197" r="-145455" b="-24590"/>
                          </a:stretch>
                        </a:blipFill>
                      </a:tcPr>
                    </a:tc>
                    <a:tc>
                      <a:txBody>
                        <a:bodyPr/>
                        <a:lstStyle/>
                        <a:p>
                          <a:r>
                            <a:rPr lang="tr-TR" sz="1800" b="0" dirty="0"/>
                            <a:t>0</a:t>
                          </a:r>
                          <a:endParaRPr lang="en-US" sz="18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1300311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Transportation Models</a:t>
            </a:r>
            <a:endParaRPr lang="en-US" dirty="0"/>
          </a:p>
        </p:txBody>
      </p:sp>
      <p:sp>
        <p:nvSpPr>
          <p:cNvPr id="4" name="Content Placeholder 3"/>
          <p:cNvSpPr>
            <a:spLocks noGrp="1"/>
          </p:cNvSpPr>
          <p:nvPr>
            <p:ph idx="1"/>
          </p:nvPr>
        </p:nvSpPr>
        <p:spPr/>
        <p:txBody>
          <a:bodyPr>
            <a:normAutofit/>
          </a:bodyPr>
          <a:lstStyle/>
          <a:p>
            <a:r>
              <a:rPr lang="en-US" sz="2600" dirty="0"/>
              <a:t>The transportation model is a special class of the LP problem. </a:t>
            </a:r>
          </a:p>
          <a:p>
            <a:r>
              <a:rPr lang="en-US" sz="2600" dirty="0"/>
              <a:t>It deals with the situation in which a commodity is shipped from sources (like factories) to destinations (like warehouses). </a:t>
            </a:r>
          </a:p>
          <a:p>
            <a:r>
              <a:rPr lang="en-US" sz="2600" dirty="0"/>
              <a:t>The objective is to determine the amounts shipped from each source to each destination that minimize the total shipping cost subject to the demand and supply constraints. </a:t>
            </a:r>
            <a:endParaRPr lang="tr-TR" sz="2600" dirty="0"/>
          </a:p>
          <a:p>
            <a:r>
              <a:rPr lang="en-US" sz="2600" dirty="0"/>
              <a:t>The model assumes that the shipping cost on a given route is proportional to the number of units shipped on that route. </a:t>
            </a:r>
          </a:p>
          <a:p>
            <a:endParaRPr lang="en-US" sz="2400"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422293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Transportation Models</a:t>
            </a:r>
            <a:endParaRPr lang="en-US" dirty="0"/>
          </a:p>
        </p:txBody>
      </p:sp>
      <p:sp>
        <p:nvSpPr>
          <p:cNvPr id="4" name="Content Placeholder 3"/>
          <p:cNvSpPr>
            <a:spLocks noGrp="1"/>
          </p:cNvSpPr>
          <p:nvPr>
            <p:ph idx="1"/>
          </p:nvPr>
        </p:nvSpPr>
        <p:spPr/>
        <p:txBody>
          <a:bodyPr>
            <a:normAutofit/>
          </a:bodyPr>
          <a:lstStyle/>
          <a:p>
            <a:r>
              <a:rPr lang="en-US" sz="2400" dirty="0"/>
              <a:t>The problem can be represented by the network shown in following figure. </a:t>
            </a:r>
          </a:p>
          <a:p>
            <a:endParaRPr lang="en-US" sz="2400"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5" name="Picture 4" descr="Screen Shot 2016-11-15 at 11.33.29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975" y="2096381"/>
            <a:ext cx="6846711" cy="3507398"/>
          </a:xfrm>
          <a:prstGeom prst="rect">
            <a:avLst/>
          </a:prstGeom>
        </p:spPr>
      </p:pic>
    </p:spTree>
    <p:extLst>
      <p:ext uri="{BB962C8B-B14F-4D97-AF65-F5344CB8AC3E}">
        <p14:creationId xmlns:p14="http://schemas.microsoft.com/office/powerpoint/2010/main" val="665391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Transportation Models</a:t>
            </a:r>
            <a:endParaRPr lang="en-US" dirty="0"/>
          </a:p>
        </p:txBody>
      </p:sp>
      <p:sp>
        <p:nvSpPr>
          <p:cNvPr id="4" name="Content Placeholder 3"/>
          <p:cNvSpPr>
            <a:spLocks noGrp="1"/>
          </p:cNvSpPr>
          <p:nvPr>
            <p:ph idx="1"/>
          </p:nvPr>
        </p:nvSpPr>
        <p:spPr/>
        <p:txBody>
          <a:bodyPr>
            <a:normAutofit/>
          </a:bodyPr>
          <a:lstStyle/>
          <a:p>
            <a:pPr marL="0" indent="0">
              <a:buNone/>
            </a:pPr>
            <a:r>
              <a:rPr lang="en-US" sz="2200" dirty="0"/>
              <a:t>General Appliance Corporation (GAC) produces refrigerators</a:t>
            </a:r>
            <a:r>
              <a:rPr lang="tr-TR" sz="2200" dirty="0"/>
              <a:t> </a:t>
            </a:r>
            <a:r>
              <a:rPr lang="en-US" sz="2200" dirty="0"/>
              <a:t>at two plants: Marietta, Georgia, and Minneapolis,</a:t>
            </a:r>
            <a:r>
              <a:rPr lang="tr-TR" sz="2200" dirty="0"/>
              <a:t> </a:t>
            </a:r>
            <a:r>
              <a:rPr lang="en-US" sz="2200" dirty="0"/>
              <a:t>Minnesota. They ship them to major </a:t>
            </a:r>
            <a:r>
              <a:rPr lang="tr-TR" sz="2200" dirty="0"/>
              <a:t>d</a:t>
            </a:r>
            <a:r>
              <a:rPr lang="en-US" sz="2200" dirty="0" err="1"/>
              <a:t>istribution</a:t>
            </a:r>
            <a:r>
              <a:rPr lang="en-US" sz="2200" dirty="0"/>
              <a:t> centers</a:t>
            </a:r>
            <a:r>
              <a:rPr lang="tr-TR" sz="2200" dirty="0"/>
              <a:t> </a:t>
            </a:r>
            <a:r>
              <a:rPr lang="en-US" sz="2200" dirty="0"/>
              <a:t>in Cleveland, Baltimore, Chicago, and Phoenix. The accounting,</a:t>
            </a:r>
            <a:r>
              <a:rPr lang="tr-TR" sz="2200" dirty="0"/>
              <a:t> </a:t>
            </a:r>
            <a:r>
              <a:rPr lang="en-US" sz="2200" dirty="0"/>
              <a:t>production, and marketing departments have</a:t>
            </a:r>
            <a:r>
              <a:rPr lang="tr-TR" sz="2200" dirty="0"/>
              <a:t> </a:t>
            </a:r>
            <a:r>
              <a:rPr lang="en-US" sz="2200" dirty="0"/>
              <a:t>provided the information in Table 14.6, which shows the</a:t>
            </a:r>
            <a:r>
              <a:rPr lang="tr-TR" sz="2200" dirty="0"/>
              <a:t> </a:t>
            </a:r>
            <a:r>
              <a:rPr lang="en-US" sz="2200" dirty="0"/>
              <a:t>unit cost of shipping between any plant and distribution</a:t>
            </a:r>
            <a:r>
              <a:rPr lang="tr-TR" sz="2200" dirty="0"/>
              <a:t> </a:t>
            </a:r>
            <a:r>
              <a:rPr lang="en-US" sz="2200" dirty="0"/>
              <a:t>center, plant capacities over the next planning period,</a:t>
            </a:r>
            <a:r>
              <a:rPr lang="tr-TR" sz="2200" dirty="0"/>
              <a:t> </a:t>
            </a:r>
            <a:r>
              <a:rPr lang="en-US" sz="2200" dirty="0"/>
              <a:t>and distribution center demands. GAC’s supply chain</a:t>
            </a:r>
            <a:r>
              <a:rPr lang="tr-TR" sz="2200" dirty="0"/>
              <a:t> </a:t>
            </a:r>
            <a:r>
              <a:rPr lang="en-US" sz="2200" dirty="0"/>
              <a:t>manager faces the problem of determining how much to</a:t>
            </a:r>
            <a:r>
              <a:rPr lang="tr-TR" sz="2200" dirty="0"/>
              <a:t> </a:t>
            </a:r>
            <a:r>
              <a:rPr lang="en-US" sz="2200" dirty="0"/>
              <a:t>ship between each plant and distribution center to minimize</a:t>
            </a:r>
            <a:r>
              <a:rPr lang="tr-TR" sz="2200" dirty="0"/>
              <a:t> </a:t>
            </a:r>
            <a:r>
              <a:rPr lang="en-US" sz="2200" dirty="0"/>
              <a:t>the total transportation cost, not exceed available</a:t>
            </a:r>
            <a:r>
              <a:rPr lang="tr-TR" sz="2200" dirty="0"/>
              <a:t> </a:t>
            </a:r>
            <a:r>
              <a:rPr lang="en-US" sz="2200" dirty="0"/>
              <a:t>capacity, and meet customer demand.</a:t>
            </a:r>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5" name="Picture 4"/>
          <p:cNvPicPr>
            <a:picLocks noChangeAspect="1"/>
          </p:cNvPicPr>
          <p:nvPr/>
        </p:nvPicPr>
        <p:blipFill>
          <a:blip r:embed="rId2"/>
          <a:stretch>
            <a:fillRect/>
          </a:stretch>
        </p:blipFill>
        <p:spPr>
          <a:xfrm>
            <a:off x="1257300" y="3850080"/>
            <a:ext cx="9477375" cy="2027334"/>
          </a:xfrm>
          <a:prstGeom prst="rect">
            <a:avLst/>
          </a:prstGeom>
        </p:spPr>
      </p:pic>
    </p:spTree>
    <p:extLst>
      <p:ext uri="{BB962C8B-B14F-4D97-AF65-F5344CB8AC3E}">
        <p14:creationId xmlns:p14="http://schemas.microsoft.com/office/powerpoint/2010/main" val="2719002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Transportation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tr-TR" sz="2200" dirty="0"/>
              </a:p>
              <a:p>
                <a:endParaRPr lang="tr-TR" sz="2200" dirty="0"/>
              </a:p>
              <a:p>
                <a:endParaRPr lang="tr-TR" sz="2200" dirty="0"/>
              </a:p>
              <a:p>
                <a:endParaRPr lang="tr-TR" sz="2200" dirty="0"/>
              </a:p>
              <a:p>
                <a:r>
                  <a:rPr lang="tr-TR" sz="2000" dirty="0"/>
                  <a:t>Decision variables:</a:t>
                </a:r>
              </a:p>
              <a:p>
                <a:pPr marL="0" indent="0" algn="ctr">
                  <a:buNone/>
                </a:pPr>
                <a14:m>
                  <m:oMath xmlns:m="http://schemas.openxmlformats.org/officeDocument/2006/math">
                    <m:sSub>
                      <m:sSubPr>
                        <m:ctrlPr>
                          <a:rPr lang="tr-TR" sz="2000" i="1" dirty="0" smtClean="0">
                            <a:latin typeface="Cambria Math" panose="02040503050406030204" pitchFamily="18" charset="0"/>
                          </a:rPr>
                        </m:ctrlPr>
                      </m:sSubPr>
                      <m:e>
                        <m:r>
                          <a:rPr lang="tr-TR" sz="2000" i="1" dirty="0" smtClean="0">
                            <a:latin typeface="Cambria Math" panose="02040503050406030204" pitchFamily="18" charset="0"/>
                          </a:rPr>
                          <m:t>𝑋</m:t>
                        </m:r>
                      </m:e>
                      <m:sub>
                        <m:r>
                          <a:rPr lang="tr-TR" sz="2000" b="0" i="1" dirty="0" smtClean="0">
                            <a:latin typeface="Cambria Math" panose="02040503050406030204" pitchFamily="18" charset="0"/>
                          </a:rPr>
                          <m:t>𝑖𝑗</m:t>
                        </m:r>
                      </m:sub>
                    </m:sSub>
                    <m:r>
                      <a:rPr lang="tr-TR" sz="2000" i="1" dirty="0" smtClean="0">
                        <a:latin typeface="Cambria Math" panose="02040503050406030204" pitchFamily="18" charset="0"/>
                      </a:rPr>
                      <m:t>=</m:t>
                    </m:r>
                  </m:oMath>
                </a14:m>
                <a:r>
                  <a:rPr lang="en-US" sz="2000" dirty="0"/>
                  <a:t>amount shipped from plant </a:t>
                </a:r>
                <a14:m>
                  <m:oMath xmlns:m="http://schemas.openxmlformats.org/officeDocument/2006/math">
                    <m:r>
                      <a:rPr lang="en-US" sz="2000" i="1" dirty="0" smtClean="0">
                        <a:latin typeface="Cambria Math" panose="02040503050406030204" pitchFamily="18" charset="0"/>
                      </a:rPr>
                      <m:t>𝑖</m:t>
                    </m:r>
                  </m:oMath>
                </a14:m>
                <a:r>
                  <a:rPr lang="en-US" sz="2000" dirty="0"/>
                  <a:t> to distribution</a:t>
                </a:r>
                <a:r>
                  <a:rPr lang="tr-TR" sz="2000" dirty="0"/>
                  <a:t> </a:t>
                </a:r>
                <a:r>
                  <a:rPr lang="en-US" sz="2000" dirty="0"/>
                  <a:t>center </a:t>
                </a:r>
                <a14:m>
                  <m:oMath xmlns:m="http://schemas.openxmlformats.org/officeDocument/2006/math">
                    <m:r>
                      <a:rPr lang="en-US" sz="2000" i="1" dirty="0" smtClean="0">
                        <a:latin typeface="Cambria Math" panose="02040503050406030204" pitchFamily="18" charset="0"/>
                      </a:rPr>
                      <m:t>𝑗</m:t>
                    </m:r>
                  </m:oMath>
                </a14:m>
                <a:r>
                  <a:rPr lang="en-US" sz="2000" dirty="0"/>
                  <a:t>,</a:t>
                </a:r>
                <a:r>
                  <a:rPr lang="tr-TR" sz="2000" dirty="0"/>
                  <a:t> </a:t>
                </a:r>
                <a14:m>
                  <m:oMath xmlns:m="http://schemas.openxmlformats.org/officeDocument/2006/math">
                    <m:r>
                      <a:rPr lang="tr-TR" sz="2000" i="1" dirty="0" smtClean="0">
                        <a:latin typeface="Cambria Math" panose="02040503050406030204" pitchFamily="18" charset="0"/>
                      </a:rPr>
                      <m:t>𝑖</m:t>
                    </m:r>
                    <m:r>
                      <a:rPr lang="tr-TR" sz="2000" i="1" dirty="0" smtClean="0">
                        <a:latin typeface="Cambria Math" panose="02040503050406030204" pitchFamily="18" charset="0"/>
                      </a:rPr>
                      <m:t>=1,2, </m:t>
                    </m:r>
                    <m:r>
                      <a:rPr lang="tr-TR" sz="2000" b="0" i="1" dirty="0" smtClean="0">
                        <a:latin typeface="Cambria Math" panose="02040503050406030204" pitchFamily="18" charset="0"/>
                      </a:rPr>
                      <m:t>𝑗</m:t>
                    </m:r>
                    <m:r>
                      <a:rPr lang="tr-TR" sz="2000" b="0" i="1" dirty="0" smtClean="0">
                        <a:latin typeface="Cambria Math" panose="02040503050406030204" pitchFamily="18" charset="0"/>
                      </a:rPr>
                      <m:t>=1,2,3,4</m:t>
                    </m:r>
                  </m:oMath>
                </a14:m>
                <a:r>
                  <a:rPr lang="tr-TR" sz="2000" dirty="0"/>
                  <a:t>.</a:t>
                </a:r>
              </a:p>
              <a:p>
                <a:r>
                  <a:rPr lang="tr-TR" sz="2000" dirty="0"/>
                  <a:t>Objective Function:</a:t>
                </a:r>
              </a:p>
              <a:p>
                <a:pPr marL="0" indent="358775">
                  <a:buNone/>
                </a:pPr>
                <a:r>
                  <a:rPr lang="tr-TR" sz="2000" dirty="0"/>
                  <a:t>The objective will be to minimize </a:t>
                </a:r>
                <a:r>
                  <a:rPr lang="en-US" sz="2000"/>
                  <a:t>total transportation cost</a:t>
                </a:r>
                <a:endParaRPr lang="tr-TR" sz="2000" dirty="0"/>
              </a:p>
              <a:p>
                <a:pPr marL="0" indent="0" algn="ctr">
                  <a:buNone/>
                </a:pPr>
                <a:r>
                  <a:rPr lang="tr-TR" sz="1800" dirty="0"/>
                  <a:t>𝑀𝑖𝑛  </a:t>
                </a:r>
                <a14:m>
                  <m:oMath xmlns:m="http://schemas.openxmlformats.org/officeDocument/2006/math">
                    <m:r>
                      <a:rPr lang="tr-TR" sz="1800" i="1" dirty="0" smtClean="0">
                        <a:latin typeface="Cambria Math" panose="02040503050406030204" pitchFamily="18" charset="0"/>
                      </a:rPr>
                      <m:t>1</m:t>
                    </m:r>
                    <m:r>
                      <a:rPr lang="tr-TR" sz="1800" b="0" i="1" dirty="0" smtClean="0">
                        <a:latin typeface="Cambria Math" panose="02040503050406030204" pitchFamily="18" charset="0"/>
                      </a:rPr>
                      <m:t>2.60</m:t>
                    </m:r>
                    <m:sSub>
                      <m:sSubPr>
                        <m:ctrlPr>
                          <a:rPr lang="tr-TR" sz="1800" b="0" i="1" dirty="0" smtClean="0">
                            <a:latin typeface="Cambria Math" panose="02040503050406030204" pitchFamily="18" charset="0"/>
                          </a:rPr>
                        </m:ctrlPr>
                      </m:sSubPr>
                      <m:e>
                        <m:r>
                          <a:rPr lang="tr-TR" sz="1800" i="1" dirty="0" smtClean="0">
                            <a:latin typeface="Cambria Math" panose="02040503050406030204" pitchFamily="18" charset="0"/>
                          </a:rPr>
                          <m:t>𝑋</m:t>
                        </m:r>
                      </m:e>
                      <m:sub>
                        <m:r>
                          <a:rPr lang="tr-TR" sz="1800" i="1" dirty="0" smtClean="0">
                            <a:latin typeface="Cambria Math" panose="02040503050406030204" pitchFamily="18" charset="0"/>
                          </a:rPr>
                          <m:t>1</m:t>
                        </m:r>
                        <m:r>
                          <a:rPr lang="tr-TR" sz="1800" b="0" i="1" dirty="0" smtClean="0">
                            <a:latin typeface="Cambria Math" panose="02040503050406030204" pitchFamily="18" charset="0"/>
                          </a:rPr>
                          <m:t>1</m:t>
                        </m:r>
                      </m:sub>
                    </m:sSub>
                    <m:r>
                      <a:rPr lang="tr-TR" sz="1800" i="1" dirty="0" smtClean="0">
                        <a:latin typeface="Cambria Math" panose="02040503050406030204" pitchFamily="18" charset="0"/>
                      </a:rPr>
                      <m:t>+</m:t>
                    </m:r>
                    <m:r>
                      <a:rPr lang="tr-TR" sz="1800" b="0" i="1" dirty="0" smtClean="0">
                        <a:latin typeface="Cambria Math" panose="02040503050406030204" pitchFamily="18" charset="0"/>
                      </a:rPr>
                      <m:t>14.35</m:t>
                    </m:r>
                    <m:sSub>
                      <m:sSubPr>
                        <m:ctrlPr>
                          <a:rPr lang="tr-TR" sz="1800" b="0" i="1" dirty="0" smtClean="0">
                            <a:latin typeface="Cambria Math" panose="02040503050406030204" pitchFamily="18" charset="0"/>
                          </a:rPr>
                        </m:ctrlPr>
                      </m:sSubPr>
                      <m:e>
                        <m:r>
                          <a:rPr lang="tr-TR" sz="1800" i="1" dirty="0" smtClean="0">
                            <a:latin typeface="Cambria Math" panose="02040503050406030204" pitchFamily="18" charset="0"/>
                          </a:rPr>
                          <m:t>𝑋</m:t>
                        </m:r>
                      </m:e>
                      <m:sub>
                        <m:r>
                          <a:rPr lang="tr-TR" sz="1800" b="0" i="1" dirty="0" smtClean="0">
                            <a:latin typeface="Cambria Math" panose="02040503050406030204" pitchFamily="18" charset="0"/>
                          </a:rPr>
                          <m:t>1</m:t>
                        </m:r>
                        <m:r>
                          <a:rPr lang="tr-TR" sz="1800" i="1" dirty="0" smtClean="0">
                            <a:latin typeface="Cambria Math" panose="02040503050406030204" pitchFamily="18" charset="0"/>
                          </a:rPr>
                          <m:t>2</m:t>
                        </m:r>
                      </m:sub>
                    </m:sSub>
                    <m:r>
                      <a:rPr lang="tr-TR" sz="1800" i="1" dirty="0" smtClean="0">
                        <a:latin typeface="Cambria Math" panose="02040503050406030204" pitchFamily="18" charset="0"/>
                      </a:rPr>
                      <m:t>+</m:t>
                    </m:r>
                    <m:r>
                      <a:rPr lang="tr-TR" sz="1800" b="0" i="1" dirty="0" smtClean="0">
                        <a:latin typeface="Cambria Math" panose="02040503050406030204" pitchFamily="18" charset="0"/>
                      </a:rPr>
                      <m:t>11.52</m:t>
                    </m:r>
                    <m:sSub>
                      <m:sSubPr>
                        <m:ctrlPr>
                          <a:rPr lang="tr-TR" sz="1800" b="0" i="1" dirty="0" smtClean="0">
                            <a:latin typeface="Cambria Math" panose="02040503050406030204" pitchFamily="18" charset="0"/>
                          </a:rPr>
                        </m:ctrlPr>
                      </m:sSubPr>
                      <m:e>
                        <m:r>
                          <a:rPr lang="tr-TR" sz="1800" i="1" dirty="0" smtClean="0">
                            <a:latin typeface="Cambria Math" panose="02040503050406030204" pitchFamily="18" charset="0"/>
                          </a:rPr>
                          <m:t>𝑋</m:t>
                        </m:r>
                      </m:e>
                      <m:sub>
                        <m:r>
                          <a:rPr lang="tr-TR" sz="1800" b="0" i="1" dirty="0" smtClean="0">
                            <a:latin typeface="Cambria Math" panose="02040503050406030204" pitchFamily="18" charset="0"/>
                          </a:rPr>
                          <m:t>1</m:t>
                        </m:r>
                        <m:r>
                          <a:rPr lang="tr-TR" sz="1800" i="1" dirty="0" smtClean="0">
                            <a:latin typeface="Cambria Math" panose="02040503050406030204" pitchFamily="18" charset="0"/>
                          </a:rPr>
                          <m:t>3</m:t>
                        </m:r>
                      </m:sub>
                    </m:sSub>
                    <m:r>
                      <a:rPr lang="tr-TR" sz="1800" i="1" dirty="0" smtClean="0">
                        <a:latin typeface="Cambria Math" panose="02040503050406030204" pitchFamily="18" charset="0"/>
                      </a:rPr>
                      <m:t>+</m:t>
                    </m:r>
                    <m:r>
                      <a:rPr lang="tr-TR" sz="1800" b="0" i="1" dirty="0" smtClean="0">
                        <a:latin typeface="Cambria Math" panose="02040503050406030204" pitchFamily="18" charset="0"/>
                      </a:rPr>
                      <m:t>17.58</m:t>
                    </m:r>
                    <m:sSub>
                      <m:sSubPr>
                        <m:ctrlPr>
                          <a:rPr lang="tr-TR" sz="1800" b="0" i="1" dirty="0" smtClean="0">
                            <a:latin typeface="Cambria Math" panose="02040503050406030204" pitchFamily="18" charset="0"/>
                          </a:rPr>
                        </m:ctrlPr>
                      </m:sSubPr>
                      <m:e>
                        <m:r>
                          <a:rPr lang="tr-TR" sz="1800" i="1" dirty="0" smtClean="0">
                            <a:latin typeface="Cambria Math" panose="02040503050406030204" pitchFamily="18" charset="0"/>
                          </a:rPr>
                          <m:t>𝑋</m:t>
                        </m:r>
                      </m:e>
                      <m:sub>
                        <m:r>
                          <a:rPr lang="tr-TR" sz="1800" b="0" i="1" dirty="0" smtClean="0">
                            <a:latin typeface="Cambria Math" panose="02040503050406030204" pitchFamily="18" charset="0"/>
                          </a:rPr>
                          <m:t>14</m:t>
                        </m:r>
                      </m:sub>
                    </m:sSub>
                    <m:r>
                      <a:rPr lang="tr-TR" sz="1800" i="1" dirty="0" smtClean="0">
                        <a:latin typeface="Cambria Math" panose="02040503050406030204" pitchFamily="18" charset="0"/>
                      </a:rPr>
                      <m:t>+</m:t>
                    </m:r>
                    <m:r>
                      <a:rPr lang="tr-TR" sz="1800" b="0" i="1" dirty="0" smtClean="0">
                        <a:latin typeface="Cambria Math" panose="02040503050406030204" pitchFamily="18" charset="0"/>
                      </a:rPr>
                      <m:t>9.75</m:t>
                    </m:r>
                    <m:sSub>
                      <m:sSubPr>
                        <m:ctrlPr>
                          <a:rPr lang="tr-TR" sz="1800" i="1" dirty="0">
                            <a:latin typeface="Cambria Math" panose="02040503050406030204" pitchFamily="18" charset="0"/>
                          </a:rPr>
                        </m:ctrlPr>
                      </m:sSubPr>
                      <m:e>
                        <m:r>
                          <a:rPr lang="tr-TR" sz="1800" i="1" dirty="0">
                            <a:latin typeface="Cambria Math" panose="02040503050406030204" pitchFamily="18" charset="0"/>
                          </a:rPr>
                          <m:t>𝑋</m:t>
                        </m:r>
                      </m:e>
                      <m:sub>
                        <m:r>
                          <a:rPr lang="tr-TR" sz="1800" b="0" i="1" dirty="0" smtClean="0">
                            <a:latin typeface="Cambria Math" panose="02040503050406030204" pitchFamily="18" charset="0"/>
                          </a:rPr>
                          <m:t>2</m:t>
                        </m:r>
                        <m:r>
                          <a:rPr lang="tr-TR" sz="1800" i="1" dirty="0">
                            <a:latin typeface="Cambria Math" panose="02040503050406030204" pitchFamily="18" charset="0"/>
                          </a:rPr>
                          <m:t>1</m:t>
                        </m:r>
                      </m:sub>
                    </m:sSub>
                    <m:r>
                      <a:rPr lang="tr-TR" sz="1800" i="1" dirty="0">
                        <a:latin typeface="Cambria Math" panose="02040503050406030204" pitchFamily="18" charset="0"/>
                      </a:rPr>
                      <m:t>+1</m:t>
                    </m:r>
                    <m:r>
                      <a:rPr lang="tr-TR" sz="1800" b="0" i="1" dirty="0" smtClean="0">
                        <a:latin typeface="Cambria Math" panose="02040503050406030204" pitchFamily="18" charset="0"/>
                      </a:rPr>
                      <m:t>6</m:t>
                    </m:r>
                    <m:r>
                      <a:rPr lang="tr-TR" sz="1800" i="1" dirty="0">
                        <a:latin typeface="Cambria Math" panose="02040503050406030204" pitchFamily="18" charset="0"/>
                      </a:rPr>
                      <m:t>.</m:t>
                    </m:r>
                    <m:r>
                      <a:rPr lang="tr-TR" sz="1800" b="0" i="1" dirty="0" smtClean="0">
                        <a:latin typeface="Cambria Math" panose="02040503050406030204" pitchFamily="18" charset="0"/>
                      </a:rPr>
                      <m:t>26</m:t>
                    </m:r>
                    <m:sSub>
                      <m:sSubPr>
                        <m:ctrlPr>
                          <a:rPr lang="tr-TR" sz="1800" i="1" dirty="0">
                            <a:latin typeface="Cambria Math" panose="02040503050406030204" pitchFamily="18" charset="0"/>
                          </a:rPr>
                        </m:ctrlPr>
                      </m:sSubPr>
                      <m:e>
                        <m:r>
                          <a:rPr lang="tr-TR" sz="1800" i="1" dirty="0">
                            <a:latin typeface="Cambria Math" panose="02040503050406030204" pitchFamily="18" charset="0"/>
                          </a:rPr>
                          <m:t>𝑋</m:t>
                        </m:r>
                      </m:e>
                      <m:sub>
                        <m:r>
                          <a:rPr lang="tr-TR" sz="1800" b="0" i="1" dirty="0" smtClean="0">
                            <a:latin typeface="Cambria Math" panose="02040503050406030204" pitchFamily="18" charset="0"/>
                          </a:rPr>
                          <m:t>2</m:t>
                        </m:r>
                        <m:r>
                          <a:rPr lang="tr-TR" sz="1800" i="1" dirty="0">
                            <a:latin typeface="Cambria Math" panose="02040503050406030204" pitchFamily="18" charset="0"/>
                          </a:rPr>
                          <m:t>2</m:t>
                        </m:r>
                      </m:sub>
                    </m:sSub>
                    <m:r>
                      <a:rPr lang="tr-TR" sz="1800" i="1" dirty="0">
                        <a:latin typeface="Cambria Math" panose="02040503050406030204" pitchFamily="18" charset="0"/>
                      </a:rPr>
                      <m:t>+</m:t>
                    </m:r>
                    <m:r>
                      <a:rPr lang="tr-TR" sz="1800" b="0" i="1" dirty="0" smtClean="0">
                        <a:latin typeface="Cambria Math" panose="02040503050406030204" pitchFamily="18" charset="0"/>
                      </a:rPr>
                      <m:t>8.11</m:t>
                    </m:r>
                    <m:sSub>
                      <m:sSubPr>
                        <m:ctrlPr>
                          <a:rPr lang="tr-TR" sz="1800" i="1" dirty="0">
                            <a:latin typeface="Cambria Math" panose="02040503050406030204" pitchFamily="18" charset="0"/>
                          </a:rPr>
                        </m:ctrlPr>
                      </m:sSubPr>
                      <m:e>
                        <m:r>
                          <a:rPr lang="tr-TR" sz="1800" i="1" dirty="0">
                            <a:latin typeface="Cambria Math" panose="02040503050406030204" pitchFamily="18" charset="0"/>
                          </a:rPr>
                          <m:t>𝑋</m:t>
                        </m:r>
                      </m:e>
                      <m:sub>
                        <m:r>
                          <a:rPr lang="tr-TR" sz="1800" b="0" i="1" dirty="0" smtClean="0">
                            <a:latin typeface="Cambria Math" panose="02040503050406030204" pitchFamily="18" charset="0"/>
                          </a:rPr>
                          <m:t>2</m:t>
                        </m:r>
                        <m:r>
                          <a:rPr lang="tr-TR" sz="1800" i="1" dirty="0">
                            <a:latin typeface="Cambria Math" panose="02040503050406030204" pitchFamily="18" charset="0"/>
                          </a:rPr>
                          <m:t>3</m:t>
                        </m:r>
                      </m:sub>
                    </m:sSub>
                    <m:r>
                      <a:rPr lang="tr-TR" sz="1800" i="1" dirty="0">
                        <a:latin typeface="Cambria Math" panose="02040503050406030204" pitchFamily="18" charset="0"/>
                      </a:rPr>
                      <m:t>+17.</m:t>
                    </m:r>
                    <m:r>
                      <a:rPr lang="tr-TR" sz="1800" b="0" i="1" dirty="0" smtClean="0">
                        <a:latin typeface="Cambria Math" panose="02040503050406030204" pitchFamily="18" charset="0"/>
                      </a:rPr>
                      <m:t>92</m:t>
                    </m:r>
                    <m:sSub>
                      <m:sSubPr>
                        <m:ctrlPr>
                          <a:rPr lang="tr-TR" sz="1800" i="1" dirty="0">
                            <a:latin typeface="Cambria Math" panose="02040503050406030204" pitchFamily="18" charset="0"/>
                          </a:rPr>
                        </m:ctrlPr>
                      </m:sSubPr>
                      <m:e>
                        <m:r>
                          <a:rPr lang="tr-TR" sz="1800" i="1" dirty="0">
                            <a:latin typeface="Cambria Math" panose="02040503050406030204" pitchFamily="18" charset="0"/>
                          </a:rPr>
                          <m:t>𝑋</m:t>
                        </m:r>
                      </m:e>
                      <m:sub>
                        <m:r>
                          <a:rPr lang="tr-TR" sz="1800" b="0" i="1" dirty="0" smtClean="0">
                            <a:latin typeface="Cambria Math" panose="02040503050406030204" pitchFamily="18" charset="0"/>
                          </a:rPr>
                          <m:t>2</m:t>
                        </m:r>
                        <m:r>
                          <a:rPr lang="tr-TR" sz="1800" i="1" dirty="0">
                            <a:latin typeface="Cambria Math" panose="02040503050406030204" pitchFamily="18" charset="0"/>
                          </a:rPr>
                          <m:t>4</m:t>
                        </m:r>
                      </m:sub>
                    </m:sSub>
                  </m:oMath>
                </a14:m>
                <a:endParaRPr lang="tr-TR" sz="1800" dirty="0"/>
              </a:p>
              <a:p>
                <a:pPr marL="0" indent="361950">
                  <a:buNone/>
                </a:pPr>
                <a:endParaRPr lang="tr-TR" sz="2200" dirty="0"/>
              </a:p>
              <a:p>
                <a:pPr marL="0" indent="0">
                  <a:buNone/>
                </a:pPr>
                <a:endParaRPr lang="tr-TR" sz="22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8" name="Picture 7">
            <a:extLst>
              <a:ext uri="{FF2B5EF4-FFF2-40B4-BE49-F238E27FC236}">
                <a16:creationId xmlns:a16="http://schemas.microsoft.com/office/drawing/2014/main" id="{C68C4CF5-7BD4-42C3-94D8-116E5FB81DD2}"/>
              </a:ext>
            </a:extLst>
          </p:cNvPr>
          <p:cNvPicPr>
            <a:picLocks noChangeAspect="1"/>
          </p:cNvPicPr>
          <p:nvPr/>
        </p:nvPicPr>
        <p:blipFill>
          <a:blip r:embed="rId3"/>
          <a:stretch>
            <a:fillRect/>
          </a:stretch>
        </p:blipFill>
        <p:spPr>
          <a:xfrm>
            <a:off x="2987040" y="1343810"/>
            <a:ext cx="7083584" cy="1515271"/>
          </a:xfrm>
          <a:prstGeom prst="rect">
            <a:avLst/>
          </a:prstGeom>
        </p:spPr>
      </p:pic>
    </p:spTree>
    <p:extLst>
      <p:ext uri="{BB962C8B-B14F-4D97-AF65-F5344CB8AC3E}">
        <p14:creationId xmlns:p14="http://schemas.microsoft.com/office/powerpoint/2010/main" val="69894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Transportation Models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tr-TR" sz="2200" dirty="0"/>
              </a:p>
              <a:p>
                <a:endParaRPr lang="tr-TR" sz="2200" dirty="0"/>
              </a:p>
              <a:p>
                <a:endParaRPr lang="tr-TR" sz="2200" dirty="0"/>
              </a:p>
              <a:p>
                <a:r>
                  <a:rPr lang="tr-TR" sz="2000" dirty="0"/>
                  <a:t>Constraints</a:t>
                </a:r>
              </a:p>
              <a:p>
                <a:pPr marL="0" indent="361950">
                  <a:buNone/>
                </a:pPr>
                <a:r>
                  <a:rPr lang="tr-TR" sz="2000" dirty="0"/>
                  <a:t>All the demand in distribution centers must be satisfied</a:t>
                </a:r>
              </a:p>
              <a:p>
                <a:pPr marL="0" indent="361950">
                  <a:buNone/>
                </a:pPr>
                <a14:m>
                  <m:oMathPara xmlns:m="http://schemas.openxmlformats.org/officeDocument/2006/math">
                    <m:oMathParaPr>
                      <m:jc m:val="centerGroup"/>
                    </m:oMathParaPr>
                    <m:oMath xmlns:m="http://schemas.openxmlformats.org/officeDocument/2006/math">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1</m:t>
                          </m:r>
                          <m:r>
                            <a:rPr lang="tr-TR" sz="2000" b="0" i="1" dirty="0" smtClean="0">
                              <a:latin typeface="Cambria Math" panose="02040503050406030204" pitchFamily="18" charset="0"/>
                            </a:rPr>
                            <m:t>1</m:t>
                          </m:r>
                        </m:sub>
                      </m:sSub>
                      <m:r>
                        <a:rPr lang="tr-TR" sz="2000" i="1" dirty="0">
                          <a:latin typeface="Cambria Math" panose="02040503050406030204" pitchFamily="18" charset="0"/>
                        </a:rPr>
                        <m:t>+</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b="0" i="1" dirty="0" smtClean="0">
                              <a:latin typeface="Cambria Math" panose="02040503050406030204" pitchFamily="18" charset="0"/>
                            </a:rPr>
                            <m:t>21</m:t>
                          </m:r>
                        </m:sub>
                      </m:sSub>
                      <m:r>
                        <a:rPr lang="tr-TR" sz="2000" b="0" i="1" dirty="0" smtClean="0">
                          <a:latin typeface="Cambria Math" panose="02040503050406030204" pitchFamily="18" charset="0"/>
                        </a:rPr>
                        <m:t>=150</m:t>
                      </m:r>
                    </m:oMath>
                    <m:oMath xmlns:m="http://schemas.openxmlformats.org/officeDocument/2006/math">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1</m:t>
                          </m:r>
                          <m:r>
                            <a:rPr lang="tr-TR" sz="2000" b="0" i="1" dirty="0" smtClean="0">
                              <a:latin typeface="Cambria Math" panose="02040503050406030204" pitchFamily="18" charset="0"/>
                            </a:rPr>
                            <m:t>2</m:t>
                          </m:r>
                        </m:sub>
                      </m:sSub>
                      <m:r>
                        <a:rPr lang="tr-TR" sz="2000" i="1" dirty="0">
                          <a:latin typeface="Cambria Math" panose="02040503050406030204" pitchFamily="18" charset="0"/>
                        </a:rPr>
                        <m:t>+</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2</m:t>
                          </m:r>
                          <m:r>
                            <a:rPr lang="tr-TR" sz="2000" b="0" i="1" dirty="0" smtClean="0">
                              <a:latin typeface="Cambria Math" panose="02040503050406030204" pitchFamily="18" charset="0"/>
                            </a:rPr>
                            <m:t>2</m:t>
                          </m:r>
                        </m:sub>
                      </m:sSub>
                      <m:r>
                        <a:rPr lang="tr-TR" sz="2000" i="1" dirty="0">
                          <a:latin typeface="Cambria Math" panose="02040503050406030204" pitchFamily="18" charset="0"/>
                        </a:rPr>
                        <m:t>=</m:t>
                      </m:r>
                      <m:r>
                        <a:rPr lang="tr-TR" sz="2000" b="0" i="1" dirty="0" smtClean="0">
                          <a:latin typeface="Cambria Math" panose="02040503050406030204" pitchFamily="18" charset="0"/>
                        </a:rPr>
                        <m:t>3</m:t>
                      </m:r>
                      <m:r>
                        <a:rPr lang="tr-TR" sz="2000" i="1" dirty="0">
                          <a:latin typeface="Cambria Math" panose="02040503050406030204" pitchFamily="18" charset="0"/>
                        </a:rPr>
                        <m:t>50</m:t>
                      </m:r>
                    </m:oMath>
                    <m:oMath xmlns:m="http://schemas.openxmlformats.org/officeDocument/2006/math">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b="0" i="1" dirty="0" smtClean="0">
                              <a:latin typeface="Cambria Math" panose="02040503050406030204" pitchFamily="18" charset="0"/>
                            </a:rPr>
                            <m:t>13</m:t>
                          </m:r>
                        </m:sub>
                      </m:sSub>
                      <m:r>
                        <a:rPr lang="tr-TR" sz="2000" i="1" dirty="0">
                          <a:latin typeface="Cambria Math" panose="02040503050406030204" pitchFamily="18" charset="0"/>
                        </a:rPr>
                        <m:t>+</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b="0" i="1" dirty="0" smtClean="0">
                              <a:latin typeface="Cambria Math" panose="02040503050406030204" pitchFamily="18" charset="0"/>
                            </a:rPr>
                            <m:t>23</m:t>
                          </m:r>
                        </m:sub>
                      </m:sSub>
                      <m:r>
                        <a:rPr lang="tr-TR" sz="2000" i="1" dirty="0">
                          <a:latin typeface="Cambria Math" panose="02040503050406030204" pitchFamily="18" charset="0"/>
                        </a:rPr>
                        <m:t>=</m:t>
                      </m:r>
                      <m:r>
                        <a:rPr lang="tr-TR" sz="2000" b="0" i="1" dirty="0" smtClean="0">
                          <a:latin typeface="Cambria Math" panose="02040503050406030204" pitchFamily="18" charset="0"/>
                        </a:rPr>
                        <m:t>500</m:t>
                      </m:r>
                    </m:oMath>
                    <m:oMath xmlns:m="http://schemas.openxmlformats.org/officeDocument/2006/math">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1</m:t>
                          </m:r>
                          <m:r>
                            <a:rPr lang="tr-TR" sz="2000" b="0" i="1" dirty="0" smtClean="0">
                              <a:latin typeface="Cambria Math" panose="02040503050406030204" pitchFamily="18" charset="0"/>
                            </a:rPr>
                            <m:t>4</m:t>
                          </m:r>
                        </m:sub>
                      </m:sSub>
                      <m:r>
                        <a:rPr lang="tr-TR" sz="2000" i="1" dirty="0">
                          <a:latin typeface="Cambria Math" panose="02040503050406030204" pitchFamily="18" charset="0"/>
                        </a:rPr>
                        <m:t>+</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𝑋</m:t>
                          </m:r>
                        </m:e>
                        <m:sub>
                          <m:r>
                            <a:rPr lang="tr-TR" sz="2000" i="1" dirty="0">
                              <a:latin typeface="Cambria Math" panose="02040503050406030204" pitchFamily="18" charset="0"/>
                            </a:rPr>
                            <m:t>2</m:t>
                          </m:r>
                          <m:r>
                            <a:rPr lang="tr-TR" sz="2000" b="0" i="1" dirty="0" smtClean="0">
                              <a:latin typeface="Cambria Math" panose="02040503050406030204" pitchFamily="18" charset="0"/>
                            </a:rPr>
                            <m:t>4</m:t>
                          </m:r>
                        </m:sub>
                      </m:sSub>
                      <m:r>
                        <a:rPr lang="tr-TR" sz="2000" i="1" dirty="0">
                          <a:latin typeface="Cambria Math" panose="02040503050406030204" pitchFamily="18" charset="0"/>
                        </a:rPr>
                        <m:t>=</m:t>
                      </m:r>
                      <m:r>
                        <a:rPr lang="tr-TR" sz="2000" b="0" i="1" dirty="0" smtClean="0">
                          <a:latin typeface="Cambria Math" panose="02040503050406030204" pitchFamily="18" charset="0"/>
                        </a:rPr>
                        <m:t>1000</m:t>
                      </m:r>
                    </m:oMath>
                  </m:oMathPara>
                </a14:m>
                <a:endParaRPr lang="tr-TR" sz="2000" dirty="0"/>
              </a:p>
              <a:p>
                <a:pPr marL="0" indent="361950">
                  <a:buNone/>
                </a:pPr>
                <a:r>
                  <a:rPr lang="tr-TR" sz="2200" dirty="0"/>
                  <a:t>T</a:t>
                </a:r>
                <a:r>
                  <a:rPr lang="en-US" sz="2200" dirty="0"/>
                  <a:t>he amount shipped</a:t>
                </a:r>
                <a:r>
                  <a:rPr lang="tr-TR" sz="2200" dirty="0"/>
                  <a:t> </a:t>
                </a:r>
                <a:r>
                  <a:rPr lang="en-US" sz="2200" dirty="0"/>
                  <a:t>from each plant cannot exceed its capacity</a:t>
                </a:r>
                <a:endParaRPr lang="tr-TR" sz="2200" dirty="0"/>
              </a:p>
              <a:p>
                <a:pPr marL="0" indent="361950">
                  <a:buNone/>
                </a:pPr>
                <a14:m>
                  <m:oMathPara xmlns:m="http://schemas.openxmlformats.org/officeDocument/2006/math">
                    <m:oMathParaPr>
                      <m:jc m:val="centerGroup"/>
                    </m:oMathParaPr>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𝑋</m:t>
                          </m:r>
                        </m:e>
                        <m:sub>
                          <m:r>
                            <a:rPr lang="tr-TR" sz="2200" b="0" i="1" smtClean="0">
                              <a:latin typeface="Cambria Math" panose="02040503050406030204" pitchFamily="18" charset="0"/>
                            </a:rPr>
                            <m:t>11</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𝑋</m:t>
                          </m:r>
                        </m:e>
                        <m:sub>
                          <m:r>
                            <a:rPr lang="tr-TR" sz="2200" b="0" i="1" smtClean="0">
                              <a:latin typeface="Cambria Math" panose="02040503050406030204" pitchFamily="18" charset="0"/>
                            </a:rPr>
                            <m:t>12</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𝑋</m:t>
                          </m:r>
                        </m:e>
                        <m:sub>
                          <m:r>
                            <a:rPr lang="tr-TR" sz="2200" b="0" i="1" smtClean="0">
                              <a:latin typeface="Cambria Math" panose="02040503050406030204" pitchFamily="18" charset="0"/>
                            </a:rPr>
                            <m:t>13</m:t>
                          </m:r>
                        </m:sub>
                      </m:sSub>
                      <m:r>
                        <a:rPr lang="tr-TR" sz="2200" b="0" i="1" smtClean="0">
                          <a:latin typeface="Cambria Math" panose="02040503050406030204" pitchFamily="18" charset="0"/>
                        </a:rPr>
                        <m:t>+</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𝑋</m:t>
                          </m:r>
                        </m:e>
                        <m:sub>
                          <m:r>
                            <a:rPr lang="tr-TR" sz="2200" b="0" i="1" smtClean="0">
                              <a:latin typeface="Cambria Math" panose="02040503050406030204" pitchFamily="18" charset="0"/>
                            </a:rPr>
                            <m:t>14</m:t>
                          </m:r>
                        </m:sub>
                      </m:sSub>
                      <m:r>
                        <a:rPr lang="tr-TR" sz="2200" b="0" i="1" smtClean="0">
                          <a:latin typeface="Cambria Math" panose="02040503050406030204" pitchFamily="18" charset="0"/>
                        </a:rPr>
                        <m:t>≤1200</m:t>
                      </m:r>
                    </m:oMath>
                    <m:oMath xmlns:m="http://schemas.openxmlformats.org/officeDocument/2006/math">
                      <m:sSub>
                        <m:sSubPr>
                          <m:ctrlPr>
                            <a:rPr lang="tr-TR" sz="2200" i="1">
                              <a:latin typeface="Cambria Math" panose="02040503050406030204" pitchFamily="18" charset="0"/>
                            </a:rPr>
                          </m:ctrlPr>
                        </m:sSubPr>
                        <m:e>
                          <m:r>
                            <a:rPr lang="tr-TR" sz="2200" i="1">
                              <a:latin typeface="Cambria Math" panose="02040503050406030204" pitchFamily="18" charset="0"/>
                            </a:rPr>
                            <m:t>𝑋</m:t>
                          </m:r>
                        </m:e>
                        <m:sub>
                          <m:r>
                            <a:rPr lang="tr-TR" sz="2200" b="0" i="1" smtClean="0">
                              <a:latin typeface="Cambria Math" panose="02040503050406030204" pitchFamily="18" charset="0"/>
                            </a:rPr>
                            <m:t>2</m:t>
                          </m:r>
                          <m:r>
                            <a:rPr lang="tr-TR" sz="2200" i="1">
                              <a:latin typeface="Cambria Math" panose="02040503050406030204" pitchFamily="18" charset="0"/>
                            </a:rPr>
                            <m:t>1</m:t>
                          </m:r>
                        </m:sub>
                      </m:sSub>
                      <m:r>
                        <a:rPr lang="tr-TR" sz="2200" i="1">
                          <a:latin typeface="Cambria Math" panose="02040503050406030204" pitchFamily="18" charset="0"/>
                        </a:rPr>
                        <m:t>+</m:t>
                      </m:r>
                      <m:sSub>
                        <m:sSubPr>
                          <m:ctrlPr>
                            <a:rPr lang="tr-TR" sz="2200" i="1">
                              <a:latin typeface="Cambria Math" panose="02040503050406030204" pitchFamily="18" charset="0"/>
                            </a:rPr>
                          </m:ctrlPr>
                        </m:sSubPr>
                        <m:e>
                          <m:r>
                            <a:rPr lang="tr-TR" sz="2200" i="1">
                              <a:latin typeface="Cambria Math" panose="02040503050406030204" pitchFamily="18" charset="0"/>
                            </a:rPr>
                            <m:t>𝑋</m:t>
                          </m:r>
                        </m:e>
                        <m:sub>
                          <m:r>
                            <a:rPr lang="tr-TR" sz="2200" b="0" i="1" smtClean="0">
                              <a:latin typeface="Cambria Math" panose="02040503050406030204" pitchFamily="18" charset="0"/>
                            </a:rPr>
                            <m:t>2</m:t>
                          </m:r>
                          <m:r>
                            <a:rPr lang="tr-TR" sz="2200" i="1">
                              <a:latin typeface="Cambria Math" panose="02040503050406030204" pitchFamily="18" charset="0"/>
                            </a:rPr>
                            <m:t>2</m:t>
                          </m:r>
                        </m:sub>
                      </m:sSub>
                      <m:r>
                        <a:rPr lang="tr-TR" sz="2200" i="1">
                          <a:latin typeface="Cambria Math" panose="02040503050406030204" pitchFamily="18" charset="0"/>
                        </a:rPr>
                        <m:t>+</m:t>
                      </m:r>
                      <m:sSub>
                        <m:sSubPr>
                          <m:ctrlPr>
                            <a:rPr lang="tr-TR" sz="2200" i="1">
                              <a:latin typeface="Cambria Math" panose="02040503050406030204" pitchFamily="18" charset="0"/>
                            </a:rPr>
                          </m:ctrlPr>
                        </m:sSubPr>
                        <m:e>
                          <m:r>
                            <a:rPr lang="tr-TR" sz="2200" i="1">
                              <a:latin typeface="Cambria Math" panose="02040503050406030204" pitchFamily="18" charset="0"/>
                            </a:rPr>
                            <m:t>𝑋</m:t>
                          </m:r>
                        </m:e>
                        <m:sub>
                          <m:r>
                            <a:rPr lang="tr-TR" sz="2200" b="0" i="1" smtClean="0">
                              <a:latin typeface="Cambria Math" panose="02040503050406030204" pitchFamily="18" charset="0"/>
                            </a:rPr>
                            <m:t>2</m:t>
                          </m:r>
                          <m:r>
                            <a:rPr lang="tr-TR" sz="2200" i="1">
                              <a:latin typeface="Cambria Math" panose="02040503050406030204" pitchFamily="18" charset="0"/>
                            </a:rPr>
                            <m:t>3</m:t>
                          </m:r>
                        </m:sub>
                      </m:sSub>
                      <m:r>
                        <a:rPr lang="tr-TR" sz="2200" i="1">
                          <a:latin typeface="Cambria Math" panose="02040503050406030204" pitchFamily="18" charset="0"/>
                        </a:rPr>
                        <m:t>+</m:t>
                      </m:r>
                      <m:sSub>
                        <m:sSubPr>
                          <m:ctrlPr>
                            <a:rPr lang="tr-TR" sz="2200" i="1">
                              <a:latin typeface="Cambria Math" panose="02040503050406030204" pitchFamily="18" charset="0"/>
                            </a:rPr>
                          </m:ctrlPr>
                        </m:sSubPr>
                        <m:e>
                          <m:r>
                            <a:rPr lang="tr-TR" sz="2200" i="1">
                              <a:latin typeface="Cambria Math" panose="02040503050406030204" pitchFamily="18" charset="0"/>
                            </a:rPr>
                            <m:t>𝑋</m:t>
                          </m:r>
                        </m:e>
                        <m:sub>
                          <m:r>
                            <a:rPr lang="tr-TR" sz="2200" b="0" i="1" smtClean="0">
                              <a:latin typeface="Cambria Math" panose="02040503050406030204" pitchFamily="18" charset="0"/>
                            </a:rPr>
                            <m:t>2</m:t>
                          </m:r>
                          <m:r>
                            <a:rPr lang="tr-TR" sz="2200" i="1">
                              <a:latin typeface="Cambria Math" panose="02040503050406030204" pitchFamily="18" charset="0"/>
                            </a:rPr>
                            <m:t>4</m:t>
                          </m:r>
                        </m:sub>
                      </m:sSub>
                      <m:r>
                        <a:rPr lang="tr-TR" sz="2200" i="1">
                          <a:latin typeface="Cambria Math" panose="02040503050406030204" pitchFamily="18" charset="0"/>
                        </a:rPr>
                        <m:t>≤</m:t>
                      </m:r>
                      <m:r>
                        <a:rPr lang="tr-TR" sz="2200" b="0" i="1" smtClean="0">
                          <a:latin typeface="Cambria Math" panose="02040503050406030204" pitchFamily="18" charset="0"/>
                        </a:rPr>
                        <m:t>800</m:t>
                      </m:r>
                    </m:oMath>
                  </m:oMathPara>
                </a14:m>
                <a:endParaRPr lang="tr-TR" sz="2200" dirty="0"/>
              </a:p>
              <a:p>
                <a:pPr marL="0" indent="361950">
                  <a:buNone/>
                </a:pPr>
                <a:r>
                  <a:rPr lang="tr-TR" sz="2200" dirty="0"/>
                  <a:t>Non-negativity </a:t>
                </a:r>
                <a14:m>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𝑋</m:t>
                        </m:r>
                      </m:e>
                      <m:sub>
                        <m:r>
                          <a:rPr lang="tr-TR" sz="2200" b="0" i="1" smtClean="0">
                            <a:latin typeface="Cambria Math" panose="02040503050406030204" pitchFamily="18" charset="0"/>
                          </a:rPr>
                          <m:t>𝑖𝑗</m:t>
                        </m:r>
                      </m:sub>
                    </m:sSub>
                    <m:r>
                      <a:rPr lang="tr-TR" sz="2200" b="0" i="1" smtClean="0">
                        <a:latin typeface="Cambria Math" panose="02040503050406030204" pitchFamily="18" charset="0"/>
                      </a:rPr>
                      <m:t>≥0, ∀</m:t>
                    </m:r>
                    <m:r>
                      <a:rPr lang="tr-TR" sz="2200" b="0" i="1" smtClean="0">
                        <a:latin typeface="Cambria Math" panose="02040503050406030204" pitchFamily="18" charset="0"/>
                      </a:rPr>
                      <m:t>𝑖𝑗</m:t>
                    </m:r>
                  </m:oMath>
                </a14:m>
                <a:endParaRPr lang="tr-TR" sz="2200" dirty="0"/>
              </a:p>
              <a:p>
                <a:pPr marL="0" indent="0">
                  <a:buNone/>
                </a:pPr>
                <a:endParaRPr lang="tr-TR" sz="2200" dirty="0"/>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6" name="Picture 5">
            <a:extLst>
              <a:ext uri="{FF2B5EF4-FFF2-40B4-BE49-F238E27FC236}">
                <a16:creationId xmlns:a16="http://schemas.microsoft.com/office/drawing/2014/main" id="{F6FD004B-0467-47A7-A8DF-8D015B7D66B6}"/>
              </a:ext>
            </a:extLst>
          </p:cNvPr>
          <p:cNvPicPr>
            <a:picLocks noChangeAspect="1"/>
          </p:cNvPicPr>
          <p:nvPr/>
        </p:nvPicPr>
        <p:blipFill>
          <a:blip r:embed="rId3"/>
          <a:stretch>
            <a:fillRect/>
          </a:stretch>
        </p:blipFill>
        <p:spPr>
          <a:xfrm>
            <a:off x="2987040" y="1343810"/>
            <a:ext cx="7083584" cy="1515271"/>
          </a:xfrm>
          <a:prstGeom prst="rect">
            <a:avLst/>
          </a:prstGeom>
        </p:spPr>
      </p:pic>
    </p:spTree>
    <p:extLst>
      <p:ext uri="{BB962C8B-B14F-4D97-AF65-F5344CB8AC3E}">
        <p14:creationId xmlns:p14="http://schemas.microsoft.com/office/powerpoint/2010/main" val="210285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Transportation Models</a:t>
            </a:r>
            <a:endParaRPr lang="en-US" dirty="0"/>
          </a:p>
        </p:txBody>
      </p:sp>
      <p:sp>
        <p:nvSpPr>
          <p:cNvPr id="3" name="Content Placeholder 2"/>
          <p:cNvSpPr>
            <a:spLocks noGrp="1"/>
          </p:cNvSpPr>
          <p:nvPr>
            <p:ph idx="1"/>
          </p:nvPr>
        </p:nvSpPr>
        <p:spPr/>
        <p:txBody>
          <a:bodyPr/>
          <a:lstStyle/>
          <a:p>
            <a:pPr marL="0" indent="0">
              <a:buNone/>
            </a:pPr>
            <a:endParaRPr lang="tr-TR" sz="2200" dirty="0"/>
          </a:p>
          <a:p>
            <a:pPr marL="0" indent="0">
              <a:buNone/>
            </a:pPr>
            <a:endParaRPr lang="tr-TR" dirty="0"/>
          </a:p>
        </p:txBody>
      </p:sp>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078063743"/>
                  </p:ext>
                </p:extLst>
              </p:nvPr>
            </p:nvGraphicFramePr>
            <p:xfrm>
              <a:off x="1014385" y="2125928"/>
              <a:ext cx="10163229" cy="2966720"/>
            </p:xfrm>
            <a:graphic>
              <a:graphicData uri="http://schemas.openxmlformats.org/drawingml/2006/table">
                <a:tbl>
                  <a:tblPr firstRow="1" bandRow="1">
                    <a:tableStyleId>{2D5ABB26-0587-4C30-8999-92F81FD0307C}</a:tableStyleId>
                  </a:tblPr>
                  <a:tblGrid>
                    <a:gridCol w="1045083">
                      <a:extLst>
                        <a:ext uri="{9D8B030D-6E8A-4147-A177-3AD203B41FA5}">
                          <a16:colId xmlns:a16="http://schemas.microsoft.com/office/drawing/2014/main" val="3888021187"/>
                        </a:ext>
                      </a:extLst>
                    </a:gridCol>
                    <a:gridCol w="882841">
                      <a:extLst>
                        <a:ext uri="{9D8B030D-6E8A-4147-A177-3AD203B41FA5}">
                          <a16:colId xmlns:a16="http://schemas.microsoft.com/office/drawing/2014/main" val="3534266932"/>
                        </a:ext>
                      </a:extLst>
                    </a:gridCol>
                    <a:gridCol w="991667">
                      <a:extLst>
                        <a:ext uri="{9D8B030D-6E8A-4147-A177-3AD203B41FA5}">
                          <a16:colId xmlns:a16="http://schemas.microsoft.com/office/drawing/2014/main" val="3559686337"/>
                        </a:ext>
                      </a:extLst>
                    </a:gridCol>
                    <a:gridCol w="1030161">
                      <a:extLst>
                        <a:ext uri="{9D8B030D-6E8A-4147-A177-3AD203B41FA5}">
                          <a16:colId xmlns:a16="http://schemas.microsoft.com/office/drawing/2014/main" val="1347294665"/>
                        </a:ext>
                      </a:extLst>
                    </a:gridCol>
                    <a:gridCol w="1030161">
                      <a:extLst>
                        <a:ext uri="{9D8B030D-6E8A-4147-A177-3AD203B41FA5}">
                          <a16:colId xmlns:a16="http://schemas.microsoft.com/office/drawing/2014/main" val="2673935178"/>
                        </a:ext>
                      </a:extLst>
                    </a:gridCol>
                    <a:gridCol w="1030161">
                      <a:extLst>
                        <a:ext uri="{9D8B030D-6E8A-4147-A177-3AD203B41FA5}">
                          <a16:colId xmlns:a16="http://schemas.microsoft.com/office/drawing/2014/main" val="2754673891"/>
                        </a:ext>
                      </a:extLst>
                    </a:gridCol>
                    <a:gridCol w="1030161">
                      <a:extLst>
                        <a:ext uri="{9D8B030D-6E8A-4147-A177-3AD203B41FA5}">
                          <a16:colId xmlns:a16="http://schemas.microsoft.com/office/drawing/2014/main" val="3913864312"/>
                        </a:ext>
                      </a:extLst>
                    </a:gridCol>
                    <a:gridCol w="1030161">
                      <a:extLst>
                        <a:ext uri="{9D8B030D-6E8A-4147-A177-3AD203B41FA5}">
                          <a16:colId xmlns:a16="http://schemas.microsoft.com/office/drawing/2014/main" val="1603966149"/>
                        </a:ext>
                      </a:extLst>
                    </a:gridCol>
                    <a:gridCol w="1111123">
                      <a:extLst>
                        <a:ext uri="{9D8B030D-6E8A-4147-A177-3AD203B41FA5}">
                          <a16:colId xmlns:a16="http://schemas.microsoft.com/office/drawing/2014/main" val="3574507723"/>
                        </a:ext>
                      </a:extLst>
                    </a:gridCol>
                    <a:gridCol w="368617">
                      <a:extLst>
                        <a:ext uri="{9D8B030D-6E8A-4147-A177-3AD203B41FA5}">
                          <a16:colId xmlns:a16="http://schemas.microsoft.com/office/drawing/2014/main" val="1158957883"/>
                        </a:ext>
                      </a:extLst>
                    </a:gridCol>
                    <a:gridCol w="613093">
                      <a:extLst>
                        <a:ext uri="{9D8B030D-6E8A-4147-A177-3AD203B41FA5}">
                          <a16:colId xmlns:a16="http://schemas.microsoft.com/office/drawing/2014/main" val="3407547115"/>
                        </a:ext>
                      </a:extLst>
                    </a:gridCol>
                  </a:tblGrid>
                  <a:tr h="370840">
                    <a:tc>
                      <a:txBody>
                        <a:bodyPr/>
                        <a:lstStyle/>
                        <a:p>
                          <a:r>
                            <a:rPr lang="tr-TR" sz="1500" dirty="0"/>
                            <a:t>Min    </a:t>
                          </a:r>
                          <a14:m>
                            <m:oMath xmlns:m="http://schemas.openxmlformats.org/officeDocument/2006/math">
                              <m:r>
                                <a:rPr lang="tr-TR" sz="1500" b="0" i="1" smtClean="0">
                                  <a:latin typeface="Cambria Math" panose="02040503050406030204" pitchFamily="18" charset="0"/>
                                </a:rPr>
                                <m:t>𝑍</m:t>
                              </m:r>
                              <m:r>
                                <a:rPr lang="tr-TR" sz="1500" b="0" i="1" smtClean="0">
                                  <a:latin typeface="Cambria Math" panose="02040503050406030204" pitchFamily="18" charset="0"/>
                                </a:rPr>
                                <m:t>=</m:t>
                              </m:r>
                            </m:oMath>
                          </a14:m>
                          <a:endParaRPr lang="en-US" sz="150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12.60</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14.35</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12</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11.52</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13</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17.58</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14</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9.75</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r>
                                  <a:rPr lang="tr-TR" sz="1500" b="0" i="1" smtClean="0">
                                    <a:latin typeface="Cambria Math" panose="02040503050406030204" pitchFamily="18" charset="0"/>
                                  </a:rPr>
                                  <m:t>16.26</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22</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+8.11</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23</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+17.92</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24</m:t>
                                    </m:r>
                                  </m:sub>
                                </m:sSub>
                              </m:oMath>
                            </m:oMathPara>
                          </a14:m>
                          <a:endParaRPr lang="en-US" sz="1500" b="0" dirty="0"/>
                        </a:p>
                      </a:txBody>
                      <a:tcPr/>
                    </a:tc>
                    <a:tc>
                      <a:txBody>
                        <a:bodyPr/>
                        <a:lstStyle/>
                        <a:p>
                          <a:endParaRPr lang="en-US" sz="1500" b="0" dirty="0"/>
                        </a:p>
                      </a:txBody>
                      <a:tcPr/>
                    </a:tc>
                    <a:tc>
                      <a:txBody>
                        <a:bodyPr/>
                        <a:lstStyle/>
                        <a:p>
                          <a:endParaRPr lang="en-US" sz="1500" b="0" dirty="0"/>
                        </a:p>
                      </a:txBody>
                      <a:tcPr/>
                    </a:tc>
                    <a:extLst>
                      <a:ext uri="{0D108BD9-81ED-4DB2-BD59-A6C34878D82A}">
                        <a16:rowId xmlns:a16="http://schemas.microsoft.com/office/drawing/2014/main" val="1915566640"/>
                      </a:ext>
                    </a:extLst>
                  </a:tr>
                  <a:tr h="370840">
                    <a:tc>
                      <a:txBody>
                        <a:bodyPr/>
                        <a:lstStyle/>
                        <a:p>
                          <a:r>
                            <a:rPr lang="tr-TR" sz="1500" dirty="0"/>
                            <a:t>Subject to</a:t>
                          </a:r>
                          <a:endParaRPr lang="en-US" sz="15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11</m:t>
                                    </m:r>
                                  </m:sub>
                                </m:sSub>
                              </m:oMath>
                            </m:oMathPara>
                          </a14:m>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21</m:t>
                                    </m:r>
                                  </m:sub>
                                </m:sSub>
                              </m:oMath>
                            </m:oMathPara>
                          </a14:m>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150</a:t>
                          </a:r>
                          <a:endParaRPr lang="en-US" sz="1500" b="0" dirty="0"/>
                        </a:p>
                      </a:txBody>
                      <a:tcPr/>
                    </a:tc>
                    <a:extLst>
                      <a:ext uri="{0D108BD9-81ED-4DB2-BD59-A6C34878D82A}">
                        <a16:rowId xmlns:a16="http://schemas.microsoft.com/office/drawing/2014/main" val="1849586065"/>
                      </a:ext>
                    </a:extLst>
                  </a:tr>
                  <a:tr h="370840">
                    <a:tc>
                      <a:txBody>
                        <a:bodyPr/>
                        <a:lstStyle/>
                        <a:p>
                          <a:endParaRPr lang="en-US" sz="150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12</m:t>
                                    </m:r>
                                  </m:sub>
                                </m:sSub>
                              </m:oMath>
                            </m:oMathPara>
                          </a14:m>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22</m:t>
                                    </m:r>
                                  </m:sub>
                                </m:sSub>
                              </m:oMath>
                            </m:oMathPara>
                          </a14:m>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350</a:t>
                          </a:r>
                          <a:endParaRPr lang="en-US" sz="1500" b="0" dirty="0"/>
                        </a:p>
                      </a:txBody>
                      <a:tcPr/>
                    </a:tc>
                    <a:extLst>
                      <a:ext uri="{0D108BD9-81ED-4DB2-BD59-A6C34878D82A}">
                        <a16:rowId xmlns:a16="http://schemas.microsoft.com/office/drawing/2014/main" val="3907794430"/>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13</m:t>
                                    </m:r>
                                  </m:sub>
                                </m:sSub>
                              </m:oMath>
                            </m:oMathPara>
                          </a14:m>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23</m:t>
                                    </m:r>
                                  </m:sub>
                                </m:sSub>
                              </m:oMath>
                            </m:oMathPara>
                          </a14:m>
                          <a:endParaRPr lang="en-US" sz="1500" b="0" dirty="0"/>
                        </a:p>
                      </a:txBody>
                      <a:tcPr/>
                    </a:tc>
                    <a:tc>
                      <a:txBody>
                        <a:bodyPr/>
                        <a:lstStyle/>
                        <a:p>
                          <a:pPr algn="r"/>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500</a:t>
                          </a:r>
                          <a:endParaRPr lang="en-US" sz="1500" b="0" dirty="0"/>
                        </a:p>
                      </a:txBody>
                      <a:tcPr/>
                    </a:tc>
                    <a:extLst>
                      <a:ext uri="{0D108BD9-81ED-4DB2-BD59-A6C34878D82A}">
                        <a16:rowId xmlns:a16="http://schemas.microsoft.com/office/drawing/2014/main" val="3381761340"/>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14</m:t>
                                    </m:r>
                                  </m:sub>
                                </m:sSub>
                              </m:oMath>
                            </m:oMathPara>
                          </a14:m>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24</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1000</a:t>
                          </a:r>
                          <a:endParaRPr lang="en-US" sz="1500" b="0" dirty="0"/>
                        </a:p>
                      </a:txBody>
                      <a:tcPr/>
                    </a:tc>
                    <a:extLst>
                      <a:ext uri="{0D108BD9-81ED-4DB2-BD59-A6C34878D82A}">
                        <a16:rowId xmlns:a16="http://schemas.microsoft.com/office/drawing/2014/main" val="3976070994"/>
                      </a:ext>
                    </a:extLst>
                  </a:tr>
                  <a:tr h="370840">
                    <a:tc>
                      <a:txBody>
                        <a:bodyPr/>
                        <a:lstStyle/>
                        <a:p>
                          <a:endParaRPr lang="en-US" sz="15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12</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13</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14</m:t>
                                    </m:r>
                                  </m:sub>
                                </m:sSub>
                              </m:oMath>
                            </m:oMathPara>
                          </a14:m>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1200</a:t>
                          </a:r>
                          <a:endParaRPr lang="en-US" sz="1500" b="0" dirty="0"/>
                        </a:p>
                      </a:txBody>
                      <a:tcPr/>
                    </a:tc>
                    <a:extLst>
                      <a:ext uri="{0D108BD9-81ED-4DB2-BD59-A6C34878D82A}">
                        <a16:rowId xmlns:a16="http://schemas.microsoft.com/office/drawing/2014/main" val="1921098711"/>
                      </a:ext>
                    </a:extLst>
                  </a:tr>
                  <a:tr h="370840">
                    <a:tc>
                      <a:txBody>
                        <a:bodyPr/>
                        <a:lstStyle/>
                        <a:p>
                          <a:endParaRPr lang="en-US" sz="1500" dirty="0"/>
                        </a:p>
                      </a:txBody>
                      <a:tcPr/>
                    </a:tc>
                    <a:tc>
                      <a:txBody>
                        <a:bodyPr/>
                        <a:lstStyle/>
                        <a:p>
                          <a:pPr algn="r"/>
                          <a:endParaRPr lang="en-US" sz="1500" b="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22</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23</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r>
                                  <a:rPr lang="tr-TR" sz="1500" b="0" i="1" smtClean="0">
                                    <a:latin typeface="Cambria Math" panose="02040503050406030204" pitchFamily="18" charset="0"/>
                                  </a:rPr>
                                  <m:t>+</m:t>
                                </m:r>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24</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800</a:t>
                          </a:r>
                          <a:endParaRPr lang="en-US" sz="1500" b="0" dirty="0"/>
                        </a:p>
                      </a:txBody>
                      <a:tcPr/>
                    </a:tc>
                    <a:extLst>
                      <a:ext uri="{0D108BD9-81ED-4DB2-BD59-A6C34878D82A}">
                        <a16:rowId xmlns:a16="http://schemas.microsoft.com/office/drawing/2014/main" val="4092728226"/>
                      </a:ext>
                    </a:extLst>
                  </a:tr>
                  <a:tr h="370840">
                    <a:tc>
                      <a:txBody>
                        <a:bodyPr/>
                        <a:lstStyle/>
                        <a:p>
                          <a:endParaRPr lang="en-US" sz="15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12</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13</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14</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21</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22</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23</m:t>
                                    </m:r>
                                  </m:sub>
                                </m:sSub>
                              </m:oMath>
                            </m:oMathPara>
                          </a14:m>
                          <a:endParaRPr lang="en-US" sz="15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1500" b="0" i="1" smtClean="0">
                                        <a:latin typeface="Cambria Math" panose="02040503050406030204" pitchFamily="18" charset="0"/>
                                      </a:rPr>
                                    </m:ctrlPr>
                                  </m:sSubPr>
                                  <m:e>
                                    <m:r>
                                      <a:rPr lang="tr-TR" sz="1500" b="0" i="1" smtClean="0">
                                        <a:latin typeface="Cambria Math" panose="02040503050406030204" pitchFamily="18" charset="0"/>
                                      </a:rPr>
                                      <m:t>𝑋</m:t>
                                    </m:r>
                                  </m:e>
                                  <m:sub>
                                    <m:r>
                                      <a:rPr lang="tr-TR" sz="1500" b="0" i="1" smtClean="0">
                                        <a:latin typeface="Cambria Math" panose="02040503050406030204" pitchFamily="18" charset="0"/>
                                      </a:rPr>
                                      <m:t>24</m:t>
                                    </m:r>
                                  </m:sub>
                                </m:sSub>
                              </m:oMath>
                            </m:oMathPara>
                          </a14:m>
                          <a:endParaRPr lang="en-US" sz="1500" b="0" dirty="0"/>
                        </a:p>
                      </a:txBody>
                      <a:tcPr/>
                    </a:tc>
                    <a:tc>
                      <a:txBody>
                        <a:bodyPr/>
                        <a:lstStyle/>
                        <a:p>
                          <a:pPr/>
                          <a14:m>
                            <m:oMathPara xmlns:m="http://schemas.openxmlformats.org/officeDocument/2006/math">
                              <m:oMathParaPr>
                                <m:jc m:val="centerGroup"/>
                              </m:oMathParaPr>
                              <m:oMath xmlns:m="http://schemas.openxmlformats.org/officeDocument/2006/math">
                                <m:r>
                                  <a:rPr lang="tr-TR" sz="1500" b="0" i="1" smtClean="0">
                                    <a:latin typeface="Cambria Math" panose="02040503050406030204" pitchFamily="18" charset="0"/>
                                  </a:rPr>
                                  <m:t>≥</m:t>
                                </m:r>
                              </m:oMath>
                            </m:oMathPara>
                          </a14:m>
                          <a:endParaRPr lang="en-US" sz="1500" b="0" dirty="0"/>
                        </a:p>
                      </a:txBody>
                      <a:tcPr/>
                    </a:tc>
                    <a:tc>
                      <a:txBody>
                        <a:bodyPr/>
                        <a:lstStyle/>
                        <a:p>
                          <a:r>
                            <a:rPr lang="tr-TR" sz="1500" b="0" dirty="0"/>
                            <a:t>0</a:t>
                          </a:r>
                          <a:endParaRPr lang="en-US" sz="15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078063743"/>
                  </p:ext>
                </p:extLst>
              </p:nvPr>
            </p:nvGraphicFramePr>
            <p:xfrm>
              <a:off x="1014385" y="2125928"/>
              <a:ext cx="10163229" cy="2966720"/>
            </p:xfrm>
            <a:graphic>
              <a:graphicData uri="http://schemas.openxmlformats.org/drawingml/2006/table">
                <a:tbl>
                  <a:tblPr firstRow="1" bandRow="1">
                    <a:tableStyleId>{2D5ABB26-0587-4C30-8999-92F81FD0307C}</a:tableStyleId>
                  </a:tblPr>
                  <a:tblGrid>
                    <a:gridCol w="1045083">
                      <a:extLst>
                        <a:ext uri="{9D8B030D-6E8A-4147-A177-3AD203B41FA5}">
                          <a16:colId xmlns:a16="http://schemas.microsoft.com/office/drawing/2014/main" val="3888021187"/>
                        </a:ext>
                      </a:extLst>
                    </a:gridCol>
                    <a:gridCol w="882841">
                      <a:extLst>
                        <a:ext uri="{9D8B030D-6E8A-4147-A177-3AD203B41FA5}">
                          <a16:colId xmlns:a16="http://schemas.microsoft.com/office/drawing/2014/main" val="3534266932"/>
                        </a:ext>
                      </a:extLst>
                    </a:gridCol>
                    <a:gridCol w="991667">
                      <a:extLst>
                        <a:ext uri="{9D8B030D-6E8A-4147-A177-3AD203B41FA5}">
                          <a16:colId xmlns:a16="http://schemas.microsoft.com/office/drawing/2014/main" val="3559686337"/>
                        </a:ext>
                      </a:extLst>
                    </a:gridCol>
                    <a:gridCol w="1030161">
                      <a:extLst>
                        <a:ext uri="{9D8B030D-6E8A-4147-A177-3AD203B41FA5}">
                          <a16:colId xmlns:a16="http://schemas.microsoft.com/office/drawing/2014/main" val="1347294665"/>
                        </a:ext>
                      </a:extLst>
                    </a:gridCol>
                    <a:gridCol w="1030161">
                      <a:extLst>
                        <a:ext uri="{9D8B030D-6E8A-4147-A177-3AD203B41FA5}">
                          <a16:colId xmlns:a16="http://schemas.microsoft.com/office/drawing/2014/main" val="2673935178"/>
                        </a:ext>
                      </a:extLst>
                    </a:gridCol>
                    <a:gridCol w="1030161">
                      <a:extLst>
                        <a:ext uri="{9D8B030D-6E8A-4147-A177-3AD203B41FA5}">
                          <a16:colId xmlns:a16="http://schemas.microsoft.com/office/drawing/2014/main" val="2754673891"/>
                        </a:ext>
                      </a:extLst>
                    </a:gridCol>
                    <a:gridCol w="1030161">
                      <a:extLst>
                        <a:ext uri="{9D8B030D-6E8A-4147-A177-3AD203B41FA5}">
                          <a16:colId xmlns:a16="http://schemas.microsoft.com/office/drawing/2014/main" val="3913864312"/>
                        </a:ext>
                      </a:extLst>
                    </a:gridCol>
                    <a:gridCol w="1030161">
                      <a:extLst>
                        <a:ext uri="{9D8B030D-6E8A-4147-A177-3AD203B41FA5}">
                          <a16:colId xmlns:a16="http://schemas.microsoft.com/office/drawing/2014/main" val="1603966149"/>
                        </a:ext>
                      </a:extLst>
                    </a:gridCol>
                    <a:gridCol w="1111123">
                      <a:extLst>
                        <a:ext uri="{9D8B030D-6E8A-4147-A177-3AD203B41FA5}">
                          <a16:colId xmlns:a16="http://schemas.microsoft.com/office/drawing/2014/main" val="3574507723"/>
                        </a:ext>
                      </a:extLst>
                    </a:gridCol>
                    <a:gridCol w="368617">
                      <a:extLst>
                        <a:ext uri="{9D8B030D-6E8A-4147-A177-3AD203B41FA5}">
                          <a16:colId xmlns:a16="http://schemas.microsoft.com/office/drawing/2014/main" val="1158957883"/>
                        </a:ext>
                      </a:extLst>
                    </a:gridCol>
                    <a:gridCol w="613093">
                      <a:extLst>
                        <a:ext uri="{9D8B030D-6E8A-4147-A177-3AD203B41FA5}">
                          <a16:colId xmlns:a16="http://schemas.microsoft.com/office/drawing/2014/main" val="3407547115"/>
                        </a:ext>
                      </a:extLst>
                    </a:gridCol>
                  </a:tblGrid>
                  <a:tr h="370840">
                    <a:tc>
                      <a:txBody>
                        <a:bodyPr/>
                        <a:lstStyle/>
                        <a:p>
                          <a:endParaRPr lang="tr-TR"/>
                        </a:p>
                      </a:txBody>
                      <a:tcPr>
                        <a:blipFill>
                          <a:blip r:embed="rId2"/>
                          <a:stretch>
                            <a:fillRect t="-3279" r="-869767" b="-703279"/>
                          </a:stretch>
                        </a:blipFill>
                      </a:tcPr>
                    </a:tc>
                    <a:tc>
                      <a:txBody>
                        <a:bodyPr/>
                        <a:lstStyle/>
                        <a:p>
                          <a:endParaRPr lang="tr-TR"/>
                        </a:p>
                      </a:txBody>
                      <a:tcPr>
                        <a:blipFill>
                          <a:blip r:embed="rId2"/>
                          <a:stretch>
                            <a:fillRect l="-119444" t="-3279" r="-938889" b="-703279"/>
                          </a:stretch>
                        </a:blipFill>
                      </a:tcPr>
                    </a:tc>
                    <a:tc>
                      <a:txBody>
                        <a:bodyPr/>
                        <a:lstStyle/>
                        <a:p>
                          <a:endParaRPr lang="tr-TR"/>
                        </a:p>
                      </a:txBody>
                      <a:tcPr>
                        <a:blipFill>
                          <a:blip r:embed="rId2"/>
                          <a:stretch>
                            <a:fillRect l="-193865" t="-3279" r="-729448" b="-703279"/>
                          </a:stretch>
                        </a:blipFill>
                      </a:tcPr>
                    </a:tc>
                    <a:tc>
                      <a:txBody>
                        <a:bodyPr/>
                        <a:lstStyle/>
                        <a:p>
                          <a:endParaRPr lang="tr-TR"/>
                        </a:p>
                      </a:txBody>
                      <a:tcPr>
                        <a:blipFill>
                          <a:blip r:embed="rId2"/>
                          <a:stretch>
                            <a:fillRect l="-283432" t="-3279" r="-603550" b="-703279"/>
                          </a:stretch>
                        </a:blipFill>
                      </a:tcPr>
                    </a:tc>
                    <a:tc>
                      <a:txBody>
                        <a:bodyPr/>
                        <a:lstStyle/>
                        <a:p>
                          <a:endParaRPr lang="tr-TR"/>
                        </a:p>
                      </a:txBody>
                      <a:tcPr>
                        <a:blipFill>
                          <a:blip r:embed="rId2"/>
                          <a:stretch>
                            <a:fillRect l="-383432" t="-3279" r="-503550" b="-703279"/>
                          </a:stretch>
                        </a:blipFill>
                      </a:tcPr>
                    </a:tc>
                    <a:tc>
                      <a:txBody>
                        <a:bodyPr/>
                        <a:lstStyle/>
                        <a:p>
                          <a:endParaRPr lang="tr-TR"/>
                        </a:p>
                      </a:txBody>
                      <a:tcPr>
                        <a:blipFill>
                          <a:blip r:embed="rId2"/>
                          <a:stretch>
                            <a:fillRect l="-483432" t="-3279" r="-403550" b="-703279"/>
                          </a:stretch>
                        </a:blipFill>
                      </a:tcPr>
                    </a:tc>
                    <a:tc>
                      <a:txBody>
                        <a:bodyPr/>
                        <a:lstStyle/>
                        <a:p>
                          <a:endParaRPr lang="tr-TR"/>
                        </a:p>
                      </a:txBody>
                      <a:tcPr>
                        <a:blipFill>
                          <a:blip r:embed="rId2"/>
                          <a:stretch>
                            <a:fillRect l="-583432" t="-3279" r="-303550" b="-703279"/>
                          </a:stretch>
                        </a:blipFill>
                      </a:tcPr>
                    </a:tc>
                    <a:tc>
                      <a:txBody>
                        <a:bodyPr/>
                        <a:lstStyle/>
                        <a:p>
                          <a:endParaRPr lang="tr-TR"/>
                        </a:p>
                      </a:txBody>
                      <a:tcPr>
                        <a:blipFill>
                          <a:blip r:embed="rId2"/>
                          <a:stretch>
                            <a:fillRect l="-679412" t="-3279" r="-201765" b="-703279"/>
                          </a:stretch>
                        </a:blipFill>
                      </a:tcPr>
                    </a:tc>
                    <a:tc>
                      <a:txBody>
                        <a:bodyPr/>
                        <a:lstStyle/>
                        <a:p>
                          <a:endParaRPr lang="tr-TR"/>
                        </a:p>
                      </a:txBody>
                      <a:tcPr>
                        <a:blipFill>
                          <a:blip r:embed="rId2"/>
                          <a:stretch>
                            <a:fillRect l="-728022" t="-3279" r="-88462" b="-703279"/>
                          </a:stretch>
                        </a:blipFill>
                      </a:tcPr>
                    </a:tc>
                    <a:tc>
                      <a:txBody>
                        <a:bodyPr/>
                        <a:lstStyle/>
                        <a:p>
                          <a:endParaRPr lang="en-US" sz="1500" b="0" dirty="0"/>
                        </a:p>
                      </a:txBody>
                      <a:tcPr/>
                    </a:tc>
                    <a:tc>
                      <a:txBody>
                        <a:bodyPr/>
                        <a:lstStyle/>
                        <a:p>
                          <a:endParaRPr lang="en-US" sz="1500" b="0" dirty="0"/>
                        </a:p>
                      </a:txBody>
                      <a:tcPr/>
                    </a:tc>
                    <a:extLst>
                      <a:ext uri="{0D108BD9-81ED-4DB2-BD59-A6C34878D82A}">
                        <a16:rowId xmlns:a16="http://schemas.microsoft.com/office/drawing/2014/main" val="1915566640"/>
                      </a:ext>
                    </a:extLst>
                  </a:tr>
                  <a:tr h="370840">
                    <a:tc>
                      <a:txBody>
                        <a:bodyPr/>
                        <a:lstStyle/>
                        <a:p>
                          <a:r>
                            <a:rPr lang="tr-TR" sz="1500" dirty="0"/>
                            <a:t>Subject to</a:t>
                          </a:r>
                          <a:endParaRPr lang="en-US" sz="1500" dirty="0"/>
                        </a:p>
                      </a:txBody>
                      <a:tcPr/>
                    </a:tc>
                    <a:tc>
                      <a:txBody>
                        <a:bodyPr/>
                        <a:lstStyle/>
                        <a:p>
                          <a:endParaRPr lang="tr-TR"/>
                        </a:p>
                      </a:txBody>
                      <a:tcPr>
                        <a:blipFill>
                          <a:blip r:embed="rId2"/>
                          <a:stretch>
                            <a:fillRect l="-119444" t="-103279" r="-938889" b="-603279"/>
                          </a:stretch>
                        </a:blipFill>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483432" t="-103279" r="-403550" b="-603279"/>
                          </a:stretch>
                        </a:blipFill>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2511667" t="-103279" r="-168333" b="-603279"/>
                          </a:stretch>
                        </a:blipFill>
                      </a:tcPr>
                    </a:tc>
                    <a:tc>
                      <a:txBody>
                        <a:bodyPr/>
                        <a:lstStyle/>
                        <a:p>
                          <a:r>
                            <a:rPr lang="tr-TR" sz="1500" b="0" dirty="0" smtClean="0"/>
                            <a:t>150</a:t>
                          </a:r>
                          <a:endParaRPr lang="en-US" sz="1500" b="0" dirty="0"/>
                        </a:p>
                      </a:txBody>
                      <a:tcPr/>
                    </a:tc>
                    <a:extLst>
                      <a:ext uri="{0D108BD9-81ED-4DB2-BD59-A6C34878D82A}">
                        <a16:rowId xmlns:a16="http://schemas.microsoft.com/office/drawing/2014/main" val="1849586065"/>
                      </a:ext>
                    </a:extLst>
                  </a:tr>
                  <a:tr h="370840">
                    <a:tc>
                      <a:txBody>
                        <a:bodyPr/>
                        <a:lstStyle/>
                        <a:p>
                          <a:endParaRPr lang="en-US" sz="1500" dirty="0"/>
                        </a:p>
                      </a:txBody>
                      <a:tcPr/>
                    </a:tc>
                    <a:tc>
                      <a:txBody>
                        <a:bodyPr/>
                        <a:lstStyle/>
                        <a:p>
                          <a:pPr algn="r"/>
                          <a:endParaRPr lang="en-US" sz="1500" b="0" dirty="0"/>
                        </a:p>
                      </a:txBody>
                      <a:tcPr/>
                    </a:tc>
                    <a:tc>
                      <a:txBody>
                        <a:bodyPr/>
                        <a:lstStyle/>
                        <a:p>
                          <a:endParaRPr lang="tr-TR"/>
                        </a:p>
                      </a:txBody>
                      <a:tcPr>
                        <a:blipFill>
                          <a:blip r:embed="rId2"/>
                          <a:stretch>
                            <a:fillRect l="-193865" t="-203279" r="-729448" b="-503279"/>
                          </a:stretch>
                        </a:blipFill>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583432" t="-203279" r="-303550" b="-503279"/>
                          </a:stretch>
                        </a:blipFill>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2511667" t="-203279" r="-168333" b="-503279"/>
                          </a:stretch>
                        </a:blipFill>
                      </a:tcPr>
                    </a:tc>
                    <a:tc>
                      <a:txBody>
                        <a:bodyPr/>
                        <a:lstStyle/>
                        <a:p>
                          <a:r>
                            <a:rPr lang="tr-TR" sz="1500" b="0" dirty="0" smtClean="0"/>
                            <a:t>350</a:t>
                          </a:r>
                          <a:endParaRPr lang="en-US" sz="1500" b="0" dirty="0"/>
                        </a:p>
                      </a:txBody>
                      <a:tcPr/>
                    </a:tc>
                    <a:extLst>
                      <a:ext uri="{0D108BD9-81ED-4DB2-BD59-A6C34878D82A}">
                        <a16:rowId xmlns:a16="http://schemas.microsoft.com/office/drawing/2014/main" val="3907794430"/>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283432" t="-303279" r="-603550" b="-403279"/>
                          </a:stretch>
                        </a:blipFill>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679412" t="-303279" r="-201765" b="-403279"/>
                          </a:stretch>
                        </a:blipFill>
                      </a:tcPr>
                    </a:tc>
                    <a:tc>
                      <a:txBody>
                        <a:bodyPr/>
                        <a:lstStyle/>
                        <a:p>
                          <a:pPr algn="r"/>
                          <a:endParaRPr lang="en-US" sz="1500" b="0" dirty="0"/>
                        </a:p>
                      </a:txBody>
                      <a:tcPr/>
                    </a:tc>
                    <a:tc>
                      <a:txBody>
                        <a:bodyPr/>
                        <a:lstStyle/>
                        <a:p>
                          <a:endParaRPr lang="tr-TR"/>
                        </a:p>
                      </a:txBody>
                      <a:tcPr>
                        <a:blipFill>
                          <a:blip r:embed="rId2"/>
                          <a:stretch>
                            <a:fillRect l="-2511667" t="-303279" r="-168333" b="-403279"/>
                          </a:stretch>
                        </a:blipFill>
                      </a:tcPr>
                    </a:tc>
                    <a:tc>
                      <a:txBody>
                        <a:bodyPr/>
                        <a:lstStyle/>
                        <a:p>
                          <a:r>
                            <a:rPr lang="tr-TR" sz="1500" b="0" dirty="0" smtClean="0"/>
                            <a:t>500</a:t>
                          </a:r>
                          <a:endParaRPr lang="en-US" sz="1500" b="0" dirty="0"/>
                        </a:p>
                      </a:txBody>
                      <a:tcPr/>
                    </a:tc>
                    <a:extLst>
                      <a:ext uri="{0D108BD9-81ED-4DB2-BD59-A6C34878D82A}">
                        <a16:rowId xmlns:a16="http://schemas.microsoft.com/office/drawing/2014/main" val="3381761340"/>
                      </a:ext>
                    </a:extLst>
                  </a:tr>
                  <a:tr h="370840">
                    <a:tc>
                      <a:txBody>
                        <a:bodyPr/>
                        <a:lstStyle/>
                        <a:p>
                          <a:endParaRPr lang="en-US" sz="1500" dirty="0"/>
                        </a:p>
                      </a:txBody>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383432" t="-403279" r="-503550" b="-303279"/>
                          </a:stretch>
                        </a:blipFill>
                      </a:tcPr>
                    </a:tc>
                    <a:tc>
                      <a:txBody>
                        <a:bodyPr/>
                        <a:lstStyle/>
                        <a:p>
                          <a:pPr algn="r"/>
                          <a:endParaRPr lang="en-US" sz="1500" b="0" dirty="0"/>
                        </a:p>
                      </a:txBody>
                      <a:tcPr/>
                    </a:tc>
                    <a:tc>
                      <a:txBody>
                        <a:bodyPr/>
                        <a:lstStyle/>
                        <a:p>
                          <a:pPr algn="r"/>
                          <a:endParaRPr lang="en-US" sz="1500" b="0" dirty="0"/>
                        </a:p>
                      </a:txBody>
                      <a:tcPr/>
                    </a:tc>
                    <a:tc>
                      <a:txBody>
                        <a:bodyPr/>
                        <a:lstStyle/>
                        <a:p>
                          <a:pPr algn="r"/>
                          <a:endParaRPr lang="en-US" sz="1500" b="0" dirty="0"/>
                        </a:p>
                      </a:txBody>
                      <a:tcPr/>
                    </a:tc>
                    <a:tc>
                      <a:txBody>
                        <a:bodyPr/>
                        <a:lstStyle/>
                        <a:p>
                          <a:endParaRPr lang="tr-TR"/>
                        </a:p>
                      </a:txBody>
                      <a:tcPr>
                        <a:blipFill>
                          <a:blip r:embed="rId2"/>
                          <a:stretch>
                            <a:fillRect l="-728022" t="-403279" r="-88462" b="-303279"/>
                          </a:stretch>
                        </a:blipFill>
                      </a:tcPr>
                    </a:tc>
                    <a:tc>
                      <a:txBody>
                        <a:bodyPr/>
                        <a:lstStyle/>
                        <a:p>
                          <a:endParaRPr lang="tr-TR"/>
                        </a:p>
                      </a:txBody>
                      <a:tcPr>
                        <a:blipFill>
                          <a:blip r:embed="rId2"/>
                          <a:stretch>
                            <a:fillRect l="-2511667" t="-403279" r="-168333" b="-303279"/>
                          </a:stretch>
                        </a:blipFill>
                      </a:tcPr>
                    </a:tc>
                    <a:tc>
                      <a:txBody>
                        <a:bodyPr/>
                        <a:lstStyle/>
                        <a:p>
                          <a:r>
                            <a:rPr lang="tr-TR" sz="1500" b="0" dirty="0" smtClean="0"/>
                            <a:t>1000</a:t>
                          </a:r>
                          <a:endParaRPr lang="en-US" sz="1500" b="0" dirty="0"/>
                        </a:p>
                      </a:txBody>
                      <a:tcPr/>
                    </a:tc>
                    <a:extLst>
                      <a:ext uri="{0D108BD9-81ED-4DB2-BD59-A6C34878D82A}">
                        <a16:rowId xmlns:a16="http://schemas.microsoft.com/office/drawing/2014/main" val="3976070994"/>
                      </a:ext>
                    </a:extLst>
                  </a:tr>
                  <a:tr h="370840">
                    <a:tc>
                      <a:txBody>
                        <a:bodyPr/>
                        <a:lstStyle/>
                        <a:p>
                          <a:endParaRPr lang="en-US" sz="1500" dirty="0"/>
                        </a:p>
                      </a:txBody>
                      <a:tcPr/>
                    </a:tc>
                    <a:tc>
                      <a:txBody>
                        <a:bodyPr/>
                        <a:lstStyle/>
                        <a:p>
                          <a:endParaRPr lang="tr-TR"/>
                        </a:p>
                      </a:txBody>
                      <a:tcPr>
                        <a:blipFill>
                          <a:blip r:embed="rId2"/>
                          <a:stretch>
                            <a:fillRect l="-119444" t="-503279" r="-938889" b="-203279"/>
                          </a:stretch>
                        </a:blipFill>
                      </a:tcPr>
                    </a:tc>
                    <a:tc>
                      <a:txBody>
                        <a:bodyPr/>
                        <a:lstStyle/>
                        <a:p>
                          <a:endParaRPr lang="tr-TR"/>
                        </a:p>
                      </a:txBody>
                      <a:tcPr>
                        <a:blipFill>
                          <a:blip r:embed="rId2"/>
                          <a:stretch>
                            <a:fillRect l="-193865" t="-503279" r="-729448" b="-203279"/>
                          </a:stretch>
                        </a:blipFill>
                      </a:tcPr>
                    </a:tc>
                    <a:tc>
                      <a:txBody>
                        <a:bodyPr/>
                        <a:lstStyle/>
                        <a:p>
                          <a:endParaRPr lang="tr-TR"/>
                        </a:p>
                      </a:txBody>
                      <a:tcPr>
                        <a:blipFill>
                          <a:blip r:embed="rId2"/>
                          <a:stretch>
                            <a:fillRect l="-283432" t="-503279" r="-603550" b="-203279"/>
                          </a:stretch>
                        </a:blipFill>
                      </a:tcPr>
                    </a:tc>
                    <a:tc>
                      <a:txBody>
                        <a:bodyPr/>
                        <a:lstStyle/>
                        <a:p>
                          <a:endParaRPr lang="tr-TR"/>
                        </a:p>
                      </a:txBody>
                      <a:tcPr>
                        <a:blipFill>
                          <a:blip r:embed="rId2"/>
                          <a:stretch>
                            <a:fillRect l="-383432" t="-503279" r="-503550" b="-203279"/>
                          </a:stretch>
                        </a:blip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endParaRPr lang="tr-TR"/>
                        </a:p>
                      </a:txBody>
                      <a:tcPr>
                        <a:blipFill>
                          <a:blip r:embed="rId2"/>
                          <a:stretch>
                            <a:fillRect l="-2511667" t="-503279" r="-168333" b="-203279"/>
                          </a:stretch>
                        </a:blipFill>
                      </a:tcPr>
                    </a:tc>
                    <a:tc>
                      <a:txBody>
                        <a:bodyPr/>
                        <a:lstStyle/>
                        <a:p>
                          <a:r>
                            <a:rPr lang="tr-TR" sz="1500" b="0" dirty="0" smtClean="0"/>
                            <a:t>1200</a:t>
                          </a:r>
                          <a:endParaRPr lang="en-US" sz="1500" b="0" dirty="0"/>
                        </a:p>
                      </a:txBody>
                      <a:tcPr/>
                    </a:tc>
                    <a:extLst>
                      <a:ext uri="{0D108BD9-81ED-4DB2-BD59-A6C34878D82A}">
                        <a16:rowId xmlns:a16="http://schemas.microsoft.com/office/drawing/2014/main" val="1921098711"/>
                      </a:ext>
                    </a:extLst>
                  </a:tr>
                  <a:tr h="370840">
                    <a:tc>
                      <a:txBody>
                        <a:bodyPr/>
                        <a:lstStyle/>
                        <a:p>
                          <a:endParaRPr lang="en-US" sz="1500" dirty="0"/>
                        </a:p>
                      </a:txBody>
                      <a:tcPr/>
                    </a:tc>
                    <a:tc>
                      <a:txBody>
                        <a:bodyPr/>
                        <a:lstStyle/>
                        <a:p>
                          <a:pPr algn="r"/>
                          <a:endParaRPr lang="en-US" sz="1500" b="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500" b="0" dirty="0"/>
                        </a:p>
                      </a:txBody>
                      <a:tcPr/>
                    </a:tc>
                    <a:tc>
                      <a:txBody>
                        <a:bodyPr/>
                        <a:lstStyle/>
                        <a:p>
                          <a:endParaRPr lang="tr-TR"/>
                        </a:p>
                      </a:txBody>
                      <a:tcPr>
                        <a:blipFill>
                          <a:blip r:embed="rId2"/>
                          <a:stretch>
                            <a:fillRect l="-483432" t="-603279" r="-403550" b="-103279"/>
                          </a:stretch>
                        </a:blipFill>
                      </a:tcPr>
                    </a:tc>
                    <a:tc>
                      <a:txBody>
                        <a:bodyPr/>
                        <a:lstStyle/>
                        <a:p>
                          <a:endParaRPr lang="tr-TR"/>
                        </a:p>
                      </a:txBody>
                      <a:tcPr>
                        <a:blipFill>
                          <a:blip r:embed="rId2"/>
                          <a:stretch>
                            <a:fillRect l="-583432" t="-603279" r="-303550" b="-103279"/>
                          </a:stretch>
                        </a:blipFill>
                      </a:tcPr>
                    </a:tc>
                    <a:tc>
                      <a:txBody>
                        <a:bodyPr/>
                        <a:lstStyle/>
                        <a:p>
                          <a:endParaRPr lang="tr-TR"/>
                        </a:p>
                      </a:txBody>
                      <a:tcPr>
                        <a:blipFill>
                          <a:blip r:embed="rId2"/>
                          <a:stretch>
                            <a:fillRect l="-679412" t="-603279" r="-201765" b="-103279"/>
                          </a:stretch>
                        </a:blipFill>
                      </a:tcPr>
                    </a:tc>
                    <a:tc>
                      <a:txBody>
                        <a:bodyPr/>
                        <a:lstStyle/>
                        <a:p>
                          <a:endParaRPr lang="tr-TR"/>
                        </a:p>
                      </a:txBody>
                      <a:tcPr>
                        <a:blipFill>
                          <a:blip r:embed="rId2"/>
                          <a:stretch>
                            <a:fillRect l="-728022" t="-603279" r="-88462" b="-103279"/>
                          </a:stretch>
                        </a:blipFill>
                      </a:tcPr>
                    </a:tc>
                    <a:tc>
                      <a:txBody>
                        <a:bodyPr/>
                        <a:lstStyle/>
                        <a:p>
                          <a:endParaRPr lang="tr-TR"/>
                        </a:p>
                      </a:txBody>
                      <a:tcPr>
                        <a:blipFill>
                          <a:blip r:embed="rId2"/>
                          <a:stretch>
                            <a:fillRect l="-2511667" t="-603279" r="-168333" b="-103279"/>
                          </a:stretch>
                        </a:blipFill>
                      </a:tcPr>
                    </a:tc>
                    <a:tc>
                      <a:txBody>
                        <a:bodyPr/>
                        <a:lstStyle/>
                        <a:p>
                          <a:r>
                            <a:rPr lang="tr-TR" sz="1500" b="0" dirty="0" smtClean="0"/>
                            <a:t>800</a:t>
                          </a:r>
                          <a:endParaRPr lang="en-US" sz="1500" b="0" dirty="0"/>
                        </a:p>
                      </a:txBody>
                      <a:tcPr/>
                    </a:tc>
                    <a:extLst>
                      <a:ext uri="{0D108BD9-81ED-4DB2-BD59-A6C34878D82A}">
                        <a16:rowId xmlns:a16="http://schemas.microsoft.com/office/drawing/2014/main" val="4092728226"/>
                      </a:ext>
                    </a:extLst>
                  </a:tr>
                  <a:tr h="370840">
                    <a:tc>
                      <a:txBody>
                        <a:bodyPr/>
                        <a:lstStyle/>
                        <a:p>
                          <a:endParaRPr lang="en-US" sz="1500" dirty="0"/>
                        </a:p>
                      </a:txBody>
                      <a:tcPr/>
                    </a:tc>
                    <a:tc>
                      <a:txBody>
                        <a:bodyPr/>
                        <a:lstStyle/>
                        <a:p>
                          <a:endParaRPr lang="tr-TR"/>
                        </a:p>
                      </a:txBody>
                      <a:tcPr>
                        <a:blipFill>
                          <a:blip r:embed="rId2"/>
                          <a:stretch>
                            <a:fillRect l="-119444" t="-703279" r="-938889" b="-3279"/>
                          </a:stretch>
                        </a:blipFill>
                      </a:tcPr>
                    </a:tc>
                    <a:tc>
                      <a:txBody>
                        <a:bodyPr/>
                        <a:lstStyle/>
                        <a:p>
                          <a:endParaRPr lang="tr-TR"/>
                        </a:p>
                      </a:txBody>
                      <a:tcPr>
                        <a:blipFill>
                          <a:blip r:embed="rId2"/>
                          <a:stretch>
                            <a:fillRect l="-193865" t="-703279" r="-729448" b="-3279"/>
                          </a:stretch>
                        </a:blipFill>
                      </a:tcPr>
                    </a:tc>
                    <a:tc>
                      <a:txBody>
                        <a:bodyPr/>
                        <a:lstStyle/>
                        <a:p>
                          <a:endParaRPr lang="tr-TR"/>
                        </a:p>
                      </a:txBody>
                      <a:tcPr>
                        <a:blipFill>
                          <a:blip r:embed="rId2"/>
                          <a:stretch>
                            <a:fillRect l="-283432" t="-703279" r="-603550" b="-3279"/>
                          </a:stretch>
                        </a:blipFill>
                      </a:tcPr>
                    </a:tc>
                    <a:tc>
                      <a:txBody>
                        <a:bodyPr/>
                        <a:lstStyle/>
                        <a:p>
                          <a:endParaRPr lang="tr-TR"/>
                        </a:p>
                      </a:txBody>
                      <a:tcPr>
                        <a:blipFill>
                          <a:blip r:embed="rId2"/>
                          <a:stretch>
                            <a:fillRect l="-383432" t="-703279" r="-503550" b="-3279"/>
                          </a:stretch>
                        </a:blipFill>
                      </a:tcPr>
                    </a:tc>
                    <a:tc>
                      <a:txBody>
                        <a:bodyPr/>
                        <a:lstStyle/>
                        <a:p>
                          <a:endParaRPr lang="tr-TR"/>
                        </a:p>
                      </a:txBody>
                      <a:tcPr>
                        <a:blipFill>
                          <a:blip r:embed="rId2"/>
                          <a:stretch>
                            <a:fillRect l="-483432" t="-703279" r="-403550" b="-3279"/>
                          </a:stretch>
                        </a:blipFill>
                      </a:tcPr>
                    </a:tc>
                    <a:tc>
                      <a:txBody>
                        <a:bodyPr/>
                        <a:lstStyle/>
                        <a:p>
                          <a:endParaRPr lang="tr-TR"/>
                        </a:p>
                      </a:txBody>
                      <a:tcPr>
                        <a:blipFill>
                          <a:blip r:embed="rId2"/>
                          <a:stretch>
                            <a:fillRect l="-583432" t="-703279" r="-303550" b="-3279"/>
                          </a:stretch>
                        </a:blipFill>
                      </a:tcPr>
                    </a:tc>
                    <a:tc>
                      <a:txBody>
                        <a:bodyPr/>
                        <a:lstStyle/>
                        <a:p>
                          <a:endParaRPr lang="tr-TR"/>
                        </a:p>
                      </a:txBody>
                      <a:tcPr>
                        <a:blipFill>
                          <a:blip r:embed="rId2"/>
                          <a:stretch>
                            <a:fillRect l="-679412" t="-703279" r="-201765" b="-3279"/>
                          </a:stretch>
                        </a:blipFill>
                      </a:tcPr>
                    </a:tc>
                    <a:tc>
                      <a:txBody>
                        <a:bodyPr/>
                        <a:lstStyle/>
                        <a:p>
                          <a:endParaRPr lang="tr-TR"/>
                        </a:p>
                      </a:txBody>
                      <a:tcPr>
                        <a:blipFill>
                          <a:blip r:embed="rId2"/>
                          <a:stretch>
                            <a:fillRect l="-728022" t="-703279" r="-88462" b="-3279"/>
                          </a:stretch>
                        </a:blipFill>
                      </a:tcPr>
                    </a:tc>
                    <a:tc>
                      <a:txBody>
                        <a:bodyPr/>
                        <a:lstStyle/>
                        <a:p>
                          <a:endParaRPr lang="tr-TR"/>
                        </a:p>
                      </a:txBody>
                      <a:tcPr>
                        <a:blipFill>
                          <a:blip r:embed="rId2"/>
                          <a:stretch>
                            <a:fillRect l="-2511667" t="-703279" r="-168333" b="-3279"/>
                          </a:stretch>
                        </a:blipFill>
                      </a:tcPr>
                    </a:tc>
                    <a:tc>
                      <a:txBody>
                        <a:bodyPr/>
                        <a:lstStyle/>
                        <a:p>
                          <a:r>
                            <a:rPr lang="tr-TR" sz="1500" b="0" dirty="0"/>
                            <a:t>0</a:t>
                          </a:r>
                          <a:endParaRPr lang="en-US" sz="15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1856231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Multiperiod Production Models</a:t>
            </a:r>
            <a:endParaRPr lang="en-US" dirty="0"/>
          </a:p>
        </p:txBody>
      </p:sp>
      <p:sp>
        <p:nvSpPr>
          <p:cNvPr id="4" name="Content Placeholder 3"/>
          <p:cNvSpPr>
            <a:spLocks noGrp="1"/>
          </p:cNvSpPr>
          <p:nvPr>
            <p:ph idx="1"/>
          </p:nvPr>
        </p:nvSpPr>
        <p:spPr/>
        <p:txBody>
          <a:bodyPr>
            <a:normAutofit/>
          </a:bodyPr>
          <a:lstStyle/>
          <a:p>
            <a:pPr marL="0" indent="0">
              <a:buNone/>
            </a:pPr>
            <a:r>
              <a:rPr lang="en-US" sz="2200" dirty="0"/>
              <a:t>K&amp;L Designs is a home-based company that makes</a:t>
            </a:r>
            <a:r>
              <a:rPr lang="tr-TR" sz="2200" dirty="0"/>
              <a:t> </a:t>
            </a:r>
            <a:r>
              <a:rPr lang="en-US" sz="2200" dirty="0"/>
              <a:t>hand-painted jewelry boxes for teenage girls. Forecasts</a:t>
            </a:r>
            <a:r>
              <a:rPr lang="tr-TR" sz="2200" dirty="0"/>
              <a:t> </a:t>
            </a:r>
            <a:r>
              <a:rPr lang="en-US" sz="2200" dirty="0"/>
              <a:t>of sales for the next year are 150 in the autumn, 400 in the</a:t>
            </a:r>
            <a:r>
              <a:rPr lang="tr-TR" sz="2200" dirty="0"/>
              <a:t> </a:t>
            </a:r>
            <a:r>
              <a:rPr lang="en-US" sz="2200" dirty="0"/>
              <a:t>winter, and 50 in the spring. Plain jewelry boxes are purchased</a:t>
            </a:r>
            <a:r>
              <a:rPr lang="tr-TR" sz="2200" dirty="0"/>
              <a:t> </a:t>
            </a:r>
            <a:r>
              <a:rPr lang="en-US" sz="2200" dirty="0"/>
              <a:t>from a supplier for $20. The cost of capital is estimated</a:t>
            </a:r>
            <a:r>
              <a:rPr lang="tr-TR" sz="2200" dirty="0"/>
              <a:t> </a:t>
            </a:r>
            <a:r>
              <a:rPr lang="en-US" sz="2200" dirty="0"/>
              <a:t>to be 24% per year (or 6% per quarter); thus, the</a:t>
            </a:r>
            <a:r>
              <a:rPr lang="tr-TR" sz="2200" dirty="0"/>
              <a:t> </a:t>
            </a:r>
            <a:r>
              <a:rPr lang="en-US" sz="2200" dirty="0"/>
              <a:t>holding cost per item is 0.06</a:t>
            </a:r>
            <a:r>
              <a:rPr lang="tr-TR" sz="2200" dirty="0"/>
              <a:t>(</a:t>
            </a:r>
            <a:r>
              <a:rPr lang="en-US" sz="2200" dirty="0"/>
              <a:t>$20</a:t>
            </a:r>
            <a:r>
              <a:rPr lang="tr-TR" sz="2200" dirty="0"/>
              <a:t>) =$</a:t>
            </a:r>
            <a:r>
              <a:rPr lang="en-US" sz="2200" dirty="0"/>
              <a:t>1.20 per quarter.</a:t>
            </a:r>
            <a:r>
              <a:rPr lang="tr-TR" sz="2200" dirty="0"/>
              <a:t> </a:t>
            </a:r>
            <a:r>
              <a:rPr lang="en-US" sz="2200" dirty="0"/>
              <a:t>The company hires art students part-time to craft designs</a:t>
            </a:r>
            <a:r>
              <a:rPr lang="tr-TR" sz="2200" dirty="0"/>
              <a:t> </a:t>
            </a:r>
            <a:r>
              <a:rPr lang="en-US" sz="2200" dirty="0"/>
              <a:t>during the autumn, and they earn $5.50 per hour.</a:t>
            </a:r>
            <a:r>
              <a:rPr lang="tr-TR" sz="2200" dirty="0"/>
              <a:t> </a:t>
            </a:r>
            <a:r>
              <a:rPr lang="en-US" sz="2200" dirty="0"/>
              <a:t>Because of the high demand for part-time help during</a:t>
            </a:r>
            <a:r>
              <a:rPr lang="tr-TR" sz="2200" dirty="0"/>
              <a:t> </a:t>
            </a:r>
            <a:r>
              <a:rPr lang="en-US" sz="2200" dirty="0"/>
              <a:t>the winter holiday season, labor rates are higher in the</a:t>
            </a:r>
            <a:r>
              <a:rPr lang="tr-TR" sz="2200" dirty="0"/>
              <a:t> </a:t>
            </a:r>
            <a:r>
              <a:rPr lang="en-US" sz="2200" dirty="0"/>
              <a:t>winter, and workers earn $7.00 per hour. In the spring,</a:t>
            </a:r>
            <a:r>
              <a:rPr lang="tr-TR" sz="2200" dirty="0"/>
              <a:t> </a:t>
            </a:r>
            <a:r>
              <a:rPr lang="en-US" sz="2200" dirty="0"/>
              <a:t>labor is more difficult to keep, and the owner must pay</a:t>
            </a:r>
            <a:r>
              <a:rPr lang="tr-TR" sz="2200" dirty="0"/>
              <a:t> </a:t>
            </a:r>
            <a:r>
              <a:rPr lang="en-US" sz="2200" dirty="0"/>
              <a:t>$6.25 per hour to retain qualified help. Each jewelry box</a:t>
            </a:r>
            <a:r>
              <a:rPr lang="tr-TR" sz="2200" dirty="0"/>
              <a:t> </a:t>
            </a:r>
            <a:r>
              <a:rPr lang="en-US" sz="2200" dirty="0"/>
              <a:t>takes 2 hours to </a:t>
            </a:r>
            <a:r>
              <a:rPr lang="tr-TR" sz="2200" dirty="0"/>
              <a:t>c</a:t>
            </a:r>
            <a:r>
              <a:rPr lang="en-US" sz="2200" dirty="0" err="1"/>
              <a:t>omplete</a:t>
            </a:r>
            <a:r>
              <a:rPr lang="en-US" sz="2200" dirty="0"/>
              <a:t>. How should production be</a:t>
            </a:r>
            <a:r>
              <a:rPr lang="tr-TR" sz="2200" dirty="0"/>
              <a:t> </a:t>
            </a:r>
            <a:r>
              <a:rPr lang="en-US" sz="2200" dirty="0"/>
              <a:t>planned over the three quarters to minimize the combined</a:t>
            </a:r>
            <a:r>
              <a:rPr lang="tr-TR" sz="2200" dirty="0"/>
              <a:t> </a:t>
            </a:r>
            <a:r>
              <a:rPr lang="en-US" sz="2200" dirty="0"/>
              <a:t>production and inventory-holding costs?</a:t>
            </a:r>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4256717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Multiperiod Production Models</a:t>
            </a:r>
            <a:endParaRPr lang="en-US" dirty="0"/>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p:txBody>
              <a:bodyPr>
                <a:normAutofit lnSpcReduction="10000"/>
              </a:bodyPr>
              <a:lstStyle/>
              <a:p>
                <a:r>
                  <a:rPr lang="en-US" sz="2200" dirty="0"/>
                  <a:t>The principal decision variables are the number of</a:t>
                </a:r>
                <a:r>
                  <a:rPr lang="tr-TR" sz="2200" dirty="0"/>
                  <a:t> </a:t>
                </a:r>
                <a:r>
                  <a:rPr lang="en-US" sz="2200" dirty="0"/>
                  <a:t>jewelry boxes to produce during each of the three quarters.</a:t>
                </a:r>
                <a:r>
                  <a:rPr lang="tr-TR" sz="2200" dirty="0"/>
                  <a:t> </a:t>
                </a:r>
                <a:r>
                  <a:rPr lang="en-US" sz="2200" dirty="0"/>
                  <a:t>However, since we have the option of carrying inventory</a:t>
                </a:r>
                <a:r>
                  <a:rPr lang="tr-TR" sz="2200" dirty="0"/>
                  <a:t> </a:t>
                </a:r>
                <a:r>
                  <a:rPr lang="en-US" sz="2200" dirty="0"/>
                  <a:t>to other time periods, we must also define decision</a:t>
                </a:r>
                <a:r>
                  <a:rPr lang="tr-TR" sz="2200" dirty="0"/>
                  <a:t> </a:t>
                </a:r>
                <a:r>
                  <a:rPr lang="en-US" sz="2200" dirty="0"/>
                  <a:t>variables for the number of units to hold in inventory at the</a:t>
                </a:r>
                <a:r>
                  <a:rPr lang="tr-TR" sz="2200" dirty="0"/>
                  <a:t> </a:t>
                </a:r>
                <a:r>
                  <a:rPr lang="en-US" sz="2200" dirty="0"/>
                  <a:t>end of each quarter. </a:t>
                </a:r>
                <a:endParaRPr lang="tr-TR" sz="2200" dirty="0"/>
              </a:p>
              <a:p>
                <a:r>
                  <a:rPr lang="en-US" sz="2200" dirty="0"/>
                  <a:t>The decision variables are</a:t>
                </a:r>
                <a:endParaRPr lang="tr-TR" sz="2200" dirty="0"/>
              </a:p>
              <a:p>
                <a:endParaRPr lang="tr-TR" sz="2200" dirty="0"/>
              </a:p>
              <a:p>
                <a:endParaRPr lang="tr-TR" sz="2200" dirty="0"/>
              </a:p>
              <a:p>
                <a:endParaRPr lang="tr-TR" sz="2200" dirty="0"/>
              </a:p>
              <a:p>
                <a:endParaRPr lang="tr-TR" sz="2200" dirty="0"/>
              </a:p>
              <a:p>
                <a:endParaRPr lang="tr-TR" sz="2200" dirty="0"/>
              </a:p>
              <a:p>
                <a:endParaRPr lang="tr-TR" sz="2200" dirty="0"/>
              </a:p>
              <a:p>
                <a:r>
                  <a:rPr lang="tr-TR" sz="2000" dirty="0"/>
                  <a:t>Objective function is</a:t>
                </a:r>
              </a:p>
              <a:p>
                <a:pPr marL="0" indent="0" algn="ctr">
                  <a:buNone/>
                </a:pPr>
                <a:r>
                  <a:rPr lang="tr-TR" sz="2000" dirty="0"/>
                  <a:t>𝑀𝑖𝑛  </a:t>
                </a:r>
                <a14:m>
                  <m:oMath xmlns:m="http://schemas.openxmlformats.org/officeDocument/2006/math">
                    <m:r>
                      <a:rPr lang="tr-TR" sz="2000" dirty="0">
                        <a:latin typeface="Cambria Math" panose="02040503050406030204" pitchFamily="18" charset="0"/>
                      </a:rPr>
                      <m:t>11</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𝑃</m:t>
                        </m:r>
                      </m:e>
                      <m:sub>
                        <m:r>
                          <a:rPr lang="tr-TR" sz="2000" i="1" dirty="0">
                            <a:latin typeface="Cambria Math" panose="02040503050406030204" pitchFamily="18" charset="0"/>
                          </a:rPr>
                          <m:t>𝐴</m:t>
                        </m:r>
                      </m:sub>
                    </m:sSub>
                    <m:r>
                      <a:rPr lang="tr-TR" sz="2000" i="1" dirty="0">
                        <a:latin typeface="Cambria Math" panose="02040503050406030204" pitchFamily="18" charset="0"/>
                      </a:rPr>
                      <m:t>+14</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𝑃</m:t>
                        </m:r>
                      </m:e>
                      <m:sub>
                        <m:r>
                          <a:rPr lang="tr-TR" sz="2000" i="1" dirty="0">
                            <a:latin typeface="Cambria Math" panose="02040503050406030204" pitchFamily="18" charset="0"/>
                          </a:rPr>
                          <m:t>𝑊</m:t>
                        </m:r>
                      </m:sub>
                    </m:sSub>
                    <m:r>
                      <a:rPr lang="tr-TR" sz="2000" i="1" dirty="0">
                        <a:latin typeface="Cambria Math" panose="02040503050406030204" pitchFamily="18" charset="0"/>
                      </a:rPr>
                      <m:t>+1</m:t>
                    </m:r>
                    <m:r>
                      <a:rPr lang="en-US" sz="2000" b="0" i="1" dirty="0" smtClean="0">
                        <a:latin typeface="Cambria Math" panose="02040503050406030204" pitchFamily="18" charset="0"/>
                      </a:rPr>
                      <m:t>2.5</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𝑃</m:t>
                        </m:r>
                      </m:e>
                      <m:sub>
                        <m:r>
                          <a:rPr lang="tr-TR" sz="2000" i="1" dirty="0">
                            <a:latin typeface="Cambria Math" panose="02040503050406030204" pitchFamily="18" charset="0"/>
                          </a:rPr>
                          <m:t>𝑆</m:t>
                        </m:r>
                      </m:sub>
                    </m:sSub>
                    <m:r>
                      <a:rPr lang="tr-TR" sz="2000" i="1" dirty="0">
                        <a:latin typeface="Cambria Math" panose="02040503050406030204" pitchFamily="18" charset="0"/>
                      </a:rPr>
                      <m:t>+1.20</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𝐼</m:t>
                        </m:r>
                      </m:e>
                      <m:sub>
                        <m:r>
                          <a:rPr lang="tr-TR" sz="2000" i="1" dirty="0">
                            <a:latin typeface="Cambria Math" panose="02040503050406030204" pitchFamily="18" charset="0"/>
                          </a:rPr>
                          <m:t>𝐴</m:t>
                        </m:r>
                      </m:sub>
                    </m:sSub>
                    <m:r>
                      <a:rPr lang="tr-TR" sz="2000" i="1" dirty="0">
                        <a:latin typeface="Cambria Math" panose="02040503050406030204" pitchFamily="18" charset="0"/>
                      </a:rPr>
                      <m:t>+1.20</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𝐼</m:t>
                        </m:r>
                      </m:e>
                      <m:sub>
                        <m:r>
                          <a:rPr lang="tr-TR" sz="2000" i="1" dirty="0">
                            <a:latin typeface="Cambria Math" panose="02040503050406030204" pitchFamily="18" charset="0"/>
                          </a:rPr>
                          <m:t>𝑊</m:t>
                        </m:r>
                      </m:sub>
                    </m:sSub>
                    <m:r>
                      <a:rPr lang="tr-TR" sz="2000" i="1" dirty="0">
                        <a:latin typeface="Cambria Math" panose="02040503050406030204" pitchFamily="18" charset="0"/>
                      </a:rPr>
                      <m:t>+1.20</m:t>
                    </m:r>
                    <m:sSub>
                      <m:sSubPr>
                        <m:ctrlPr>
                          <a:rPr lang="tr-TR" sz="2000" i="1" dirty="0">
                            <a:latin typeface="Cambria Math" panose="02040503050406030204" pitchFamily="18" charset="0"/>
                          </a:rPr>
                        </m:ctrlPr>
                      </m:sSubPr>
                      <m:e>
                        <m:r>
                          <a:rPr lang="tr-TR" sz="2000" i="1" dirty="0">
                            <a:latin typeface="Cambria Math" panose="02040503050406030204" pitchFamily="18" charset="0"/>
                          </a:rPr>
                          <m:t>𝐼</m:t>
                        </m:r>
                      </m:e>
                      <m:sub>
                        <m:r>
                          <a:rPr lang="tr-TR" sz="2000" i="1" dirty="0">
                            <a:latin typeface="Cambria Math" panose="02040503050406030204" pitchFamily="18" charset="0"/>
                          </a:rPr>
                          <m:t>𝑆</m:t>
                        </m:r>
                      </m:sub>
                    </m:sSub>
                  </m:oMath>
                </a14:m>
                <a:endParaRPr lang="tr-TR" sz="2200" dirty="0"/>
              </a:p>
            </p:txBody>
          </p:sp>
        </mc:Choice>
        <mc:Fallback>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696" t="-2107"/>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433002876"/>
                  </p:ext>
                </p:extLst>
              </p:nvPr>
            </p:nvGraphicFramePr>
            <p:xfrm>
              <a:off x="3552825" y="2967356"/>
              <a:ext cx="5315586" cy="2377440"/>
            </p:xfrm>
            <a:graphic>
              <a:graphicData uri="http://schemas.openxmlformats.org/drawingml/2006/table">
                <a:tbl>
                  <a:tblPr firstRow="1" bandRow="1">
                    <a:tableStyleId>{2D5ABB26-0587-4C30-8999-92F81FD0307C}</a:tableStyleId>
                  </a:tblPr>
                  <a:tblGrid>
                    <a:gridCol w="954088">
                      <a:extLst>
                        <a:ext uri="{9D8B030D-6E8A-4147-A177-3AD203B41FA5}">
                          <a16:colId xmlns:a16="http://schemas.microsoft.com/office/drawing/2014/main" val="1863099945"/>
                        </a:ext>
                      </a:extLst>
                    </a:gridCol>
                    <a:gridCol w="4361498">
                      <a:extLst>
                        <a:ext uri="{9D8B030D-6E8A-4147-A177-3AD203B41FA5}">
                          <a16:colId xmlns:a16="http://schemas.microsoft.com/office/drawing/2014/main" val="2205959579"/>
                        </a:ext>
                      </a:extLst>
                    </a:gridCol>
                  </a:tblGrid>
                  <a:tr h="370840">
                    <a:tc>
                      <a:txBody>
                        <a:bodyPr/>
                        <a:lstStyle/>
                        <a:p>
                          <a:pPr algn="r"/>
                          <a14:m>
                            <m:oMathPara xmlns:m="http://schemas.openxmlformats.org/officeDocument/2006/math">
                              <m:oMathParaPr>
                                <m:jc m:val="right"/>
                              </m:oMathParaPr>
                              <m:oMath xmlns:m="http://schemas.openxmlformats.org/officeDocument/2006/math">
                                <m:sSub>
                                  <m:sSubPr>
                                    <m:ctrlPr>
                                      <a:rPr lang="tr-TR" sz="2000" b="0" i="1" dirty="0" smtClean="0">
                                        <a:latin typeface="Cambria Math" panose="02040503050406030204" pitchFamily="18" charset="0"/>
                                      </a:rPr>
                                    </m:ctrlPr>
                                  </m:sSubPr>
                                  <m:e>
                                    <m:r>
                                      <a:rPr lang="en-US" sz="2000" i="1" dirty="0" smtClean="0">
                                        <a:latin typeface="Cambria Math" panose="02040503050406030204" pitchFamily="18" charset="0"/>
                                      </a:rPr>
                                      <m:t>𝑃</m:t>
                                    </m:r>
                                  </m:e>
                                  <m:sub>
                                    <m:r>
                                      <a:rPr lang="en-US" sz="2000" i="1" dirty="0" smtClean="0">
                                        <a:latin typeface="Cambria Math" panose="02040503050406030204" pitchFamily="18" charset="0"/>
                                      </a:rPr>
                                      <m:t>𝐴</m:t>
                                    </m:r>
                                  </m:sub>
                                </m:sSub>
                                <m:r>
                                  <a:rPr lang="tr-TR" sz="2000" b="0" i="1" dirty="0" smtClean="0">
                                    <a:latin typeface="Cambria Math" panose="02040503050406030204" pitchFamily="18" charset="0"/>
                                  </a:rPr>
                                  <m:t>=</m:t>
                                </m:r>
                              </m:oMath>
                            </m:oMathPara>
                          </a14:m>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a:t>A</a:t>
                          </a:r>
                          <a:r>
                            <a:rPr lang="en-US" sz="2000" dirty="0"/>
                            <a:t>mount to produce in autumn</a:t>
                          </a:r>
                        </a:p>
                      </a:txBody>
                      <a:tcPr/>
                    </a:tc>
                    <a:extLst>
                      <a:ext uri="{0D108BD9-81ED-4DB2-BD59-A6C34878D82A}">
                        <a16:rowId xmlns:a16="http://schemas.microsoft.com/office/drawing/2014/main" val="300648712"/>
                      </a:ext>
                    </a:extLst>
                  </a:tr>
                  <a:tr h="370840">
                    <a:tc>
                      <a:txBody>
                        <a:bodyPr/>
                        <a:lstStyle/>
                        <a:p>
                          <a:pPr algn="r"/>
                          <a14:m>
                            <m:oMath xmlns:m="http://schemas.openxmlformats.org/officeDocument/2006/math">
                              <m:sSub>
                                <m:sSubPr>
                                  <m:ctrlPr>
                                    <a:rPr lang="tr-TR" sz="2000" i="1" dirty="0" smtClean="0">
                                      <a:latin typeface="Cambria Math" panose="02040503050406030204" pitchFamily="18" charset="0"/>
                                    </a:rPr>
                                  </m:ctrlPr>
                                </m:sSubPr>
                                <m:e>
                                  <m:r>
                                    <a:rPr lang="en-US" sz="2000" i="1" dirty="0">
                                      <a:latin typeface="Cambria Math" panose="02040503050406030204" pitchFamily="18" charset="0"/>
                                    </a:rPr>
                                    <m:t>𝑃</m:t>
                                  </m:r>
                                </m:e>
                                <m:sub>
                                  <m:r>
                                    <a:rPr lang="tr-TR" sz="2000" b="0" i="1" dirty="0" smtClean="0">
                                      <a:latin typeface="Cambria Math" panose="02040503050406030204" pitchFamily="18" charset="0"/>
                                    </a:rPr>
                                    <m:t>𝑊</m:t>
                                  </m:r>
                                </m:sub>
                              </m:sSub>
                              <m:r>
                                <a:rPr lang="tr-TR" sz="2000" i="1" dirty="0">
                                  <a:latin typeface="Cambria Math" panose="02040503050406030204" pitchFamily="18" charset="0"/>
                                </a:rPr>
                                <m:t>=</m:t>
                              </m:r>
                            </m:oMath>
                          </a14:m>
                          <a:r>
                            <a:rPr lang="en-US" sz="2000" i="1" dirty="0"/>
                            <a:t> </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a:t>A</a:t>
                          </a:r>
                          <a:r>
                            <a:rPr lang="en-US" sz="2000" dirty="0"/>
                            <a:t>mount to produce in spring</a:t>
                          </a:r>
                        </a:p>
                      </a:txBody>
                      <a:tcPr/>
                    </a:tc>
                    <a:extLst>
                      <a:ext uri="{0D108BD9-81ED-4DB2-BD59-A6C34878D82A}">
                        <a16:rowId xmlns:a16="http://schemas.microsoft.com/office/drawing/2014/main" val="1720188875"/>
                      </a:ext>
                    </a:extLst>
                  </a:tr>
                  <a:tr h="370840">
                    <a:tc>
                      <a:txBody>
                        <a:bodyPr/>
                        <a:lstStyle/>
                        <a:p>
                          <a:pPr algn="r"/>
                          <a14:m>
                            <m:oMathPara xmlns:m="http://schemas.openxmlformats.org/officeDocument/2006/math">
                              <m:oMathParaPr>
                                <m:jc m:val="right"/>
                              </m:oMathParaPr>
                              <m:oMath xmlns:m="http://schemas.openxmlformats.org/officeDocument/2006/math">
                                <m:sSub>
                                  <m:sSubPr>
                                    <m:ctrlPr>
                                      <a:rPr lang="tr-TR" sz="2000" i="1" dirty="0" smtClean="0">
                                        <a:latin typeface="Cambria Math" panose="02040503050406030204" pitchFamily="18" charset="0"/>
                                      </a:rPr>
                                    </m:ctrlPr>
                                  </m:sSubPr>
                                  <m:e>
                                    <m:r>
                                      <a:rPr lang="en-US" sz="2000" i="1" dirty="0">
                                        <a:latin typeface="Cambria Math" panose="02040503050406030204" pitchFamily="18" charset="0"/>
                                      </a:rPr>
                                      <m:t>𝑃</m:t>
                                    </m:r>
                                  </m:e>
                                  <m:sub>
                                    <m:r>
                                      <a:rPr lang="tr-TR" sz="2000" b="0" i="1" dirty="0" smtClean="0">
                                        <a:latin typeface="Cambria Math" panose="02040503050406030204" pitchFamily="18" charset="0"/>
                                      </a:rPr>
                                      <m:t>𝑆</m:t>
                                    </m:r>
                                  </m:sub>
                                </m:sSub>
                                <m:r>
                                  <a:rPr lang="tr-TR" sz="2000" i="1" dirty="0">
                                    <a:latin typeface="Cambria Math" panose="02040503050406030204" pitchFamily="18" charset="0"/>
                                  </a:rPr>
                                  <m:t>=</m:t>
                                </m:r>
                              </m:oMath>
                            </m:oMathPara>
                          </a14:m>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a:t>A</a:t>
                          </a:r>
                          <a:r>
                            <a:rPr lang="en-US" sz="2000" dirty="0"/>
                            <a:t>mount to produce in winter</a:t>
                          </a:r>
                        </a:p>
                      </a:txBody>
                      <a:tcPr/>
                    </a:tc>
                    <a:extLst>
                      <a:ext uri="{0D108BD9-81ED-4DB2-BD59-A6C34878D82A}">
                        <a16:rowId xmlns:a16="http://schemas.microsoft.com/office/drawing/2014/main" val="2041060711"/>
                      </a:ext>
                    </a:extLst>
                  </a:tr>
                  <a:tr h="370840">
                    <a:tc>
                      <a:txBody>
                        <a:bodyPr/>
                        <a:lstStyle/>
                        <a:p>
                          <a:pPr algn="r"/>
                          <a14:m>
                            <m:oMathPara xmlns:m="http://schemas.openxmlformats.org/officeDocument/2006/math">
                              <m:oMathParaPr>
                                <m:jc m:val="right"/>
                              </m:oMathParaPr>
                              <m:oMath xmlns:m="http://schemas.openxmlformats.org/officeDocument/2006/math">
                                <m:sSub>
                                  <m:sSubPr>
                                    <m:ctrlPr>
                                      <a:rPr lang="tr-TR" sz="2000" i="1" dirty="0" smtClean="0">
                                        <a:latin typeface="Cambria Math" panose="02040503050406030204" pitchFamily="18" charset="0"/>
                                      </a:rPr>
                                    </m:ctrlPr>
                                  </m:sSubPr>
                                  <m:e>
                                    <m:r>
                                      <a:rPr lang="tr-TR" sz="2000" b="0" i="1" dirty="0" smtClean="0">
                                        <a:latin typeface="Cambria Math" panose="02040503050406030204" pitchFamily="18" charset="0"/>
                                      </a:rPr>
                                      <m:t>𝐼</m:t>
                                    </m:r>
                                  </m:e>
                                  <m:sub>
                                    <m:r>
                                      <a:rPr lang="en-US" sz="2000" i="1" dirty="0">
                                        <a:latin typeface="Cambria Math" panose="02040503050406030204" pitchFamily="18" charset="0"/>
                                      </a:rPr>
                                      <m:t>𝐴</m:t>
                                    </m:r>
                                  </m:sub>
                                </m:sSub>
                                <m:r>
                                  <a:rPr lang="tr-TR" sz="2000" i="1" dirty="0">
                                    <a:latin typeface="Cambria Math" panose="02040503050406030204" pitchFamily="18" charset="0"/>
                                  </a:rPr>
                                  <m:t>=</m:t>
                                </m:r>
                              </m:oMath>
                            </m:oMathPara>
                          </a14:m>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a:t>I</a:t>
                          </a:r>
                          <a:r>
                            <a:rPr lang="en-US" sz="2000" dirty="0" err="1"/>
                            <a:t>nventory</a:t>
                          </a:r>
                          <a:r>
                            <a:rPr lang="en-US" sz="2000" dirty="0"/>
                            <a:t> held at the end of autumn</a:t>
                          </a:r>
                        </a:p>
                      </a:txBody>
                      <a:tcPr/>
                    </a:tc>
                    <a:extLst>
                      <a:ext uri="{0D108BD9-81ED-4DB2-BD59-A6C34878D82A}">
                        <a16:rowId xmlns:a16="http://schemas.microsoft.com/office/drawing/2014/main" val="1510701978"/>
                      </a:ext>
                    </a:extLst>
                  </a:tr>
                  <a:tr h="370840">
                    <a:tc>
                      <a:txBody>
                        <a:bodyPr/>
                        <a:lstStyle/>
                        <a:p>
                          <a:pPr algn="r"/>
                          <a14:m>
                            <m:oMath xmlns:m="http://schemas.openxmlformats.org/officeDocument/2006/math">
                              <m:sSub>
                                <m:sSubPr>
                                  <m:ctrlPr>
                                    <a:rPr lang="tr-TR" sz="2000" i="1" dirty="0" smtClean="0">
                                      <a:latin typeface="Cambria Math" panose="02040503050406030204" pitchFamily="18" charset="0"/>
                                    </a:rPr>
                                  </m:ctrlPr>
                                </m:sSubPr>
                                <m:e>
                                  <m:r>
                                    <a:rPr lang="tr-TR" sz="2000" i="1" dirty="0">
                                      <a:latin typeface="Cambria Math" panose="02040503050406030204" pitchFamily="18" charset="0"/>
                                    </a:rPr>
                                    <m:t>𝐼</m:t>
                                  </m:r>
                                </m:e>
                                <m:sub>
                                  <m:r>
                                    <a:rPr lang="tr-TR" sz="2000" b="0" i="1" dirty="0" smtClean="0">
                                      <a:latin typeface="Cambria Math" panose="02040503050406030204" pitchFamily="18" charset="0"/>
                                    </a:rPr>
                                    <m:t>𝑊</m:t>
                                  </m:r>
                                </m:sub>
                              </m:sSub>
                              <m:r>
                                <a:rPr lang="tr-TR" sz="2000" i="1" dirty="0">
                                  <a:latin typeface="Cambria Math" panose="02040503050406030204" pitchFamily="18" charset="0"/>
                                </a:rPr>
                                <m:t>=</m:t>
                              </m:r>
                            </m:oMath>
                          </a14:m>
                          <a:r>
                            <a:rPr lang="en-US" sz="2000" i="1" dirty="0"/>
                            <a:t> </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a:t>I</a:t>
                          </a:r>
                          <a:r>
                            <a:rPr lang="en-US" sz="2000" dirty="0" err="1"/>
                            <a:t>nventory</a:t>
                          </a:r>
                          <a:r>
                            <a:rPr lang="en-US" sz="2000" dirty="0"/>
                            <a:t> held at the end of winter</a:t>
                          </a:r>
                        </a:p>
                      </a:txBody>
                      <a:tcPr/>
                    </a:tc>
                    <a:extLst>
                      <a:ext uri="{0D108BD9-81ED-4DB2-BD59-A6C34878D82A}">
                        <a16:rowId xmlns:a16="http://schemas.microsoft.com/office/drawing/2014/main" val="2989103412"/>
                      </a:ext>
                    </a:extLst>
                  </a:tr>
                  <a:tr h="370840">
                    <a:tc>
                      <a:txBody>
                        <a:bodyPr/>
                        <a:lstStyle/>
                        <a:p>
                          <a:pPr algn="r"/>
                          <a14:m>
                            <m:oMathPara xmlns:m="http://schemas.openxmlformats.org/officeDocument/2006/math">
                              <m:oMathParaPr>
                                <m:jc m:val="right"/>
                              </m:oMathParaPr>
                              <m:oMath xmlns:m="http://schemas.openxmlformats.org/officeDocument/2006/math">
                                <m:sSub>
                                  <m:sSubPr>
                                    <m:ctrlPr>
                                      <a:rPr lang="tr-TR" sz="2000" i="1" dirty="0" smtClean="0">
                                        <a:latin typeface="Cambria Math" panose="02040503050406030204" pitchFamily="18" charset="0"/>
                                      </a:rPr>
                                    </m:ctrlPr>
                                  </m:sSubPr>
                                  <m:e>
                                    <m:r>
                                      <a:rPr lang="tr-TR" sz="2000" i="1" dirty="0">
                                        <a:latin typeface="Cambria Math" panose="02040503050406030204" pitchFamily="18" charset="0"/>
                                      </a:rPr>
                                      <m:t>𝐼</m:t>
                                    </m:r>
                                  </m:e>
                                  <m:sub>
                                    <m:r>
                                      <a:rPr lang="tr-TR" sz="2000" b="0" i="1" dirty="0" smtClean="0">
                                        <a:latin typeface="Cambria Math" panose="02040503050406030204" pitchFamily="18" charset="0"/>
                                      </a:rPr>
                                      <m:t>𝑆</m:t>
                                    </m:r>
                                  </m:sub>
                                </m:sSub>
                                <m:r>
                                  <a:rPr lang="tr-TR" sz="2000" i="1" dirty="0">
                                    <a:latin typeface="Cambria Math" panose="02040503050406030204" pitchFamily="18" charset="0"/>
                                  </a:rPr>
                                  <m:t>=</m:t>
                                </m:r>
                              </m:oMath>
                            </m:oMathPara>
                          </a14:m>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a:t>I</a:t>
                          </a:r>
                          <a:r>
                            <a:rPr lang="en-US" sz="2000" dirty="0" err="1"/>
                            <a:t>nventory</a:t>
                          </a:r>
                          <a:r>
                            <a:rPr lang="en-US" sz="2000" dirty="0"/>
                            <a:t> held at the end of spring</a:t>
                          </a:r>
                        </a:p>
                      </a:txBody>
                      <a:tcPr/>
                    </a:tc>
                    <a:extLst>
                      <a:ext uri="{0D108BD9-81ED-4DB2-BD59-A6C34878D82A}">
                        <a16:rowId xmlns:a16="http://schemas.microsoft.com/office/drawing/2014/main" val="7748485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433002876"/>
                  </p:ext>
                </p:extLst>
              </p:nvPr>
            </p:nvGraphicFramePr>
            <p:xfrm>
              <a:off x="3552825" y="2967356"/>
              <a:ext cx="5315586" cy="2377440"/>
            </p:xfrm>
            <a:graphic>
              <a:graphicData uri="http://schemas.openxmlformats.org/drawingml/2006/table">
                <a:tbl>
                  <a:tblPr firstRow="1" bandRow="1">
                    <a:tableStyleId>{2D5ABB26-0587-4C30-8999-92F81FD0307C}</a:tableStyleId>
                  </a:tblPr>
                  <a:tblGrid>
                    <a:gridCol w="954088">
                      <a:extLst>
                        <a:ext uri="{9D8B030D-6E8A-4147-A177-3AD203B41FA5}">
                          <a16:colId xmlns:a16="http://schemas.microsoft.com/office/drawing/2014/main" val="1863099945"/>
                        </a:ext>
                      </a:extLst>
                    </a:gridCol>
                    <a:gridCol w="4361498">
                      <a:extLst>
                        <a:ext uri="{9D8B030D-6E8A-4147-A177-3AD203B41FA5}">
                          <a16:colId xmlns:a16="http://schemas.microsoft.com/office/drawing/2014/main" val="2205959579"/>
                        </a:ext>
                      </a:extLst>
                    </a:gridCol>
                  </a:tblGrid>
                  <a:tr h="396240">
                    <a:tc>
                      <a:txBody>
                        <a:bodyPr/>
                        <a:lstStyle/>
                        <a:p>
                          <a:endParaRPr lang="tr-TR"/>
                        </a:p>
                      </a:txBody>
                      <a:tcPr>
                        <a:blipFill>
                          <a:blip r:embed="rId3"/>
                          <a:stretch>
                            <a:fillRect t="-7692" r="-456051" b="-52923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smtClean="0"/>
                            <a:t>A</a:t>
                          </a:r>
                          <a:r>
                            <a:rPr lang="en-US" sz="2000" dirty="0" smtClean="0"/>
                            <a:t>mount to produce in autumn</a:t>
                          </a:r>
                        </a:p>
                      </a:txBody>
                      <a:tcPr/>
                    </a:tc>
                    <a:extLst>
                      <a:ext uri="{0D108BD9-81ED-4DB2-BD59-A6C34878D82A}">
                        <a16:rowId xmlns:a16="http://schemas.microsoft.com/office/drawing/2014/main" val="300648712"/>
                      </a:ext>
                    </a:extLst>
                  </a:tr>
                  <a:tr h="396240">
                    <a:tc>
                      <a:txBody>
                        <a:bodyPr/>
                        <a:lstStyle/>
                        <a:p>
                          <a:endParaRPr lang="tr-TR"/>
                        </a:p>
                      </a:txBody>
                      <a:tcPr>
                        <a:blipFill>
                          <a:blip r:embed="rId3"/>
                          <a:stretch>
                            <a:fillRect t="-107692" r="-456051" b="-42923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smtClean="0"/>
                            <a:t>A</a:t>
                          </a:r>
                          <a:r>
                            <a:rPr lang="en-US" sz="2000" dirty="0" smtClean="0"/>
                            <a:t>mount to produce in spring</a:t>
                          </a:r>
                        </a:p>
                      </a:txBody>
                      <a:tcPr/>
                    </a:tc>
                    <a:extLst>
                      <a:ext uri="{0D108BD9-81ED-4DB2-BD59-A6C34878D82A}">
                        <a16:rowId xmlns:a16="http://schemas.microsoft.com/office/drawing/2014/main" val="1720188875"/>
                      </a:ext>
                    </a:extLst>
                  </a:tr>
                  <a:tr h="396240">
                    <a:tc>
                      <a:txBody>
                        <a:bodyPr/>
                        <a:lstStyle/>
                        <a:p>
                          <a:endParaRPr lang="tr-TR"/>
                        </a:p>
                      </a:txBody>
                      <a:tcPr>
                        <a:blipFill>
                          <a:blip r:embed="rId3"/>
                          <a:stretch>
                            <a:fillRect t="-204545" r="-456051" b="-32272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smtClean="0"/>
                            <a:t>A</a:t>
                          </a:r>
                          <a:r>
                            <a:rPr lang="en-US" sz="2000" dirty="0" smtClean="0"/>
                            <a:t>mount to produce in winter</a:t>
                          </a:r>
                        </a:p>
                      </a:txBody>
                      <a:tcPr/>
                    </a:tc>
                    <a:extLst>
                      <a:ext uri="{0D108BD9-81ED-4DB2-BD59-A6C34878D82A}">
                        <a16:rowId xmlns:a16="http://schemas.microsoft.com/office/drawing/2014/main" val="2041060711"/>
                      </a:ext>
                    </a:extLst>
                  </a:tr>
                  <a:tr h="396240">
                    <a:tc>
                      <a:txBody>
                        <a:bodyPr/>
                        <a:lstStyle/>
                        <a:p>
                          <a:endParaRPr lang="tr-TR"/>
                        </a:p>
                      </a:txBody>
                      <a:tcPr>
                        <a:blipFill>
                          <a:blip r:embed="rId3"/>
                          <a:stretch>
                            <a:fillRect t="-309231" r="-456051" b="-22769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smtClean="0"/>
                            <a:t>I</a:t>
                          </a:r>
                          <a:r>
                            <a:rPr lang="en-US" sz="2000" dirty="0" err="1" smtClean="0"/>
                            <a:t>nventory</a:t>
                          </a:r>
                          <a:r>
                            <a:rPr lang="en-US" sz="2000" dirty="0" smtClean="0"/>
                            <a:t> held at the end of autumn</a:t>
                          </a:r>
                        </a:p>
                      </a:txBody>
                      <a:tcPr/>
                    </a:tc>
                    <a:extLst>
                      <a:ext uri="{0D108BD9-81ED-4DB2-BD59-A6C34878D82A}">
                        <a16:rowId xmlns:a16="http://schemas.microsoft.com/office/drawing/2014/main" val="1510701978"/>
                      </a:ext>
                    </a:extLst>
                  </a:tr>
                  <a:tr h="396240">
                    <a:tc>
                      <a:txBody>
                        <a:bodyPr/>
                        <a:lstStyle/>
                        <a:p>
                          <a:endParaRPr lang="tr-TR"/>
                        </a:p>
                      </a:txBody>
                      <a:tcPr>
                        <a:blipFill>
                          <a:blip r:embed="rId3"/>
                          <a:stretch>
                            <a:fillRect t="-409231" r="-456051" b="-12769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smtClean="0"/>
                            <a:t>I</a:t>
                          </a:r>
                          <a:r>
                            <a:rPr lang="en-US" sz="2000" dirty="0" err="1" smtClean="0"/>
                            <a:t>nventory</a:t>
                          </a:r>
                          <a:r>
                            <a:rPr lang="en-US" sz="2000" dirty="0" smtClean="0"/>
                            <a:t> held at the end of winter</a:t>
                          </a:r>
                        </a:p>
                      </a:txBody>
                      <a:tcPr/>
                    </a:tc>
                    <a:extLst>
                      <a:ext uri="{0D108BD9-81ED-4DB2-BD59-A6C34878D82A}">
                        <a16:rowId xmlns:a16="http://schemas.microsoft.com/office/drawing/2014/main" val="2989103412"/>
                      </a:ext>
                    </a:extLst>
                  </a:tr>
                  <a:tr h="396240">
                    <a:tc>
                      <a:txBody>
                        <a:bodyPr/>
                        <a:lstStyle/>
                        <a:p>
                          <a:endParaRPr lang="tr-TR"/>
                        </a:p>
                      </a:txBody>
                      <a:tcPr>
                        <a:blipFill>
                          <a:blip r:embed="rId3"/>
                          <a:stretch>
                            <a:fillRect t="-509231" r="-456051" b="-2769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2000" dirty="0" smtClean="0"/>
                            <a:t>I</a:t>
                          </a:r>
                          <a:r>
                            <a:rPr lang="en-US" sz="2000" dirty="0" err="1" smtClean="0"/>
                            <a:t>nventory</a:t>
                          </a:r>
                          <a:r>
                            <a:rPr lang="en-US" sz="2000" dirty="0" smtClean="0"/>
                            <a:t> held at the end of spring</a:t>
                          </a:r>
                        </a:p>
                      </a:txBody>
                      <a:tcPr/>
                    </a:tc>
                    <a:extLst>
                      <a:ext uri="{0D108BD9-81ED-4DB2-BD59-A6C34878D82A}">
                        <a16:rowId xmlns:a16="http://schemas.microsoft.com/office/drawing/2014/main" val="774848505"/>
                      </a:ext>
                    </a:extLst>
                  </a:tr>
                </a:tbl>
              </a:graphicData>
            </a:graphic>
          </p:graphicFrame>
        </mc:Fallback>
      </mc:AlternateContent>
    </p:spTree>
    <p:extLst>
      <p:ext uri="{BB962C8B-B14F-4D97-AF65-F5344CB8AC3E}">
        <p14:creationId xmlns:p14="http://schemas.microsoft.com/office/powerpoint/2010/main" val="293309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Multiperiod Production Models</a:t>
            </a:r>
            <a:endParaRPr lang="en-US" dirty="0"/>
          </a:p>
        </p:txBody>
      </p:sp>
      <p:sp>
        <p:nvSpPr>
          <p:cNvPr id="4" name="Content Placeholder 3"/>
          <p:cNvSpPr>
            <a:spLocks noGrp="1"/>
          </p:cNvSpPr>
          <p:nvPr>
            <p:ph idx="1"/>
          </p:nvPr>
        </p:nvSpPr>
        <p:spPr/>
        <p:txBody>
          <a:bodyPr>
            <a:normAutofit/>
          </a:bodyPr>
          <a:lstStyle/>
          <a:p>
            <a:r>
              <a:rPr lang="tr-TR" sz="2200" dirty="0"/>
              <a:t>The only explicit constraint is demand constraint.</a:t>
            </a:r>
          </a:p>
          <a:p>
            <a:r>
              <a:rPr lang="en-US" sz="2200" dirty="0"/>
              <a:t>Note that both the production in a quarter as</a:t>
            </a:r>
            <a:r>
              <a:rPr lang="tr-TR" sz="2200" dirty="0"/>
              <a:t> </a:t>
            </a:r>
            <a:r>
              <a:rPr lang="en-US" sz="2200" dirty="0"/>
              <a:t>well as the inventory held from the previous time quarter</a:t>
            </a:r>
            <a:r>
              <a:rPr lang="tr-TR" sz="2200" dirty="0"/>
              <a:t> </a:t>
            </a:r>
            <a:r>
              <a:rPr lang="en-US" sz="2200" dirty="0"/>
              <a:t>can be used to satisfy demand.</a:t>
            </a:r>
            <a:endParaRPr lang="tr-TR" sz="2200" dirty="0"/>
          </a:p>
          <a:p>
            <a:r>
              <a:rPr lang="en-US" sz="2200" dirty="0"/>
              <a:t>In addition, any amount in</a:t>
            </a:r>
            <a:r>
              <a:rPr lang="tr-TR" sz="2200" dirty="0"/>
              <a:t> </a:t>
            </a:r>
            <a:r>
              <a:rPr lang="en-US" sz="2200" dirty="0"/>
              <a:t>excess of the demand is held to the next quarter.</a:t>
            </a:r>
            <a:endParaRPr lang="tr-TR" sz="2200" dirty="0"/>
          </a:p>
          <a:p>
            <a:r>
              <a:rPr lang="en-US" sz="2200" dirty="0"/>
              <a:t>Therefore,</a:t>
            </a:r>
            <a:r>
              <a:rPr lang="tr-TR" sz="2200" dirty="0"/>
              <a:t> </a:t>
            </a:r>
            <a:r>
              <a:rPr lang="en-US" sz="2200" dirty="0"/>
              <a:t>the constraints take the form of inventory balance</a:t>
            </a:r>
            <a:r>
              <a:rPr lang="tr-TR" sz="2200" dirty="0"/>
              <a:t> </a:t>
            </a:r>
            <a:r>
              <a:rPr lang="en-US" sz="2200" dirty="0"/>
              <a:t>equations that essentially say that what is available in</a:t>
            </a:r>
            <a:r>
              <a:rPr lang="tr-TR" sz="2200" dirty="0"/>
              <a:t> </a:t>
            </a:r>
            <a:r>
              <a:rPr lang="en-US" sz="2200" dirty="0"/>
              <a:t>any time period must be accounted for somewhere.</a:t>
            </a:r>
            <a:endParaRPr lang="tr-TR" sz="2200" dirty="0"/>
          </a:p>
          <a:p>
            <a:pPr marL="0" indent="0" algn="ctr">
              <a:buNone/>
            </a:pPr>
            <a:r>
              <a:rPr lang="en-US" sz="2000" dirty="0"/>
              <a:t>Production</a:t>
            </a:r>
            <a:r>
              <a:rPr lang="tr-TR" sz="2000" dirty="0"/>
              <a:t>+</a:t>
            </a:r>
            <a:r>
              <a:rPr lang="en-US" sz="2000" dirty="0"/>
              <a:t>inventory from the previous quarter</a:t>
            </a:r>
            <a:r>
              <a:rPr lang="tr-TR" sz="2000" dirty="0"/>
              <a:t> =</a:t>
            </a:r>
            <a:r>
              <a:rPr lang="en-US" sz="2000" dirty="0"/>
              <a:t> demand </a:t>
            </a:r>
            <a:r>
              <a:rPr lang="tr-TR" sz="2000" dirty="0"/>
              <a:t>+</a:t>
            </a:r>
            <a:r>
              <a:rPr lang="en-US" sz="2000" dirty="0"/>
              <a:t>inventory held to the next quarter</a:t>
            </a:r>
            <a:endParaRPr lang="tr-TR" sz="2000" dirty="0"/>
          </a:p>
          <a:p>
            <a:endParaRPr lang="tr-TR" sz="2200"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pSp>
        <p:nvGrpSpPr>
          <p:cNvPr id="37" name="Group 36"/>
          <p:cNvGrpSpPr/>
          <p:nvPr/>
        </p:nvGrpSpPr>
        <p:grpSpPr>
          <a:xfrm>
            <a:off x="1838324" y="4081324"/>
            <a:ext cx="8737484" cy="2306658"/>
            <a:chOff x="1838324" y="4081324"/>
            <a:chExt cx="8737484" cy="2306658"/>
          </a:xfrm>
        </p:grpSpPr>
        <p:grpSp>
          <p:nvGrpSpPr>
            <p:cNvPr id="20" name="Group 19"/>
            <p:cNvGrpSpPr/>
            <p:nvPr/>
          </p:nvGrpSpPr>
          <p:grpSpPr>
            <a:xfrm>
              <a:off x="1838324" y="4107418"/>
              <a:ext cx="2914650" cy="2280564"/>
              <a:chOff x="1838324" y="4107418"/>
              <a:chExt cx="2914650" cy="2280564"/>
            </a:xfrm>
          </p:grpSpPr>
          <p:sp>
            <p:nvSpPr>
              <p:cNvPr id="6" name="Rectangle 5"/>
              <p:cNvSpPr/>
              <p:nvPr/>
            </p:nvSpPr>
            <p:spPr>
              <a:xfrm>
                <a:off x="1838324" y="4810125"/>
                <a:ext cx="1609725"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Autumn</a:t>
                </a:r>
                <a:endParaRPr lang="en-US" dirty="0">
                  <a:solidFill>
                    <a:schemeClr val="tx1"/>
                  </a:solidFill>
                </a:endParaRPr>
              </a:p>
            </p:txBody>
          </p:sp>
          <p:cxnSp>
            <p:nvCxnSpPr>
              <p:cNvPr id="10" name="Straight Arrow Connector 9"/>
              <p:cNvCxnSpPr>
                <a:endCxn id="6" idx="0"/>
              </p:cNvCxnSpPr>
              <p:nvPr/>
            </p:nvCxnSpPr>
            <p:spPr>
              <a:xfrm>
                <a:off x="2643186" y="4143375"/>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2643186" y="4107418"/>
                    <a:ext cx="467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𝐴</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2643186" y="4107418"/>
                    <a:ext cx="467371" cy="369332"/>
                  </a:xfrm>
                  <a:prstGeom prst="rect">
                    <a:avLst/>
                  </a:prstGeom>
                  <a:blipFill>
                    <a:blip r:embed="rId2"/>
                    <a:stretch>
                      <a:fillRect/>
                    </a:stretch>
                  </a:blipFill>
                </p:spPr>
                <p:txBody>
                  <a:bodyPr/>
                  <a:lstStyle/>
                  <a:p>
                    <a:r>
                      <a:rPr lang="en-US">
                        <a:noFill/>
                      </a:rPr>
                      <a:t> </a:t>
                    </a:r>
                  </a:p>
                </p:txBody>
              </p:sp>
            </mc:Fallback>
          </mc:AlternateContent>
          <p:cxnSp>
            <p:nvCxnSpPr>
              <p:cNvPr id="14" name="Straight Arrow Connector 13"/>
              <p:cNvCxnSpPr/>
              <p:nvPr/>
            </p:nvCxnSpPr>
            <p:spPr>
              <a:xfrm>
                <a:off x="2624457" y="5721232"/>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3801886" y="4852274"/>
                    <a:ext cx="4241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3801886" y="4852274"/>
                    <a:ext cx="42415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643185" y="5873234"/>
                    <a:ext cx="6222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150</m:t>
                          </m:r>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643185" y="5873234"/>
                    <a:ext cx="622286" cy="369332"/>
                  </a:xfrm>
                  <a:prstGeom prst="rect">
                    <a:avLst/>
                  </a:prstGeom>
                  <a:blipFill>
                    <a:blip r:embed="rId4"/>
                    <a:stretch>
                      <a:fillRect/>
                    </a:stretch>
                  </a:blipFill>
                </p:spPr>
                <p:txBody>
                  <a:bodyPr/>
                  <a:lstStyle/>
                  <a:p>
                    <a:r>
                      <a:rPr lang="en-US">
                        <a:noFill/>
                      </a:rPr>
                      <a:t> </a:t>
                    </a:r>
                  </a:p>
                </p:txBody>
              </p:sp>
            </mc:Fallback>
          </mc:AlternateContent>
          <p:cxnSp>
            <p:nvCxnSpPr>
              <p:cNvPr id="17" name="Straight Arrow Connector 16"/>
              <p:cNvCxnSpPr>
                <a:stCxn id="6" idx="3"/>
              </p:cNvCxnSpPr>
              <p:nvPr/>
            </p:nvCxnSpPr>
            <p:spPr>
              <a:xfrm>
                <a:off x="3448049" y="5267325"/>
                <a:ext cx="1304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4749741" y="4081324"/>
              <a:ext cx="2914650" cy="2280564"/>
              <a:chOff x="1838324" y="4107418"/>
              <a:chExt cx="2914650" cy="2280564"/>
            </a:xfrm>
          </p:grpSpPr>
          <p:sp>
            <p:nvSpPr>
              <p:cNvPr id="22" name="Rectangle 21"/>
              <p:cNvSpPr/>
              <p:nvPr/>
            </p:nvSpPr>
            <p:spPr>
              <a:xfrm>
                <a:off x="1838324" y="4810125"/>
                <a:ext cx="1609725"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Winter</a:t>
                </a:r>
                <a:endParaRPr lang="en-US" dirty="0">
                  <a:solidFill>
                    <a:schemeClr val="tx1"/>
                  </a:solidFill>
                </a:endParaRPr>
              </a:p>
            </p:txBody>
          </p:sp>
          <p:cxnSp>
            <p:nvCxnSpPr>
              <p:cNvPr id="23" name="Straight Arrow Connector 22"/>
              <p:cNvCxnSpPr>
                <a:endCxn id="22" idx="0"/>
              </p:cNvCxnSpPr>
              <p:nvPr/>
            </p:nvCxnSpPr>
            <p:spPr>
              <a:xfrm>
                <a:off x="2643186" y="4143375"/>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p:cNvSpPr txBox="1"/>
                  <p:nvPr/>
                </p:nvSpPr>
                <p:spPr>
                  <a:xfrm>
                    <a:off x="2643186" y="4107418"/>
                    <a:ext cx="545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𝑊</m:t>
                              </m:r>
                            </m:sub>
                          </m:sSub>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2643186" y="4107418"/>
                    <a:ext cx="545277" cy="369332"/>
                  </a:xfrm>
                  <a:prstGeom prst="rect">
                    <a:avLst/>
                  </a:prstGeom>
                  <a:blipFill>
                    <a:blip r:embed="rId5"/>
                    <a:stretch>
                      <a:fillRect/>
                    </a:stretch>
                  </a:blipFill>
                </p:spPr>
                <p:txBody>
                  <a:bodyPr/>
                  <a:lstStyle/>
                  <a:p>
                    <a:r>
                      <a:rPr lang="en-US">
                        <a:noFill/>
                      </a:rPr>
                      <a:t> </a:t>
                    </a:r>
                  </a:p>
                </p:txBody>
              </p:sp>
            </mc:Fallback>
          </mc:AlternateContent>
          <p:cxnSp>
            <p:nvCxnSpPr>
              <p:cNvPr id="25" name="Straight Arrow Connector 24"/>
              <p:cNvCxnSpPr/>
              <p:nvPr/>
            </p:nvCxnSpPr>
            <p:spPr>
              <a:xfrm>
                <a:off x="2624457" y="5721232"/>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p:cNvSpPr txBox="1"/>
                  <p:nvPr/>
                </p:nvSpPr>
                <p:spPr>
                  <a:xfrm>
                    <a:off x="3801886" y="4852274"/>
                    <a:ext cx="490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𝑊</m:t>
                              </m:r>
                            </m:sub>
                          </m:sSub>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3801886" y="4852274"/>
                    <a:ext cx="49077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2643185" y="5873234"/>
                    <a:ext cx="6222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4</m:t>
                          </m:r>
                          <m:r>
                            <a:rPr lang="tr-TR" b="0" i="1" smtClean="0">
                              <a:latin typeface="Cambria Math" panose="02040503050406030204" pitchFamily="18" charset="0"/>
                            </a:rPr>
                            <m:t>00</m:t>
                          </m:r>
                        </m:oMath>
                      </m:oMathPara>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2643185" y="5873234"/>
                    <a:ext cx="622286" cy="369332"/>
                  </a:xfrm>
                  <a:prstGeom prst="rect">
                    <a:avLst/>
                  </a:prstGeom>
                  <a:blipFill>
                    <a:blip r:embed="rId7"/>
                    <a:stretch>
                      <a:fillRect/>
                    </a:stretch>
                  </a:blipFill>
                </p:spPr>
                <p:txBody>
                  <a:bodyPr/>
                  <a:lstStyle/>
                  <a:p>
                    <a:r>
                      <a:rPr lang="en-US">
                        <a:noFill/>
                      </a:rPr>
                      <a:t> </a:t>
                    </a:r>
                  </a:p>
                </p:txBody>
              </p:sp>
            </mc:Fallback>
          </mc:AlternateContent>
          <p:cxnSp>
            <p:nvCxnSpPr>
              <p:cNvPr id="28" name="Straight Arrow Connector 27"/>
              <p:cNvCxnSpPr>
                <a:stCxn id="22" idx="3"/>
              </p:cNvCxnSpPr>
              <p:nvPr/>
            </p:nvCxnSpPr>
            <p:spPr>
              <a:xfrm>
                <a:off x="3448049" y="5267325"/>
                <a:ext cx="1304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7661158" y="4100949"/>
              <a:ext cx="2914650" cy="2280564"/>
              <a:chOff x="1838324" y="4107418"/>
              <a:chExt cx="2914650" cy="2280564"/>
            </a:xfrm>
          </p:grpSpPr>
          <p:sp>
            <p:nvSpPr>
              <p:cNvPr id="30" name="Rectangle 29"/>
              <p:cNvSpPr/>
              <p:nvPr/>
            </p:nvSpPr>
            <p:spPr>
              <a:xfrm>
                <a:off x="1838324" y="4810125"/>
                <a:ext cx="1609725"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Spring</a:t>
                </a:r>
                <a:endParaRPr lang="en-US" dirty="0">
                  <a:solidFill>
                    <a:schemeClr val="tx1"/>
                  </a:solidFill>
                </a:endParaRPr>
              </a:p>
            </p:txBody>
          </p:sp>
          <p:cxnSp>
            <p:nvCxnSpPr>
              <p:cNvPr id="31" name="Straight Arrow Connector 30"/>
              <p:cNvCxnSpPr>
                <a:endCxn id="30" idx="0"/>
              </p:cNvCxnSpPr>
              <p:nvPr/>
            </p:nvCxnSpPr>
            <p:spPr>
              <a:xfrm>
                <a:off x="2643186" y="4143375"/>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p:cNvSpPr txBox="1"/>
                  <p:nvPr/>
                </p:nvSpPr>
                <p:spPr>
                  <a:xfrm>
                    <a:off x="2643186" y="4107418"/>
                    <a:ext cx="4546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𝑆</m:t>
                              </m:r>
                            </m:sub>
                          </m:sSub>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2643186" y="4107418"/>
                    <a:ext cx="454675" cy="369332"/>
                  </a:xfrm>
                  <a:prstGeom prst="rect">
                    <a:avLst/>
                  </a:prstGeom>
                  <a:blipFill>
                    <a:blip r:embed="rId8"/>
                    <a:stretch>
                      <a:fillRect/>
                    </a:stretch>
                  </a:blipFill>
                </p:spPr>
                <p:txBody>
                  <a:bodyPr/>
                  <a:lstStyle/>
                  <a:p>
                    <a:r>
                      <a:rPr lang="en-US">
                        <a:noFill/>
                      </a:rPr>
                      <a:t> </a:t>
                    </a:r>
                  </a:p>
                </p:txBody>
              </p:sp>
            </mc:Fallback>
          </mc:AlternateContent>
          <p:cxnSp>
            <p:nvCxnSpPr>
              <p:cNvPr id="33" name="Straight Arrow Connector 32"/>
              <p:cNvCxnSpPr/>
              <p:nvPr/>
            </p:nvCxnSpPr>
            <p:spPr>
              <a:xfrm>
                <a:off x="2624457" y="5721232"/>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p:cNvSpPr txBox="1"/>
                  <p:nvPr/>
                </p:nvSpPr>
                <p:spPr>
                  <a:xfrm>
                    <a:off x="3801886" y="4852274"/>
                    <a:ext cx="4114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𝑆</m:t>
                              </m:r>
                            </m:sub>
                          </m:sSub>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3801886" y="4852274"/>
                    <a:ext cx="41145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643185" y="58732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50</m:t>
                          </m:r>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2643185" y="5873234"/>
                    <a:ext cx="494046" cy="369332"/>
                  </a:xfrm>
                  <a:prstGeom prst="rect">
                    <a:avLst/>
                  </a:prstGeom>
                  <a:blipFill>
                    <a:blip r:embed="rId10"/>
                    <a:stretch>
                      <a:fillRect/>
                    </a:stretch>
                  </a:blipFill>
                </p:spPr>
                <p:txBody>
                  <a:bodyPr/>
                  <a:lstStyle/>
                  <a:p>
                    <a:r>
                      <a:rPr lang="en-US">
                        <a:noFill/>
                      </a:rPr>
                      <a:t> </a:t>
                    </a:r>
                  </a:p>
                </p:txBody>
              </p:sp>
            </mc:Fallback>
          </mc:AlternateContent>
          <p:cxnSp>
            <p:nvCxnSpPr>
              <p:cNvPr id="36" name="Straight Arrow Connector 35"/>
              <p:cNvCxnSpPr>
                <a:stCxn id="30" idx="3"/>
              </p:cNvCxnSpPr>
              <p:nvPr/>
            </p:nvCxnSpPr>
            <p:spPr>
              <a:xfrm>
                <a:off x="3448049" y="5267325"/>
                <a:ext cx="1304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22834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Multiperiod Production Models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normAutofit/>
              </a:bodyPr>
              <a:lstStyle/>
              <a:p>
                <a:endParaRPr lang="tr-TR" sz="2200" dirty="0"/>
              </a:p>
              <a:p>
                <a:endParaRPr lang="tr-TR" sz="2200" dirty="0"/>
              </a:p>
              <a:p>
                <a:endParaRPr lang="tr-TR" sz="2200" dirty="0"/>
              </a:p>
              <a:p>
                <a:endParaRPr lang="tr-TR" sz="2200" dirty="0"/>
              </a:p>
              <a:p>
                <a:endParaRPr lang="tr-TR" sz="2200" dirty="0"/>
              </a:p>
              <a:p>
                <a:endParaRPr lang="tr-TR" sz="2200" dirty="0"/>
              </a:p>
              <a:p>
                <a:r>
                  <a:rPr lang="tr-TR" sz="2200" dirty="0"/>
                  <a:t>Hence the balance equations are:</a:t>
                </a:r>
              </a:p>
              <a:p>
                <a:pPr marL="0" indent="0">
                  <a:buNone/>
                </a:pPr>
                <a14:m>
                  <m:oMathPara xmlns:m="http://schemas.openxmlformats.org/officeDocument/2006/math">
                    <m:oMathParaPr>
                      <m:jc m:val="centerGroup"/>
                    </m:oMathParaPr>
                    <m:oMath xmlns:m="http://schemas.openxmlformats.org/officeDocument/2006/math">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𝑃</m:t>
                          </m:r>
                        </m:e>
                        <m:sub>
                          <m:r>
                            <a:rPr lang="en-US" sz="2200" i="1" dirty="0" smtClean="0">
                              <a:latin typeface="Cambria Math" panose="02040503050406030204" pitchFamily="18" charset="0"/>
                            </a:rPr>
                            <m:t>𝐴</m:t>
                          </m:r>
                        </m:sub>
                      </m:sSub>
                      <m:r>
                        <m:rPr>
                          <m:aln/>
                        </m:rPr>
                        <a:rPr lang="tr-TR" sz="2200" i="1" dirty="0" smtClean="0">
                          <a:latin typeface="Cambria Math" panose="02040503050406030204" pitchFamily="18" charset="0"/>
                        </a:rPr>
                        <m:t>=</m:t>
                      </m:r>
                      <m:r>
                        <a:rPr lang="en-US" sz="2200" i="1" dirty="0" smtClean="0">
                          <a:latin typeface="Cambria Math" panose="02040503050406030204" pitchFamily="18" charset="0"/>
                        </a:rPr>
                        <m:t>150</m:t>
                      </m:r>
                      <m:r>
                        <a:rPr lang="tr-TR" sz="2200" i="1" dirty="0" smtClean="0">
                          <a:latin typeface="Cambria Math" panose="02040503050406030204" pitchFamily="18" charset="0"/>
                        </a:rPr>
                        <m:t>+</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𝐼</m:t>
                          </m:r>
                        </m:e>
                        <m:sub>
                          <m:r>
                            <a:rPr lang="en-US" sz="2200" i="1" dirty="0" smtClean="0">
                              <a:latin typeface="Cambria Math" panose="02040503050406030204" pitchFamily="18" charset="0"/>
                            </a:rPr>
                            <m:t>𝐴</m:t>
                          </m:r>
                        </m:sub>
                      </m:sSub>
                    </m:oMath>
                    <m:oMath xmlns:m="http://schemas.openxmlformats.org/officeDocument/2006/math">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𝑃</m:t>
                          </m:r>
                        </m:e>
                        <m:sub>
                          <m:r>
                            <a:rPr lang="en-US" sz="2200" i="1" dirty="0" smtClean="0">
                              <a:latin typeface="Cambria Math" panose="02040503050406030204" pitchFamily="18" charset="0"/>
                            </a:rPr>
                            <m:t>𝑊</m:t>
                          </m:r>
                        </m:sub>
                      </m:sSub>
                      <m:r>
                        <a:rPr lang="tr-TR" sz="2200" i="1" dirty="0">
                          <a:latin typeface="Cambria Math" panose="02040503050406030204" pitchFamily="18" charset="0"/>
                        </a:rPr>
                        <m:t>+</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𝐼</m:t>
                          </m:r>
                        </m:e>
                        <m:sub>
                          <m:r>
                            <a:rPr lang="en-US" sz="2200" i="1" dirty="0" smtClean="0">
                              <a:latin typeface="Cambria Math" panose="02040503050406030204" pitchFamily="18" charset="0"/>
                            </a:rPr>
                            <m:t>𝐴</m:t>
                          </m:r>
                        </m:sub>
                      </m:sSub>
                      <m:r>
                        <m:rPr>
                          <m:aln/>
                        </m:rPr>
                        <a:rPr lang="tr-TR" sz="2200" i="1" dirty="0">
                          <a:latin typeface="Cambria Math" panose="02040503050406030204" pitchFamily="18" charset="0"/>
                        </a:rPr>
                        <m:t>=</m:t>
                      </m:r>
                      <m:r>
                        <a:rPr lang="en-US" sz="2200" i="1" dirty="0" smtClean="0">
                          <a:latin typeface="Cambria Math" panose="02040503050406030204" pitchFamily="18" charset="0"/>
                        </a:rPr>
                        <m:t>400</m:t>
                      </m:r>
                      <m:r>
                        <a:rPr lang="tr-TR" sz="2200" i="1" dirty="0" smtClean="0">
                          <a:latin typeface="Cambria Math" panose="02040503050406030204" pitchFamily="18" charset="0"/>
                        </a:rPr>
                        <m:t>+</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𝐼</m:t>
                          </m:r>
                        </m:e>
                        <m:sub>
                          <m:r>
                            <a:rPr lang="en-US" sz="2200" i="1" dirty="0" smtClean="0">
                              <a:latin typeface="Cambria Math" panose="02040503050406030204" pitchFamily="18" charset="0"/>
                            </a:rPr>
                            <m:t>𝑊</m:t>
                          </m:r>
                        </m:sub>
                      </m:sSub>
                    </m:oMath>
                    <m:oMath xmlns:m="http://schemas.openxmlformats.org/officeDocument/2006/math">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𝑃</m:t>
                          </m:r>
                        </m:e>
                        <m:sub>
                          <m:r>
                            <a:rPr lang="en-US" sz="2200" i="1" dirty="0" smtClean="0">
                              <a:latin typeface="Cambria Math" panose="02040503050406030204" pitchFamily="18" charset="0"/>
                            </a:rPr>
                            <m:t>𝑆</m:t>
                          </m:r>
                        </m:sub>
                      </m:sSub>
                      <m:r>
                        <a:rPr lang="tr-TR" sz="2200" i="1" dirty="0" smtClean="0">
                          <a:latin typeface="Cambria Math" panose="02040503050406030204" pitchFamily="18" charset="0"/>
                        </a:rPr>
                        <m:t>+</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𝐼</m:t>
                          </m:r>
                        </m:e>
                        <m:sub>
                          <m:r>
                            <a:rPr lang="tr-TR" sz="2200" b="0" i="1" dirty="0" smtClean="0">
                              <a:latin typeface="Cambria Math" panose="02040503050406030204" pitchFamily="18" charset="0"/>
                            </a:rPr>
                            <m:t>𝑊</m:t>
                          </m:r>
                        </m:sub>
                      </m:sSub>
                      <m:r>
                        <m:rPr>
                          <m:aln/>
                        </m:rPr>
                        <a:rPr lang="tr-TR" sz="2200" i="1" dirty="0" smtClean="0">
                          <a:latin typeface="Cambria Math" panose="02040503050406030204" pitchFamily="18" charset="0"/>
                        </a:rPr>
                        <m:t>=</m:t>
                      </m:r>
                      <m:r>
                        <a:rPr lang="en-US" sz="2200" i="1" dirty="0" smtClean="0">
                          <a:latin typeface="Cambria Math" panose="02040503050406030204" pitchFamily="18" charset="0"/>
                        </a:rPr>
                        <m:t>50</m:t>
                      </m:r>
                      <m:r>
                        <a:rPr lang="tr-TR" sz="2200" i="1" dirty="0" smtClean="0">
                          <a:latin typeface="Cambria Math" panose="02040503050406030204" pitchFamily="18" charset="0"/>
                        </a:rPr>
                        <m:t>+</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𝐼</m:t>
                          </m:r>
                        </m:e>
                        <m:sub>
                          <m:r>
                            <a:rPr lang="en-US" sz="2200" i="1" dirty="0" smtClean="0">
                              <a:latin typeface="Cambria Math" panose="02040503050406030204" pitchFamily="18" charset="0"/>
                            </a:rPr>
                            <m:t>𝑆</m:t>
                          </m:r>
                        </m:sub>
                      </m:sSub>
                    </m:oMath>
                  </m:oMathPara>
                </a14:m>
                <a:endParaRPr lang="tr-TR" sz="220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pSp>
        <p:nvGrpSpPr>
          <p:cNvPr id="5" name="Group 4"/>
          <p:cNvGrpSpPr/>
          <p:nvPr/>
        </p:nvGrpSpPr>
        <p:grpSpPr>
          <a:xfrm>
            <a:off x="1727258" y="1543422"/>
            <a:ext cx="8737484" cy="2306658"/>
            <a:chOff x="1838324" y="4081324"/>
            <a:chExt cx="8737484" cy="2306658"/>
          </a:xfrm>
        </p:grpSpPr>
        <p:grpSp>
          <p:nvGrpSpPr>
            <p:cNvPr id="20" name="Group 19"/>
            <p:cNvGrpSpPr/>
            <p:nvPr/>
          </p:nvGrpSpPr>
          <p:grpSpPr>
            <a:xfrm>
              <a:off x="1838324" y="4107418"/>
              <a:ext cx="2914650" cy="2280564"/>
              <a:chOff x="1838324" y="4107418"/>
              <a:chExt cx="2914650" cy="2280564"/>
            </a:xfrm>
          </p:grpSpPr>
          <p:sp>
            <p:nvSpPr>
              <p:cNvPr id="6" name="Rectangle 5"/>
              <p:cNvSpPr/>
              <p:nvPr/>
            </p:nvSpPr>
            <p:spPr>
              <a:xfrm>
                <a:off x="1838324" y="4810125"/>
                <a:ext cx="1609725"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Autumn</a:t>
                </a:r>
                <a:endParaRPr lang="en-US" dirty="0">
                  <a:solidFill>
                    <a:schemeClr val="tx1"/>
                  </a:solidFill>
                </a:endParaRPr>
              </a:p>
            </p:txBody>
          </p:sp>
          <p:cxnSp>
            <p:nvCxnSpPr>
              <p:cNvPr id="10" name="Straight Arrow Connector 9"/>
              <p:cNvCxnSpPr>
                <a:endCxn id="6" idx="0"/>
              </p:cNvCxnSpPr>
              <p:nvPr/>
            </p:nvCxnSpPr>
            <p:spPr>
              <a:xfrm>
                <a:off x="2643186" y="4143375"/>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2643186" y="4107418"/>
                    <a:ext cx="467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𝐴</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2643186" y="4107418"/>
                    <a:ext cx="467371" cy="369332"/>
                  </a:xfrm>
                  <a:prstGeom prst="rect">
                    <a:avLst/>
                  </a:prstGeom>
                  <a:blipFill>
                    <a:blip r:embed="rId3"/>
                    <a:stretch>
                      <a:fillRect/>
                    </a:stretch>
                  </a:blipFill>
                </p:spPr>
                <p:txBody>
                  <a:bodyPr/>
                  <a:lstStyle/>
                  <a:p>
                    <a:r>
                      <a:rPr lang="en-US">
                        <a:noFill/>
                      </a:rPr>
                      <a:t> </a:t>
                    </a:r>
                  </a:p>
                </p:txBody>
              </p:sp>
            </mc:Fallback>
          </mc:AlternateContent>
          <p:cxnSp>
            <p:nvCxnSpPr>
              <p:cNvPr id="14" name="Straight Arrow Connector 13"/>
              <p:cNvCxnSpPr/>
              <p:nvPr/>
            </p:nvCxnSpPr>
            <p:spPr>
              <a:xfrm>
                <a:off x="2624457" y="5721232"/>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3801886" y="4852274"/>
                    <a:ext cx="4241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3801886" y="4852274"/>
                    <a:ext cx="42415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643185" y="5873234"/>
                    <a:ext cx="6222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150</m:t>
                          </m:r>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643185" y="5873234"/>
                    <a:ext cx="622286" cy="369332"/>
                  </a:xfrm>
                  <a:prstGeom prst="rect">
                    <a:avLst/>
                  </a:prstGeom>
                  <a:blipFill>
                    <a:blip r:embed="rId5"/>
                    <a:stretch>
                      <a:fillRect/>
                    </a:stretch>
                  </a:blipFill>
                </p:spPr>
                <p:txBody>
                  <a:bodyPr/>
                  <a:lstStyle/>
                  <a:p>
                    <a:r>
                      <a:rPr lang="en-US">
                        <a:noFill/>
                      </a:rPr>
                      <a:t> </a:t>
                    </a:r>
                  </a:p>
                </p:txBody>
              </p:sp>
            </mc:Fallback>
          </mc:AlternateContent>
          <p:cxnSp>
            <p:nvCxnSpPr>
              <p:cNvPr id="17" name="Straight Arrow Connector 16"/>
              <p:cNvCxnSpPr>
                <a:stCxn id="6" idx="3"/>
              </p:cNvCxnSpPr>
              <p:nvPr/>
            </p:nvCxnSpPr>
            <p:spPr>
              <a:xfrm>
                <a:off x="3448049" y="5267325"/>
                <a:ext cx="1304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4749741" y="4081324"/>
              <a:ext cx="2914650" cy="2280564"/>
              <a:chOff x="1838324" y="4107418"/>
              <a:chExt cx="2914650" cy="2280564"/>
            </a:xfrm>
          </p:grpSpPr>
          <p:sp>
            <p:nvSpPr>
              <p:cNvPr id="22" name="Rectangle 21"/>
              <p:cNvSpPr/>
              <p:nvPr/>
            </p:nvSpPr>
            <p:spPr>
              <a:xfrm>
                <a:off x="1838324" y="4810125"/>
                <a:ext cx="1609725"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Winter</a:t>
                </a:r>
                <a:endParaRPr lang="en-US" dirty="0">
                  <a:solidFill>
                    <a:schemeClr val="tx1"/>
                  </a:solidFill>
                </a:endParaRPr>
              </a:p>
            </p:txBody>
          </p:sp>
          <p:cxnSp>
            <p:nvCxnSpPr>
              <p:cNvPr id="23" name="Straight Arrow Connector 22"/>
              <p:cNvCxnSpPr>
                <a:endCxn id="22" idx="0"/>
              </p:cNvCxnSpPr>
              <p:nvPr/>
            </p:nvCxnSpPr>
            <p:spPr>
              <a:xfrm>
                <a:off x="2643186" y="4143375"/>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p:cNvSpPr txBox="1"/>
                  <p:nvPr/>
                </p:nvSpPr>
                <p:spPr>
                  <a:xfrm>
                    <a:off x="2643186" y="4107418"/>
                    <a:ext cx="5452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𝑊</m:t>
                              </m:r>
                            </m:sub>
                          </m:sSub>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2643186" y="4107418"/>
                    <a:ext cx="545277" cy="369332"/>
                  </a:xfrm>
                  <a:prstGeom prst="rect">
                    <a:avLst/>
                  </a:prstGeom>
                  <a:blipFill>
                    <a:blip r:embed="rId6"/>
                    <a:stretch>
                      <a:fillRect/>
                    </a:stretch>
                  </a:blipFill>
                </p:spPr>
                <p:txBody>
                  <a:bodyPr/>
                  <a:lstStyle/>
                  <a:p>
                    <a:r>
                      <a:rPr lang="en-US">
                        <a:noFill/>
                      </a:rPr>
                      <a:t> </a:t>
                    </a:r>
                  </a:p>
                </p:txBody>
              </p:sp>
            </mc:Fallback>
          </mc:AlternateContent>
          <p:cxnSp>
            <p:nvCxnSpPr>
              <p:cNvPr id="25" name="Straight Arrow Connector 24"/>
              <p:cNvCxnSpPr/>
              <p:nvPr/>
            </p:nvCxnSpPr>
            <p:spPr>
              <a:xfrm>
                <a:off x="2624457" y="5721232"/>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p:cNvSpPr txBox="1"/>
                  <p:nvPr/>
                </p:nvSpPr>
                <p:spPr>
                  <a:xfrm>
                    <a:off x="3801886" y="4852274"/>
                    <a:ext cx="490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𝑊</m:t>
                              </m:r>
                            </m:sub>
                          </m:sSub>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3801886" y="4852274"/>
                    <a:ext cx="490775"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2643185" y="5873234"/>
                    <a:ext cx="6222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4</m:t>
                          </m:r>
                          <m:r>
                            <a:rPr lang="tr-TR" b="0" i="1" smtClean="0">
                              <a:latin typeface="Cambria Math" panose="02040503050406030204" pitchFamily="18" charset="0"/>
                            </a:rPr>
                            <m:t>00</m:t>
                          </m:r>
                        </m:oMath>
                      </m:oMathPara>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2643185" y="5873234"/>
                    <a:ext cx="622286" cy="369332"/>
                  </a:xfrm>
                  <a:prstGeom prst="rect">
                    <a:avLst/>
                  </a:prstGeom>
                  <a:blipFill>
                    <a:blip r:embed="rId8"/>
                    <a:stretch>
                      <a:fillRect/>
                    </a:stretch>
                  </a:blipFill>
                </p:spPr>
                <p:txBody>
                  <a:bodyPr/>
                  <a:lstStyle/>
                  <a:p>
                    <a:r>
                      <a:rPr lang="en-US">
                        <a:noFill/>
                      </a:rPr>
                      <a:t> </a:t>
                    </a:r>
                  </a:p>
                </p:txBody>
              </p:sp>
            </mc:Fallback>
          </mc:AlternateContent>
          <p:cxnSp>
            <p:nvCxnSpPr>
              <p:cNvPr id="28" name="Straight Arrow Connector 27"/>
              <p:cNvCxnSpPr>
                <a:stCxn id="22" idx="3"/>
              </p:cNvCxnSpPr>
              <p:nvPr/>
            </p:nvCxnSpPr>
            <p:spPr>
              <a:xfrm>
                <a:off x="3448049" y="5267325"/>
                <a:ext cx="1304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7661158" y="4100949"/>
              <a:ext cx="2914650" cy="2280564"/>
              <a:chOff x="1838324" y="4107418"/>
              <a:chExt cx="2914650" cy="2280564"/>
            </a:xfrm>
          </p:grpSpPr>
          <p:sp>
            <p:nvSpPr>
              <p:cNvPr id="30" name="Rectangle 29"/>
              <p:cNvSpPr/>
              <p:nvPr/>
            </p:nvSpPr>
            <p:spPr>
              <a:xfrm>
                <a:off x="1838324" y="4810125"/>
                <a:ext cx="1609725"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Spring</a:t>
                </a:r>
                <a:endParaRPr lang="en-US" dirty="0">
                  <a:solidFill>
                    <a:schemeClr val="tx1"/>
                  </a:solidFill>
                </a:endParaRPr>
              </a:p>
            </p:txBody>
          </p:sp>
          <p:cxnSp>
            <p:nvCxnSpPr>
              <p:cNvPr id="31" name="Straight Arrow Connector 30"/>
              <p:cNvCxnSpPr>
                <a:endCxn id="30" idx="0"/>
              </p:cNvCxnSpPr>
              <p:nvPr/>
            </p:nvCxnSpPr>
            <p:spPr>
              <a:xfrm>
                <a:off x="2643186" y="4143375"/>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p:cNvSpPr txBox="1"/>
                  <p:nvPr/>
                </p:nvSpPr>
                <p:spPr>
                  <a:xfrm>
                    <a:off x="2643186" y="4107418"/>
                    <a:ext cx="4546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𝑃</m:t>
                              </m:r>
                            </m:e>
                            <m:sub>
                              <m:r>
                                <a:rPr lang="tr-TR" b="0" i="1" smtClean="0">
                                  <a:latin typeface="Cambria Math" panose="02040503050406030204" pitchFamily="18" charset="0"/>
                                </a:rPr>
                                <m:t>𝑆</m:t>
                              </m:r>
                            </m:sub>
                          </m:sSub>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2643186" y="4107418"/>
                    <a:ext cx="454675" cy="369332"/>
                  </a:xfrm>
                  <a:prstGeom prst="rect">
                    <a:avLst/>
                  </a:prstGeom>
                  <a:blipFill>
                    <a:blip r:embed="rId9"/>
                    <a:stretch>
                      <a:fillRect/>
                    </a:stretch>
                  </a:blipFill>
                </p:spPr>
                <p:txBody>
                  <a:bodyPr/>
                  <a:lstStyle/>
                  <a:p>
                    <a:r>
                      <a:rPr lang="en-US">
                        <a:noFill/>
                      </a:rPr>
                      <a:t> </a:t>
                    </a:r>
                  </a:p>
                </p:txBody>
              </p:sp>
            </mc:Fallback>
          </mc:AlternateContent>
          <p:cxnSp>
            <p:nvCxnSpPr>
              <p:cNvPr id="33" name="Straight Arrow Connector 32"/>
              <p:cNvCxnSpPr/>
              <p:nvPr/>
            </p:nvCxnSpPr>
            <p:spPr>
              <a:xfrm>
                <a:off x="2624457" y="5721232"/>
                <a:ext cx="1" cy="666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p:cNvSpPr txBox="1"/>
                  <p:nvPr/>
                </p:nvSpPr>
                <p:spPr>
                  <a:xfrm>
                    <a:off x="3801886" y="4852274"/>
                    <a:ext cx="4114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𝑆</m:t>
                              </m:r>
                            </m:sub>
                          </m:sSub>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3801886" y="4852274"/>
                    <a:ext cx="411459"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643185" y="58732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50</m:t>
                          </m:r>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2643185" y="5873234"/>
                    <a:ext cx="494046" cy="369332"/>
                  </a:xfrm>
                  <a:prstGeom prst="rect">
                    <a:avLst/>
                  </a:prstGeom>
                  <a:blipFill>
                    <a:blip r:embed="rId11"/>
                    <a:stretch>
                      <a:fillRect/>
                    </a:stretch>
                  </a:blipFill>
                </p:spPr>
                <p:txBody>
                  <a:bodyPr/>
                  <a:lstStyle/>
                  <a:p>
                    <a:r>
                      <a:rPr lang="en-US">
                        <a:noFill/>
                      </a:rPr>
                      <a:t> </a:t>
                    </a:r>
                  </a:p>
                </p:txBody>
              </p:sp>
            </mc:Fallback>
          </mc:AlternateContent>
          <p:cxnSp>
            <p:nvCxnSpPr>
              <p:cNvPr id="36" name="Straight Arrow Connector 35"/>
              <p:cNvCxnSpPr>
                <a:stCxn id="30" idx="3"/>
              </p:cNvCxnSpPr>
              <p:nvPr/>
            </p:nvCxnSpPr>
            <p:spPr>
              <a:xfrm>
                <a:off x="3448049" y="5267325"/>
                <a:ext cx="1304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6809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Multiperiod Production Models</a:t>
            </a:r>
            <a:endParaRPr lang="en-US"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mc:Choice xmlns:a14="http://schemas.microsoft.com/office/drawing/2010/main" Requires="a14">
          <p:graphicFrame>
            <p:nvGraphicFramePr>
              <p:cNvPr id="37" name="Table 36"/>
              <p:cNvGraphicFramePr>
                <a:graphicFrameLocks noGrp="1"/>
              </p:cNvGraphicFramePr>
              <p:nvPr>
                <p:extLst>
                  <p:ext uri="{D42A27DB-BD31-4B8C-83A1-F6EECF244321}">
                    <p14:modId xmlns:p14="http://schemas.microsoft.com/office/powerpoint/2010/main" val="4070410364"/>
                  </p:ext>
                </p:extLst>
              </p:nvPr>
            </p:nvGraphicFramePr>
            <p:xfrm>
              <a:off x="1389702" y="2202128"/>
              <a:ext cx="8897479" cy="1981200"/>
            </p:xfrm>
            <a:graphic>
              <a:graphicData uri="http://schemas.openxmlformats.org/drawingml/2006/table">
                <a:tbl>
                  <a:tblPr firstRow="1" bandRow="1">
                    <a:tableStyleId>{2D5ABB26-0587-4C30-8999-92F81FD0307C}</a:tableStyleId>
                  </a:tblPr>
                  <a:tblGrid>
                    <a:gridCol w="1296289">
                      <a:extLst>
                        <a:ext uri="{9D8B030D-6E8A-4147-A177-3AD203B41FA5}">
                          <a16:colId xmlns:a16="http://schemas.microsoft.com/office/drawing/2014/main" val="3888021187"/>
                        </a:ext>
                      </a:extLst>
                    </a:gridCol>
                    <a:gridCol w="882841">
                      <a:extLst>
                        <a:ext uri="{9D8B030D-6E8A-4147-A177-3AD203B41FA5}">
                          <a16:colId xmlns:a16="http://schemas.microsoft.com/office/drawing/2014/main" val="3534266932"/>
                        </a:ext>
                      </a:extLst>
                    </a:gridCol>
                    <a:gridCol w="991667">
                      <a:extLst>
                        <a:ext uri="{9D8B030D-6E8A-4147-A177-3AD203B41FA5}">
                          <a16:colId xmlns:a16="http://schemas.microsoft.com/office/drawing/2014/main" val="3559686337"/>
                        </a:ext>
                      </a:extLst>
                    </a:gridCol>
                    <a:gridCol w="1146746">
                      <a:extLst>
                        <a:ext uri="{9D8B030D-6E8A-4147-A177-3AD203B41FA5}">
                          <a16:colId xmlns:a16="http://schemas.microsoft.com/office/drawing/2014/main" val="1347294665"/>
                        </a:ext>
                      </a:extLst>
                    </a:gridCol>
                    <a:gridCol w="1110678">
                      <a:extLst>
                        <a:ext uri="{9D8B030D-6E8A-4147-A177-3AD203B41FA5}">
                          <a16:colId xmlns:a16="http://schemas.microsoft.com/office/drawing/2014/main" val="2673935178"/>
                        </a:ext>
                      </a:extLst>
                    </a:gridCol>
                    <a:gridCol w="1185481">
                      <a:extLst>
                        <a:ext uri="{9D8B030D-6E8A-4147-A177-3AD203B41FA5}">
                          <a16:colId xmlns:a16="http://schemas.microsoft.com/office/drawing/2014/main" val="2754673891"/>
                        </a:ext>
                      </a:extLst>
                    </a:gridCol>
                    <a:gridCol w="1098867">
                      <a:extLst>
                        <a:ext uri="{9D8B030D-6E8A-4147-A177-3AD203B41FA5}">
                          <a16:colId xmlns:a16="http://schemas.microsoft.com/office/drawing/2014/main" val="3913864312"/>
                        </a:ext>
                      </a:extLst>
                    </a:gridCol>
                    <a:gridCol w="430530">
                      <a:extLst>
                        <a:ext uri="{9D8B030D-6E8A-4147-A177-3AD203B41FA5}">
                          <a16:colId xmlns:a16="http://schemas.microsoft.com/office/drawing/2014/main" val="1158957883"/>
                        </a:ext>
                      </a:extLst>
                    </a:gridCol>
                    <a:gridCol w="754380">
                      <a:extLst>
                        <a:ext uri="{9D8B030D-6E8A-4147-A177-3AD203B41FA5}">
                          <a16:colId xmlns:a16="http://schemas.microsoft.com/office/drawing/2014/main" val="3407547115"/>
                        </a:ext>
                      </a:extLst>
                    </a:gridCol>
                  </a:tblGrid>
                  <a:tr h="370840">
                    <a:tc>
                      <a:txBody>
                        <a:bodyPr/>
                        <a:lstStyle/>
                        <a:p>
                          <a:r>
                            <a:rPr lang="tr-TR" sz="2000" dirty="0"/>
                            <a:t>Min    </a:t>
                          </a:r>
                          <a14:m>
                            <m:oMath xmlns:m="http://schemas.openxmlformats.org/officeDocument/2006/math">
                              <m:r>
                                <a:rPr lang="tr-TR" sz="2000" b="0" i="1" smtClean="0">
                                  <a:latin typeface="Cambria Math" panose="02040503050406030204" pitchFamily="18" charset="0"/>
                                </a:rPr>
                                <m:t>𝑍</m:t>
                              </m:r>
                              <m:r>
                                <a:rPr lang="tr-TR" sz="2000" b="0" i="1" smtClean="0">
                                  <a:latin typeface="Cambria Math" panose="02040503050406030204" pitchFamily="18" charset="0"/>
                                </a:rPr>
                                <m:t>=</m:t>
                              </m:r>
                            </m:oMath>
                          </a14:m>
                          <a:endParaRPr lang="en-US" sz="2000" dirty="0"/>
                        </a:p>
                      </a:txBody>
                      <a:tcPr/>
                    </a:tc>
                    <a:tc>
                      <a:txBody>
                        <a:bodyPr/>
                        <a:lstStyle/>
                        <a:p>
                          <a:pPr algn="r"/>
                          <a14:m>
                            <m:oMathPara xmlns:m="http://schemas.openxmlformats.org/officeDocument/2006/math">
                              <m:oMathParaPr>
                                <m:jc m:val="right"/>
                              </m:oMathParaPr>
                              <m:oMath xmlns:m="http://schemas.openxmlformats.org/officeDocument/2006/math">
                                <m:r>
                                  <a:rPr lang="tr-TR" sz="2000" b="0" i="1" smtClean="0">
                                    <a:latin typeface="Cambria Math" panose="02040503050406030204" pitchFamily="18" charset="0"/>
                                  </a:rPr>
                                  <m:t>11</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smtClean="0">
                                    <a:latin typeface="Cambria Math" panose="02040503050406030204" pitchFamily="18" charset="0"/>
                                  </a:rPr>
                                  <m:t>+</m:t>
                                </m:r>
                                <m:r>
                                  <a:rPr lang="tr-TR" sz="2000" b="0" i="1" smtClean="0">
                                    <a:latin typeface="Cambria Math" panose="02040503050406030204" pitchFamily="18" charset="0"/>
                                  </a:rPr>
                                  <m:t>14</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smtClean="0">
                                    <a:latin typeface="Cambria Math" panose="02040503050406030204" pitchFamily="18" charset="0"/>
                                  </a:rPr>
                                  <m:t>+</m:t>
                                </m:r>
                                <m:r>
                                  <a:rPr lang="tr-TR" sz="2000" b="0" i="1" smtClean="0">
                                    <a:latin typeface="Cambria Math" panose="02040503050406030204" pitchFamily="18" charset="0"/>
                                  </a:rPr>
                                  <m:t>1</m:t>
                                </m:r>
                                <m:r>
                                  <a:rPr lang="en-US" sz="2000" b="0" i="1" smtClean="0">
                                    <a:latin typeface="Cambria Math" panose="02040503050406030204" pitchFamily="18" charset="0"/>
                                  </a:rPr>
                                  <m:t>2.5</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𝑆</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smtClean="0">
                                    <a:latin typeface="Cambria Math" panose="02040503050406030204" pitchFamily="18" charset="0"/>
                                  </a:rPr>
                                  <m:t>+</m:t>
                                </m:r>
                                <m:r>
                                  <a:rPr lang="tr-TR" sz="2000" b="0" i="1" smtClean="0">
                                    <a:latin typeface="Cambria Math" panose="02040503050406030204" pitchFamily="18" charset="0"/>
                                  </a:rPr>
                                  <m:t>1.20</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smtClean="0">
                                    <a:latin typeface="Cambria Math" panose="02040503050406030204" pitchFamily="18" charset="0"/>
                                  </a:rPr>
                                  <m:t>+</m:t>
                                </m:r>
                                <m:r>
                                  <a:rPr lang="tr-TR" sz="2000" b="0" i="1" smtClean="0">
                                    <a:latin typeface="Cambria Math" panose="02040503050406030204" pitchFamily="18" charset="0"/>
                                  </a:rPr>
                                  <m:t>1.20</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smtClean="0">
                                    <a:latin typeface="Cambria Math" panose="02040503050406030204" pitchFamily="18" charset="0"/>
                                  </a:rPr>
                                  <m:t>+</m:t>
                                </m:r>
                                <m:r>
                                  <a:rPr lang="tr-TR" sz="2000" b="0" i="1" smtClean="0">
                                    <a:latin typeface="Cambria Math" panose="02040503050406030204" pitchFamily="18" charset="0"/>
                                  </a:rPr>
                                  <m:t>1.20</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𝑆</m:t>
                                    </m:r>
                                  </m:sub>
                                </m:sSub>
                              </m:oMath>
                            </m:oMathPara>
                          </a14:m>
                          <a:endParaRPr lang="en-US" sz="2000" b="0" dirty="0"/>
                        </a:p>
                      </a:txBody>
                      <a:tcPr/>
                    </a:tc>
                    <a:tc>
                      <a:txBody>
                        <a:bodyPr/>
                        <a:lstStyle/>
                        <a:p>
                          <a:endParaRPr lang="en-US" sz="2000" b="0" dirty="0"/>
                        </a:p>
                      </a:txBody>
                      <a:tcPr/>
                    </a:tc>
                    <a:tc>
                      <a:txBody>
                        <a:bodyPr/>
                        <a:lstStyle/>
                        <a:p>
                          <a:endParaRPr lang="en-US" sz="2000" b="0" dirty="0"/>
                        </a:p>
                      </a:txBody>
                      <a:tcPr/>
                    </a:tc>
                    <a:extLst>
                      <a:ext uri="{0D108BD9-81ED-4DB2-BD59-A6C34878D82A}">
                        <a16:rowId xmlns:a16="http://schemas.microsoft.com/office/drawing/2014/main" val="1915566640"/>
                      </a:ext>
                    </a:extLst>
                  </a:tr>
                  <a:tr h="370840">
                    <a:tc>
                      <a:txBody>
                        <a:bodyPr/>
                        <a:lstStyle/>
                        <a:p>
                          <a:r>
                            <a:rPr lang="tr-TR" sz="2000" dirty="0"/>
                            <a:t>Subject to</a:t>
                          </a:r>
                          <a:endParaRPr lang="en-US" sz="20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endParaRPr lang="en-US" sz="2000" b="0" dirty="0"/>
                        </a:p>
                      </a:txBody>
                      <a:tcPr/>
                    </a:tc>
                    <a:tc>
                      <a:txBody>
                        <a:bodyPr/>
                        <a:lstStyle/>
                        <a:p>
                          <a:pPr algn="r"/>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i="1" smtClean="0">
                                    <a:latin typeface="Cambria Math" panose="02040503050406030204" pitchFamily="18" charset="0"/>
                                  </a:rPr>
                                  <m:t>−</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endParaRPr lang="en-US" sz="2000" b="0" dirty="0"/>
                        </a:p>
                      </a:txBody>
                      <a:tcPr/>
                    </a:tc>
                    <a:tc>
                      <a:txBody>
                        <a:bodyPr/>
                        <a:lstStyle/>
                        <a:p>
                          <a:pPr algn="r"/>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r>
                                  <a:rPr lang="tr-TR" sz="2000" b="0" i="1" smtClean="0">
                                    <a:latin typeface="Cambria Math" panose="02040503050406030204" pitchFamily="18" charset="0"/>
                                  </a:rPr>
                                  <m:t>=</m:t>
                                </m:r>
                              </m:oMath>
                            </m:oMathPara>
                          </a14:m>
                          <a:endParaRPr lang="en-US" sz="2000" b="0" dirty="0"/>
                        </a:p>
                      </a:txBody>
                      <a:tcPr/>
                    </a:tc>
                    <a:tc>
                      <a:txBody>
                        <a:bodyPr/>
                        <a:lstStyle/>
                        <a:p>
                          <a:r>
                            <a:rPr lang="tr-TR" sz="2000" b="0" dirty="0"/>
                            <a:t>150</a:t>
                          </a:r>
                          <a:endParaRPr lang="en-US" sz="2000" b="0" dirty="0"/>
                        </a:p>
                      </a:txBody>
                      <a:tcPr/>
                    </a:tc>
                    <a:extLst>
                      <a:ext uri="{0D108BD9-81ED-4DB2-BD59-A6C34878D82A}">
                        <a16:rowId xmlns:a16="http://schemas.microsoft.com/office/drawing/2014/main" val="1849586065"/>
                      </a:ext>
                    </a:extLst>
                  </a:tr>
                  <a:tr h="370840">
                    <a:tc>
                      <a:txBody>
                        <a:bodyPr/>
                        <a:lstStyle/>
                        <a:p>
                          <a:endParaRPr lang="en-US" sz="2000" dirty="0"/>
                        </a:p>
                      </a:txBody>
                      <a:tcPr/>
                    </a:tc>
                    <a:tc>
                      <a:txBody>
                        <a:bodyPr/>
                        <a:lstStyle/>
                        <a:p>
                          <a:pPr algn="r"/>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i="1" smtClean="0">
                                    <a:latin typeface="Cambria Math" panose="02040503050406030204" pitchFamily="18" charset="0"/>
                                  </a:rPr>
                                  <m:t>+</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i="1" smtClean="0">
                                    <a:latin typeface="Cambria Math" panose="02040503050406030204" pitchFamily="18" charset="0"/>
                                  </a:rPr>
                                  <m:t>−</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r>
                                  <a:rPr lang="tr-TR" sz="2000" b="0" i="1" smtClean="0">
                                    <a:latin typeface="Cambria Math" panose="02040503050406030204" pitchFamily="18" charset="0"/>
                                  </a:rPr>
                                  <m:t>=</m:t>
                                </m:r>
                              </m:oMath>
                            </m:oMathPara>
                          </a14:m>
                          <a:endParaRPr lang="en-US" sz="2000" b="0" dirty="0"/>
                        </a:p>
                      </a:txBody>
                      <a:tcPr/>
                    </a:tc>
                    <a:tc>
                      <a:txBody>
                        <a:bodyPr/>
                        <a:lstStyle/>
                        <a:p>
                          <a:r>
                            <a:rPr lang="tr-TR" sz="2000" b="0" dirty="0"/>
                            <a:t>400</a:t>
                          </a:r>
                          <a:endParaRPr lang="en-US" sz="2000" b="0" dirty="0"/>
                        </a:p>
                      </a:txBody>
                      <a:tcPr/>
                    </a:tc>
                    <a:extLst>
                      <a:ext uri="{0D108BD9-81ED-4DB2-BD59-A6C34878D82A}">
                        <a16:rowId xmlns:a16="http://schemas.microsoft.com/office/drawing/2014/main" val="3907794430"/>
                      </a:ext>
                    </a:extLst>
                  </a:tr>
                  <a:tr h="370840">
                    <a:tc>
                      <a:txBody>
                        <a:bodyPr/>
                        <a:lstStyle/>
                        <a:p>
                          <a:endParaRPr lang="en-US" sz="2000" dirty="0"/>
                        </a:p>
                      </a:txBody>
                      <a:tcPr/>
                    </a:tc>
                    <a:tc>
                      <a:txBody>
                        <a:bodyPr/>
                        <a:lstStyle/>
                        <a:p>
                          <a:pPr algn="r"/>
                          <a:endParaRPr lang="en-US" sz="2000" b="0" dirty="0"/>
                        </a:p>
                      </a:txBody>
                      <a:tcPr/>
                    </a:tc>
                    <a:tc>
                      <a:txBody>
                        <a:bodyPr/>
                        <a:lstStyle/>
                        <a:p>
                          <a:pPr algn="r"/>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𝑆</m:t>
                                    </m:r>
                                  </m:sub>
                                </m:sSub>
                              </m:oMath>
                            </m:oMathPara>
                          </a14:m>
                          <a:endParaRPr lang="en-US" sz="2000" b="0" dirty="0"/>
                        </a:p>
                      </a:txBody>
                      <a:tcPr/>
                    </a:tc>
                    <a:tc>
                      <a:txBody>
                        <a:bodyPr/>
                        <a:lstStyle/>
                        <a:p>
                          <a:pPr algn="r"/>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i="1" smtClean="0">
                                    <a:latin typeface="Cambria Math" panose="02040503050406030204" pitchFamily="18" charset="0"/>
                                  </a:rPr>
                                  <m:t>+</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r>
                                  <a:rPr lang="tr-TR" sz="2000" b="0" i="1" smtClean="0">
                                    <a:latin typeface="Cambria Math" panose="02040503050406030204" pitchFamily="18" charset="0"/>
                                  </a:rPr>
                                  <m:t>−</m:t>
                                </m:r>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𝑆</m:t>
                                    </m:r>
                                  </m:sub>
                                </m:sSub>
                              </m:oMath>
                            </m:oMathPara>
                          </a14:m>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r>
                                  <a:rPr lang="tr-TR" sz="2000" b="0" i="1" smtClean="0">
                                    <a:latin typeface="Cambria Math" panose="02040503050406030204" pitchFamily="18" charset="0"/>
                                  </a:rPr>
                                  <m:t>=</m:t>
                                </m:r>
                              </m:oMath>
                            </m:oMathPara>
                          </a14:m>
                          <a:endParaRPr lang="en-US" sz="2000" b="0" dirty="0"/>
                        </a:p>
                      </a:txBody>
                      <a:tcPr/>
                    </a:tc>
                    <a:tc>
                      <a:txBody>
                        <a:bodyPr/>
                        <a:lstStyle/>
                        <a:p>
                          <a:r>
                            <a:rPr lang="tr-TR" sz="2000" b="0" dirty="0"/>
                            <a:t>50</a:t>
                          </a:r>
                          <a:endParaRPr lang="en-US" sz="2000" b="0" dirty="0"/>
                        </a:p>
                      </a:txBody>
                      <a:tcPr/>
                    </a:tc>
                    <a:extLst>
                      <a:ext uri="{0D108BD9-81ED-4DB2-BD59-A6C34878D82A}">
                        <a16:rowId xmlns:a16="http://schemas.microsoft.com/office/drawing/2014/main" val="3381761340"/>
                      </a:ext>
                    </a:extLst>
                  </a:tr>
                  <a:tr h="370840">
                    <a:tc>
                      <a:txBody>
                        <a:bodyPr/>
                        <a:lstStyle/>
                        <a:p>
                          <a:endParaRPr lang="en-US" sz="20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𝑃</m:t>
                                    </m:r>
                                  </m:e>
                                  <m:sub>
                                    <m:r>
                                      <a:rPr lang="tr-TR" sz="2000" b="0" i="1" smtClean="0">
                                        <a:latin typeface="Cambria Math" panose="02040503050406030204" pitchFamily="18" charset="0"/>
                                      </a:rPr>
                                      <m:t>𝑆</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𝐴</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𝑊</m:t>
                                    </m:r>
                                  </m:sub>
                                </m:sSub>
                              </m:oMath>
                            </m:oMathPara>
                          </a14:m>
                          <a:endParaRPr lang="en-US" sz="2000" b="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000" b="0" i="1" smtClean="0">
                                        <a:latin typeface="Cambria Math" panose="02040503050406030204" pitchFamily="18" charset="0"/>
                                      </a:rPr>
                                    </m:ctrlPr>
                                  </m:sSubPr>
                                  <m:e>
                                    <m:r>
                                      <a:rPr lang="tr-TR" sz="2000" b="0" i="1" smtClean="0">
                                        <a:latin typeface="Cambria Math" panose="02040503050406030204" pitchFamily="18" charset="0"/>
                                      </a:rPr>
                                      <m:t>𝐼</m:t>
                                    </m:r>
                                  </m:e>
                                  <m:sub>
                                    <m:r>
                                      <a:rPr lang="tr-TR" sz="2000" b="0" i="1" smtClean="0">
                                        <a:latin typeface="Cambria Math" panose="02040503050406030204" pitchFamily="18" charset="0"/>
                                      </a:rPr>
                                      <m:t>𝑆</m:t>
                                    </m:r>
                                  </m:sub>
                                </m:sSub>
                              </m:oMath>
                            </m:oMathPara>
                          </a14:m>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r>
                                  <a:rPr lang="tr-TR" sz="2000" b="0" i="1" smtClean="0">
                                    <a:latin typeface="Cambria Math" panose="02040503050406030204" pitchFamily="18" charset="0"/>
                                  </a:rPr>
                                  <m:t>≥</m:t>
                                </m:r>
                              </m:oMath>
                            </m:oMathPara>
                          </a14:m>
                          <a:endParaRPr lang="en-US" sz="2000" b="0" dirty="0"/>
                        </a:p>
                      </a:txBody>
                      <a:tcPr/>
                    </a:tc>
                    <a:tc>
                      <a:txBody>
                        <a:bodyPr/>
                        <a:lstStyle/>
                        <a:p>
                          <a:r>
                            <a:rPr lang="tr-TR" sz="2000" b="0" dirty="0"/>
                            <a:t>0</a:t>
                          </a:r>
                          <a:endParaRPr lang="en-US" sz="2000" b="0" dirty="0"/>
                        </a:p>
                      </a:txBody>
                      <a:tcPr/>
                    </a:tc>
                    <a:extLst>
                      <a:ext uri="{0D108BD9-81ED-4DB2-BD59-A6C34878D82A}">
                        <a16:rowId xmlns:a16="http://schemas.microsoft.com/office/drawing/2014/main" val="3220848258"/>
                      </a:ext>
                    </a:extLst>
                  </a:tr>
                </a:tbl>
              </a:graphicData>
            </a:graphic>
          </p:graphicFrame>
        </mc:Choice>
        <mc:Fallback>
          <p:graphicFrame>
            <p:nvGraphicFramePr>
              <p:cNvPr id="37" name="Table 36"/>
              <p:cNvGraphicFramePr>
                <a:graphicFrameLocks noGrp="1"/>
              </p:cNvGraphicFramePr>
              <p:nvPr>
                <p:extLst>
                  <p:ext uri="{D42A27DB-BD31-4B8C-83A1-F6EECF244321}">
                    <p14:modId xmlns:p14="http://schemas.microsoft.com/office/powerpoint/2010/main" val="4070410364"/>
                  </p:ext>
                </p:extLst>
              </p:nvPr>
            </p:nvGraphicFramePr>
            <p:xfrm>
              <a:off x="1389702" y="2202128"/>
              <a:ext cx="8897479" cy="1981200"/>
            </p:xfrm>
            <a:graphic>
              <a:graphicData uri="http://schemas.openxmlformats.org/drawingml/2006/table">
                <a:tbl>
                  <a:tblPr firstRow="1" bandRow="1">
                    <a:tableStyleId>{2D5ABB26-0587-4C30-8999-92F81FD0307C}</a:tableStyleId>
                  </a:tblPr>
                  <a:tblGrid>
                    <a:gridCol w="1296289">
                      <a:extLst>
                        <a:ext uri="{9D8B030D-6E8A-4147-A177-3AD203B41FA5}">
                          <a16:colId xmlns:a16="http://schemas.microsoft.com/office/drawing/2014/main" val="3888021187"/>
                        </a:ext>
                      </a:extLst>
                    </a:gridCol>
                    <a:gridCol w="882841">
                      <a:extLst>
                        <a:ext uri="{9D8B030D-6E8A-4147-A177-3AD203B41FA5}">
                          <a16:colId xmlns:a16="http://schemas.microsoft.com/office/drawing/2014/main" val="3534266932"/>
                        </a:ext>
                      </a:extLst>
                    </a:gridCol>
                    <a:gridCol w="991667">
                      <a:extLst>
                        <a:ext uri="{9D8B030D-6E8A-4147-A177-3AD203B41FA5}">
                          <a16:colId xmlns:a16="http://schemas.microsoft.com/office/drawing/2014/main" val="3559686337"/>
                        </a:ext>
                      </a:extLst>
                    </a:gridCol>
                    <a:gridCol w="1146746">
                      <a:extLst>
                        <a:ext uri="{9D8B030D-6E8A-4147-A177-3AD203B41FA5}">
                          <a16:colId xmlns:a16="http://schemas.microsoft.com/office/drawing/2014/main" val="1347294665"/>
                        </a:ext>
                      </a:extLst>
                    </a:gridCol>
                    <a:gridCol w="1110678">
                      <a:extLst>
                        <a:ext uri="{9D8B030D-6E8A-4147-A177-3AD203B41FA5}">
                          <a16:colId xmlns:a16="http://schemas.microsoft.com/office/drawing/2014/main" val="2673935178"/>
                        </a:ext>
                      </a:extLst>
                    </a:gridCol>
                    <a:gridCol w="1185481">
                      <a:extLst>
                        <a:ext uri="{9D8B030D-6E8A-4147-A177-3AD203B41FA5}">
                          <a16:colId xmlns:a16="http://schemas.microsoft.com/office/drawing/2014/main" val="2754673891"/>
                        </a:ext>
                      </a:extLst>
                    </a:gridCol>
                    <a:gridCol w="1098867">
                      <a:extLst>
                        <a:ext uri="{9D8B030D-6E8A-4147-A177-3AD203B41FA5}">
                          <a16:colId xmlns:a16="http://schemas.microsoft.com/office/drawing/2014/main" val="3913864312"/>
                        </a:ext>
                      </a:extLst>
                    </a:gridCol>
                    <a:gridCol w="430530">
                      <a:extLst>
                        <a:ext uri="{9D8B030D-6E8A-4147-A177-3AD203B41FA5}">
                          <a16:colId xmlns:a16="http://schemas.microsoft.com/office/drawing/2014/main" val="1158957883"/>
                        </a:ext>
                      </a:extLst>
                    </a:gridCol>
                    <a:gridCol w="754380">
                      <a:extLst>
                        <a:ext uri="{9D8B030D-6E8A-4147-A177-3AD203B41FA5}">
                          <a16:colId xmlns:a16="http://schemas.microsoft.com/office/drawing/2014/main" val="3407547115"/>
                        </a:ext>
                      </a:extLst>
                    </a:gridCol>
                  </a:tblGrid>
                  <a:tr h="396240">
                    <a:tc>
                      <a:txBody>
                        <a:bodyPr/>
                        <a:lstStyle/>
                        <a:p>
                          <a:endParaRPr lang="en-US"/>
                        </a:p>
                      </a:txBody>
                      <a:tcPr>
                        <a:blipFill>
                          <a:blip r:embed="rId2"/>
                          <a:stretch>
                            <a:fillRect t="-7692" r="-585915" b="-427692"/>
                          </a:stretch>
                        </a:blipFill>
                      </a:tcPr>
                    </a:tc>
                    <a:tc>
                      <a:txBody>
                        <a:bodyPr/>
                        <a:lstStyle/>
                        <a:p>
                          <a:endParaRPr lang="en-US"/>
                        </a:p>
                      </a:txBody>
                      <a:tcPr>
                        <a:blipFill>
                          <a:blip r:embed="rId2"/>
                          <a:stretch>
                            <a:fillRect l="-146897" t="-7692" r="-760690" b="-427692"/>
                          </a:stretch>
                        </a:blipFill>
                      </a:tcPr>
                    </a:tc>
                    <a:tc>
                      <a:txBody>
                        <a:bodyPr/>
                        <a:lstStyle/>
                        <a:p>
                          <a:endParaRPr lang="en-US"/>
                        </a:p>
                      </a:txBody>
                      <a:tcPr>
                        <a:blipFill>
                          <a:blip r:embed="rId2"/>
                          <a:stretch>
                            <a:fillRect l="-219632" t="-7692" r="-576687" b="-427692"/>
                          </a:stretch>
                        </a:blipFill>
                      </a:tcPr>
                    </a:tc>
                    <a:tc>
                      <a:txBody>
                        <a:bodyPr/>
                        <a:lstStyle/>
                        <a:p>
                          <a:endParaRPr lang="en-US"/>
                        </a:p>
                      </a:txBody>
                      <a:tcPr>
                        <a:blipFill>
                          <a:blip r:embed="rId2"/>
                          <a:stretch>
                            <a:fillRect l="-277128" t="-7692" r="-400000" b="-427692"/>
                          </a:stretch>
                        </a:blipFill>
                      </a:tcPr>
                    </a:tc>
                    <a:tc>
                      <a:txBody>
                        <a:bodyPr/>
                        <a:lstStyle/>
                        <a:p>
                          <a:endParaRPr lang="en-US"/>
                        </a:p>
                      </a:txBody>
                      <a:tcPr>
                        <a:blipFill>
                          <a:blip r:embed="rId2"/>
                          <a:stretch>
                            <a:fillRect l="-389560" t="-7692" r="-313187" b="-427692"/>
                          </a:stretch>
                        </a:blipFill>
                      </a:tcPr>
                    </a:tc>
                    <a:tc>
                      <a:txBody>
                        <a:bodyPr/>
                        <a:lstStyle/>
                        <a:p>
                          <a:endParaRPr lang="en-US"/>
                        </a:p>
                      </a:txBody>
                      <a:tcPr>
                        <a:blipFill>
                          <a:blip r:embed="rId2"/>
                          <a:stretch>
                            <a:fillRect l="-456923" t="-7692" r="-192308" b="-427692"/>
                          </a:stretch>
                        </a:blipFill>
                      </a:tcPr>
                    </a:tc>
                    <a:tc>
                      <a:txBody>
                        <a:bodyPr/>
                        <a:lstStyle/>
                        <a:p>
                          <a:endParaRPr lang="en-US"/>
                        </a:p>
                      </a:txBody>
                      <a:tcPr>
                        <a:blipFill>
                          <a:blip r:embed="rId2"/>
                          <a:stretch>
                            <a:fillRect l="-603333" t="-7692" r="-108333" b="-427692"/>
                          </a:stretch>
                        </a:blipFill>
                      </a:tcPr>
                    </a:tc>
                    <a:tc>
                      <a:txBody>
                        <a:bodyPr/>
                        <a:lstStyle/>
                        <a:p>
                          <a:endParaRPr lang="en-US" sz="2000" b="0" dirty="0"/>
                        </a:p>
                      </a:txBody>
                      <a:tcPr/>
                    </a:tc>
                    <a:tc>
                      <a:txBody>
                        <a:bodyPr/>
                        <a:lstStyle/>
                        <a:p>
                          <a:endParaRPr lang="en-US" sz="2000" b="0" dirty="0"/>
                        </a:p>
                      </a:txBody>
                      <a:tcPr/>
                    </a:tc>
                    <a:extLst>
                      <a:ext uri="{0D108BD9-81ED-4DB2-BD59-A6C34878D82A}">
                        <a16:rowId xmlns:a16="http://schemas.microsoft.com/office/drawing/2014/main" val="1915566640"/>
                      </a:ext>
                    </a:extLst>
                  </a:tr>
                  <a:tr h="396240">
                    <a:tc>
                      <a:txBody>
                        <a:bodyPr/>
                        <a:lstStyle/>
                        <a:p>
                          <a:r>
                            <a:rPr lang="tr-TR" sz="2000" dirty="0"/>
                            <a:t>Subject to</a:t>
                          </a:r>
                          <a:endParaRPr lang="en-US" sz="2000" dirty="0"/>
                        </a:p>
                      </a:txBody>
                      <a:tcPr/>
                    </a:tc>
                    <a:tc>
                      <a:txBody>
                        <a:bodyPr/>
                        <a:lstStyle/>
                        <a:p>
                          <a:endParaRPr lang="en-US"/>
                        </a:p>
                      </a:txBody>
                      <a:tcPr>
                        <a:blipFill>
                          <a:blip r:embed="rId2"/>
                          <a:stretch>
                            <a:fillRect l="-146897" t="-107692" r="-760690" b="-327692"/>
                          </a:stretch>
                        </a:blipFill>
                      </a:tcPr>
                    </a:tc>
                    <a:tc>
                      <a:txBody>
                        <a:bodyPr/>
                        <a:lstStyle/>
                        <a:p>
                          <a:pPr algn="r"/>
                          <a:endParaRPr lang="en-US" sz="2000" b="0" dirty="0"/>
                        </a:p>
                      </a:txBody>
                      <a:tcPr/>
                    </a:tc>
                    <a:tc>
                      <a:txBody>
                        <a:bodyPr/>
                        <a:lstStyle/>
                        <a:p>
                          <a:pPr algn="r"/>
                          <a:endParaRPr lang="en-US" sz="2000" b="0" dirty="0"/>
                        </a:p>
                      </a:txBody>
                      <a:tcPr/>
                    </a:tc>
                    <a:tc>
                      <a:txBody>
                        <a:bodyPr/>
                        <a:lstStyle/>
                        <a:p>
                          <a:endParaRPr lang="en-US"/>
                        </a:p>
                      </a:txBody>
                      <a:tcPr>
                        <a:blipFill>
                          <a:blip r:embed="rId2"/>
                          <a:stretch>
                            <a:fillRect l="-389560" t="-107692" r="-313187" b="-327692"/>
                          </a:stretch>
                        </a:blipFill>
                      </a:tcPr>
                    </a:tc>
                    <a:tc>
                      <a:txBody>
                        <a:bodyPr/>
                        <a:lstStyle/>
                        <a:p>
                          <a:pPr algn="r"/>
                          <a:endParaRPr lang="en-US" sz="2000" b="0" dirty="0"/>
                        </a:p>
                      </a:txBody>
                      <a:tcPr/>
                    </a:tc>
                    <a:tc>
                      <a:txBody>
                        <a:bodyPr/>
                        <a:lstStyle/>
                        <a:p>
                          <a:pPr algn="r"/>
                          <a:endParaRPr lang="en-US" sz="2000" b="0" dirty="0"/>
                        </a:p>
                      </a:txBody>
                      <a:tcPr/>
                    </a:tc>
                    <a:tc>
                      <a:txBody>
                        <a:bodyPr/>
                        <a:lstStyle/>
                        <a:p>
                          <a:endParaRPr lang="en-US"/>
                        </a:p>
                      </a:txBody>
                      <a:tcPr>
                        <a:blipFill>
                          <a:blip r:embed="rId2"/>
                          <a:stretch>
                            <a:fillRect l="-1783099" t="-107692" r="-174648" b="-327692"/>
                          </a:stretch>
                        </a:blipFill>
                      </a:tcPr>
                    </a:tc>
                    <a:tc>
                      <a:txBody>
                        <a:bodyPr/>
                        <a:lstStyle/>
                        <a:p>
                          <a:r>
                            <a:rPr lang="tr-TR" sz="2000" b="0" dirty="0"/>
                            <a:t>150</a:t>
                          </a:r>
                          <a:endParaRPr lang="en-US" sz="2000" b="0" dirty="0"/>
                        </a:p>
                      </a:txBody>
                      <a:tcPr/>
                    </a:tc>
                    <a:extLst>
                      <a:ext uri="{0D108BD9-81ED-4DB2-BD59-A6C34878D82A}">
                        <a16:rowId xmlns:a16="http://schemas.microsoft.com/office/drawing/2014/main" val="1849586065"/>
                      </a:ext>
                    </a:extLst>
                  </a:tr>
                  <a:tr h="396240">
                    <a:tc>
                      <a:txBody>
                        <a:bodyPr/>
                        <a:lstStyle/>
                        <a:p>
                          <a:endParaRPr lang="en-US" sz="2000" dirty="0"/>
                        </a:p>
                      </a:txBody>
                      <a:tcPr/>
                    </a:tc>
                    <a:tc>
                      <a:txBody>
                        <a:bodyPr/>
                        <a:lstStyle/>
                        <a:p>
                          <a:pPr algn="r"/>
                          <a:endParaRPr lang="en-US" sz="2000" b="0" dirty="0"/>
                        </a:p>
                      </a:txBody>
                      <a:tcPr/>
                    </a:tc>
                    <a:tc>
                      <a:txBody>
                        <a:bodyPr/>
                        <a:lstStyle/>
                        <a:p>
                          <a:endParaRPr lang="en-US"/>
                        </a:p>
                      </a:txBody>
                      <a:tcPr>
                        <a:blipFill>
                          <a:blip r:embed="rId2"/>
                          <a:stretch>
                            <a:fillRect l="-219632" t="-204545" r="-576687" b="-222727"/>
                          </a:stretch>
                        </a:blipFill>
                      </a:tcPr>
                    </a:tc>
                    <a:tc>
                      <a:txBody>
                        <a:bodyPr/>
                        <a:lstStyle/>
                        <a:p>
                          <a:pPr algn="r"/>
                          <a:endParaRPr lang="en-US" sz="2000" b="0" dirty="0"/>
                        </a:p>
                      </a:txBody>
                      <a:tcPr/>
                    </a:tc>
                    <a:tc>
                      <a:txBody>
                        <a:bodyPr/>
                        <a:lstStyle/>
                        <a:p>
                          <a:endParaRPr lang="en-US"/>
                        </a:p>
                      </a:txBody>
                      <a:tcPr>
                        <a:blipFill>
                          <a:blip r:embed="rId2"/>
                          <a:stretch>
                            <a:fillRect l="-389560" t="-204545" r="-313187" b="-222727"/>
                          </a:stretch>
                        </a:blipFill>
                      </a:tcPr>
                    </a:tc>
                    <a:tc>
                      <a:txBody>
                        <a:bodyPr/>
                        <a:lstStyle/>
                        <a:p>
                          <a:endParaRPr lang="en-US"/>
                        </a:p>
                      </a:txBody>
                      <a:tcPr>
                        <a:blipFill>
                          <a:blip r:embed="rId2"/>
                          <a:stretch>
                            <a:fillRect l="-456923" t="-204545" r="-192308" b="-222727"/>
                          </a:stretch>
                        </a:blipFill>
                      </a:tcPr>
                    </a:tc>
                    <a:tc>
                      <a:txBody>
                        <a:bodyPr/>
                        <a:lstStyle/>
                        <a:p>
                          <a:pPr algn="r"/>
                          <a:endParaRPr lang="en-US" sz="2000" b="0" dirty="0"/>
                        </a:p>
                      </a:txBody>
                      <a:tcPr/>
                    </a:tc>
                    <a:tc>
                      <a:txBody>
                        <a:bodyPr/>
                        <a:lstStyle/>
                        <a:p>
                          <a:endParaRPr lang="en-US"/>
                        </a:p>
                      </a:txBody>
                      <a:tcPr>
                        <a:blipFill>
                          <a:blip r:embed="rId2"/>
                          <a:stretch>
                            <a:fillRect l="-1783099" t="-204545" r="-174648" b="-222727"/>
                          </a:stretch>
                        </a:blipFill>
                      </a:tcPr>
                    </a:tc>
                    <a:tc>
                      <a:txBody>
                        <a:bodyPr/>
                        <a:lstStyle/>
                        <a:p>
                          <a:r>
                            <a:rPr lang="tr-TR" sz="2000" b="0" dirty="0"/>
                            <a:t>400</a:t>
                          </a:r>
                          <a:endParaRPr lang="en-US" sz="2000" b="0" dirty="0"/>
                        </a:p>
                      </a:txBody>
                      <a:tcPr/>
                    </a:tc>
                    <a:extLst>
                      <a:ext uri="{0D108BD9-81ED-4DB2-BD59-A6C34878D82A}">
                        <a16:rowId xmlns:a16="http://schemas.microsoft.com/office/drawing/2014/main" val="3907794430"/>
                      </a:ext>
                    </a:extLst>
                  </a:tr>
                  <a:tr h="396240">
                    <a:tc>
                      <a:txBody>
                        <a:bodyPr/>
                        <a:lstStyle/>
                        <a:p>
                          <a:endParaRPr lang="en-US" sz="2000" dirty="0"/>
                        </a:p>
                      </a:txBody>
                      <a:tcPr/>
                    </a:tc>
                    <a:tc>
                      <a:txBody>
                        <a:bodyPr/>
                        <a:lstStyle/>
                        <a:p>
                          <a:pPr algn="r"/>
                          <a:endParaRPr lang="en-US" sz="2000" b="0" dirty="0"/>
                        </a:p>
                      </a:txBody>
                      <a:tcPr/>
                    </a:tc>
                    <a:tc>
                      <a:txBody>
                        <a:bodyPr/>
                        <a:lstStyle/>
                        <a:p>
                          <a:pPr algn="r"/>
                          <a:endParaRPr lang="en-US" sz="2000" b="0" dirty="0"/>
                        </a:p>
                      </a:txBody>
                      <a:tcPr/>
                    </a:tc>
                    <a:tc>
                      <a:txBody>
                        <a:bodyPr/>
                        <a:lstStyle/>
                        <a:p>
                          <a:endParaRPr lang="en-US"/>
                        </a:p>
                      </a:txBody>
                      <a:tcPr>
                        <a:blipFill>
                          <a:blip r:embed="rId2"/>
                          <a:stretch>
                            <a:fillRect l="-277128" t="-309231" r="-400000" b="-126154"/>
                          </a:stretch>
                        </a:blipFill>
                      </a:tcPr>
                    </a:tc>
                    <a:tc>
                      <a:txBody>
                        <a:bodyPr/>
                        <a:lstStyle/>
                        <a:p>
                          <a:pPr algn="r"/>
                          <a:endParaRPr lang="en-US" sz="2000" b="0" dirty="0"/>
                        </a:p>
                      </a:txBody>
                      <a:tcPr/>
                    </a:tc>
                    <a:tc>
                      <a:txBody>
                        <a:bodyPr/>
                        <a:lstStyle/>
                        <a:p>
                          <a:endParaRPr lang="en-US"/>
                        </a:p>
                      </a:txBody>
                      <a:tcPr>
                        <a:blipFill>
                          <a:blip r:embed="rId2"/>
                          <a:stretch>
                            <a:fillRect l="-456923" t="-309231" r="-192308" b="-126154"/>
                          </a:stretch>
                        </a:blipFill>
                      </a:tcPr>
                    </a:tc>
                    <a:tc>
                      <a:txBody>
                        <a:bodyPr/>
                        <a:lstStyle/>
                        <a:p>
                          <a:endParaRPr lang="en-US"/>
                        </a:p>
                      </a:txBody>
                      <a:tcPr>
                        <a:blipFill>
                          <a:blip r:embed="rId2"/>
                          <a:stretch>
                            <a:fillRect l="-603333" t="-309231" r="-108333" b="-126154"/>
                          </a:stretch>
                        </a:blipFill>
                      </a:tcPr>
                    </a:tc>
                    <a:tc>
                      <a:txBody>
                        <a:bodyPr/>
                        <a:lstStyle/>
                        <a:p>
                          <a:endParaRPr lang="en-US"/>
                        </a:p>
                      </a:txBody>
                      <a:tcPr>
                        <a:blipFill>
                          <a:blip r:embed="rId2"/>
                          <a:stretch>
                            <a:fillRect l="-1783099" t="-309231" r="-174648" b="-126154"/>
                          </a:stretch>
                        </a:blipFill>
                      </a:tcPr>
                    </a:tc>
                    <a:tc>
                      <a:txBody>
                        <a:bodyPr/>
                        <a:lstStyle/>
                        <a:p>
                          <a:r>
                            <a:rPr lang="tr-TR" sz="2000" b="0" dirty="0"/>
                            <a:t>50</a:t>
                          </a:r>
                          <a:endParaRPr lang="en-US" sz="2000" b="0" dirty="0"/>
                        </a:p>
                      </a:txBody>
                      <a:tcPr/>
                    </a:tc>
                    <a:extLst>
                      <a:ext uri="{0D108BD9-81ED-4DB2-BD59-A6C34878D82A}">
                        <a16:rowId xmlns:a16="http://schemas.microsoft.com/office/drawing/2014/main" val="3381761340"/>
                      </a:ext>
                    </a:extLst>
                  </a:tr>
                  <a:tr h="396240">
                    <a:tc>
                      <a:txBody>
                        <a:bodyPr/>
                        <a:lstStyle/>
                        <a:p>
                          <a:endParaRPr lang="en-US" sz="2000" dirty="0"/>
                        </a:p>
                      </a:txBody>
                      <a:tcPr/>
                    </a:tc>
                    <a:tc>
                      <a:txBody>
                        <a:bodyPr/>
                        <a:lstStyle/>
                        <a:p>
                          <a:endParaRPr lang="en-US"/>
                        </a:p>
                      </a:txBody>
                      <a:tcPr>
                        <a:blipFill>
                          <a:blip r:embed="rId2"/>
                          <a:stretch>
                            <a:fillRect l="-146897" t="-409231" r="-760690" b="-26154"/>
                          </a:stretch>
                        </a:blipFill>
                      </a:tcPr>
                    </a:tc>
                    <a:tc>
                      <a:txBody>
                        <a:bodyPr/>
                        <a:lstStyle/>
                        <a:p>
                          <a:endParaRPr lang="en-US"/>
                        </a:p>
                      </a:txBody>
                      <a:tcPr>
                        <a:blipFill>
                          <a:blip r:embed="rId2"/>
                          <a:stretch>
                            <a:fillRect l="-219632" t="-409231" r="-576687" b="-26154"/>
                          </a:stretch>
                        </a:blipFill>
                      </a:tcPr>
                    </a:tc>
                    <a:tc>
                      <a:txBody>
                        <a:bodyPr/>
                        <a:lstStyle/>
                        <a:p>
                          <a:endParaRPr lang="en-US"/>
                        </a:p>
                      </a:txBody>
                      <a:tcPr>
                        <a:blipFill>
                          <a:blip r:embed="rId2"/>
                          <a:stretch>
                            <a:fillRect l="-277128" t="-409231" r="-400000" b="-26154"/>
                          </a:stretch>
                        </a:blipFill>
                      </a:tcPr>
                    </a:tc>
                    <a:tc>
                      <a:txBody>
                        <a:bodyPr/>
                        <a:lstStyle/>
                        <a:p>
                          <a:endParaRPr lang="en-US"/>
                        </a:p>
                      </a:txBody>
                      <a:tcPr>
                        <a:blipFill>
                          <a:blip r:embed="rId2"/>
                          <a:stretch>
                            <a:fillRect l="-389560" t="-409231" r="-313187" b="-26154"/>
                          </a:stretch>
                        </a:blipFill>
                      </a:tcPr>
                    </a:tc>
                    <a:tc>
                      <a:txBody>
                        <a:bodyPr/>
                        <a:lstStyle/>
                        <a:p>
                          <a:endParaRPr lang="en-US"/>
                        </a:p>
                      </a:txBody>
                      <a:tcPr>
                        <a:blipFill>
                          <a:blip r:embed="rId2"/>
                          <a:stretch>
                            <a:fillRect l="-456923" t="-409231" r="-192308" b="-26154"/>
                          </a:stretch>
                        </a:blipFill>
                      </a:tcPr>
                    </a:tc>
                    <a:tc>
                      <a:txBody>
                        <a:bodyPr/>
                        <a:lstStyle/>
                        <a:p>
                          <a:endParaRPr lang="en-US"/>
                        </a:p>
                      </a:txBody>
                      <a:tcPr>
                        <a:blipFill>
                          <a:blip r:embed="rId2"/>
                          <a:stretch>
                            <a:fillRect l="-603333" t="-409231" r="-108333" b="-26154"/>
                          </a:stretch>
                        </a:blipFill>
                      </a:tcPr>
                    </a:tc>
                    <a:tc>
                      <a:txBody>
                        <a:bodyPr/>
                        <a:lstStyle/>
                        <a:p>
                          <a:endParaRPr lang="en-US"/>
                        </a:p>
                      </a:txBody>
                      <a:tcPr>
                        <a:blipFill>
                          <a:blip r:embed="rId2"/>
                          <a:stretch>
                            <a:fillRect l="-1783099" t="-409231" r="-174648" b="-26154"/>
                          </a:stretch>
                        </a:blipFill>
                      </a:tcPr>
                    </a:tc>
                    <a:tc>
                      <a:txBody>
                        <a:bodyPr/>
                        <a:lstStyle/>
                        <a:p>
                          <a:r>
                            <a:rPr lang="tr-TR" sz="2000" b="0" dirty="0"/>
                            <a:t>0</a:t>
                          </a:r>
                          <a:endParaRPr lang="en-US" sz="20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2828959609"/>
      </p:ext>
    </p:extLst>
  </p:cSld>
  <p:clrMapOvr>
    <a:masterClrMapping/>
  </p:clrMapOvr>
</p:sld>
</file>

<file path=ppt/theme/theme1.xml><?xml version="1.0" encoding="utf-8"?>
<a:theme xmlns:a="http://schemas.openxmlformats.org/drawingml/2006/main" name="ITU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1338</TotalTime>
  <Words>2488</Words>
  <Application>Microsoft Office PowerPoint</Application>
  <PresentationFormat>Widescreen</PresentationFormat>
  <Paragraphs>507</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Cambria Math</vt:lpstr>
      <vt:lpstr>ITU Layout</vt:lpstr>
      <vt:lpstr>Business Analytics</vt:lpstr>
      <vt:lpstr>Applications of LP</vt:lpstr>
      <vt:lpstr>Process Selection Models</vt:lpstr>
      <vt:lpstr>Process Selection Models</vt:lpstr>
      <vt:lpstr>Process Selection Models</vt:lpstr>
      <vt:lpstr>Process Selection Models</vt:lpstr>
      <vt:lpstr>Process Selection Models</vt:lpstr>
      <vt:lpstr>Process Selection Models</vt:lpstr>
      <vt:lpstr>Process Selection Models -PuLP</vt:lpstr>
      <vt:lpstr>Process Selection Models -PuLP</vt:lpstr>
      <vt:lpstr>Process Selection Models -PuLP</vt:lpstr>
      <vt:lpstr>Process Selection Models -PuLP</vt:lpstr>
      <vt:lpstr>Blending Models</vt:lpstr>
      <vt:lpstr>Blending Models</vt:lpstr>
      <vt:lpstr>Blending Models</vt:lpstr>
      <vt:lpstr>Blending Models</vt:lpstr>
      <vt:lpstr>Transportation Models</vt:lpstr>
      <vt:lpstr>Transportation Models</vt:lpstr>
      <vt:lpstr>Transportation Models</vt:lpstr>
      <vt:lpstr>Transportation Models</vt:lpstr>
      <vt:lpstr>Transportation Models</vt:lpstr>
      <vt:lpstr>Transportation Models</vt:lpstr>
      <vt:lpstr>Multiperiod Production Models</vt:lpstr>
      <vt:lpstr>Multiperiod Production Models</vt:lpstr>
      <vt:lpstr>Multiperiod Production Models</vt:lpstr>
      <vt:lpstr>Multiperiod Production Models</vt:lpstr>
      <vt:lpstr>Multiperiod Production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Engineering</dc:title>
  <dc:creator>MEHMET YASİN ULUKUŞ</dc:creator>
  <cp:lastModifiedBy>Mehmet Yasin Ulukus</cp:lastModifiedBy>
  <cp:revision>269</cp:revision>
  <dcterms:created xsi:type="dcterms:W3CDTF">2020-10-15T19:58:41Z</dcterms:created>
  <dcterms:modified xsi:type="dcterms:W3CDTF">2026-02-17T18:19:46Z</dcterms:modified>
</cp:coreProperties>
</file>