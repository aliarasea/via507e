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0"/>
  </p:notesMasterIdLst>
  <p:sldIdLst>
    <p:sldId id="256" r:id="rId2"/>
    <p:sldId id="257" r:id="rId3"/>
    <p:sldId id="315" r:id="rId4"/>
    <p:sldId id="258" r:id="rId5"/>
    <p:sldId id="259" r:id="rId6"/>
    <p:sldId id="260" r:id="rId7"/>
    <p:sldId id="261" r:id="rId8"/>
    <p:sldId id="263" r:id="rId9"/>
    <p:sldId id="276" r:id="rId10"/>
    <p:sldId id="277" r:id="rId11"/>
    <p:sldId id="278" r:id="rId12"/>
    <p:sldId id="279" r:id="rId13"/>
    <p:sldId id="280" r:id="rId14"/>
    <p:sldId id="281" r:id="rId15"/>
    <p:sldId id="282" r:id="rId16"/>
    <p:sldId id="283" r:id="rId17"/>
    <p:sldId id="285" r:id="rId18"/>
    <p:sldId id="286" r:id="rId19"/>
    <p:sldId id="287" r:id="rId20"/>
    <p:sldId id="288" r:id="rId21"/>
    <p:sldId id="289" r:id="rId22"/>
    <p:sldId id="290" r:id="rId23"/>
    <p:sldId id="291" r:id="rId24"/>
    <p:sldId id="292" r:id="rId25"/>
    <p:sldId id="293" r:id="rId26"/>
    <p:sldId id="294" r:id="rId27"/>
    <p:sldId id="295" r:id="rId28"/>
    <p:sldId id="296" r:id="rId29"/>
    <p:sldId id="297" r:id="rId30"/>
    <p:sldId id="298" r:id="rId31"/>
    <p:sldId id="299" r:id="rId32"/>
    <p:sldId id="300" r:id="rId33"/>
    <p:sldId id="301" r:id="rId34"/>
    <p:sldId id="302" r:id="rId35"/>
    <p:sldId id="304" r:id="rId36"/>
    <p:sldId id="306" r:id="rId37"/>
    <p:sldId id="307" r:id="rId38"/>
    <p:sldId id="308" r:id="rId39"/>
    <p:sldId id="309" r:id="rId40"/>
    <p:sldId id="310" r:id="rId41"/>
    <p:sldId id="313" r:id="rId42"/>
    <p:sldId id="314" r:id="rId43"/>
    <p:sldId id="335" r:id="rId44"/>
    <p:sldId id="336" r:id="rId45"/>
    <p:sldId id="340" r:id="rId46"/>
    <p:sldId id="341" r:id="rId47"/>
    <p:sldId id="337" r:id="rId48"/>
    <p:sldId id="338" r:id="rId49"/>
  </p:sldIdLst>
  <p:sldSz cx="12192000" cy="6858000"/>
  <p:notesSz cx="6858000" cy="9144000"/>
  <p:defaultTex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437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7" d="100"/>
          <a:sy n="77" d="100"/>
        </p:scale>
        <p:origin x="806"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3402265-1F21-4BE8-AE87-4F76FEDB1F7C}" type="datetimeFigureOut">
              <a:rPr lang="en-US" smtClean="0"/>
              <a:t>1/20/2026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8C3A208-E792-499F-9D6D-AC8FC94E1589}" type="slidenum">
              <a:rPr lang="en-US" smtClean="0"/>
              <a:t>‹#›</a:t>
            </a:fld>
            <a:endParaRPr lang="en-US"/>
          </a:p>
        </p:txBody>
      </p:sp>
    </p:spTree>
    <p:extLst>
      <p:ext uri="{BB962C8B-B14F-4D97-AF65-F5344CB8AC3E}">
        <p14:creationId xmlns:p14="http://schemas.microsoft.com/office/powerpoint/2010/main" val="6430149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92113" y="692150"/>
            <a:ext cx="6073775" cy="3417888"/>
          </a:xfrm>
        </p:spPr>
      </p:sp>
      <p:sp>
        <p:nvSpPr>
          <p:cNvPr id="3" name="Notes Placeholder 2"/>
          <p:cNvSpPr>
            <a:spLocks noGrp="1"/>
          </p:cNvSpPr>
          <p:nvPr>
            <p:ph type="body" idx="1"/>
          </p:nvPr>
        </p:nvSpPr>
        <p:spPr/>
        <p:txBody>
          <a:bodyPr/>
          <a:lstStyle/>
          <a:p>
            <a:r>
              <a:rPr lang="en-US" dirty="0"/>
              <a:t>Draw complicated graph</a:t>
            </a:r>
          </a:p>
        </p:txBody>
      </p:sp>
      <p:sp>
        <p:nvSpPr>
          <p:cNvPr id="4" name="Header Placeholder 3"/>
          <p:cNvSpPr>
            <a:spLocks noGrp="1"/>
          </p:cNvSpPr>
          <p:nvPr>
            <p:ph type="hdr" sz="quarter" idx="10"/>
          </p:nvPr>
        </p:nvSpPr>
        <p:spPr/>
        <p:txBody>
          <a:bodyPr/>
          <a:lstStyle/>
          <a:p>
            <a:pPr>
              <a:defRPr/>
            </a:pPr>
            <a:r>
              <a:rPr lang="en-US" altLang="en-US"/>
              <a:t>Simulation with Arena </a:t>
            </a:r>
            <a:r>
              <a:rPr lang="en-US" altLang="en-US" i="0"/>
              <a:t>— Chapter 5</a:t>
            </a:r>
            <a:br>
              <a:rPr lang="en-US" altLang="en-US" i="0"/>
            </a:br>
            <a:r>
              <a:rPr lang="en-US" altLang="en-US" i="0"/>
              <a:t>Modeling Basic Operations and Inputs</a:t>
            </a:r>
          </a:p>
        </p:txBody>
      </p:sp>
      <p:sp>
        <p:nvSpPr>
          <p:cNvPr id="5" name="Date Placeholder 4"/>
          <p:cNvSpPr>
            <a:spLocks noGrp="1"/>
          </p:cNvSpPr>
          <p:nvPr>
            <p:ph type="dt" idx="11"/>
          </p:nvPr>
        </p:nvSpPr>
        <p:spPr/>
        <p:txBody>
          <a:bodyPr/>
          <a:lstStyle/>
          <a:p>
            <a:pPr>
              <a:defRPr/>
            </a:pPr>
            <a:fld id="{CB94E966-4F5C-4A23-917C-6BD20A2CD155}" type="datetime1">
              <a:rPr lang="en-US" altLang="en-US" smtClean="0"/>
              <a:t>1/20/2026</a:t>
            </a:fld>
            <a:endParaRPr lang="en-US" altLang="en-US"/>
          </a:p>
        </p:txBody>
      </p:sp>
      <p:sp>
        <p:nvSpPr>
          <p:cNvPr id="6" name="Slide Number Placeholder 5"/>
          <p:cNvSpPr>
            <a:spLocks noGrp="1"/>
          </p:cNvSpPr>
          <p:nvPr>
            <p:ph type="sldNum" sz="quarter" idx="12"/>
          </p:nvPr>
        </p:nvSpPr>
        <p:spPr/>
        <p:txBody>
          <a:bodyPr/>
          <a:lstStyle/>
          <a:p>
            <a:pPr>
              <a:defRPr/>
            </a:pPr>
            <a:r>
              <a:rPr lang="en-US" altLang="en-US"/>
              <a:t>Page </a:t>
            </a:r>
            <a:fld id="{C922DDB0-E18A-44DF-936B-65AD53629D0E}" type="slidenum">
              <a:rPr lang="en-US" altLang="en-US" smtClean="0"/>
              <a:pPr>
                <a:defRPr/>
              </a:pPr>
              <a:t>9</a:t>
            </a:fld>
            <a:endParaRPr lang="en-US" altLang="en-US"/>
          </a:p>
        </p:txBody>
      </p:sp>
    </p:spTree>
    <p:extLst>
      <p:ext uri="{BB962C8B-B14F-4D97-AF65-F5344CB8AC3E}">
        <p14:creationId xmlns:p14="http://schemas.microsoft.com/office/powerpoint/2010/main" val="28511633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92113" y="692150"/>
            <a:ext cx="6073775" cy="3417888"/>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0088108-D974-4744-89AA-6B820BF69D54}" type="slidenum">
              <a:rPr lang="en-US" smtClean="0"/>
              <a:t>20</a:t>
            </a:fld>
            <a:endParaRPr lang="en-US"/>
          </a:p>
        </p:txBody>
      </p:sp>
    </p:spTree>
    <p:extLst>
      <p:ext uri="{BB962C8B-B14F-4D97-AF65-F5344CB8AC3E}">
        <p14:creationId xmlns:p14="http://schemas.microsoft.com/office/powerpoint/2010/main" val="38283602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92113" y="692150"/>
            <a:ext cx="6073775" cy="3417888"/>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0088108-D974-4744-89AA-6B820BF69D54}" type="slidenum">
              <a:rPr lang="en-US" smtClean="0"/>
              <a:t>27</a:t>
            </a:fld>
            <a:endParaRPr lang="en-US"/>
          </a:p>
        </p:txBody>
      </p:sp>
    </p:spTree>
    <p:extLst>
      <p:ext uri="{BB962C8B-B14F-4D97-AF65-F5344CB8AC3E}">
        <p14:creationId xmlns:p14="http://schemas.microsoft.com/office/powerpoint/2010/main" val="418989400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1576013"/>
          </a:xfrm>
        </p:spPr>
        <p:txBody>
          <a:bodyPr anchor="b"/>
          <a:lstStyle>
            <a:lvl1pPr algn="ctr">
              <a:defRPr sz="6000"/>
            </a:lvl1pPr>
          </a:lstStyle>
          <a:p>
            <a:r>
              <a:rPr lang="en-US" dirty="0"/>
              <a:t>Click to edit Master title style</a:t>
            </a:r>
          </a:p>
        </p:txBody>
      </p:sp>
      <p:sp>
        <p:nvSpPr>
          <p:cNvPr id="3" name="Subtitle 2"/>
          <p:cNvSpPr>
            <a:spLocks noGrp="1"/>
          </p:cNvSpPr>
          <p:nvPr>
            <p:ph type="subTitle" idx="1"/>
          </p:nvPr>
        </p:nvSpPr>
        <p:spPr>
          <a:xfrm>
            <a:off x="1524000" y="3799261"/>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5" name="Footer Placeholder 4"/>
          <p:cNvSpPr>
            <a:spLocks noGrp="1"/>
          </p:cNvSpPr>
          <p:nvPr>
            <p:ph type="ftr" sz="quarter" idx="11"/>
          </p:nvPr>
        </p:nvSpPr>
        <p:spPr/>
        <p:txBody>
          <a:bodyPr/>
          <a:lstStyle/>
          <a:p>
            <a:r>
              <a:rPr lang="en-US"/>
              <a:t>ITU - Business Analytics - Mehmet Yasin Ulukuş</a:t>
            </a:r>
          </a:p>
        </p:txBody>
      </p:sp>
    </p:spTree>
    <p:extLst>
      <p:ext uri="{BB962C8B-B14F-4D97-AF65-F5344CB8AC3E}">
        <p14:creationId xmlns:p14="http://schemas.microsoft.com/office/powerpoint/2010/main" val="39274062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838200" y="1389529"/>
            <a:ext cx="10515600" cy="492110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p:txBody>
          <a:bodyPr/>
          <a:lstStyle/>
          <a:p>
            <a:r>
              <a:rPr lang="en-US"/>
              <a:t>ITU - Business Analytics - Mehmet Yasin Ulukuş</a:t>
            </a:r>
          </a:p>
        </p:txBody>
      </p:sp>
      <p:sp>
        <p:nvSpPr>
          <p:cNvPr id="7" name="Rectangle 6"/>
          <p:cNvSpPr/>
          <p:nvPr userDrawn="1"/>
        </p:nvSpPr>
        <p:spPr>
          <a:xfrm>
            <a:off x="838200" y="1272988"/>
            <a:ext cx="105156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047027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endParaRPr lang="en-US"/>
          </a:p>
        </p:txBody>
      </p:sp>
      <p:sp>
        <p:nvSpPr>
          <p:cNvPr id="5" name="Footer Placeholder 4"/>
          <p:cNvSpPr>
            <a:spLocks noGrp="1"/>
          </p:cNvSpPr>
          <p:nvPr>
            <p:ph type="ftr" sz="quarter" idx="11"/>
          </p:nvPr>
        </p:nvSpPr>
        <p:spPr/>
        <p:txBody>
          <a:bodyPr/>
          <a:lstStyle/>
          <a:p>
            <a:r>
              <a:rPr lang="en-US"/>
              <a:t>ITU - Business Analytics - Mehmet Yasin Ulukuş</a:t>
            </a: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B8CEC50-FB80-41CE-A79E-F7845887658C}" type="slidenum">
              <a:rPr lang="en-US" smtClean="0"/>
              <a:t>‹#›</a:t>
            </a:fld>
            <a:endParaRPr lang="en-US"/>
          </a:p>
        </p:txBody>
      </p:sp>
    </p:spTree>
    <p:extLst>
      <p:ext uri="{BB962C8B-B14F-4D97-AF65-F5344CB8AC3E}">
        <p14:creationId xmlns:p14="http://schemas.microsoft.com/office/powerpoint/2010/main" val="22813288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452375"/>
            <a:ext cx="5181600" cy="472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452375"/>
            <a:ext cx="5181600" cy="472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11"/>
          </p:nvPr>
        </p:nvSpPr>
        <p:spPr/>
        <p:txBody>
          <a:bodyPr/>
          <a:lstStyle/>
          <a:p>
            <a:r>
              <a:rPr lang="en-US"/>
              <a:t>ITU - Business Analytics - Mehmet Yasin Ulukuş</a:t>
            </a:r>
          </a:p>
        </p:txBody>
      </p:sp>
      <p:sp>
        <p:nvSpPr>
          <p:cNvPr id="8" name="Rectangle 7"/>
          <p:cNvSpPr/>
          <p:nvPr userDrawn="1"/>
        </p:nvSpPr>
        <p:spPr>
          <a:xfrm>
            <a:off x="838200" y="1272988"/>
            <a:ext cx="105156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553905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838200" y="6356350"/>
            <a:ext cx="2743200" cy="365125"/>
          </a:xfrm>
          <a:prstGeom prst="rect">
            <a:avLst/>
          </a:prstGeom>
        </p:spPr>
        <p:txBody>
          <a:bodyPr/>
          <a:lstStyle/>
          <a:p>
            <a:endParaRPr lang="en-US"/>
          </a:p>
        </p:txBody>
      </p:sp>
      <p:sp>
        <p:nvSpPr>
          <p:cNvPr id="8" name="Footer Placeholder 7"/>
          <p:cNvSpPr>
            <a:spLocks noGrp="1"/>
          </p:cNvSpPr>
          <p:nvPr>
            <p:ph type="ftr" sz="quarter" idx="11"/>
          </p:nvPr>
        </p:nvSpPr>
        <p:spPr/>
        <p:txBody>
          <a:bodyPr/>
          <a:lstStyle/>
          <a:p>
            <a:r>
              <a:rPr lang="en-US"/>
              <a:t>ITU - Business Analytics - Mehmet Yasin Ulukuş</a:t>
            </a:r>
          </a:p>
        </p:txBody>
      </p:sp>
      <p:sp>
        <p:nvSpPr>
          <p:cNvPr id="9" name="Slide Number Placeholder 8"/>
          <p:cNvSpPr>
            <a:spLocks noGrp="1"/>
          </p:cNvSpPr>
          <p:nvPr>
            <p:ph type="sldNum" sz="quarter" idx="12"/>
          </p:nvPr>
        </p:nvSpPr>
        <p:spPr>
          <a:xfrm>
            <a:off x="8610600" y="6356350"/>
            <a:ext cx="2743200" cy="365125"/>
          </a:xfrm>
          <a:prstGeom prst="rect">
            <a:avLst/>
          </a:prstGeom>
        </p:spPr>
        <p:txBody>
          <a:bodyPr/>
          <a:lstStyle/>
          <a:p>
            <a:fld id="{BB8CEC50-FB80-41CE-A79E-F7845887658C}" type="slidenum">
              <a:rPr lang="en-US" smtClean="0"/>
              <a:t>‹#›</a:t>
            </a:fld>
            <a:endParaRPr lang="en-US"/>
          </a:p>
        </p:txBody>
      </p:sp>
    </p:spTree>
    <p:extLst>
      <p:ext uri="{BB962C8B-B14F-4D97-AF65-F5344CB8AC3E}">
        <p14:creationId xmlns:p14="http://schemas.microsoft.com/office/powerpoint/2010/main" val="27585472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a:xfrm>
            <a:off x="838200" y="6356350"/>
            <a:ext cx="2743200" cy="365125"/>
          </a:xfrm>
          <a:prstGeom prst="rect">
            <a:avLst/>
          </a:prstGeom>
        </p:spPr>
        <p:txBody>
          <a:bodyPr/>
          <a:lstStyle/>
          <a:p>
            <a:endParaRPr lang="en-US"/>
          </a:p>
        </p:txBody>
      </p:sp>
      <p:sp>
        <p:nvSpPr>
          <p:cNvPr id="4" name="Footer Placeholder 3"/>
          <p:cNvSpPr>
            <a:spLocks noGrp="1"/>
          </p:cNvSpPr>
          <p:nvPr>
            <p:ph type="ftr" sz="quarter" idx="11"/>
          </p:nvPr>
        </p:nvSpPr>
        <p:spPr/>
        <p:txBody>
          <a:bodyPr/>
          <a:lstStyle/>
          <a:p>
            <a:r>
              <a:rPr lang="en-US"/>
              <a:t>ITU - Business Analytics - Mehmet Yasin Ulukuş</a:t>
            </a:r>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BB8CEC50-FB80-41CE-A79E-F7845887658C}" type="slidenum">
              <a:rPr lang="en-US" smtClean="0"/>
              <a:t>‹#›</a:t>
            </a:fld>
            <a:endParaRPr lang="en-US"/>
          </a:p>
        </p:txBody>
      </p:sp>
    </p:spTree>
    <p:extLst>
      <p:ext uri="{BB962C8B-B14F-4D97-AF65-F5344CB8AC3E}">
        <p14:creationId xmlns:p14="http://schemas.microsoft.com/office/powerpoint/2010/main" val="32611214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0"/>
            <a:ext cx="2743200" cy="365125"/>
          </a:xfrm>
          <a:prstGeom prst="rect">
            <a:avLst/>
          </a:prstGeom>
        </p:spPr>
        <p:txBody>
          <a:bodyPr/>
          <a:lstStyle/>
          <a:p>
            <a:endParaRPr lang="en-US"/>
          </a:p>
        </p:txBody>
      </p:sp>
      <p:sp>
        <p:nvSpPr>
          <p:cNvPr id="3" name="Footer Placeholder 2"/>
          <p:cNvSpPr>
            <a:spLocks noGrp="1"/>
          </p:cNvSpPr>
          <p:nvPr>
            <p:ph type="ftr" sz="quarter" idx="11"/>
          </p:nvPr>
        </p:nvSpPr>
        <p:spPr/>
        <p:txBody>
          <a:bodyPr/>
          <a:lstStyle/>
          <a:p>
            <a:r>
              <a:rPr lang="en-US"/>
              <a:t>ITU - Business Analytics - Mehmet Yasin Ulukuş</a:t>
            </a:r>
          </a:p>
        </p:txBody>
      </p:sp>
      <p:sp>
        <p:nvSpPr>
          <p:cNvPr id="4" name="Slide Number Placeholder 3"/>
          <p:cNvSpPr>
            <a:spLocks noGrp="1"/>
          </p:cNvSpPr>
          <p:nvPr>
            <p:ph type="sldNum" sz="quarter" idx="12"/>
          </p:nvPr>
        </p:nvSpPr>
        <p:spPr>
          <a:xfrm>
            <a:off x="8610600" y="6356350"/>
            <a:ext cx="2743200" cy="365125"/>
          </a:xfrm>
          <a:prstGeom prst="rect">
            <a:avLst/>
          </a:prstGeom>
        </p:spPr>
        <p:txBody>
          <a:bodyPr/>
          <a:lstStyle/>
          <a:p>
            <a:fld id="{BB8CEC50-FB80-41CE-A79E-F7845887658C}" type="slidenum">
              <a:rPr lang="en-US" smtClean="0"/>
              <a:t>‹#›</a:t>
            </a:fld>
            <a:endParaRPr lang="en-US"/>
          </a:p>
        </p:txBody>
      </p:sp>
    </p:spTree>
    <p:extLst>
      <p:ext uri="{BB962C8B-B14F-4D97-AF65-F5344CB8AC3E}">
        <p14:creationId xmlns:p14="http://schemas.microsoft.com/office/powerpoint/2010/main" val="15265237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endParaRPr lang="en-US"/>
          </a:p>
        </p:txBody>
      </p:sp>
      <p:sp>
        <p:nvSpPr>
          <p:cNvPr id="6" name="Footer Placeholder 5"/>
          <p:cNvSpPr>
            <a:spLocks noGrp="1"/>
          </p:cNvSpPr>
          <p:nvPr>
            <p:ph type="ftr" sz="quarter" idx="11"/>
          </p:nvPr>
        </p:nvSpPr>
        <p:spPr/>
        <p:txBody>
          <a:bodyPr/>
          <a:lstStyle/>
          <a:p>
            <a:r>
              <a:rPr lang="en-US"/>
              <a:t>ITU - Business Analytics - Mehmet Yasin Ulukuş</a:t>
            </a:r>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BB8CEC50-FB80-41CE-A79E-F7845887658C}" type="slidenum">
              <a:rPr lang="en-US" smtClean="0"/>
              <a:t>‹#›</a:t>
            </a:fld>
            <a:endParaRPr lang="en-US"/>
          </a:p>
        </p:txBody>
      </p:sp>
    </p:spTree>
    <p:extLst>
      <p:ext uri="{BB962C8B-B14F-4D97-AF65-F5344CB8AC3E}">
        <p14:creationId xmlns:p14="http://schemas.microsoft.com/office/powerpoint/2010/main" val="39269588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endParaRPr lang="en-US"/>
          </a:p>
        </p:txBody>
      </p:sp>
      <p:sp>
        <p:nvSpPr>
          <p:cNvPr id="6" name="Footer Placeholder 5"/>
          <p:cNvSpPr>
            <a:spLocks noGrp="1"/>
          </p:cNvSpPr>
          <p:nvPr>
            <p:ph type="ftr" sz="quarter" idx="11"/>
          </p:nvPr>
        </p:nvSpPr>
        <p:spPr/>
        <p:txBody>
          <a:bodyPr/>
          <a:lstStyle/>
          <a:p>
            <a:r>
              <a:rPr lang="en-US"/>
              <a:t>ITU - Business Analytics - Mehmet Yasin Ulukuş</a:t>
            </a:r>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BB8CEC50-FB80-41CE-A79E-F7845887658C}" type="slidenum">
              <a:rPr lang="en-US" smtClean="0"/>
              <a:t>‹#›</a:t>
            </a:fld>
            <a:endParaRPr lang="en-US"/>
          </a:p>
        </p:txBody>
      </p:sp>
    </p:spTree>
    <p:extLst>
      <p:ext uri="{BB962C8B-B14F-4D97-AF65-F5344CB8AC3E}">
        <p14:creationId xmlns:p14="http://schemas.microsoft.com/office/powerpoint/2010/main" val="39017769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endParaRPr lang="en-US"/>
          </a:p>
        </p:txBody>
      </p:sp>
      <p:sp>
        <p:nvSpPr>
          <p:cNvPr id="5" name="Footer Placeholder 4"/>
          <p:cNvSpPr>
            <a:spLocks noGrp="1"/>
          </p:cNvSpPr>
          <p:nvPr>
            <p:ph type="ftr" sz="quarter" idx="11"/>
          </p:nvPr>
        </p:nvSpPr>
        <p:spPr/>
        <p:txBody>
          <a:bodyPr/>
          <a:lstStyle/>
          <a:p>
            <a:r>
              <a:rPr lang="en-US"/>
              <a:t>ITU - Business Analytics - Mehmet Yasin Ulukuş</a:t>
            </a: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B8CEC50-FB80-41CE-A79E-F7845887658C}" type="slidenum">
              <a:rPr lang="en-US" smtClean="0"/>
              <a:t>‹#›</a:t>
            </a:fld>
            <a:endParaRPr lang="en-US"/>
          </a:p>
        </p:txBody>
      </p:sp>
    </p:spTree>
    <p:extLst>
      <p:ext uri="{BB962C8B-B14F-4D97-AF65-F5344CB8AC3E}">
        <p14:creationId xmlns:p14="http://schemas.microsoft.com/office/powerpoint/2010/main" val="14449743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endParaRPr lang="en-US"/>
          </a:p>
        </p:txBody>
      </p:sp>
      <p:sp>
        <p:nvSpPr>
          <p:cNvPr id="5" name="Footer Placeholder 4"/>
          <p:cNvSpPr>
            <a:spLocks noGrp="1"/>
          </p:cNvSpPr>
          <p:nvPr>
            <p:ph type="ftr" sz="quarter" idx="11"/>
          </p:nvPr>
        </p:nvSpPr>
        <p:spPr/>
        <p:txBody>
          <a:bodyPr/>
          <a:lstStyle/>
          <a:p>
            <a:r>
              <a:rPr lang="en-US"/>
              <a:t>ITU - Business Analytics - Mehmet Yasin Ulukuş</a:t>
            </a: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B8CEC50-FB80-41CE-A79E-F7845887658C}" type="slidenum">
              <a:rPr lang="en-US" smtClean="0"/>
              <a:t>‹#›</a:t>
            </a:fld>
            <a:endParaRPr lang="en-US"/>
          </a:p>
        </p:txBody>
      </p:sp>
    </p:spTree>
    <p:extLst>
      <p:ext uri="{BB962C8B-B14F-4D97-AF65-F5344CB8AC3E}">
        <p14:creationId xmlns:p14="http://schemas.microsoft.com/office/powerpoint/2010/main" val="287141063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Yasin Cours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2104B0-B4FD-470E-9F94-D0A011F15760}"/>
              </a:ext>
            </a:extLst>
          </p:cNvPr>
          <p:cNvSpPr>
            <a:spLocks noGrp="1"/>
          </p:cNvSpPr>
          <p:nvPr>
            <p:ph type="title"/>
          </p:nvPr>
        </p:nvSpPr>
        <p:spPr>
          <a:xfrm>
            <a:off x="914400" y="228600"/>
            <a:ext cx="10363200" cy="1219200"/>
          </a:xfrm>
        </p:spPr>
        <p:txBody>
          <a:bodyPr/>
          <a:lstStyle>
            <a:lvl1pPr>
              <a:defRPr b="1"/>
            </a:lvl1pPr>
          </a:lstStyle>
          <a:p>
            <a:r>
              <a:rPr lang="en-US" dirty="0"/>
              <a:t>Click to edit Master title style</a:t>
            </a:r>
          </a:p>
        </p:txBody>
      </p:sp>
      <p:sp>
        <p:nvSpPr>
          <p:cNvPr id="3" name="Text Placeholder 2">
            <a:extLst>
              <a:ext uri="{FF2B5EF4-FFF2-40B4-BE49-F238E27FC236}">
                <a16:creationId xmlns:a16="http://schemas.microsoft.com/office/drawing/2014/main" id="{2ED0AB8B-4994-4C71-8D45-4CD65A31D1BE}"/>
              </a:ext>
            </a:extLst>
          </p:cNvPr>
          <p:cNvSpPr>
            <a:spLocks noGrp="1"/>
          </p:cNvSpPr>
          <p:nvPr>
            <p:ph type="body" sz="half" idx="1"/>
          </p:nvPr>
        </p:nvSpPr>
        <p:spPr>
          <a:xfrm>
            <a:off x="914400" y="1524000"/>
            <a:ext cx="10363200" cy="52578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FCE96C7-E505-44D6-B1D8-B942E2771FA2}"/>
              </a:ext>
            </a:extLst>
          </p:cNvPr>
          <p:cNvSpPr>
            <a:spLocks noGrp="1" noChangeArrowheads="1"/>
          </p:cNvSpPr>
          <p:nvPr>
            <p:ph type="dt" sz="half" idx="10"/>
          </p:nvPr>
        </p:nvSpPr>
        <p:spPr>
          <a:xfrm>
            <a:off x="838200" y="6356352"/>
            <a:ext cx="2743200" cy="365125"/>
          </a:xfrm>
          <a:prstGeom prst="rect">
            <a:avLst/>
          </a:prstGeom>
          <a:ln/>
        </p:spPr>
        <p:txBody>
          <a:bodyPr/>
          <a:lstStyle>
            <a:lvl1pPr>
              <a:defRPr/>
            </a:lvl1pPr>
          </a:lstStyle>
          <a:p>
            <a:pPr>
              <a:defRPr/>
            </a:pPr>
            <a:endParaRPr lang="en-US" altLang="en-US"/>
          </a:p>
        </p:txBody>
      </p:sp>
      <p:sp>
        <p:nvSpPr>
          <p:cNvPr id="6" name="Rectangle 5">
            <a:extLst>
              <a:ext uri="{FF2B5EF4-FFF2-40B4-BE49-F238E27FC236}">
                <a16:creationId xmlns:a16="http://schemas.microsoft.com/office/drawing/2014/main" id="{A60D3006-5145-4CA3-840D-F763F6748174}"/>
              </a:ext>
            </a:extLst>
          </p:cNvPr>
          <p:cNvSpPr>
            <a:spLocks noGrp="1" noChangeArrowheads="1"/>
          </p:cNvSpPr>
          <p:nvPr>
            <p:ph type="ftr" sz="quarter" idx="11"/>
          </p:nvPr>
        </p:nvSpPr>
        <p:spPr>
          <a:ln/>
        </p:spPr>
        <p:txBody>
          <a:bodyPr/>
          <a:lstStyle>
            <a:lvl1pPr>
              <a:defRPr/>
            </a:lvl1pPr>
          </a:lstStyle>
          <a:p>
            <a:pPr>
              <a:defRPr/>
            </a:pPr>
            <a:r>
              <a:rPr lang="en-US" altLang="en-US"/>
              <a:t>ITU - Business Analytics - Mehmet Yasin Ulukuş</a:t>
            </a:r>
            <a:endParaRPr lang="en-US" altLang="en-US" i="0" dirty="0"/>
          </a:p>
        </p:txBody>
      </p:sp>
      <p:sp>
        <p:nvSpPr>
          <p:cNvPr id="7" name="Slide Number Placeholder 6">
            <a:extLst>
              <a:ext uri="{FF2B5EF4-FFF2-40B4-BE49-F238E27FC236}">
                <a16:creationId xmlns:a16="http://schemas.microsoft.com/office/drawing/2014/main" id="{0AE0426F-2674-44A3-BDE8-AFE74A7FD6E1}"/>
              </a:ext>
            </a:extLst>
          </p:cNvPr>
          <p:cNvSpPr>
            <a:spLocks noGrp="1" noChangeArrowheads="1"/>
          </p:cNvSpPr>
          <p:nvPr>
            <p:ph type="sldNum" sz="quarter" idx="12"/>
          </p:nvPr>
        </p:nvSpPr>
        <p:spPr>
          <a:xfrm>
            <a:off x="8610600" y="6356352"/>
            <a:ext cx="2743200" cy="365125"/>
          </a:xfrm>
          <a:prstGeom prst="rect">
            <a:avLst/>
          </a:prstGeom>
          <a:ln/>
        </p:spPr>
        <p:txBody>
          <a:bodyPr/>
          <a:lstStyle>
            <a:lvl1pPr>
              <a:defRPr/>
            </a:lvl1pPr>
          </a:lstStyle>
          <a:p>
            <a:pPr>
              <a:defRPr/>
            </a:pPr>
            <a:fld id="{B0B4E47A-8363-4036-90DE-956001968EA4}" type="slidenum">
              <a:rPr lang="en-US" altLang="en-US" smtClean="0"/>
              <a:pPr>
                <a:defRPr/>
              </a:pPr>
              <a:t>‹#›</a:t>
            </a:fld>
            <a:endParaRPr lang="en-US" altLang="en-US" dirty="0"/>
          </a:p>
        </p:txBody>
      </p:sp>
      <p:sp>
        <p:nvSpPr>
          <p:cNvPr id="8" name="Rectangle 7">
            <a:extLst>
              <a:ext uri="{FF2B5EF4-FFF2-40B4-BE49-F238E27FC236}">
                <a16:creationId xmlns:a16="http://schemas.microsoft.com/office/drawing/2014/main" id="{D15A3947-35DA-44C0-8632-B6A13D2C2431}"/>
              </a:ext>
            </a:extLst>
          </p:cNvPr>
          <p:cNvSpPr/>
          <p:nvPr userDrawn="1"/>
        </p:nvSpPr>
        <p:spPr>
          <a:xfrm>
            <a:off x="711200" y="1295401"/>
            <a:ext cx="10058400" cy="45719"/>
          </a:xfrm>
          <a:prstGeom prst="rect">
            <a:avLst/>
          </a:prstGeom>
          <a:solidFill>
            <a:srgbClr val="12EB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Tree>
    <p:extLst>
      <p:ext uri="{BB962C8B-B14F-4D97-AF65-F5344CB8AC3E}">
        <p14:creationId xmlns:p14="http://schemas.microsoft.com/office/powerpoint/2010/main" val="35954313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9078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838200" y="1389529"/>
            <a:ext cx="10515600" cy="4787434"/>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rgbClr val="00437A"/>
                </a:solidFill>
              </a:defRPr>
            </a:lvl1pPr>
          </a:lstStyle>
          <a:p>
            <a:r>
              <a:rPr lang="en-US"/>
              <a:t>ITU - Business Analytics - Mehmet Yasin Ulukuş</a:t>
            </a:r>
            <a:endParaRPr lang="en-US" dirty="0"/>
          </a:p>
        </p:txBody>
      </p:sp>
      <p:pic>
        <p:nvPicPr>
          <p:cNvPr id="7" name="Picture 6"/>
          <p:cNvPicPr>
            <a:picLocks noChangeAspect="1"/>
          </p:cNvPicPr>
          <p:nvPr userDrawn="1"/>
        </p:nvPicPr>
        <p:blipFill>
          <a:blip r:embed="rId14" cstate="print">
            <a:extLst>
              <a:ext uri="{28A0092B-C50C-407E-A947-70E740481C1C}">
                <a14:useLocalDpi xmlns:a14="http://schemas.microsoft.com/office/drawing/2010/main" val="0"/>
              </a:ext>
            </a:extLst>
          </a:blip>
          <a:stretch>
            <a:fillRect/>
          </a:stretch>
        </p:blipFill>
        <p:spPr>
          <a:xfrm>
            <a:off x="10983625" y="6176963"/>
            <a:ext cx="1082869" cy="609331"/>
          </a:xfrm>
          <a:prstGeom prst="rect">
            <a:avLst/>
          </a:prstGeom>
        </p:spPr>
      </p:pic>
    </p:spTree>
    <p:extLst>
      <p:ext uri="{BB962C8B-B14F-4D97-AF65-F5344CB8AC3E}">
        <p14:creationId xmlns:p14="http://schemas.microsoft.com/office/powerpoint/2010/main" val="374073538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dt="0"/>
  <p:txStyles>
    <p:titleStyle>
      <a:lvl1pPr algn="l" defTabSz="914400" rtl="0" eaLnBrk="1" latinLnBrk="0" hangingPunct="1">
        <a:lnSpc>
          <a:spcPct val="90000"/>
        </a:lnSpc>
        <a:spcBef>
          <a:spcPct val="0"/>
        </a:spcBef>
        <a:buNone/>
        <a:defRPr sz="4400" kern="1200">
          <a:solidFill>
            <a:srgbClr val="00437A"/>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mailto:ulukus@itu.edu.tr"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180.png"/><Relationship Id="rId2" Type="http://schemas.openxmlformats.org/officeDocument/2006/relationships/image" Target="../media/image171.png"/><Relationship Id="rId1" Type="http://schemas.openxmlformats.org/officeDocument/2006/relationships/slideLayout" Target="../slideLayouts/slideLayout2.xml"/><Relationship Id="rId4" Type="http://schemas.openxmlformats.org/officeDocument/2006/relationships/image" Target="../media/image19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tr-TR" dirty="0"/>
              <a:t>Business Analytics</a:t>
            </a:r>
            <a:endParaRPr lang="en-US" dirty="0"/>
          </a:p>
        </p:txBody>
      </p:sp>
      <p:sp>
        <p:nvSpPr>
          <p:cNvPr id="3" name="Subtitle 2"/>
          <p:cNvSpPr>
            <a:spLocks noGrp="1"/>
          </p:cNvSpPr>
          <p:nvPr>
            <p:ph type="subTitle" idx="1"/>
          </p:nvPr>
        </p:nvSpPr>
        <p:spPr/>
        <p:txBody>
          <a:bodyPr/>
          <a:lstStyle/>
          <a:p>
            <a:r>
              <a:rPr lang="tr-TR" dirty="0"/>
              <a:t>Dr. Mehmet Yasin Ulukuş</a:t>
            </a:r>
          </a:p>
          <a:p>
            <a:r>
              <a:rPr lang="tr-TR" dirty="0"/>
              <a:t>Lecture 1</a:t>
            </a:r>
          </a:p>
          <a:p>
            <a:r>
              <a:rPr lang="tr-TR" dirty="0"/>
              <a:t>Introduction to Business Analytics – LP Modeling</a:t>
            </a:r>
            <a:endParaRPr lang="en-US" dirty="0"/>
          </a:p>
        </p:txBody>
      </p:sp>
      <p:sp>
        <p:nvSpPr>
          <p:cNvPr id="4" name="Footer Placeholder 3"/>
          <p:cNvSpPr>
            <a:spLocks noGrp="1"/>
          </p:cNvSpPr>
          <p:nvPr>
            <p:ph type="ftr" sz="quarter" idx="11"/>
          </p:nvPr>
        </p:nvSpPr>
        <p:spPr/>
        <p:txBody>
          <a:bodyPr/>
          <a:lstStyle/>
          <a:p>
            <a:r>
              <a:rPr lang="en-US"/>
              <a:t>ITU - Business Analytics - Mehmet Yasin Ulukuş</a:t>
            </a:r>
            <a:endParaRPr lang="en-US" dirty="0"/>
          </a:p>
        </p:txBody>
      </p:sp>
    </p:spTree>
    <p:extLst>
      <p:ext uri="{BB962C8B-B14F-4D97-AF65-F5344CB8AC3E}">
        <p14:creationId xmlns:p14="http://schemas.microsoft.com/office/powerpoint/2010/main" val="35330896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dirty="0"/>
              <a:t>Course Overview</a:t>
            </a:r>
            <a:endParaRPr lang="en-US" dirty="0"/>
          </a:p>
        </p:txBody>
      </p:sp>
      <p:sp>
        <p:nvSpPr>
          <p:cNvPr id="3" name="Content Placeholder 2"/>
          <p:cNvSpPr>
            <a:spLocks noGrp="1"/>
          </p:cNvSpPr>
          <p:nvPr>
            <p:ph idx="1"/>
          </p:nvPr>
        </p:nvSpPr>
        <p:spPr/>
        <p:txBody>
          <a:bodyPr/>
          <a:lstStyle/>
          <a:p>
            <a:r>
              <a:rPr lang="tr-TR" dirty="0"/>
              <a:t>Instructors:</a:t>
            </a:r>
            <a:endParaRPr lang="tr-TR" altLang="en-US" dirty="0"/>
          </a:p>
          <a:p>
            <a:pPr lvl="1"/>
            <a:r>
              <a:rPr lang="en-US" altLang="en-US" dirty="0"/>
              <a:t>Mehmet </a:t>
            </a:r>
            <a:r>
              <a:rPr lang="en-US" altLang="en-US" dirty="0" err="1"/>
              <a:t>Yasin</a:t>
            </a:r>
            <a:r>
              <a:rPr lang="en-US" altLang="en-US" dirty="0"/>
              <a:t> </a:t>
            </a:r>
            <a:r>
              <a:rPr lang="en-US" altLang="en-US" dirty="0" err="1"/>
              <a:t>Ulukus</a:t>
            </a:r>
            <a:r>
              <a:rPr lang="tr-TR" altLang="en-US" dirty="0"/>
              <a:t>, PhD</a:t>
            </a:r>
          </a:p>
          <a:p>
            <a:pPr lvl="2"/>
            <a:r>
              <a:rPr lang="en-US" altLang="en-US" dirty="0"/>
              <a:t>Email: </a:t>
            </a:r>
            <a:r>
              <a:rPr lang="en-US" altLang="en-US" dirty="0">
                <a:hlinkClick r:id="rId2"/>
              </a:rPr>
              <a:t>ulukus@</a:t>
            </a:r>
            <a:r>
              <a:rPr lang="tr-TR" altLang="en-US" dirty="0">
                <a:hlinkClick r:id="rId2"/>
              </a:rPr>
              <a:t>itu</a:t>
            </a:r>
            <a:r>
              <a:rPr lang="en-US" altLang="en-US" dirty="0">
                <a:hlinkClick r:id="rId2"/>
              </a:rPr>
              <a:t>.edu.tr</a:t>
            </a:r>
            <a:endParaRPr lang="tr-TR" altLang="en-US" dirty="0"/>
          </a:p>
          <a:p>
            <a:r>
              <a:rPr lang="en-US" altLang="en-US" dirty="0"/>
              <a:t>Lecture hours: Tuesday 1</a:t>
            </a:r>
            <a:r>
              <a:rPr lang="tr-TR" altLang="en-US" dirty="0"/>
              <a:t>9</a:t>
            </a:r>
            <a:r>
              <a:rPr lang="en-US" altLang="en-US" dirty="0"/>
              <a:t>:00-</a:t>
            </a:r>
            <a:r>
              <a:rPr lang="tr-TR" altLang="en-US" dirty="0"/>
              <a:t>22</a:t>
            </a:r>
            <a:r>
              <a:rPr lang="en-US" altLang="en-US" dirty="0"/>
              <a:t>:00</a:t>
            </a:r>
          </a:p>
          <a:p>
            <a:pPr marL="457200" lvl="1" indent="0">
              <a:buNone/>
            </a:pPr>
            <a:endParaRPr lang="en-US" altLang="en-US" dirty="0"/>
          </a:p>
        </p:txBody>
      </p:sp>
      <p:sp>
        <p:nvSpPr>
          <p:cNvPr id="4" name="Footer Placeholder 3"/>
          <p:cNvSpPr>
            <a:spLocks noGrp="1"/>
          </p:cNvSpPr>
          <p:nvPr>
            <p:ph type="ftr" sz="quarter" idx="11"/>
          </p:nvPr>
        </p:nvSpPr>
        <p:spPr/>
        <p:txBody>
          <a:bodyPr/>
          <a:lstStyle/>
          <a:p>
            <a:r>
              <a:rPr lang="en-US"/>
              <a:t>ITU - Business Analytics - Mehmet Yasin Ulukuş</a:t>
            </a:r>
          </a:p>
        </p:txBody>
      </p:sp>
    </p:spTree>
    <p:extLst>
      <p:ext uri="{BB962C8B-B14F-4D97-AF65-F5344CB8AC3E}">
        <p14:creationId xmlns:p14="http://schemas.microsoft.com/office/powerpoint/2010/main" val="42704545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dirty="0"/>
              <a:t>Course Overview</a:t>
            </a:r>
            <a:endParaRPr lang="en-US" dirty="0"/>
          </a:p>
        </p:txBody>
      </p:sp>
      <p:sp>
        <p:nvSpPr>
          <p:cNvPr id="3" name="Content Placeholder 2"/>
          <p:cNvSpPr>
            <a:spLocks noGrp="1"/>
          </p:cNvSpPr>
          <p:nvPr>
            <p:ph idx="1"/>
          </p:nvPr>
        </p:nvSpPr>
        <p:spPr/>
        <p:txBody>
          <a:bodyPr>
            <a:normAutofit/>
          </a:bodyPr>
          <a:lstStyle/>
          <a:p>
            <a:r>
              <a:rPr lang="tr-TR" dirty="0"/>
              <a:t>Tentative Outline</a:t>
            </a:r>
          </a:p>
          <a:p>
            <a:pPr lvl="1"/>
            <a:r>
              <a:rPr lang="tr-TR" dirty="0"/>
              <a:t>Prescriptive Analytics (First </a:t>
            </a:r>
            <a:r>
              <a:rPr lang="en-US" dirty="0"/>
              <a:t>6</a:t>
            </a:r>
            <a:r>
              <a:rPr lang="tr-TR" dirty="0"/>
              <a:t> weeks) </a:t>
            </a:r>
            <a:endParaRPr lang="en-US" dirty="0"/>
          </a:p>
          <a:p>
            <a:pPr lvl="2"/>
            <a:r>
              <a:rPr lang="tr-TR" dirty="0"/>
              <a:t>Linear Programming, Integer Programming, </a:t>
            </a:r>
            <a:r>
              <a:rPr lang="en-US" dirty="0"/>
              <a:t>Non-Linear Programming, </a:t>
            </a:r>
            <a:r>
              <a:rPr lang="tr-TR" dirty="0" err="1"/>
              <a:t>Decision</a:t>
            </a:r>
            <a:r>
              <a:rPr lang="tr-TR" dirty="0"/>
              <a:t> Analysis</a:t>
            </a:r>
          </a:p>
          <a:p>
            <a:pPr lvl="1"/>
            <a:r>
              <a:rPr lang="tr-TR" dirty="0"/>
              <a:t>Predictive Analytics (Last 5 weeks) </a:t>
            </a:r>
            <a:endParaRPr lang="en-US" dirty="0"/>
          </a:p>
          <a:p>
            <a:pPr lvl="2"/>
            <a:r>
              <a:rPr lang="tr-TR" dirty="0"/>
              <a:t>Regression, </a:t>
            </a:r>
            <a:r>
              <a:rPr lang="en-US" dirty="0"/>
              <a:t>Classification</a:t>
            </a:r>
            <a:r>
              <a:rPr lang="tr-TR" dirty="0"/>
              <a:t>, Forecasting</a:t>
            </a:r>
          </a:p>
          <a:p>
            <a:r>
              <a:rPr lang="tr-TR" dirty="0"/>
              <a:t>Grading</a:t>
            </a:r>
          </a:p>
          <a:p>
            <a:pPr lvl="1"/>
            <a:r>
              <a:rPr lang="en-US" dirty="0"/>
              <a:t>2 in class exams (50% each)</a:t>
            </a:r>
            <a:endParaRPr lang="tr-TR" dirty="0"/>
          </a:p>
          <a:p>
            <a:r>
              <a:rPr lang="tr-TR" dirty="0"/>
              <a:t>Book: Business Analytics by James Evans 2nd Edition</a:t>
            </a:r>
          </a:p>
          <a:p>
            <a:r>
              <a:rPr lang="tr-TR" dirty="0"/>
              <a:t>Lecture Notes not always in parallel with the book</a:t>
            </a:r>
          </a:p>
          <a:p>
            <a:endParaRPr lang="tr-TR" dirty="0"/>
          </a:p>
        </p:txBody>
      </p:sp>
      <p:sp>
        <p:nvSpPr>
          <p:cNvPr id="4" name="Footer Placeholder 3"/>
          <p:cNvSpPr>
            <a:spLocks noGrp="1"/>
          </p:cNvSpPr>
          <p:nvPr>
            <p:ph type="ftr" sz="quarter" idx="11"/>
          </p:nvPr>
        </p:nvSpPr>
        <p:spPr/>
        <p:txBody>
          <a:bodyPr/>
          <a:lstStyle/>
          <a:p>
            <a:r>
              <a:rPr lang="en-US"/>
              <a:t>ITU - Business Analytics - Mehmet Yasin Ulukuş</a:t>
            </a:r>
          </a:p>
        </p:txBody>
      </p:sp>
    </p:spTree>
    <p:extLst>
      <p:ext uri="{BB962C8B-B14F-4D97-AF65-F5344CB8AC3E}">
        <p14:creationId xmlns:p14="http://schemas.microsoft.com/office/powerpoint/2010/main" val="42164328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dirty="0"/>
              <a:t>Course Objective</a:t>
            </a:r>
            <a:endParaRPr lang="en-US" dirty="0"/>
          </a:p>
        </p:txBody>
      </p:sp>
      <p:sp>
        <p:nvSpPr>
          <p:cNvPr id="3" name="Content Placeholder 2"/>
          <p:cNvSpPr>
            <a:spLocks noGrp="1"/>
          </p:cNvSpPr>
          <p:nvPr>
            <p:ph idx="1"/>
          </p:nvPr>
        </p:nvSpPr>
        <p:spPr/>
        <p:txBody>
          <a:bodyPr>
            <a:normAutofit/>
          </a:bodyPr>
          <a:lstStyle/>
          <a:p>
            <a:r>
              <a:rPr lang="en-US" dirty="0"/>
              <a:t>The course aims to equip students with basic operations research concepts, methods, tools and software. </a:t>
            </a:r>
          </a:p>
          <a:p>
            <a:pPr lvl="1"/>
            <a:r>
              <a:rPr lang="en-US" dirty="0"/>
              <a:t>Descriptive</a:t>
            </a:r>
          </a:p>
          <a:p>
            <a:pPr lvl="1"/>
            <a:r>
              <a:rPr lang="en-US" dirty="0"/>
              <a:t>Predictive </a:t>
            </a:r>
          </a:p>
          <a:p>
            <a:pPr lvl="1"/>
            <a:r>
              <a:rPr lang="en-US" dirty="0"/>
              <a:t>Prescriptive</a:t>
            </a:r>
          </a:p>
          <a:p>
            <a:r>
              <a:rPr lang="en-US" dirty="0"/>
              <a:t>Python and Excel Solver will be highlighted and used</a:t>
            </a:r>
            <a:r>
              <a:rPr lang="tr-TR" dirty="0"/>
              <a:t>.</a:t>
            </a:r>
            <a:endParaRPr lang="en-US" dirty="0"/>
          </a:p>
        </p:txBody>
      </p:sp>
      <p:sp>
        <p:nvSpPr>
          <p:cNvPr id="4" name="Footer Placeholder 3"/>
          <p:cNvSpPr>
            <a:spLocks noGrp="1"/>
          </p:cNvSpPr>
          <p:nvPr>
            <p:ph type="ftr" sz="quarter" idx="11"/>
          </p:nvPr>
        </p:nvSpPr>
        <p:spPr/>
        <p:txBody>
          <a:bodyPr/>
          <a:lstStyle/>
          <a:p>
            <a:r>
              <a:rPr lang="en-US"/>
              <a:t>ITU - Business Analytics - Mehmet Yasin Ulukuş</a:t>
            </a:r>
          </a:p>
        </p:txBody>
      </p:sp>
    </p:spTree>
    <p:extLst>
      <p:ext uri="{BB962C8B-B14F-4D97-AF65-F5344CB8AC3E}">
        <p14:creationId xmlns:p14="http://schemas.microsoft.com/office/powerpoint/2010/main" val="32905624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dirty="0"/>
              <a:t>Business Analytics</a:t>
            </a:r>
            <a:endParaRPr lang="en-US" dirty="0"/>
          </a:p>
        </p:txBody>
      </p:sp>
      <p:sp>
        <p:nvSpPr>
          <p:cNvPr id="3" name="Content Placeholder 2"/>
          <p:cNvSpPr>
            <a:spLocks noGrp="1"/>
          </p:cNvSpPr>
          <p:nvPr>
            <p:ph idx="1"/>
          </p:nvPr>
        </p:nvSpPr>
        <p:spPr/>
        <p:txBody>
          <a:bodyPr>
            <a:normAutofit lnSpcReduction="10000"/>
          </a:bodyPr>
          <a:lstStyle/>
          <a:p>
            <a:r>
              <a:rPr lang="en-US" sz="2400" dirty="0"/>
              <a:t>Business analytics, or simply analytics, is the use of </a:t>
            </a:r>
            <a:endParaRPr lang="tr-TR" sz="2400" dirty="0"/>
          </a:p>
          <a:p>
            <a:pPr lvl="1"/>
            <a:r>
              <a:rPr lang="en-US" dirty="0"/>
              <a:t>data, </a:t>
            </a:r>
            <a:endParaRPr lang="tr-TR" dirty="0"/>
          </a:p>
          <a:p>
            <a:pPr lvl="1"/>
            <a:r>
              <a:rPr lang="en-US" dirty="0"/>
              <a:t>information technology,</a:t>
            </a:r>
            <a:endParaRPr lang="tr-TR" dirty="0"/>
          </a:p>
          <a:p>
            <a:pPr lvl="1"/>
            <a:r>
              <a:rPr lang="en-US" dirty="0"/>
              <a:t>statistical analysis, </a:t>
            </a:r>
            <a:endParaRPr lang="tr-TR" dirty="0"/>
          </a:p>
          <a:p>
            <a:pPr lvl="1"/>
            <a:r>
              <a:rPr lang="en-US" dirty="0"/>
              <a:t>quantitative methods, </a:t>
            </a:r>
            <a:endParaRPr lang="tr-TR" dirty="0"/>
          </a:p>
          <a:p>
            <a:pPr lvl="1"/>
            <a:r>
              <a:rPr lang="en-US" dirty="0"/>
              <a:t>and mathematical or computer-based models to</a:t>
            </a:r>
          </a:p>
          <a:p>
            <a:r>
              <a:rPr lang="tr-TR" sz="2400" dirty="0"/>
              <a:t>To </a:t>
            </a:r>
            <a:r>
              <a:rPr lang="en-US" sz="2400" dirty="0"/>
              <a:t>help managers gain improved insight about their business operations and make better, fact</a:t>
            </a:r>
            <a:r>
              <a:rPr lang="tr-TR" sz="2400" dirty="0"/>
              <a:t> </a:t>
            </a:r>
            <a:r>
              <a:rPr lang="en-US" sz="2400" dirty="0"/>
              <a:t>based</a:t>
            </a:r>
            <a:r>
              <a:rPr lang="tr-TR" sz="2400" dirty="0"/>
              <a:t> </a:t>
            </a:r>
            <a:r>
              <a:rPr lang="en-US" sz="2400" dirty="0"/>
              <a:t>decisions</a:t>
            </a:r>
            <a:endParaRPr lang="tr-TR" sz="2400" dirty="0"/>
          </a:p>
          <a:p>
            <a:r>
              <a:rPr lang="en-US" sz="2400" dirty="0"/>
              <a:t>Much of modern business analytics stems from the analysis and solution of complex</a:t>
            </a:r>
            <a:r>
              <a:rPr lang="tr-TR" sz="2400" dirty="0"/>
              <a:t> </a:t>
            </a:r>
            <a:r>
              <a:rPr lang="en-US" sz="2400" dirty="0"/>
              <a:t>decision</a:t>
            </a:r>
            <a:r>
              <a:rPr lang="tr-TR" sz="2400" dirty="0"/>
              <a:t> </a:t>
            </a:r>
            <a:r>
              <a:rPr lang="en-US" sz="2400" dirty="0"/>
              <a:t>problems using mathematical or computer-based models</a:t>
            </a:r>
            <a:endParaRPr lang="tr-TR" sz="2400" dirty="0"/>
          </a:p>
          <a:p>
            <a:r>
              <a:rPr lang="en-US" altLang="en-US" sz="2400" dirty="0"/>
              <a:t>IMPORTANT WARNING!</a:t>
            </a:r>
          </a:p>
          <a:p>
            <a:pPr lvl="1"/>
            <a:r>
              <a:rPr lang="en-US" altLang="en-US" dirty="0"/>
              <a:t>Purely mathematical solutions are not always effective. Human motives and behaviors must be considered</a:t>
            </a:r>
          </a:p>
          <a:p>
            <a:endParaRPr lang="en-US" dirty="0"/>
          </a:p>
        </p:txBody>
      </p:sp>
      <p:sp>
        <p:nvSpPr>
          <p:cNvPr id="4" name="Footer Placeholder 3"/>
          <p:cNvSpPr>
            <a:spLocks noGrp="1"/>
          </p:cNvSpPr>
          <p:nvPr>
            <p:ph type="ftr" sz="quarter" idx="11"/>
          </p:nvPr>
        </p:nvSpPr>
        <p:spPr/>
        <p:txBody>
          <a:bodyPr/>
          <a:lstStyle/>
          <a:p>
            <a:r>
              <a:rPr lang="en-US"/>
              <a:t>ITU - Business Analytics - Mehmet Yasin Ulukuş</a:t>
            </a:r>
          </a:p>
        </p:txBody>
      </p:sp>
    </p:spTree>
    <p:extLst>
      <p:ext uri="{BB962C8B-B14F-4D97-AF65-F5344CB8AC3E}">
        <p14:creationId xmlns:p14="http://schemas.microsoft.com/office/powerpoint/2010/main" val="597404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dirty="0"/>
              <a:t>Visual Perspective of Business Analytics</a:t>
            </a:r>
            <a:endParaRPr lang="en-US" dirty="0"/>
          </a:p>
        </p:txBody>
      </p:sp>
      <p:pic>
        <p:nvPicPr>
          <p:cNvPr id="5" name="Content Placeholder 4"/>
          <p:cNvPicPr>
            <a:picLocks noGrp="1" noChangeAspect="1"/>
          </p:cNvPicPr>
          <p:nvPr>
            <p:ph idx="1"/>
          </p:nvPr>
        </p:nvPicPr>
        <p:blipFill>
          <a:blip r:embed="rId2"/>
          <a:stretch>
            <a:fillRect/>
          </a:stretch>
        </p:blipFill>
        <p:spPr>
          <a:xfrm>
            <a:off x="2269107" y="1389063"/>
            <a:ext cx="7653785" cy="4921250"/>
          </a:xfrm>
          <a:prstGeom prst="rect">
            <a:avLst/>
          </a:prstGeom>
        </p:spPr>
      </p:pic>
      <p:sp>
        <p:nvSpPr>
          <p:cNvPr id="4" name="Footer Placeholder 3"/>
          <p:cNvSpPr>
            <a:spLocks noGrp="1"/>
          </p:cNvSpPr>
          <p:nvPr>
            <p:ph type="ftr" sz="quarter" idx="11"/>
          </p:nvPr>
        </p:nvSpPr>
        <p:spPr/>
        <p:txBody>
          <a:bodyPr/>
          <a:lstStyle/>
          <a:p>
            <a:r>
              <a:rPr lang="en-US"/>
              <a:t>ITU - Business Analytics - Mehmet Yasin Ulukuş</a:t>
            </a:r>
          </a:p>
        </p:txBody>
      </p:sp>
    </p:spTree>
    <p:extLst>
      <p:ext uri="{BB962C8B-B14F-4D97-AF65-F5344CB8AC3E}">
        <p14:creationId xmlns:p14="http://schemas.microsoft.com/office/powerpoint/2010/main" val="2273069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dirty="0"/>
              <a:t>Scope of Business Analytics</a:t>
            </a:r>
            <a:endParaRPr lang="en-US" dirty="0"/>
          </a:p>
        </p:txBody>
      </p:sp>
      <p:sp>
        <p:nvSpPr>
          <p:cNvPr id="3" name="Content Placeholder 2"/>
          <p:cNvSpPr>
            <a:spLocks noGrp="1"/>
          </p:cNvSpPr>
          <p:nvPr>
            <p:ph idx="1"/>
          </p:nvPr>
        </p:nvSpPr>
        <p:spPr/>
        <p:txBody>
          <a:bodyPr>
            <a:normAutofit fontScale="92500" lnSpcReduction="10000"/>
          </a:bodyPr>
          <a:lstStyle/>
          <a:p>
            <a:r>
              <a:rPr lang="en-US" dirty="0"/>
              <a:t>Descriptive</a:t>
            </a:r>
            <a:r>
              <a:rPr lang="tr-TR" dirty="0"/>
              <a:t> analytics:</a:t>
            </a:r>
          </a:p>
          <a:p>
            <a:pPr lvl="1"/>
            <a:r>
              <a:rPr lang="tr-TR" dirty="0"/>
              <a:t>Summarizes</a:t>
            </a:r>
            <a:r>
              <a:rPr lang="en-US" dirty="0"/>
              <a:t> data into meaningful charts and reports</a:t>
            </a:r>
            <a:endParaRPr lang="tr-TR" dirty="0"/>
          </a:p>
          <a:p>
            <a:pPr lvl="1"/>
            <a:r>
              <a:rPr lang="en-US" dirty="0"/>
              <a:t>Typical questions “How much did we sell in each region?” “What was our revenue</a:t>
            </a:r>
            <a:r>
              <a:rPr lang="tr-TR" dirty="0"/>
              <a:t> </a:t>
            </a:r>
            <a:r>
              <a:rPr lang="en-US" dirty="0"/>
              <a:t>and profit last quarter?”</a:t>
            </a:r>
            <a:r>
              <a:rPr lang="tr-TR" dirty="0"/>
              <a:t> </a:t>
            </a:r>
            <a:r>
              <a:rPr lang="en-US" dirty="0"/>
              <a:t>“Which factory has the lowest productivity?”</a:t>
            </a:r>
            <a:endParaRPr lang="tr-TR" dirty="0"/>
          </a:p>
          <a:p>
            <a:r>
              <a:rPr lang="en-US" dirty="0"/>
              <a:t>Predictive analytics</a:t>
            </a:r>
            <a:r>
              <a:rPr lang="tr-TR" dirty="0"/>
              <a:t>:</a:t>
            </a:r>
          </a:p>
          <a:p>
            <a:pPr lvl="1"/>
            <a:r>
              <a:rPr lang="tr-TR" dirty="0"/>
              <a:t>Seeks</a:t>
            </a:r>
            <a:r>
              <a:rPr lang="en-US" dirty="0"/>
              <a:t> to predict the future by examining</a:t>
            </a:r>
            <a:r>
              <a:rPr lang="tr-TR" dirty="0"/>
              <a:t> </a:t>
            </a:r>
            <a:r>
              <a:rPr lang="en-US" dirty="0"/>
              <a:t>historical data, detecting patterns, and</a:t>
            </a:r>
            <a:r>
              <a:rPr lang="tr-TR" dirty="0"/>
              <a:t> </a:t>
            </a:r>
            <a:r>
              <a:rPr lang="en-US" dirty="0"/>
              <a:t>then extrapolating these relationships forward in time.</a:t>
            </a:r>
            <a:endParaRPr lang="tr-TR" dirty="0"/>
          </a:p>
          <a:p>
            <a:pPr lvl="1"/>
            <a:r>
              <a:rPr lang="tr-TR" dirty="0"/>
              <a:t>Some examples: </a:t>
            </a:r>
            <a:r>
              <a:rPr lang="en-US" dirty="0"/>
              <a:t>identify the most profitable customers</a:t>
            </a:r>
            <a:r>
              <a:rPr lang="tr-TR" dirty="0"/>
              <a:t> </a:t>
            </a:r>
            <a:r>
              <a:rPr lang="en-US" dirty="0"/>
              <a:t>or predict the chances that a loan applicant will default</a:t>
            </a:r>
            <a:endParaRPr lang="tr-TR" dirty="0"/>
          </a:p>
          <a:p>
            <a:r>
              <a:rPr lang="en-US" dirty="0"/>
              <a:t>Prescriptive</a:t>
            </a:r>
            <a:r>
              <a:rPr lang="tr-TR" dirty="0"/>
              <a:t> </a:t>
            </a:r>
            <a:r>
              <a:rPr lang="en-US" dirty="0"/>
              <a:t>analytics</a:t>
            </a:r>
            <a:r>
              <a:rPr lang="tr-TR" dirty="0"/>
              <a:t>:</a:t>
            </a:r>
          </a:p>
          <a:p>
            <a:pPr lvl="1"/>
            <a:r>
              <a:rPr lang="tr-TR" dirty="0"/>
              <a:t>T</a:t>
            </a:r>
            <a:r>
              <a:rPr lang="en-US" dirty="0"/>
              <a:t>o identify the best alternatives to minimize or</a:t>
            </a:r>
            <a:r>
              <a:rPr lang="tr-TR" dirty="0"/>
              <a:t> </a:t>
            </a:r>
            <a:r>
              <a:rPr lang="en-US" dirty="0"/>
              <a:t>maximize</a:t>
            </a:r>
            <a:r>
              <a:rPr lang="tr-TR" dirty="0"/>
              <a:t> </a:t>
            </a:r>
            <a:r>
              <a:rPr lang="en-US" dirty="0"/>
              <a:t>some objective</a:t>
            </a:r>
            <a:endParaRPr lang="tr-TR" dirty="0"/>
          </a:p>
          <a:p>
            <a:pPr lvl="1"/>
            <a:r>
              <a:rPr lang="tr-TR" dirty="0"/>
              <a:t>Some examples: Determine </a:t>
            </a:r>
            <a:r>
              <a:rPr lang="en-US" dirty="0"/>
              <a:t>the best pricing and advertising strategy to maximize revenue, the optimal</a:t>
            </a:r>
            <a:r>
              <a:rPr lang="tr-TR" dirty="0"/>
              <a:t> </a:t>
            </a:r>
            <a:r>
              <a:rPr lang="en-US" dirty="0"/>
              <a:t>amount of cash to store in ATMs, or the best mix of investments in a retirement</a:t>
            </a:r>
            <a:r>
              <a:rPr lang="tr-TR" dirty="0"/>
              <a:t> </a:t>
            </a:r>
            <a:r>
              <a:rPr lang="en-US" dirty="0"/>
              <a:t>portfolio to manage risk</a:t>
            </a:r>
          </a:p>
        </p:txBody>
      </p:sp>
      <p:sp>
        <p:nvSpPr>
          <p:cNvPr id="4" name="Footer Placeholder 3"/>
          <p:cNvSpPr>
            <a:spLocks noGrp="1"/>
          </p:cNvSpPr>
          <p:nvPr>
            <p:ph type="ftr" sz="quarter" idx="11"/>
          </p:nvPr>
        </p:nvSpPr>
        <p:spPr/>
        <p:txBody>
          <a:bodyPr/>
          <a:lstStyle/>
          <a:p>
            <a:r>
              <a:rPr lang="en-US"/>
              <a:t>ITU - Business Analytics - Mehmet Yasin Ulukuş</a:t>
            </a:r>
          </a:p>
        </p:txBody>
      </p:sp>
    </p:spTree>
    <p:extLst>
      <p:ext uri="{BB962C8B-B14F-4D97-AF65-F5344CB8AC3E}">
        <p14:creationId xmlns:p14="http://schemas.microsoft.com/office/powerpoint/2010/main" val="3817176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6" name="Rectangle 2">
            <a:extLst>
              <a:ext uri="{FF2B5EF4-FFF2-40B4-BE49-F238E27FC236}">
                <a16:creationId xmlns:a16="http://schemas.microsoft.com/office/drawing/2014/main" id="{E34BC85A-954F-4D10-9665-CFA31D14889A}"/>
              </a:ext>
            </a:extLst>
          </p:cNvPr>
          <p:cNvSpPr>
            <a:spLocks noGrp="1" noChangeArrowheads="1"/>
          </p:cNvSpPr>
          <p:nvPr>
            <p:ph type="title"/>
          </p:nvPr>
        </p:nvSpPr>
        <p:spPr/>
        <p:txBody>
          <a:bodyPr/>
          <a:lstStyle/>
          <a:p>
            <a:r>
              <a:rPr lang="tr-TR" altLang="en-US" dirty="0"/>
              <a:t>Prescriptive Analytics</a:t>
            </a:r>
            <a:endParaRPr lang="en-US" altLang="en-US" dirty="0"/>
          </a:p>
        </p:txBody>
      </p:sp>
      <p:sp>
        <p:nvSpPr>
          <p:cNvPr id="8197" name="Rectangle 3">
            <a:extLst>
              <a:ext uri="{FF2B5EF4-FFF2-40B4-BE49-F238E27FC236}">
                <a16:creationId xmlns:a16="http://schemas.microsoft.com/office/drawing/2014/main" id="{804DB82E-09D4-45A7-88D7-93F20A8BDC07}"/>
              </a:ext>
            </a:extLst>
          </p:cNvPr>
          <p:cNvSpPr>
            <a:spLocks noGrp="1" noChangeArrowheads="1"/>
          </p:cNvSpPr>
          <p:nvPr>
            <p:ph idx="1"/>
          </p:nvPr>
        </p:nvSpPr>
        <p:spPr/>
        <p:txBody>
          <a:bodyPr>
            <a:normAutofit/>
          </a:bodyPr>
          <a:lstStyle/>
          <a:p>
            <a:r>
              <a:rPr lang="en-US" altLang="en-US" sz="2400" dirty="0"/>
              <a:t>In summary</a:t>
            </a:r>
          </a:p>
          <a:p>
            <a:pPr lvl="1"/>
            <a:r>
              <a:rPr lang="tr-TR" altLang="en-US" sz="2200" dirty="0"/>
              <a:t>Prescriptive Analytics (Operations Research) </a:t>
            </a:r>
            <a:r>
              <a:rPr lang="en-US" altLang="en-US" sz="2200" dirty="0"/>
              <a:t>seeks the determination of the best (optimum) course of action in a decision problem under the restriction of limited resources</a:t>
            </a:r>
          </a:p>
          <a:p>
            <a:pPr lvl="1"/>
            <a:r>
              <a:rPr lang="en-US" altLang="en-US" sz="2200" dirty="0"/>
              <a:t>It uses mathematical techniques to model and analyze decision problems</a:t>
            </a:r>
            <a:endParaRPr lang="tr-TR" altLang="en-US" sz="2200" dirty="0"/>
          </a:p>
          <a:p>
            <a:r>
              <a:rPr lang="tr-TR" altLang="en-US" sz="2400" dirty="0"/>
              <a:t>Some OR Techniques:</a:t>
            </a:r>
            <a:endParaRPr lang="en-US" altLang="en-US" sz="2400" dirty="0"/>
          </a:p>
          <a:p>
            <a:pPr lvl="1"/>
            <a:endParaRPr lang="en-US" altLang="en-US" dirty="0"/>
          </a:p>
          <a:p>
            <a:endParaRPr lang="en-US" altLang="en-US" sz="2400" dirty="0"/>
          </a:p>
        </p:txBody>
      </p:sp>
      <p:sp>
        <p:nvSpPr>
          <p:cNvPr id="2" name="Footer Placeholder 1">
            <a:extLst>
              <a:ext uri="{FF2B5EF4-FFF2-40B4-BE49-F238E27FC236}">
                <a16:creationId xmlns:a16="http://schemas.microsoft.com/office/drawing/2014/main" id="{E371F4E9-ABE9-4E15-B96A-7327B9F0FF6C}"/>
              </a:ext>
            </a:extLst>
          </p:cNvPr>
          <p:cNvSpPr>
            <a:spLocks noGrp="1"/>
          </p:cNvSpPr>
          <p:nvPr>
            <p:ph type="ftr" sz="quarter" idx="11"/>
          </p:nvPr>
        </p:nvSpPr>
        <p:spPr/>
        <p:txBody>
          <a:bodyPr/>
          <a:lstStyle/>
          <a:p>
            <a:pPr>
              <a:defRPr/>
            </a:pPr>
            <a:r>
              <a:rPr lang="en-US" altLang="en-US"/>
              <a:t>ITU - Business Analytics - Mehmet Yasin Ulukuş</a:t>
            </a:r>
            <a:endParaRPr lang="en-US" altLang="en-US" i="0"/>
          </a:p>
        </p:txBody>
      </p:sp>
      <p:sp>
        <p:nvSpPr>
          <p:cNvPr id="5" name="Content Placeholder 3"/>
          <p:cNvSpPr txBox="1">
            <a:spLocks/>
          </p:cNvSpPr>
          <p:nvPr/>
        </p:nvSpPr>
        <p:spPr>
          <a:xfrm>
            <a:off x="1371600" y="3653969"/>
            <a:ext cx="4067175" cy="3067506"/>
          </a:xfrm>
          <a:prstGeom prst="rect">
            <a:avLst/>
          </a:prstGeom>
        </p:spPr>
        <p:txBody>
          <a:bodyPr vert="horz" wrap="square" lIns="91440" tIns="45720" rIns="91440" bIns="45720"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buFont typeface="Arial"/>
              <a:buChar char="•"/>
            </a:pPr>
            <a:r>
              <a:rPr lang="en-US" sz="1800" dirty="0">
                <a:solidFill>
                  <a:srgbClr val="000090"/>
                </a:solidFill>
              </a:rPr>
              <a:t>Linear programming </a:t>
            </a:r>
          </a:p>
          <a:p>
            <a:pPr marL="342900" indent="-342900">
              <a:buFont typeface="Arial"/>
              <a:buChar char="•"/>
            </a:pPr>
            <a:r>
              <a:rPr lang="en-US" sz="1800" dirty="0">
                <a:solidFill>
                  <a:srgbClr val="000090"/>
                </a:solidFill>
              </a:rPr>
              <a:t>Integer linear programming </a:t>
            </a:r>
          </a:p>
          <a:p>
            <a:pPr marL="342900" indent="-342900">
              <a:buFont typeface="Arial"/>
              <a:buChar char="•"/>
            </a:pPr>
            <a:r>
              <a:rPr lang="en-US" sz="1800" dirty="0">
                <a:solidFill>
                  <a:srgbClr val="000090"/>
                </a:solidFill>
              </a:rPr>
              <a:t>Nonlinear programming </a:t>
            </a:r>
          </a:p>
          <a:p>
            <a:pPr marL="342900" indent="-342900">
              <a:buFont typeface="Arial"/>
              <a:buChar char="•"/>
            </a:pPr>
            <a:r>
              <a:rPr lang="en-US" sz="1800" dirty="0">
                <a:solidFill>
                  <a:schemeClr val="bg1">
                    <a:lumMod val="50000"/>
                  </a:schemeClr>
                </a:solidFill>
              </a:rPr>
              <a:t>Network models </a:t>
            </a:r>
          </a:p>
          <a:p>
            <a:pPr marL="342900" indent="-342900">
              <a:buFont typeface="Arial"/>
              <a:buChar char="•"/>
            </a:pPr>
            <a:r>
              <a:rPr lang="en-US" sz="1800" dirty="0">
                <a:solidFill>
                  <a:srgbClr val="7F7F7F"/>
                </a:solidFill>
              </a:rPr>
              <a:t>Inventory Theory </a:t>
            </a:r>
          </a:p>
          <a:p>
            <a:pPr marL="342900" indent="-342900">
              <a:buFont typeface="Arial"/>
              <a:buChar char="•"/>
            </a:pPr>
            <a:r>
              <a:rPr lang="en-US" sz="1800" dirty="0">
                <a:solidFill>
                  <a:srgbClr val="7F7F7F"/>
                </a:solidFill>
              </a:rPr>
              <a:t>Queueing Theory</a:t>
            </a:r>
          </a:p>
          <a:p>
            <a:pPr marL="342900" indent="-342900">
              <a:buFont typeface="Arial"/>
              <a:buChar char="•"/>
            </a:pPr>
            <a:r>
              <a:rPr lang="en-US" sz="1800" dirty="0">
                <a:solidFill>
                  <a:srgbClr val="7F7F7F"/>
                </a:solidFill>
              </a:rPr>
              <a:t>Simulation </a:t>
            </a:r>
            <a:endParaRPr lang="en-US" sz="1800" b="1" dirty="0">
              <a:solidFill>
                <a:srgbClr val="000090"/>
              </a:solidFill>
            </a:endParaRPr>
          </a:p>
          <a:p>
            <a:endParaRPr lang="en-US" sz="2400" b="1" dirty="0">
              <a:solidFill>
                <a:srgbClr val="000090"/>
              </a:solidFill>
            </a:endParaRPr>
          </a:p>
        </p:txBody>
      </p:sp>
      <p:sp>
        <p:nvSpPr>
          <p:cNvPr id="6" name="Rectangle 5"/>
          <p:cNvSpPr/>
          <p:nvPr/>
        </p:nvSpPr>
        <p:spPr>
          <a:xfrm>
            <a:off x="4572000" y="3653969"/>
            <a:ext cx="3581400" cy="2501198"/>
          </a:xfrm>
          <a:prstGeom prst="rect">
            <a:avLst/>
          </a:prstGeom>
        </p:spPr>
        <p:txBody>
          <a:bodyPr wrap="square">
            <a:spAutoFit/>
          </a:bodyPr>
          <a:lstStyle/>
          <a:p>
            <a:pPr marL="342900" indent="-342900">
              <a:buFont typeface="Arial"/>
              <a:buChar char="•"/>
            </a:pPr>
            <a:r>
              <a:rPr lang="en-US" dirty="0">
                <a:solidFill>
                  <a:srgbClr val="000090"/>
                </a:solidFill>
              </a:rPr>
              <a:t>Decision analysis </a:t>
            </a:r>
          </a:p>
          <a:p>
            <a:pPr marL="342900" indent="-342900">
              <a:buFont typeface="Arial"/>
              <a:buChar char="•"/>
            </a:pPr>
            <a:r>
              <a:rPr lang="en-US" dirty="0">
                <a:solidFill>
                  <a:srgbClr val="7F7F7F"/>
                </a:solidFill>
              </a:rPr>
              <a:t>Game Theory </a:t>
            </a:r>
            <a:endParaRPr lang="tr-TR" dirty="0">
              <a:solidFill>
                <a:srgbClr val="7F7F7F"/>
              </a:solidFill>
            </a:endParaRPr>
          </a:p>
          <a:p>
            <a:pPr marL="342900" indent="-342900">
              <a:buFont typeface="Arial"/>
              <a:buChar char="•"/>
            </a:pPr>
            <a:r>
              <a:rPr lang="en-US" dirty="0">
                <a:solidFill>
                  <a:srgbClr val="7F7F7F"/>
                </a:solidFill>
              </a:rPr>
              <a:t>Goal programming </a:t>
            </a:r>
            <a:endParaRPr lang="tr-TR" dirty="0">
              <a:solidFill>
                <a:srgbClr val="7F7F7F"/>
              </a:solidFill>
            </a:endParaRPr>
          </a:p>
          <a:p>
            <a:pPr marL="342900" indent="-342900" defTabSz="914400">
              <a:lnSpc>
                <a:spcPct val="90000"/>
              </a:lnSpc>
              <a:spcBef>
                <a:spcPts val="1000"/>
              </a:spcBef>
              <a:buFont typeface="Arial"/>
              <a:buChar char="•"/>
            </a:pPr>
            <a:r>
              <a:rPr lang="en-US" dirty="0">
                <a:solidFill>
                  <a:srgbClr val="7F7F7F"/>
                </a:solidFill>
              </a:rPr>
              <a:t>Analytic hierarchy process </a:t>
            </a:r>
          </a:p>
          <a:p>
            <a:pPr marL="342900" indent="-342900">
              <a:buFont typeface="Arial"/>
              <a:buChar char="•"/>
            </a:pPr>
            <a:r>
              <a:rPr lang="en-US" dirty="0">
                <a:solidFill>
                  <a:srgbClr val="000090"/>
                </a:solidFill>
              </a:rPr>
              <a:t>Forecasting</a:t>
            </a:r>
            <a:r>
              <a:rPr lang="en-US" dirty="0">
                <a:solidFill>
                  <a:srgbClr val="7F7F7F"/>
                </a:solidFill>
              </a:rPr>
              <a:t> </a:t>
            </a:r>
          </a:p>
          <a:p>
            <a:pPr marL="342900" indent="-342900">
              <a:buFont typeface="Arial"/>
              <a:buChar char="•"/>
            </a:pPr>
            <a:r>
              <a:rPr lang="en-US" dirty="0">
                <a:solidFill>
                  <a:srgbClr val="7F7F7F"/>
                </a:solidFill>
              </a:rPr>
              <a:t>Markov-Process Models </a:t>
            </a:r>
          </a:p>
          <a:p>
            <a:pPr marL="342900" indent="-342900">
              <a:buFont typeface="Arial"/>
              <a:buChar char="•"/>
            </a:pPr>
            <a:r>
              <a:rPr lang="en-US" dirty="0">
                <a:solidFill>
                  <a:srgbClr val="7F7F7F"/>
                </a:solidFill>
              </a:rPr>
              <a:t>Dynamic Programming </a:t>
            </a:r>
            <a:endParaRPr lang="en-US" b="1" dirty="0">
              <a:solidFill>
                <a:srgbClr val="000090"/>
              </a:solidFill>
            </a:endParaRPr>
          </a:p>
          <a:p>
            <a:endParaRPr lang="en-US" sz="2400" b="1" dirty="0">
              <a:solidFill>
                <a:srgbClr val="000090"/>
              </a:solidFill>
            </a:endParaRPr>
          </a:p>
        </p:txBody>
      </p:sp>
    </p:spTree>
    <p:extLst>
      <p:ext uri="{BB962C8B-B14F-4D97-AF65-F5344CB8AC3E}">
        <p14:creationId xmlns:p14="http://schemas.microsoft.com/office/powerpoint/2010/main" val="24759457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2" name="Rectangle 2">
            <a:extLst>
              <a:ext uri="{FF2B5EF4-FFF2-40B4-BE49-F238E27FC236}">
                <a16:creationId xmlns:a16="http://schemas.microsoft.com/office/drawing/2014/main" id="{96A6BDA7-13CA-4439-9B38-3E5E07EEDCBF}"/>
              </a:ext>
            </a:extLst>
          </p:cNvPr>
          <p:cNvSpPr>
            <a:spLocks noGrp="1" noChangeArrowheads="1"/>
          </p:cNvSpPr>
          <p:nvPr>
            <p:ph type="title"/>
          </p:nvPr>
        </p:nvSpPr>
        <p:spPr/>
        <p:txBody>
          <a:bodyPr>
            <a:normAutofit/>
          </a:bodyPr>
          <a:lstStyle/>
          <a:p>
            <a:r>
              <a:rPr lang="en-US" altLang="en-US" dirty="0"/>
              <a:t>Components of a Decision Problem</a:t>
            </a:r>
          </a:p>
        </p:txBody>
      </p:sp>
      <p:sp>
        <p:nvSpPr>
          <p:cNvPr id="3" name="Content Placeholder 2">
            <a:extLst>
              <a:ext uri="{FF2B5EF4-FFF2-40B4-BE49-F238E27FC236}">
                <a16:creationId xmlns:a16="http://schemas.microsoft.com/office/drawing/2014/main" id="{D863AE66-D940-4686-9AC1-F57587513610}"/>
              </a:ext>
            </a:extLst>
          </p:cNvPr>
          <p:cNvSpPr>
            <a:spLocks noGrp="1"/>
          </p:cNvSpPr>
          <p:nvPr>
            <p:ph idx="1"/>
          </p:nvPr>
        </p:nvSpPr>
        <p:spPr/>
        <p:txBody>
          <a:bodyPr>
            <a:normAutofit/>
          </a:bodyPr>
          <a:lstStyle/>
          <a:p>
            <a:r>
              <a:rPr lang="en-US" altLang="en-US" b="1" dirty="0">
                <a:solidFill>
                  <a:srgbClr val="FF0000"/>
                </a:solidFill>
              </a:rPr>
              <a:t>Objective: </a:t>
            </a:r>
            <a:r>
              <a:rPr lang="en-US" altLang="en-US" dirty="0"/>
              <a:t>The end result to achieve by taking a course of action</a:t>
            </a:r>
          </a:p>
          <a:p>
            <a:pPr lvl="1"/>
            <a:r>
              <a:rPr lang="en-US" altLang="en-US" dirty="0"/>
              <a:t>Profit, Revenue, Cost, Quality of Service, Safety, Life years</a:t>
            </a:r>
          </a:p>
          <a:p>
            <a:r>
              <a:rPr lang="en-US" altLang="en-US" b="1" dirty="0">
                <a:solidFill>
                  <a:srgbClr val="FF0000"/>
                </a:solidFill>
              </a:rPr>
              <a:t>Variables: </a:t>
            </a:r>
            <a:r>
              <a:rPr lang="en-US" altLang="en-US" dirty="0"/>
              <a:t>Factors that are under direct control of the decision maker</a:t>
            </a:r>
          </a:p>
          <a:p>
            <a:pPr lvl="1"/>
            <a:r>
              <a:rPr lang="en-US" altLang="en-US" dirty="0"/>
              <a:t>Determination of the correct variables is crucial</a:t>
            </a:r>
          </a:p>
          <a:p>
            <a:pPr lvl="1"/>
            <a:r>
              <a:rPr lang="en-US" altLang="en-US" dirty="0"/>
              <a:t>Complex or simple mathematical relation between objective and variables</a:t>
            </a:r>
          </a:p>
          <a:p>
            <a:r>
              <a:rPr lang="en-US" altLang="en-US" b="1" dirty="0">
                <a:solidFill>
                  <a:srgbClr val="FF0000"/>
                </a:solidFill>
              </a:rPr>
              <a:t>Parameters:</a:t>
            </a:r>
            <a:r>
              <a:rPr lang="en-US" altLang="en-US" b="0" dirty="0"/>
              <a:t> Factors that are not </a:t>
            </a:r>
            <a:r>
              <a:rPr lang="en-US" altLang="en-US" dirty="0"/>
              <a:t>under control</a:t>
            </a:r>
          </a:p>
          <a:p>
            <a:pPr lvl="1"/>
            <a:r>
              <a:rPr lang="en-US" altLang="en-US" b="0" dirty="0"/>
              <a:t>Deterministic, random, static, dynamic</a:t>
            </a:r>
          </a:p>
          <a:p>
            <a:endParaRPr lang="en-US" altLang="en-US" dirty="0"/>
          </a:p>
          <a:p>
            <a:endParaRPr lang="en-US" dirty="0"/>
          </a:p>
        </p:txBody>
      </p:sp>
      <p:sp>
        <p:nvSpPr>
          <p:cNvPr id="2" name="Footer Placeholder 1">
            <a:extLst>
              <a:ext uri="{FF2B5EF4-FFF2-40B4-BE49-F238E27FC236}">
                <a16:creationId xmlns:a16="http://schemas.microsoft.com/office/drawing/2014/main" id="{4BE51C08-1628-4226-9458-EB606A722CB9}"/>
              </a:ext>
            </a:extLst>
          </p:cNvPr>
          <p:cNvSpPr>
            <a:spLocks noGrp="1"/>
          </p:cNvSpPr>
          <p:nvPr>
            <p:ph type="ftr" sz="quarter" idx="11"/>
          </p:nvPr>
        </p:nvSpPr>
        <p:spPr/>
        <p:txBody>
          <a:bodyPr/>
          <a:lstStyle/>
          <a:p>
            <a:pPr>
              <a:defRPr/>
            </a:pPr>
            <a:r>
              <a:rPr lang="en-US" altLang="en-US"/>
              <a:t>ITU - Business Analytics - Mehmet Yasin Ulukuş</a:t>
            </a:r>
            <a:endParaRPr lang="en-US" altLang="en-US" i="0"/>
          </a:p>
        </p:txBody>
      </p:sp>
    </p:spTree>
    <p:extLst>
      <p:ext uri="{BB962C8B-B14F-4D97-AF65-F5344CB8AC3E}">
        <p14:creationId xmlns:p14="http://schemas.microsoft.com/office/powerpoint/2010/main" val="27338262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Mathematical Modeling</a:t>
            </a:r>
          </a:p>
        </p:txBody>
      </p:sp>
      <p:sp>
        <p:nvSpPr>
          <p:cNvPr id="3" name="Content Placeholder 2"/>
          <p:cNvSpPr>
            <a:spLocks noGrp="1"/>
          </p:cNvSpPr>
          <p:nvPr>
            <p:ph idx="1"/>
          </p:nvPr>
        </p:nvSpPr>
        <p:spPr/>
        <p:txBody>
          <a:bodyPr>
            <a:normAutofit lnSpcReduction="10000"/>
          </a:bodyPr>
          <a:lstStyle/>
          <a:p>
            <a:r>
              <a:rPr lang="en-US" dirty="0"/>
              <a:t>Model is an abstraction of a real situation or a system</a:t>
            </a:r>
          </a:p>
          <a:p>
            <a:r>
              <a:rPr lang="en-US" dirty="0"/>
              <a:t>Less complex than reality, but serves the purpose</a:t>
            </a:r>
          </a:p>
          <a:p>
            <a:r>
              <a:rPr lang="en-US" dirty="0"/>
              <a:t>Models show relations and interrelations between entities of a system</a:t>
            </a:r>
          </a:p>
          <a:p>
            <a:r>
              <a:rPr lang="en-US" dirty="0"/>
              <a:t>In mathematical modeling the relations are represented in mathematical form</a:t>
            </a:r>
          </a:p>
          <a:p>
            <a:r>
              <a:rPr lang="en-US" dirty="0"/>
              <a:t>Math models should be</a:t>
            </a:r>
          </a:p>
          <a:p>
            <a:pPr lvl="1"/>
            <a:r>
              <a:rPr lang="en-US" dirty="0"/>
              <a:t>As simple and understandable possible</a:t>
            </a:r>
          </a:p>
          <a:p>
            <a:pPr lvl="1"/>
            <a:r>
              <a:rPr lang="en-US" dirty="0"/>
              <a:t>Reasonable</a:t>
            </a:r>
          </a:p>
          <a:p>
            <a:pPr lvl="1"/>
            <a:r>
              <a:rPr lang="en-US" dirty="0"/>
              <a:t>Adaptable</a:t>
            </a:r>
          </a:p>
          <a:p>
            <a:pPr lvl="1"/>
            <a:r>
              <a:rPr lang="en-US" dirty="0"/>
              <a:t>Easy to control</a:t>
            </a:r>
          </a:p>
          <a:p>
            <a:pPr lvl="1"/>
            <a:r>
              <a:rPr lang="en-US" dirty="0"/>
              <a:t>Solvable</a:t>
            </a:r>
          </a:p>
          <a:p>
            <a:endParaRPr lang="en-US" dirty="0"/>
          </a:p>
        </p:txBody>
      </p:sp>
      <p:sp>
        <p:nvSpPr>
          <p:cNvPr id="6" name="Footer Placeholder 5">
            <a:extLst>
              <a:ext uri="{FF2B5EF4-FFF2-40B4-BE49-F238E27FC236}">
                <a16:creationId xmlns:a16="http://schemas.microsoft.com/office/drawing/2014/main" id="{57DB11FE-60DE-4D24-90C8-DF696F6F6871}"/>
              </a:ext>
            </a:extLst>
          </p:cNvPr>
          <p:cNvSpPr>
            <a:spLocks noGrp="1"/>
          </p:cNvSpPr>
          <p:nvPr>
            <p:ph type="ftr" sz="quarter" idx="11"/>
          </p:nvPr>
        </p:nvSpPr>
        <p:spPr/>
        <p:txBody>
          <a:bodyPr/>
          <a:lstStyle/>
          <a:p>
            <a:pPr>
              <a:defRPr/>
            </a:pPr>
            <a:r>
              <a:rPr lang="en-US" altLang="en-US"/>
              <a:t>ITU - Business Analytics - Mehmet Yasin Ulukuş</a:t>
            </a:r>
            <a:endParaRPr lang="en-US" altLang="en-US" i="0"/>
          </a:p>
        </p:txBody>
      </p:sp>
    </p:spTree>
    <p:extLst>
      <p:ext uri="{BB962C8B-B14F-4D97-AF65-F5344CB8AC3E}">
        <p14:creationId xmlns:p14="http://schemas.microsoft.com/office/powerpoint/2010/main" val="29630692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Mathematical Modeling</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en-US" dirty="0"/>
                  <a:t>The complexity is defined by</a:t>
                </a:r>
              </a:p>
              <a:p>
                <a:pPr lvl="1"/>
                <a:r>
                  <a:rPr lang="en-US" dirty="0"/>
                  <a:t>The number of variables involved</a:t>
                </a:r>
              </a:p>
              <a:p>
                <a:pPr lvl="1"/>
                <a:r>
                  <a:rPr lang="en-US" dirty="0"/>
                  <a:t>The number of functions involved</a:t>
                </a:r>
              </a:p>
              <a:p>
                <a:pPr lvl="1"/>
                <a:r>
                  <a:rPr lang="en-US" dirty="0"/>
                  <a:t>The form of functions involved (linear, non-linear, stochastic)</a:t>
                </a:r>
              </a:p>
              <a:p>
                <a:r>
                  <a:rPr lang="en-US" dirty="0"/>
                  <a:t>Example of a Mathematical Model</a:t>
                </a:r>
              </a:p>
              <a:p>
                <a:pPr marL="457200" lvl="1" indent="0">
                  <a:buNone/>
                </a:pPr>
                <a:r>
                  <a:rPr lang="en-US" dirty="0"/>
                  <a:t>maximize      </a:t>
                </a:r>
                <a14:m>
                  <m:oMath xmlns:m="http://schemas.openxmlformats.org/officeDocument/2006/math">
                    <m:r>
                      <a:rPr lang="en-US" b="0" i="1" smtClean="0">
                        <a:latin typeface="Cambria Math" panose="02040503050406030204" pitchFamily="18" charset="0"/>
                      </a:rPr>
                      <m:t>𝑓</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b="0" i="1" smtClean="0">
                            <a:latin typeface="Cambria Math" panose="02040503050406030204" pitchFamily="18" charset="0"/>
                          </a:rPr>
                          <m:t>2</m:t>
                        </m:r>
                      </m:sub>
                    </m:sSub>
                  </m:oMath>
                </a14:m>
                <a:r>
                  <a:rPr lang="en-US" dirty="0"/>
                  <a:t>,…,</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b="0" i="1" smtClean="0">
                            <a:latin typeface="Cambria Math" panose="02040503050406030204" pitchFamily="18" charset="0"/>
                          </a:rPr>
                          <m:t>𝑛</m:t>
                        </m:r>
                      </m:sub>
                    </m:sSub>
                    <m:r>
                      <a:rPr lang="en-US" b="0" i="1" smtClean="0">
                        <a:latin typeface="Cambria Math" panose="02040503050406030204" pitchFamily="18" charset="0"/>
                      </a:rPr>
                      <m:t>)</m:t>
                    </m:r>
                  </m:oMath>
                </a14:m>
                <a:endParaRPr lang="en-US" b="0" dirty="0"/>
              </a:p>
              <a:p>
                <a:pPr marL="457200" lvl="1" indent="0">
                  <a:buNone/>
                </a:pPr>
                <a:r>
                  <a:rPr lang="en-US" dirty="0"/>
                  <a:t>subject to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    </m:t>
                        </m:r>
                        <m:r>
                          <a:rPr lang="en-US" b="0" i="1" smtClean="0">
                            <a:latin typeface="Cambria Math" panose="02040503050406030204" pitchFamily="18" charset="0"/>
                          </a:rPr>
                          <m:t>𝑔</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1</m:t>
                        </m:r>
                      </m:sub>
                    </m:sSub>
                  </m:oMath>
                </a14:m>
                <a:r>
                  <a:rPr lang="en-US" dirty="0"/>
                  <a:t>,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b="0" i="1" smtClean="0">
                            <a:latin typeface="Cambria Math" panose="02040503050406030204" pitchFamily="18" charset="0"/>
                          </a:rPr>
                          <m:t>2</m:t>
                        </m:r>
                      </m:sub>
                    </m:sSub>
                  </m:oMath>
                </a14:m>
                <a:r>
                  <a:rPr lang="en-US" dirty="0"/>
                  <a:t>,…,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b="0" i="1" smtClean="0">
                            <a:latin typeface="Cambria Math" panose="02040503050406030204" pitchFamily="18" charset="0"/>
                          </a:rPr>
                          <m:t>𝑛</m:t>
                        </m:r>
                      </m:sub>
                    </m:sSub>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rPr>
                        </m:ctrlPr>
                      </m:sSubPr>
                      <m:e>
                        <m:r>
                          <a:rPr lang="en-US" b="0" i="1" smtClean="0">
                            <a:latin typeface="Cambria Math" panose="02040503050406030204" pitchFamily="18" charset="0"/>
                          </a:rPr>
                          <m:t>𝑏</m:t>
                        </m:r>
                      </m:e>
                      <m:sub>
                        <m:r>
                          <a:rPr lang="en-US" b="0" i="1" smtClean="0">
                            <a:latin typeface="Cambria Math" panose="02040503050406030204" pitchFamily="18" charset="0"/>
                          </a:rPr>
                          <m:t>1</m:t>
                        </m:r>
                      </m:sub>
                    </m:sSub>
                  </m:oMath>
                </a14:m>
                <a:endParaRPr lang="en-US" dirty="0"/>
              </a:p>
              <a:p>
                <a:pPr marL="457200" lvl="1" indent="0">
                  <a:buNone/>
                </a:pPr>
                <a:r>
                  <a:rPr lang="en-US" dirty="0"/>
                  <a:t>	            </a:t>
                </a:r>
                <a14:m>
                  <m:oMath xmlns:m="http://schemas.openxmlformats.org/officeDocument/2006/math">
                    <m:sSub>
                      <m:sSubPr>
                        <m:ctrlPr>
                          <a:rPr lang="en-US" i="1">
                            <a:latin typeface="Cambria Math" panose="02040503050406030204" pitchFamily="18" charset="0"/>
                          </a:rPr>
                        </m:ctrlPr>
                      </m:sSubPr>
                      <m:e>
                        <m:r>
                          <a:rPr lang="en-US" b="0" i="1" smtClean="0">
                            <a:latin typeface="Cambria Math" panose="02040503050406030204" pitchFamily="18" charset="0"/>
                          </a:rPr>
                          <m:t>    </m:t>
                        </m:r>
                        <m:r>
                          <a:rPr lang="en-US" i="1">
                            <a:latin typeface="Cambria Math" panose="02040503050406030204" pitchFamily="18" charset="0"/>
                          </a:rPr>
                          <m:t>𝑔</m:t>
                        </m:r>
                      </m:e>
                      <m:sub>
                        <m:r>
                          <a:rPr lang="en-US" b="0" i="1" smtClean="0">
                            <a:latin typeface="Cambria Math" panose="02040503050406030204" pitchFamily="18" charset="0"/>
                          </a:rPr>
                          <m:t>2</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1</m:t>
                        </m:r>
                      </m:sub>
                    </m:sSub>
                  </m:oMath>
                </a14:m>
                <a:r>
                  <a:rPr lang="en-US" dirty="0"/>
                  <a:t>,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2</m:t>
                        </m:r>
                      </m:sub>
                    </m:sSub>
                  </m:oMath>
                </a14:m>
                <a:r>
                  <a:rPr lang="en-US" dirty="0"/>
                  <a:t>,…,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𝑛</m:t>
                        </m:r>
                      </m:sub>
                    </m:sSub>
                    <m:r>
                      <a:rPr lang="en-US" i="1">
                        <a:latin typeface="Cambria Math" panose="02040503050406030204" pitchFamily="18" charset="0"/>
                      </a:rPr>
                      <m:t>)</m:t>
                    </m:r>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𝑏</m:t>
                        </m:r>
                      </m:e>
                      <m:sub>
                        <m:r>
                          <a:rPr lang="en-US" b="0" i="1" smtClean="0">
                            <a:latin typeface="Cambria Math" panose="02040503050406030204" pitchFamily="18" charset="0"/>
                          </a:rPr>
                          <m:t>2</m:t>
                        </m:r>
                      </m:sub>
                    </m:sSub>
                  </m:oMath>
                </a14:m>
                <a:endParaRPr lang="en-US" dirty="0"/>
              </a:p>
              <a:p>
                <a:pPr marL="457200" lvl="1" indent="0">
                  <a:buNone/>
                </a:pPr>
                <a:r>
                  <a:rPr lang="en-US" dirty="0"/>
                  <a:t>		    .</a:t>
                </a:r>
              </a:p>
              <a:p>
                <a:pPr marL="457200" lvl="1" indent="0">
                  <a:buNone/>
                </a:pPr>
                <a:r>
                  <a:rPr lang="en-US" dirty="0"/>
                  <a:t>		    .		</a:t>
                </a:r>
              </a:p>
              <a:p>
                <a:pPr marL="0" indent="0">
                  <a:buNone/>
                </a:pPr>
                <a:r>
                  <a:rPr lang="en-US" dirty="0"/>
                  <a:t>	</a:t>
                </a:r>
                <a:r>
                  <a:rPr lang="en-US" sz="2400" i="1" dirty="0">
                    <a:latin typeface="Cambria Math" panose="02040503050406030204" pitchFamily="18" charset="0"/>
                  </a:rPr>
                  <a:t>         </a:t>
                </a:r>
                <a14:m>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       </m:t>
                        </m:r>
                        <m:r>
                          <a:rPr lang="en-US" sz="2400" i="1">
                            <a:latin typeface="Cambria Math" panose="02040503050406030204" pitchFamily="18" charset="0"/>
                          </a:rPr>
                          <m:t>𝑔</m:t>
                        </m:r>
                      </m:e>
                      <m:sub>
                        <m:r>
                          <a:rPr lang="en-US" sz="2400" i="1">
                            <a:latin typeface="Cambria Math" panose="02040503050406030204" pitchFamily="18" charset="0"/>
                          </a:rPr>
                          <m:t>𝑚</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𝑥</m:t>
                        </m:r>
                      </m:e>
                      <m:sub>
                        <m:r>
                          <a:rPr lang="en-US" sz="2400" i="1">
                            <a:latin typeface="Cambria Math" panose="02040503050406030204" pitchFamily="18" charset="0"/>
                          </a:rPr>
                          <m:t>1</m:t>
                        </m:r>
                      </m:sub>
                    </m:sSub>
                  </m:oMath>
                </a14:m>
                <a:r>
                  <a:rPr lang="en-US" sz="2400" i="1" dirty="0">
                    <a:latin typeface="Cambria Math" panose="02040503050406030204" pitchFamily="18" charset="0"/>
                  </a:rPr>
                  <a:t>, </a:t>
                </a:r>
                <a14:m>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𝑥</m:t>
                        </m:r>
                      </m:e>
                      <m:sub>
                        <m:r>
                          <a:rPr lang="en-US" sz="2400" i="1">
                            <a:latin typeface="Cambria Math" panose="02040503050406030204" pitchFamily="18" charset="0"/>
                          </a:rPr>
                          <m:t>2</m:t>
                        </m:r>
                      </m:sub>
                    </m:sSub>
                  </m:oMath>
                </a14:m>
                <a:r>
                  <a:rPr lang="en-US" sz="2400" i="1" dirty="0">
                    <a:latin typeface="Cambria Math" panose="02040503050406030204" pitchFamily="18" charset="0"/>
                  </a:rPr>
                  <a:t>,…, </a:t>
                </a:r>
                <a14:m>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𝑥</m:t>
                        </m:r>
                      </m:e>
                      <m:sub>
                        <m:r>
                          <a:rPr lang="en-US" sz="2400" i="1">
                            <a:latin typeface="Cambria Math" panose="02040503050406030204" pitchFamily="18" charset="0"/>
                          </a:rPr>
                          <m:t>𝑛</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𝑏</m:t>
                        </m:r>
                      </m:e>
                      <m:sub>
                        <m:r>
                          <a:rPr lang="en-US" sz="2400" i="1">
                            <a:latin typeface="Cambria Math" panose="02040503050406030204" pitchFamily="18" charset="0"/>
                          </a:rPr>
                          <m:t>𝑚</m:t>
                        </m:r>
                      </m:sub>
                    </m:sSub>
                  </m:oMath>
                </a14:m>
                <a:endParaRPr lang="en-US" sz="2400" i="1" dirty="0">
                  <a:latin typeface="Cambria Math" panose="020405030504060302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1043" t="-2107"/>
                </a:stretch>
              </a:blipFill>
            </p:spPr>
            <p:txBody>
              <a:bodyPr/>
              <a:lstStyle/>
              <a:p>
                <a:r>
                  <a:rPr lang="en-US">
                    <a:noFill/>
                  </a:rPr>
                  <a:t> </a:t>
                </a:r>
              </a:p>
            </p:txBody>
          </p:sp>
        </mc:Fallback>
      </mc:AlternateContent>
      <p:sp>
        <p:nvSpPr>
          <p:cNvPr id="6" name="Footer Placeholder 5">
            <a:extLst>
              <a:ext uri="{FF2B5EF4-FFF2-40B4-BE49-F238E27FC236}">
                <a16:creationId xmlns:a16="http://schemas.microsoft.com/office/drawing/2014/main" id="{1B2A55C2-D02D-4A1A-A2C2-525460FAB9F4}"/>
              </a:ext>
            </a:extLst>
          </p:cNvPr>
          <p:cNvSpPr>
            <a:spLocks noGrp="1"/>
          </p:cNvSpPr>
          <p:nvPr>
            <p:ph type="ftr" sz="quarter" idx="11"/>
          </p:nvPr>
        </p:nvSpPr>
        <p:spPr/>
        <p:txBody>
          <a:bodyPr/>
          <a:lstStyle/>
          <a:p>
            <a:pPr>
              <a:defRPr/>
            </a:pPr>
            <a:r>
              <a:rPr lang="en-US" altLang="en-US"/>
              <a:t>ITU - Business Analytics - Mehmet Yasin Ulukuş</a:t>
            </a:r>
            <a:endParaRPr lang="en-US" altLang="en-US" i="0"/>
          </a:p>
        </p:txBody>
      </p:sp>
    </p:spTree>
    <p:extLst>
      <p:ext uri="{BB962C8B-B14F-4D97-AF65-F5344CB8AC3E}">
        <p14:creationId xmlns:p14="http://schemas.microsoft.com/office/powerpoint/2010/main" val="18904684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Phases of an</a:t>
            </a:r>
            <a:r>
              <a:rPr lang="tr-TR" dirty="0"/>
              <a:t> Analytics </a:t>
            </a:r>
            <a:r>
              <a:rPr lang="en-US" dirty="0"/>
              <a:t>Study</a:t>
            </a:r>
          </a:p>
        </p:txBody>
      </p:sp>
      <p:sp>
        <p:nvSpPr>
          <p:cNvPr id="3" name="Footer Placeholder 2">
            <a:extLst>
              <a:ext uri="{FF2B5EF4-FFF2-40B4-BE49-F238E27FC236}">
                <a16:creationId xmlns:a16="http://schemas.microsoft.com/office/drawing/2014/main" id="{2BD3BF5E-E328-490A-81C3-851CB74A63B0}"/>
              </a:ext>
            </a:extLst>
          </p:cNvPr>
          <p:cNvSpPr>
            <a:spLocks noGrp="1"/>
          </p:cNvSpPr>
          <p:nvPr>
            <p:ph type="ftr" sz="quarter" idx="11"/>
          </p:nvPr>
        </p:nvSpPr>
        <p:spPr/>
        <p:txBody>
          <a:bodyPr/>
          <a:lstStyle/>
          <a:p>
            <a:pPr>
              <a:defRPr/>
            </a:pPr>
            <a:r>
              <a:rPr lang="en-US" altLang="en-US"/>
              <a:t>ITU - Business Analytics - Mehmet Yasin Ulukuş</a:t>
            </a:r>
            <a:endParaRPr lang="en-US" altLang="en-US" i="0"/>
          </a:p>
        </p:txBody>
      </p:sp>
      <p:grpSp>
        <p:nvGrpSpPr>
          <p:cNvPr id="35" name="Group 34">
            <a:extLst>
              <a:ext uri="{FF2B5EF4-FFF2-40B4-BE49-F238E27FC236}">
                <a16:creationId xmlns:a16="http://schemas.microsoft.com/office/drawing/2014/main" id="{3F99161E-6FA8-43BE-A38F-E58EA108F7F8}"/>
              </a:ext>
            </a:extLst>
          </p:cNvPr>
          <p:cNvGrpSpPr/>
          <p:nvPr/>
        </p:nvGrpSpPr>
        <p:grpSpPr>
          <a:xfrm>
            <a:off x="4038600" y="1371600"/>
            <a:ext cx="4191000" cy="4838700"/>
            <a:chOff x="2514600" y="1485900"/>
            <a:chExt cx="4191000" cy="4838700"/>
          </a:xfrm>
        </p:grpSpPr>
        <p:sp>
          <p:nvSpPr>
            <p:cNvPr id="4" name="Flowchart: Alternate Process 3">
              <a:extLst>
                <a:ext uri="{FF2B5EF4-FFF2-40B4-BE49-F238E27FC236}">
                  <a16:creationId xmlns:a16="http://schemas.microsoft.com/office/drawing/2014/main" id="{0A7C3EDC-043B-4F46-82C8-7CA3DCF79E24}"/>
                </a:ext>
              </a:extLst>
            </p:cNvPr>
            <p:cNvSpPr/>
            <p:nvPr/>
          </p:nvSpPr>
          <p:spPr>
            <a:xfrm>
              <a:off x="2514600" y="1485900"/>
              <a:ext cx="4191000" cy="609600"/>
            </a:xfrm>
            <a:prstGeom prst="flowChartAlternateProcess">
              <a:avLst/>
            </a:prstGeom>
            <a:solidFill>
              <a:schemeClr val="accent1">
                <a:alpha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lang="en-US" sz="2400" dirty="0"/>
                <a:t>Problem Identification</a:t>
              </a:r>
            </a:p>
            <a:p>
              <a:pPr algn="ctr"/>
              <a:endParaRPr lang="en-US" sz="2400" dirty="0"/>
            </a:p>
          </p:txBody>
        </p:sp>
        <p:sp>
          <p:nvSpPr>
            <p:cNvPr id="5" name="Flowchart: Alternate Process 4">
              <a:extLst>
                <a:ext uri="{FF2B5EF4-FFF2-40B4-BE49-F238E27FC236}">
                  <a16:creationId xmlns:a16="http://schemas.microsoft.com/office/drawing/2014/main" id="{71A89E26-89E0-4D52-B2E2-1EEF9B5E9B4D}"/>
                </a:ext>
              </a:extLst>
            </p:cNvPr>
            <p:cNvSpPr/>
            <p:nvPr/>
          </p:nvSpPr>
          <p:spPr>
            <a:xfrm>
              <a:off x="2514600" y="2362200"/>
              <a:ext cx="4191000" cy="838200"/>
            </a:xfrm>
            <a:prstGeom prst="flowChartAlternateProcess">
              <a:avLst/>
            </a:prstGeom>
            <a:solidFill>
              <a:schemeClr val="accent1">
                <a:alpha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lang="en-US" sz="2400" dirty="0"/>
                <a:t>Development of Mathematical Model</a:t>
              </a:r>
            </a:p>
            <a:p>
              <a:pPr algn="ctr"/>
              <a:endParaRPr lang="en-US" dirty="0"/>
            </a:p>
          </p:txBody>
        </p:sp>
        <p:sp>
          <p:nvSpPr>
            <p:cNvPr id="6" name="Flowchart: Alternate Process 5">
              <a:extLst>
                <a:ext uri="{FF2B5EF4-FFF2-40B4-BE49-F238E27FC236}">
                  <a16:creationId xmlns:a16="http://schemas.microsoft.com/office/drawing/2014/main" id="{81431CC8-FD26-445E-92E1-3F3E78C3FDE7}"/>
                </a:ext>
              </a:extLst>
            </p:cNvPr>
            <p:cNvSpPr/>
            <p:nvPr/>
          </p:nvSpPr>
          <p:spPr>
            <a:xfrm>
              <a:off x="2514600" y="3505200"/>
              <a:ext cx="4191000" cy="609600"/>
            </a:xfrm>
            <a:prstGeom prst="flowChartAlternateProcess">
              <a:avLst/>
            </a:prstGeom>
            <a:solidFill>
              <a:schemeClr val="accent1">
                <a:alpha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lang="en-US" sz="2400" dirty="0"/>
                <a:t>Solution of the Model</a:t>
              </a:r>
            </a:p>
            <a:p>
              <a:pPr algn="ctr"/>
              <a:endParaRPr lang="en-US" sz="2400" dirty="0"/>
            </a:p>
          </p:txBody>
        </p:sp>
        <p:sp>
          <p:nvSpPr>
            <p:cNvPr id="7" name="Flowchart: Alternate Process 6">
              <a:extLst>
                <a:ext uri="{FF2B5EF4-FFF2-40B4-BE49-F238E27FC236}">
                  <a16:creationId xmlns:a16="http://schemas.microsoft.com/office/drawing/2014/main" id="{D25A9D10-F702-4B0C-AAD4-449E14122125}"/>
                </a:ext>
              </a:extLst>
            </p:cNvPr>
            <p:cNvSpPr/>
            <p:nvPr/>
          </p:nvSpPr>
          <p:spPr>
            <a:xfrm>
              <a:off x="2514600" y="4495800"/>
              <a:ext cx="4191000" cy="914400"/>
            </a:xfrm>
            <a:prstGeom prst="flowChartAlternateProcess">
              <a:avLst/>
            </a:prstGeom>
            <a:solidFill>
              <a:schemeClr val="accent1">
                <a:alpha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lang="en-US" sz="2400" dirty="0"/>
                <a:t>Model Validation/ Sensitivity Analysis</a:t>
              </a:r>
            </a:p>
            <a:p>
              <a:pPr algn="ctr"/>
              <a:endParaRPr lang="en-US" sz="2400" dirty="0"/>
            </a:p>
          </p:txBody>
        </p:sp>
        <p:sp>
          <p:nvSpPr>
            <p:cNvPr id="8" name="Flowchart: Alternate Process 7">
              <a:extLst>
                <a:ext uri="{FF2B5EF4-FFF2-40B4-BE49-F238E27FC236}">
                  <a16:creationId xmlns:a16="http://schemas.microsoft.com/office/drawing/2014/main" id="{314F889E-6ED3-440C-A3D4-C4EF873B5EF8}"/>
                </a:ext>
              </a:extLst>
            </p:cNvPr>
            <p:cNvSpPr/>
            <p:nvPr/>
          </p:nvSpPr>
          <p:spPr>
            <a:xfrm>
              <a:off x="2514600" y="5715000"/>
              <a:ext cx="4191000" cy="609600"/>
            </a:xfrm>
            <a:prstGeom prst="flowChartAlternateProcess">
              <a:avLst/>
            </a:prstGeom>
            <a:solidFill>
              <a:schemeClr val="accent1">
                <a:alpha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lang="en-US" sz="2400" dirty="0"/>
                <a:t>Implementation</a:t>
              </a:r>
            </a:p>
            <a:p>
              <a:pPr algn="ctr"/>
              <a:endParaRPr lang="en-US" sz="2400" dirty="0"/>
            </a:p>
          </p:txBody>
        </p:sp>
        <p:cxnSp>
          <p:nvCxnSpPr>
            <p:cNvPr id="12" name="Straight Arrow Connector 11">
              <a:extLst>
                <a:ext uri="{FF2B5EF4-FFF2-40B4-BE49-F238E27FC236}">
                  <a16:creationId xmlns:a16="http://schemas.microsoft.com/office/drawing/2014/main" id="{57D67C35-D6E4-45C7-A839-EDF318D97302}"/>
                </a:ext>
              </a:extLst>
            </p:cNvPr>
            <p:cNvCxnSpPr>
              <a:stCxn id="4" idx="2"/>
              <a:endCxn id="5" idx="0"/>
            </p:cNvCxnSpPr>
            <p:nvPr/>
          </p:nvCxnSpPr>
          <p:spPr>
            <a:xfrm>
              <a:off x="4610100" y="2095500"/>
              <a:ext cx="0" cy="266700"/>
            </a:xfrm>
            <a:prstGeom prst="straightConnector1">
              <a:avLst/>
            </a:prstGeom>
            <a:ln w="12700">
              <a:tailEnd type="triangle" w="lg" len="lg"/>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DA913EAD-3EEC-4438-9063-37314F810AE3}"/>
                </a:ext>
              </a:extLst>
            </p:cNvPr>
            <p:cNvCxnSpPr>
              <a:stCxn id="5" idx="2"/>
              <a:endCxn id="6" idx="0"/>
            </p:cNvCxnSpPr>
            <p:nvPr/>
          </p:nvCxnSpPr>
          <p:spPr>
            <a:xfrm>
              <a:off x="4610100" y="3200400"/>
              <a:ext cx="0" cy="304800"/>
            </a:xfrm>
            <a:prstGeom prst="straightConnector1">
              <a:avLst/>
            </a:prstGeom>
            <a:ln w="12700">
              <a:tailEnd type="triangle" w="lg" len="lg"/>
            </a:ln>
          </p:spPr>
          <p:style>
            <a:lnRef idx="1">
              <a:schemeClr val="accent1"/>
            </a:lnRef>
            <a:fillRef idx="0">
              <a:schemeClr val="accent1"/>
            </a:fillRef>
            <a:effectRef idx="0">
              <a:schemeClr val="accent1"/>
            </a:effectRef>
            <a:fontRef idx="minor">
              <a:schemeClr val="tx1"/>
            </a:fontRef>
          </p:style>
        </p:cxnSp>
        <p:cxnSp>
          <p:nvCxnSpPr>
            <p:cNvPr id="16" name="Connector: Elbow 15">
              <a:extLst>
                <a:ext uri="{FF2B5EF4-FFF2-40B4-BE49-F238E27FC236}">
                  <a16:creationId xmlns:a16="http://schemas.microsoft.com/office/drawing/2014/main" id="{A9C2256A-8965-4836-88F4-ED284DCBBF87}"/>
                </a:ext>
              </a:extLst>
            </p:cNvPr>
            <p:cNvCxnSpPr>
              <a:stCxn id="6" idx="1"/>
              <a:endCxn id="5" idx="1"/>
            </p:cNvCxnSpPr>
            <p:nvPr/>
          </p:nvCxnSpPr>
          <p:spPr>
            <a:xfrm rot="10800000">
              <a:off x="2514600" y="2781300"/>
              <a:ext cx="12700" cy="1028700"/>
            </a:xfrm>
            <a:prstGeom prst="bentConnector3">
              <a:avLst>
                <a:gd name="adj1" fmla="val 1800000"/>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DA192819-9C30-4568-81E9-619FF40CA906}"/>
                </a:ext>
              </a:extLst>
            </p:cNvPr>
            <p:cNvCxnSpPr>
              <a:cxnSpLocks/>
              <a:stCxn id="6" idx="2"/>
              <a:endCxn id="7" idx="0"/>
            </p:cNvCxnSpPr>
            <p:nvPr/>
          </p:nvCxnSpPr>
          <p:spPr>
            <a:xfrm>
              <a:off x="4610100" y="4114800"/>
              <a:ext cx="0" cy="381000"/>
            </a:xfrm>
            <a:prstGeom prst="straightConnector1">
              <a:avLst/>
            </a:prstGeom>
            <a:ln w="12700">
              <a:tailEnd type="triangle" w="lg" len="lg"/>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A208F6DD-9555-42C2-BE67-0E1D7C85568C}"/>
                </a:ext>
              </a:extLst>
            </p:cNvPr>
            <p:cNvCxnSpPr/>
            <p:nvPr/>
          </p:nvCxnSpPr>
          <p:spPr>
            <a:xfrm>
              <a:off x="4588223" y="5410200"/>
              <a:ext cx="0" cy="304800"/>
            </a:xfrm>
            <a:prstGeom prst="straightConnector1">
              <a:avLst/>
            </a:prstGeom>
            <a:ln w="12700">
              <a:tailEnd type="triangle" w="lg" len="lg"/>
            </a:ln>
          </p:spPr>
          <p:style>
            <a:lnRef idx="1">
              <a:schemeClr val="accent1"/>
            </a:lnRef>
            <a:fillRef idx="0">
              <a:schemeClr val="accent1"/>
            </a:fillRef>
            <a:effectRef idx="0">
              <a:schemeClr val="accent1"/>
            </a:effectRef>
            <a:fontRef idx="minor">
              <a:schemeClr val="tx1"/>
            </a:fontRef>
          </p:style>
        </p:cxnSp>
        <p:cxnSp>
          <p:nvCxnSpPr>
            <p:cNvPr id="21" name="Connector: Elbow 20">
              <a:extLst>
                <a:ext uri="{FF2B5EF4-FFF2-40B4-BE49-F238E27FC236}">
                  <a16:creationId xmlns:a16="http://schemas.microsoft.com/office/drawing/2014/main" id="{63E22A27-1BCC-4D67-B1BD-44794FB4BA9B}"/>
                </a:ext>
              </a:extLst>
            </p:cNvPr>
            <p:cNvCxnSpPr>
              <a:stCxn id="7" idx="1"/>
              <a:endCxn id="5" idx="1"/>
            </p:cNvCxnSpPr>
            <p:nvPr/>
          </p:nvCxnSpPr>
          <p:spPr>
            <a:xfrm rot="10800000">
              <a:off x="2514600" y="2781300"/>
              <a:ext cx="12700" cy="2171700"/>
            </a:xfrm>
            <a:prstGeom prst="bentConnector3">
              <a:avLst>
                <a:gd name="adj1" fmla="val 5098063"/>
              </a:avLst>
            </a:prstGeom>
            <a:ln w="12700">
              <a:tailEnd type="triangle" w="lg" len="lg"/>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3102792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Linear Programming</a:t>
            </a:r>
          </a:p>
        </p:txBody>
      </p:sp>
      <p:sp>
        <p:nvSpPr>
          <p:cNvPr id="3" name="Content Placeholder 2"/>
          <p:cNvSpPr>
            <a:spLocks noGrp="1"/>
          </p:cNvSpPr>
          <p:nvPr>
            <p:ph idx="1"/>
          </p:nvPr>
        </p:nvSpPr>
        <p:spPr/>
        <p:txBody>
          <a:bodyPr>
            <a:normAutofit/>
          </a:bodyPr>
          <a:lstStyle/>
          <a:p>
            <a:r>
              <a:rPr lang="en-US" sz="2600" dirty="0"/>
              <a:t>LP is a mathematical modeling technique used for optimizing the use of limited resources. </a:t>
            </a:r>
          </a:p>
          <a:p>
            <a:r>
              <a:rPr lang="en-US" sz="2600" dirty="0"/>
              <a:t>Applications of LP can be found in military, industry, agriculture, transportation, economics, health systems, etc. </a:t>
            </a:r>
          </a:p>
          <a:p>
            <a:r>
              <a:rPr lang="en-US" sz="2600" dirty="0"/>
              <a:t>In 1947 George </a:t>
            </a:r>
            <a:r>
              <a:rPr lang="en-US" sz="2600" dirty="0" err="1"/>
              <a:t>Dantzig</a:t>
            </a:r>
            <a:r>
              <a:rPr lang="en-US" sz="2600" dirty="0"/>
              <a:t> developed an efficient method, the </a:t>
            </a:r>
            <a:r>
              <a:rPr lang="en-US" sz="2600" b="1" dirty="0"/>
              <a:t>SIMPLEX </a:t>
            </a:r>
            <a:r>
              <a:rPr lang="en-US" sz="2600" dirty="0"/>
              <a:t>Algorithm to solve LP problems. </a:t>
            </a:r>
          </a:p>
          <a:p>
            <a:r>
              <a:rPr lang="en-US" sz="2600" dirty="0"/>
              <a:t>LP involves heavy computations, hence in practice LP problems are solved with computer. </a:t>
            </a:r>
            <a:endParaRPr lang="tr-TR" sz="2600" dirty="0"/>
          </a:p>
          <a:p>
            <a:r>
              <a:rPr lang="tr-TR" sz="2600" dirty="0"/>
              <a:t>We will not be geting into mathematical details of solution techniques</a:t>
            </a:r>
            <a:endParaRPr lang="en-US" sz="2600" dirty="0"/>
          </a:p>
          <a:p>
            <a:endParaRPr lang="en-US" dirty="0"/>
          </a:p>
        </p:txBody>
      </p:sp>
      <p:sp>
        <p:nvSpPr>
          <p:cNvPr id="4" name="Footer Placeholder 3">
            <a:extLst>
              <a:ext uri="{FF2B5EF4-FFF2-40B4-BE49-F238E27FC236}">
                <a16:creationId xmlns:a16="http://schemas.microsoft.com/office/drawing/2014/main" id="{23B15ED6-B9DE-4B4C-B737-2E28B3D2B18E}"/>
              </a:ext>
            </a:extLst>
          </p:cNvPr>
          <p:cNvSpPr>
            <a:spLocks noGrp="1"/>
          </p:cNvSpPr>
          <p:nvPr>
            <p:ph type="ftr" sz="quarter" idx="11"/>
          </p:nvPr>
        </p:nvSpPr>
        <p:spPr/>
        <p:txBody>
          <a:bodyPr/>
          <a:lstStyle/>
          <a:p>
            <a:pPr>
              <a:defRPr/>
            </a:pPr>
            <a:r>
              <a:rPr lang="en-US" altLang="en-US"/>
              <a:t>ITU - Business Analytics - Mehmet Yasin Ulukuş</a:t>
            </a:r>
            <a:endParaRPr lang="en-US" altLang="en-US" i="0"/>
          </a:p>
        </p:txBody>
      </p:sp>
    </p:spTree>
    <p:extLst>
      <p:ext uri="{BB962C8B-B14F-4D97-AF65-F5344CB8AC3E}">
        <p14:creationId xmlns:p14="http://schemas.microsoft.com/office/powerpoint/2010/main" val="3874675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Linear Programming</a:t>
            </a:r>
          </a:p>
        </p:txBody>
      </p:sp>
      <p:sp>
        <p:nvSpPr>
          <p:cNvPr id="3" name="Content Placeholder 2"/>
          <p:cNvSpPr>
            <a:spLocks noGrp="1"/>
          </p:cNvSpPr>
          <p:nvPr>
            <p:ph idx="1"/>
          </p:nvPr>
        </p:nvSpPr>
        <p:spPr/>
        <p:txBody>
          <a:bodyPr/>
          <a:lstStyle/>
          <a:p>
            <a:r>
              <a:rPr lang="en-US" dirty="0"/>
              <a:t>Survey of Fortune 500 Firms </a:t>
            </a:r>
          </a:p>
          <a:p>
            <a:pPr marL="114300" indent="0">
              <a:buNone/>
            </a:pPr>
            <a:endParaRPr lang="en-US" dirty="0"/>
          </a:p>
        </p:txBody>
      </p:sp>
      <p:sp>
        <p:nvSpPr>
          <p:cNvPr id="5" name="Footer Placeholder 4">
            <a:extLst>
              <a:ext uri="{FF2B5EF4-FFF2-40B4-BE49-F238E27FC236}">
                <a16:creationId xmlns:a16="http://schemas.microsoft.com/office/drawing/2014/main" id="{54506101-D0E1-4B05-8433-55EF6BF9ABA5}"/>
              </a:ext>
            </a:extLst>
          </p:cNvPr>
          <p:cNvSpPr>
            <a:spLocks noGrp="1"/>
          </p:cNvSpPr>
          <p:nvPr>
            <p:ph type="ftr" sz="quarter" idx="11"/>
          </p:nvPr>
        </p:nvSpPr>
        <p:spPr/>
        <p:txBody>
          <a:bodyPr/>
          <a:lstStyle/>
          <a:p>
            <a:pPr>
              <a:defRPr/>
            </a:pPr>
            <a:r>
              <a:rPr lang="en-US" altLang="en-US"/>
              <a:t>ITU - Business Analytics - Mehmet Yasin Ulukuş</a:t>
            </a:r>
            <a:endParaRPr lang="en-US" altLang="en-US" i="0"/>
          </a:p>
        </p:txBody>
      </p:sp>
      <p:pic>
        <p:nvPicPr>
          <p:cNvPr id="4" name="Picture 3" descr="Screen Shot 2016-10-04 at 11.22.16 A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65861" y="2004546"/>
            <a:ext cx="5277078" cy="4396254"/>
          </a:xfrm>
          <a:prstGeom prst="rect">
            <a:avLst/>
          </a:prstGeom>
        </p:spPr>
      </p:pic>
    </p:spTree>
    <p:extLst>
      <p:ext uri="{BB962C8B-B14F-4D97-AF65-F5344CB8AC3E}">
        <p14:creationId xmlns:p14="http://schemas.microsoft.com/office/powerpoint/2010/main" val="170941517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indent="-342900">
              <a:defRPr/>
            </a:pPr>
            <a:r>
              <a:rPr lang="en-US" dirty="0"/>
              <a:t>Linear Programming Steps</a:t>
            </a:r>
          </a:p>
        </p:txBody>
      </p:sp>
      <p:sp>
        <p:nvSpPr>
          <p:cNvPr id="3" name="Content Placeholder 2"/>
          <p:cNvSpPr>
            <a:spLocks noGrp="1"/>
          </p:cNvSpPr>
          <p:nvPr>
            <p:ph idx="1"/>
          </p:nvPr>
        </p:nvSpPr>
        <p:spPr/>
        <p:txBody>
          <a:bodyPr/>
          <a:lstStyle/>
          <a:p>
            <a:pPr marL="925830" lvl="1" indent="-514350">
              <a:buFont typeface="+mj-lt"/>
              <a:buAutoNum type="arabicPeriod"/>
            </a:pPr>
            <a:r>
              <a:rPr lang="en-US" sz="2800" dirty="0"/>
              <a:t>Data collection (what you have already known)</a:t>
            </a:r>
          </a:p>
          <a:p>
            <a:pPr marL="925830" lvl="1" indent="-514350">
              <a:buFont typeface="+mj-lt"/>
              <a:buAutoNum type="arabicPeriod"/>
            </a:pPr>
            <a:r>
              <a:rPr lang="en-US" sz="2800" dirty="0"/>
              <a:t>Decision variables (What you want to know and can adjust)</a:t>
            </a:r>
          </a:p>
          <a:p>
            <a:pPr marL="925830" lvl="1" indent="-514350">
              <a:buFont typeface="+mj-lt"/>
              <a:buAutoNum type="arabicPeriod"/>
            </a:pPr>
            <a:r>
              <a:rPr lang="en-US" sz="2800" dirty="0"/>
              <a:t>Constraints (what you have to abide with)</a:t>
            </a:r>
          </a:p>
          <a:p>
            <a:pPr lvl="2"/>
            <a:r>
              <a:rPr lang="en-US" sz="2400" dirty="0"/>
              <a:t>Restrictions on decision variables</a:t>
            </a:r>
          </a:p>
          <a:p>
            <a:pPr lvl="2"/>
            <a:r>
              <a:rPr lang="en-US" sz="2400" dirty="0"/>
              <a:t>General Constraints</a:t>
            </a:r>
          </a:p>
          <a:p>
            <a:pPr marL="971550" lvl="1" indent="-514350">
              <a:buFont typeface="+mj-lt"/>
              <a:buAutoNum type="arabicPeriod"/>
            </a:pPr>
            <a:r>
              <a:rPr lang="en-US" sz="2800" dirty="0"/>
              <a:t>Objective (What you want to achieve)</a:t>
            </a:r>
          </a:p>
          <a:p>
            <a:pPr marL="457200" lvl="1" indent="0">
              <a:buNone/>
            </a:pPr>
            <a:endParaRPr lang="en-US" sz="2800" dirty="0"/>
          </a:p>
          <a:p>
            <a:pPr lvl="1"/>
            <a:r>
              <a:rPr lang="en-US" sz="2800" dirty="0"/>
              <a:t>We will show these components through examples</a:t>
            </a:r>
          </a:p>
          <a:p>
            <a:pPr marL="411480" lvl="1" indent="0">
              <a:buNone/>
            </a:pPr>
            <a:endParaRPr lang="en-US" dirty="0"/>
          </a:p>
          <a:p>
            <a:pPr marL="411480" lvl="1" indent="0">
              <a:buNone/>
            </a:pPr>
            <a:endParaRPr lang="en-US" dirty="0"/>
          </a:p>
          <a:p>
            <a:pPr marL="114300" indent="0">
              <a:buNone/>
            </a:pPr>
            <a:endParaRPr lang="en-US" dirty="0"/>
          </a:p>
        </p:txBody>
      </p:sp>
      <p:sp>
        <p:nvSpPr>
          <p:cNvPr id="4" name="Footer Placeholder 3">
            <a:extLst>
              <a:ext uri="{FF2B5EF4-FFF2-40B4-BE49-F238E27FC236}">
                <a16:creationId xmlns:a16="http://schemas.microsoft.com/office/drawing/2014/main" id="{F691CDA0-07B5-45A3-9F66-BB350C25CFAC}"/>
              </a:ext>
            </a:extLst>
          </p:cNvPr>
          <p:cNvSpPr>
            <a:spLocks noGrp="1"/>
          </p:cNvSpPr>
          <p:nvPr>
            <p:ph type="ftr" sz="quarter" idx="11"/>
          </p:nvPr>
        </p:nvSpPr>
        <p:spPr/>
        <p:txBody>
          <a:bodyPr/>
          <a:lstStyle/>
          <a:p>
            <a:pPr>
              <a:defRPr/>
            </a:pPr>
            <a:r>
              <a:rPr lang="en-US" altLang="en-US"/>
              <a:t>ITU - Business Analytics - Mehmet Yasin Ulukuş</a:t>
            </a:r>
            <a:endParaRPr lang="en-US" altLang="en-US" i="0"/>
          </a:p>
        </p:txBody>
      </p:sp>
    </p:spTree>
    <p:extLst>
      <p:ext uri="{BB962C8B-B14F-4D97-AF65-F5344CB8AC3E}">
        <p14:creationId xmlns:p14="http://schemas.microsoft.com/office/powerpoint/2010/main" val="182313660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Example 1</a:t>
            </a:r>
          </a:p>
        </p:txBody>
      </p:sp>
      <p:sp>
        <p:nvSpPr>
          <p:cNvPr id="3" name="Content Placeholder 2"/>
          <p:cNvSpPr>
            <a:spLocks noGrp="1"/>
          </p:cNvSpPr>
          <p:nvPr>
            <p:ph idx="1"/>
          </p:nvPr>
        </p:nvSpPr>
        <p:spPr/>
        <p:txBody>
          <a:bodyPr>
            <a:normAutofit/>
          </a:bodyPr>
          <a:lstStyle/>
          <a:p>
            <a:pPr marL="0" indent="0">
              <a:buNone/>
            </a:pPr>
            <a:r>
              <a:rPr lang="en-US" sz="2200" dirty="0"/>
              <a:t>Reddy </a:t>
            </a:r>
            <a:r>
              <a:rPr lang="en-US" sz="2200" dirty="0" err="1"/>
              <a:t>Mikks</a:t>
            </a:r>
            <a:r>
              <a:rPr lang="en-US" sz="2200" dirty="0"/>
              <a:t> produces both exterior and interior paints, which make profits of $5k and $4k per ton respectively (the selling price is $15k and $13k per ton). But these two products consume both raw materials 1 and 2, namely M1 and M2. Some data about consumption of raw materials are shown below, </a:t>
            </a:r>
            <a:endParaRPr lang="tr-TR" sz="2200" dirty="0"/>
          </a:p>
          <a:p>
            <a:pPr marL="0" indent="0">
              <a:buNone/>
            </a:pPr>
            <a:endParaRPr lang="tr-TR" sz="2200" dirty="0"/>
          </a:p>
          <a:p>
            <a:pPr marL="0" indent="0">
              <a:buNone/>
            </a:pPr>
            <a:endParaRPr lang="tr-TR" sz="2200" dirty="0"/>
          </a:p>
          <a:p>
            <a:pPr marL="0" indent="0">
              <a:buNone/>
            </a:pPr>
            <a:endParaRPr lang="tr-TR" sz="2200" dirty="0"/>
          </a:p>
          <a:p>
            <a:pPr marL="0" indent="0">
              <a:buNone/>
            </a:pPr>
            <a:endParaRPr lang="tr-TR" sz="2200" dirty="0"/>
          </a:p>
          <a:p>
            <a:pPr marL="0" indent="0">
              <a:buNone/>
            </a:pPr>
            <a:r>
              <a:rPr lang="en-US" sz="2400" dirty="0"/>
              <a:t>Also we know that the maximum daily demand of interior paint is 2 tons, and the daily demand of interior paint production can not exceed that of exterior paint by more than 1 ton. What is best product mix? </a:t>
            </a:r>
          </a:p>
          <a:p>
            <a:pPr marL="0" indent="0">
              <a:buNone/>
            </a:pPr>
            <a:endParaRPr lang="en-US" sz="2200" dirty="0"/>
          </a:p>
          <a:p>
            <a:pPr marL="0" indent="0">
              <a:buNone/>
            </a:pPr>
            <a:endParaRPr lang="en-US" sz="2200" dirty="0"/>
          </a:p>
        </p:txBody>
      </p:sp>
      <p:sp>
        <p:nvSpPr>
          <p:cNvPr id="4" name="Footer Placeholder 3">
            <a:extLst>
              <a:ext uri="{FF2B5EF4-FFF2-40B4-BE49-F238E27FC236}">
                <a16:creationId xmlns:a16="http://schemas.microsoft.com/office/drawing/2014/main" id="{689D34DC-CEF5-461F-AC1A-641E2D1F5F43}"/>
              </a:ext>
            </a:extLst>
          </p:cNvPr>
          <p:cNvSpPr>
            <a:spLocks noGrp="1"/>
          </p:cNvSpPr>
          <p:nvPr>
            <p:ph type="ftr" sz="quarter" idx="11"/>
          </p:nvPr>
        </p:nvSpPr>
        <p:spPr/>
        <p:txBody>
          <a:bodyPr/>
          <a:lstStyle/>
          <a:p>
            <a:pPr>
              <a:defRPr/>
            </a:pPr>
            <a:r>
              <a:rPr lang="en-US" altLang="en-US"/>
              <a:t>ITU - Business Analytics - Mehmet Yasin Ulukuş</a:t>
            </a:r>
            <a:endParaRPr lang="en-US" altLang="en-US" i="0"/>
          </a:p>
        </p:txBody>
      </p:sp>
      <p:graphicFrame>
        <p:nvGraphicFramePr>
          <p:cNvPr id="6" name="Table 5"/>
          <p:cNvGraphicFramePr>
            <a:graphicFrameLocks noGrp="1"/>
          </p:cNvGraphicFramePr>
          <p:nvPr>
            <p:extLst>
              <p:ext uri="{D42A27DB-BD31-4B8C-83A1-F6EECF244321}">
                <p14:modId xmlns:p14="http://schemas.microsoft.com/office/powerpoint/2010/main" val="883825506"/>
              </p:ext>
            </p:extLst>
          </p:nvPr>
        </p:nvGraphicFramePr>
        <p:xfrm>
          <a:off x="1936750" y="2790825"/>
          <a:ext cx="8128000" cy="1478280"/>
        </p:xfrm>
        <a:graphic>
          <a:graphicData uri="http://schemas.openxmlformats.org/drawingml/2006/table">
            <a:tbl>
              <a:tblPr firstRow="1" bandRow="1">
                <a:tableStyleId>{9D7B26C5-4107-4FEC-AEDC-1716B250A1EF}</a:tableStyleId>
              </a:tblPr>
              <a:tblGrid>
                <a:gridCol w="2032000">
                  <a:extLst>
                    <a:ext uri="{9D8B030D-6E8A-4147-A177-3AD203B41FA5}">
                      <a16:colId xmlns:a16="http://schemas.microsoft.com/office/drawing/2014/main" val="3512361424"/>
                    </a:ext>
                  </a:extLst>
                </a:gridCol>
                <a:gridCol w="2032000">
                  <a:extLst>
                    <a:ext uri="{9D8B030D-6E8A-4147-A177-3AD203B41FA5}">
                      <a16:colId xmlns:a16="http://schemas.microsoft.com/office/drawing/2014/main" val="3691490533"/>
                    </a:ext>
                  </a:extLst>
                </a:gridCol>
                <a:gridCol w="2032000">
                  <a:extLst>
                    <a:ext uri="{9D8B030D-6E8A-4147-A177-3AD203B41FA5}">
                      <a16:colId xmlns:a16="http://schemas.microsoft.com/office/drawing/2014/main" val="1848545568"/>
                    </a:ext>
                  </a:extLst>
                </a:gridCol>
                <a:gridCol w="2032000">
                  <a:extLst>
                    <a:ext uri="{9D8B030D-6E8A-4147-A177-3AD203B41FA5}">
                      <a16:colId xmlns:a16="http://schemas.microsoft.com/office/drawing/2014/main" val="309144701"/>
                    </a:ext>
                  </a:extLst>
                </a:gridCol>
              </a:tblGrid>
              <a:tr h="284491">
                <a:tc>
                  <a:txBody>
                    <a:bodyPr/>
                    <a:lstStyle/>
                    <a:p>
                      <a:pPr algn="ctr"/>
                      <a:endParaRPr lang="en-US" dirty="0"/>
                    </a:p>
                  </a:txBody>
                  <a:tcPr/>
                </a:tc>
                <a:tc gridSpan="2">
                  <a:txBody>
                    <a:bodyPr/>
                    <a:lstStyle/>
                    <a:p>
                      <a:pPr algn="ctr"/>
                      <a:r>
                        <a:rPr lang="tr-TR" dirty="0"/>
                        <a:t>Tons of raw material per ton of</a:t>
                      </a:r>
                      <a:endParaRPr lang="en-US" dirty="0"/>
                    </a:p>
                  </a:txBody>
                  <a:tcPr/>
                </a:tc>
                <a:tc hMerge="1">
                  <a:txBody>
                    <a:bodyPr/>
                    <a:lstStyle/>
                    <a:p>
                      <a:endParaRPr lang="en-US" dirty="0"/>
                    </a:p>
                  </a:txBody>
                  <a:tcPr/>
                </a:tc>
                <a:tc rowSpan="2">
                  <a:txBody>
                    <a:bodyPr/>
                    <a:lstStyle/>
                    <a:p>
                      <a:pPr algn="ctr"/>
                      <a:r>
                        <a:rPr lang="tr-TR" dirty="0"/>
                        <a:t>Maximum daily availability</a:t>
                      </a:r>
                      <a:r>
                        <a:rPr lang="tr-TR" baseline="0" dirty="0"/>
                        <a:t> (tons)</a:t>
                      </a:r>
                      <a:endParaRPr lang="en-US" dirty="0"/>
                    </a:p>
                  </a:txBody>
                  <a:tcPr/>
                </a:tc>
                <a:extLst>
                  <a:ext uri="{0D108BD9-81ED-4DB2-BD59-A6C34878D82A}">
                    <a16:rowId xmlns:a16="http://schemas.microsoft.com/office/drawing/2014/main" val="2821944465"/>
                  </a:ext>
                </a:extLst>
              </a:tr>
              <a:tr h="370840">
                <a:tc>
                  <a:txBody>
                    <a:bodyPr/>
                    <a:lstStyle/>
                    <a:p>
                      <a:pPr algn="ctr"/>
                      <a:endParaRPr lang="en-US" dirty="0"/>
                    </a:p>
                  </a:txBody>
                  <a:tcPr/>
                </a:tc>
                <a:tc>
                  <a:txBody>
                    <a:bodyPr/>
                    <a:lstStyle/>
                    <a:p>
                      <a:pPr algn="ctr"/>
                      <a:r>
                        <a:rPr lang="tr-TR" dirty="0"/>
                        <a:t>Exterior paint</a:t>
                      </a:r>
                      <a:endParaRPr lang="en-US" dirty="0"/>
                    </a:p>
                  </a:txBody>
                  <a:tcPr/>
                </a:tc>
                <a:tc>
                  <a:txBody>
                    <a:bodyPr/>
                    <a:lstStyle/>
                    <a:p>
                      <a:pPr algn="ctr"/>
                      <a:r>
                        <a:rPr lang="tr-TR" dirty="0"/>
                        <a:t>Interior paint</a:t>
                      </a:r>
                      <a:endParaRPr lang="en-US" dirty="0"/>
                    </a:p>
                  </a:txBody>
                  <a:tcPr/>
                </a:tc>
                <a:tc vMerge="1">
                  <a:txBody>
                    <a:bodyPr/>
                    <a:lstStyle/>
                    <a:p>
                      <a:endParaRPr lang="en-US" dirty="0"/>
                    </a:p>
                  </a:txBody>
                  <a:tcPr/>
                </a:tc>
                <a:extLst>
                  <a:ext uri="{0D108BD9-81ED-4DB2-BD59-A6C34878D82A}">
                    <a16:rowId xmlns:a16="http://schemas.microsoft.com/office/drawing/2014/main" val="3810696010"/>
                  </a:ext>
                </a:extLst>
              </a:tr>
              <a:tr h="370840">
                <a:tc>
                  <a:txBody>
                    <a:bodyPr/>
                    <a:lstStyle/>
                    <a:p>
                      <a:pPr algn="ctr"/>
                      <a:r>
                        <a:rPr lang="tr-TR" dirty="0"/>
                        <a:t>M1</a:t>
                      </a:r>
                      <a:endParaRPr lang="en-US" dirty="0"/>
                    </a:p>
                  </a:txBody>
                  <a:tcPr/>
                </a:tc>
                <a:tc>
                  <a:txBody>
                    <a:bodyPr/>
                    <a:lstStyle/>
                    <a:p>
                      <a:pPr algn="ctr"/>
                      <a:r>
                        <a:rPr lang="tr-TR" dirty="0"/>
                        <a:t>6</a:t>
                      </a:r>
                      <a:endParaRPr lang="en-US" dirty="0"/>
                    </a:p>
                  </a:txBody>
                  <a:tcPr/>
                </a:tc>
                <a:tc>
                  <a:txBody>
                    <a:bodyPr/>
                    <a:lstStyle/>
                    <a:p>
                      <a:pPr algn="ctr"/>
                      <a:r>
                        <a:rPr lang="tr-TR" dirty="0"/>
                        <a:t>4</a:t>
                      </a:r>
                      <a:endParaRPr lang="en-US" dirty="0"/>
                    </a:p>
                  </a:txBody>
                  <a:tcPr/>
                </a:tc>
                <a:tc>
                  <a:txBody>
                    <a:bodyPr/>
                    <a:lstStyle/>
                    <a:p>
                      <a:pPr algn="ctr"/>
                      <a:r>
                        <a:rPr lang="tr-TR" dirty="0"/>
                        <a:t>24</a:t>
                      </a:r>
                      <a:endParaRPr lang="en-US" dirty="0"/>
                    </a:p>
                  </a:txBody>
                  <a:tcPr/>
                </a:tc>
                <a:extLst>
                  <a:ext uri="{0D108BD9-81ED-4DB2-BD59-A6C34878D82A}">
                    <a16:rowId xmlns:a16="http://schemas.microsoft.com/office/drawing/2014/main" val="1120007794"/>
                  </a:ext>
                </a:extLst>
              </a:tr>
              <a:tr h="370840">
                <a:tc>
                  <a:txBody>
                    <a:bodyPr/>
                    <a:lstStyle/>
                    <a:p>
                      <a:pPr algn="ctr"/>
                      <a:r>
                        <a:rPr lang="tr-TR" dirty="0"/>
                        <a:t>M2</a:t>
                      </a:r>
                      <a:endParaRPr lang="en-US" dirty="0"/>
                    </a:p>
                  </a:txBody>
                  <a:tcPr/>
                </a:tc>
                <a:tc>
                  <a:txBody>
                    <a:bodyPr/>
                    <a:lstStyle/>
                    <a:p>
                      <a:pPr algn="ctr"/>
                      <a:r>
                        <a:rPr lang="tr-TR" dirty="0"/>
                        <a:t>1</a:t>
                      </a:r>
                      <a:endParaRPr lang="en-US" dirty="0"/>
                    </a:p>
                  </a:txBody>
                  <a:tcPr/>
                </a:tc>
                <a:tc>
                  <a:txBody>
                    <a:bodyPr/>
                    <a:lstStyle/>
                    <a:p>
                      <a:pPr algn="ctr"/>
                      <a:r>
                        <a:rPr lang="tr-TR" dirty="0"/>
                        <a:t>2</a:t>
                      </a:r>
                      <a:endParaRPr lang="en-US" dirty="0"/>
                    </a:p>
                  </a:txBody>
                  <a:tcPr/>
                </a:tc>
                <a:tc>
                  <a:txBody>
                    <a:bodyPr/>
                    <a:lstStyle/>
                    <a:p>
                      <a:pPr algn="ctr"/>
                      <a:r>
                        <a:rPr lang="tr-TR" dirty="0"/>
                        <a:t>6</a:t>
                      </a:r>
                      <a:endParaRPr lang="en-US" dirty="0"/>
                    </a:p>
                  </a:txBody>
                  <a:tcPr/>
                </a:tc>
                <a:extLst>
                  <a:ext uri="{0D108BD9-81ED-4DB2-BD59-A6C34878D82A}">
                    <a16:rowId xmlns:a16="http://schemas.microsoft.com/office/drawing/2014/main" val="1328996383"/>
                  </a:ext>
                </a:extLst>
              </a:tr>
            </a:tbl>
          </a:graphicData>
        </a:graphic>
      </p:graphicFrame>
    </p:spTree>
    <p:extLst>
      <p:ext uri="{BB962C8B-B14F-4D97-AF65-F5344CB8AC3E}">
        <p14:creationId xmlns:p14="http://schemas.microsoft.com/office/powerpoint/2010/main" val="323613807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Identifying Objective</a:t>
            </a:r>
          </a:p>
        </p:txBody>
      </p:sp>
      <p:sp>
        <p:nvSpPr>
          <p:cNvPr id="3" name="Content Placeholder 2"/>
          <p:cNvSpPr>
            <a:spLocks noGrp="1"/>
          </p:cNvSpPr>
          <p:nvPr>
            <p:ph idx="1"/>
          </p:nvPr>
        </p:nvSpPr>
        <p:spPr/>
        <p:txBody>
          <a:bodyPr/>
          <a:lstStyle/>
          <a:p>
            <a:r>
              <a:rPr lang="en-US" sz="3200" dirty="0"/>
              <a:t>What is the best product mix? </a:t>
            </a:r>
          </a:p>
          <a:p>
            <a:r>
              <a:rPr lang="en-US" sz="3200" dirty="0"/>
              <a:t>What is your goal/objective in this problem? </a:t>
            </a:r>
          </a:p>
          <a:p>
            <a:pPr lvl="1"/>
            <a:r>
              <a:rPr lang="en-US" sz="3200" dirty="0"/>
              <a:t>Maximize your profit? </a:t>
            </a:r>
          </a:p>
          <a:p>
            <a:pPr marL="114300" indent="0">
              <a:buNone/>
            </a:pPr>
            <a:endParaRPr lang="en-US" sz="3200" dirty="0"/>
          </a:p>
          <a:p>
            <a:r>
              <a:rPr lang="en-US" sz="3200" dirty="0"/>
              <a:t>We need to define our objective. </a:t>
            </a:r>
          </a:p>
          <a:p>
            <a:r>
              <a:rPr lang="en-US" sz="3200" b="1" dirty="0"/>
              <a:t>Maximize the total profit for the company</a:t>
            </a:r>
            <a:r>
              <a:rPr lang="en-US" dirty="0"/>
              <a:t>. </a:t>
            </a:r>
          </a:p>
          <a:p>
            <a:pPr marL="114300" indent="0">
              <a:buNone/>
            </a:pPr>
            <a:endParaRPr lang="en-US" dirty="0"/>
          </a:p>
        </p:txBody>
      </p:sp>
      <p:sp>
        <p:nvSpPr>
          <p:cNvPr id="4" name="Footer Placeholder 3">
            <a:extLst>
              <a:ext uri="{FF2B5EF4-FFF2-40B4-BE49-F238E27FC236}">
                <a16:creationId xmlns:a16="http://schemas.microsoft.com/office/drawing/2014/main" id="{1D372D9E-216C-4EBC-B759-3EC56092F30A}"/>
              </a:ext>
            </a:extLst>
          </p:cNvPr>
          <p:cNvSpPr>
            <a:spLocks noGrp="1"/>
          </p:cNvSpPr>
          <p:nvPr>
            <p:ph type="ftr" sz="quarter" idx="11"/>
          </p:nvPr>
        </p:nvSpPr>
        <p:spPr/>
        <p:txBody>
          <a:bodyPr/>
          <a:lstStyle/>
          <a:p>
            <a:pPr>
              <a:defRPr/>
            </a:pPr>
            <a:r>
              <a:rPr lang="en-US" altLang="en-US"/>
              <a:t>ITU - Business Analytics - Mehmet Yasin Ulukuş</a:t>
            </a:r>
            <a:endParaRPr lang="en-US" altLang="en-US" i="0"/>
          </a:p>
        </p:txBody>
      </p:sp>
    </p:spTree>
    <p:extLst>
      <p:ext uri="{BB962C8B-B14F-4D97-AF65-F5344CB8AC3E}">
        <p14:creationId xmlns:p14="http://schemas.microsoft.com/office/powerpoint/2010/main" val="270244630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Decision Variables</a:t>
            </a:r>
          </a:p>
        </p:txBody>
      </p:sp>
      <p:sp>
        <p:nvSpPr>
          <p:cNvPr id="3" name="Content Placeholder 2"/>
          <p:cNvSpPr>
            <a:spLocks noGrp="1"/>
          </p:cNvSpPr>
          <p:nvPr>
            <p:ph idx="1"/>
          </p:nvPr>
        </p:nvSpPr>
        <p:spPr/>
        <p:txBody>
          <a:bodyPr>
            <a:normAutofit/>
          </a:bodyPr>
          <a:lstStyle/>
          <a:p>
            <a:r>
              <a:rPr lang="en-US" dirty="0"/>
              <a:t>After defining the objective/goal, we need to ask how to achieve that. </a:t>
            </a:r>
          </a:p>
          <a:p>
            <a:r>
              <a:rPr lang="en-US" dirty="0"/>
              <a:t>We need to find out what we can maneuver/control </a:t>
            </a:r>
          </a:p>
          <a:p>
            <a:r>
              <a:rPr lang="en-US" dirty="0"/>
              <a:t>What is the best product mix? </a:t>
            </a:r>
          </a:p>
          <a:p>
            <a:r>
              <a:rPr lang="en-US" dirty="0"/>
              <a:t>We can control the daily production amounts of exterior and interior paints. </a:t>
            </a:r>
          </a:p>
          <a:p>
            <a:r>
              <a:rPr lang="en-US" dirty="0"/>
              <a:t>We need to be quantitative: </a:t>
            </a:r>
          </a:p>
          <a:p>
            <a:pPr lvl="1"/>
            <a:r>
              <a:rPr lang="en-US" sz="2800" dirty="0"/>
              <a:t>𝒙</a:t>
            </a:r>
            <a:r>
              <a:rPr lang="en-US" sz="2800" baseline="-25000" dirty="0"/>
              <a:t>𝟏</a:t>
            </a:r>
            <a:r>
              <a:rPr lang="en-US" sz="2800" b="1" dirty="0"/>
              <a:t>: daily production of exterior paint </a:t>
            </a:r>
            <a:endParaRPr lang="en-US" sz="2800" dirty="0"/>
          </a:p>
          <a:p>
            <a:pPr lvl="1"/>
            <a:r>
              <a:rPr lang="en-US" sz="2800" dirty="0"/>
              <a:t>𝒙</a:t>
            </a:r>
            <a:r>
              <a:rPr lang="en-US" sz="2800" baseline="-25000" dirty="0"/>
              <a:t>𝟐</a:t>
            </a:r>
            <a:r>
              <a:rPr lang="en-US" sz="2800" b="1" dirty="0"/>
              <a:t>: daily production of interior paint </a:t>
            </a:r>
            <a:endParaRPr lang="en-US" sz="2800" dirty="0"/>
          </a:p>
          <a:p>
            <a:pPr lvl="1"/>
            <a:r>
              <a:rPr lang="en-US" sz="2800" dirty="0"/>
              <a:t>Both of them are nonnegative and continuous variables </a:t>
            </a:r>
          </a:p>
          <a:p>
            <a:pPr marL="114300" indent="0">
              <a:buNone/>
            </a:pPr>
            <a:endParaRPr lang="en-US" dirty="0"/>
          </a:p>
        </p:txBody>
      </p:sp>
      <p:sp>
        <p:nvSpPr>
          <p:cNvPr id="4" name="Footer Placeholder 3">
            <a:extLst>
              <a:ext uri="{FF2B5EF4-FFF2-40B4-BE49-F238E27FC236}">
                <a16:creationId xmlns:a16="http://schemas.microsoft.com/office/drawing/2014/main" id="{7BF826D4-8A76-4C5A-A0B1-62FBA97BD905}"/>
              </a:ext>
            </a:extLst>
          </p:cNvPr>
          <p:cNvSpPr>
            <a:spLocks noGrp="1"/>
          </p:cNvSpPr>
          <p:nvPr>
            <p:ph type="ftr" sz="quarter" idx="11"/>
          </p:nvPr>
        </p:nvSpPr>
        <p:spPr/>
        <p:txBody>
          <a:bodyPr/>
          <a:lstStyle/>
          <a:p>
            <a:pPr>
              <a:defRPr/>
            </a:pPr>
            <a:r>
              <a:rPr lang="en-US" altLang="en-US"/>
              <a:t>ITU - Business Analytics - Mehmet Yasin Ulukuş</a:t>
            </a:r>
            <a:endParaRPr lang="en-US" altLang="en-US" i="0"/>
          </a:p>
        </p:txBody>
      </p:sp>
    </p:spTree>
    <p:extLst>
      <p:ext uri="{BB962C8B-B14F-4D97-AF65-F5344CB8AC3E}">
        <p14:creationId xmlns:p14="http://schemas.microsoft.com/office/powerpoint/2010/main" val="167889374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Be a “law abiding citizen”</a:t>
            </a:r>
          </a:p>
        </p:txBody>
      </p:sp>
      <p:sp>
        <p:nvSpPr>
          <p:cNvPr id="3" name="Content Placeholder 2"/>
          <p:cNvSpPr>
            <a:spLocks noGrp="1"/>
          </p:cNvSpPr>
          <p:nvPr>
            <p:ph idx="1"/>
          </p:nvPr>
        </p:nvSpPr>
        <p:spPr/>
        <p:txBody>
          <a:bodyPr/>
          <a:lstStyle/>
          <a:p>
            <a:r>
              <a:rPr lang="en-US" sz="3200" dirty="0"/>
              <a:t>The are rules or restrictions everywhere</a:t>
            </a:r>
          </a:p>
          <a:p>
            <a:r>
              <a:rPr lang="en-US" sz="3200" dirty="0"/>
              <a:t>A realistic model need to be realistic or “law abiding”</a:t>
            </a:r>
          </a:p>
          <a:p>
            <a:r>
              <a:rPr lang="en-US" sz="3200" dirty="0"/>
              <a:t>So what are restrictions/constraints? </a:t>
            </a:r>
          </a:p>
          <a:p>
            <a:pPr lvl="1"/>
            <a:r>
              <a:rPr lang="en-US" sz="3200" dirty="0"/>
              <a:t>Raw material usage limits. </a:t>
            </a:r>
          </a:p>
          <a:p>
            <a:pPr lvl="1"/>
            <a:r>
              <a:rPr lang="en-US" sz="3200" dirty="0"/>
              <a:t>Demand limits. </a:t>
            </a:r>
          </a:p>
          <a:p>
            <a:pPr lvl="1"/>
            <a:r>
              <a:rPr lang="en-US" sz="3200" dirty="0"/>
              <a:t>Others? </a:t>
            </a:r>
          </a:p>
          <a:p>
            <a:pPr marL="114300" indent="0">
              <a:buNone/>
            </a:pPr>
            <a:endParaRPr lang="en-US" dirty="0"/>
          </a:p>
          <a:p>
            <a:endParaRPr lang="en-US" dirty="0"/>
          </a:p>
          <a:p>
            <a:endParaRPr lang="en-US" dirty="0"/>
          </a:p>
          <a:p>
            <a:endParaRPr lang="en-US" dirty="0"/>
          </a:p>
        </p:txBody>
      </p:sp>
      <p:sp>
        <p:nvSpPr>
          <p:cNvPr id="4" name="Footer Placeholder 3">
            <a:extLst>
              <a:ext uri="{FF2B5EF4-FFF2-40B4-BE49-F238E27FC236}">
                <a16:creationId xmlns:a16="http://schemas.microsoft.com/office/drawing/2014/main" id="{79D5C1CD-DB59-4A45-9A6B-0E6D310B3D83}"/>
              </a:ext>
            </a:extLst>
          </p:cNvPr>
          <p:cNvSpPr>
            <a:spLocks noGrp="1"/>
          </p:cNvSpPr>
          <p:nvPr>
            <p:ph type="ftr" sz="quarter" idx="11"/>
          </p:nvPr>
        </p:nvSpPr>
        <p:spPr/>
        <p:txBody>
          <a:bodyPr/>
          <a:lstStyle/>
          <a:p>
            <a:pPr>
              <a:defRPr/>
            </a:pPr>
            <a:r>
              <a:rPr lang="en-US" altLang="en-US"/>
              <a:t>ITU - Business Analytics - Mehmet Yasin Ulukuş</a:t>
            </a:r>
            <a:endParaRPr lang="en-US" altLang="en-US" i="0"/>
          </a:p>
        </p:txBody>
      </p:sp>
    </p:spTree>
    <p:extLst>
      <p:ext uri="{BB962C8B-B14F-4D97-AF65-F5344CB8AC3E}">
        <p14:creationId xmlns:p14="http://schemas.microsoft.com/office/powerpoint/2010/main" val="43007648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Constraints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en-US" dirty="0"/>
                  <a:t>Raw material usage limits </a:t>
                </a:r>
              </a:p>
              <a:p>
                <a:pPr marL="411480" lvl="1" indent="0">
                  <a:buNone/>
                </a:pPr>
                <a:r>
                  <a:rPr lang="en-US" sz="2800" dirty="0">
                    <a:solidFill>
                      <a:srgbClr val="FF0000"/>
                    </a:solidFill>
                  </a:rPr>
                  <a:t>1) </a:t>
                </a:r>
                <a:r>
                  <a:rPr lang="en-US" sz="2800" dirty="0"/>
                  <a:t>How much raw material 1 will be used, if you decide to have a production mix of </a:t>
                </a:r>
                <a14:m>
                  <m:oMath xmlns:m="http://schemas.openxmlformats.org/officeDocument/2006/math">
                    <m:sSub>
                      <m:sSubPr>
                        <m:ctrlPr>
                          <a:rPr lang="tr-TR" sz="2800" b="0" i="1" dirty="0" smtClean="0">
                            <a:latin typeface="Cambria Math" panose="02040503050406030204" pitchFamily="18" charset="0"/>
                          </a:rPr>
                        </m:ctrlPr>
                      </m:sSubPr>
                      <m:e>
                        <m:r>
                          <a:rPr lang="en-US" sz="2800" i="1" dirty="0" smtClean="0">
                            <a:latin typeface="Cambria Math" panose="02040503050406030204" pitchFamily="18" charset="0"/>
                          </a:rPr>
                          <m:t>𝑥</m:t>
                        </m:r>
                      </m:e>
                      <m:sub>
                        <m:r>
                          <a:rPr lang="en-US" sz="2800" i="1" dirty="0" smtClean="0">
                            <a:latin typeface="Cambria Math" panose="02040503050406030204" pitchFamily="18" charset="0"/>
                          </a:rPr>
                          <m:t>1</m:t>
                        </m:r>
                      </m:sub>
                    </m:sSub>
                  </m:oMath>
                </a14:m>
                <a:r>
                  <a:rPr lang="en-US" sz="2800" dirty="0"/>
                  <a:t> tons exterior paint and </a:t>
                </a:r>
                <a14:m>
                  <m:oMath xmlns:m="http://schemas.openxmlformats.org/officeDocument/2006/math">
                    <m:sSub>
                      <m:sSubPr>
                        <m:ctrlPr>
                          <a:rPr lang="tr-TR" sz="2800" b="0" i="1" dirty="0" smtClean="0">
                            <a:latin typeface="Cambria Math" panose="02040503050406030204" pitchFamily="18" charset="0"/>
                          </a:rPr>
                        </m:ctrlPr>
                      </m:sSubPr>
                      <m:e>
                        <m:r>
                          <a:rPr lang="en-US" sz="2800" i="1" dirty="0" smtClean="0">
                            <a:latin typeface="Cambria Math" panose="02040503050406030204" pitchFamily="18" charset="0"/>
                          </a:rPr>
                          <m:t>𝑥</m:t>
                        </m:r>
                      </m:e>
                      <m:sub>
                        <m:r>
                          <a:rPr lang="en-US" sz="2800" i="1" dirty="0" smtClean="0">
                            <a:latin typeface="Cambria Math" panose="02040503050406030204" pitchFamily="18" charset="0"/>
                          </a:rPr>
                          <m:t>2</m:t>
                        </m:r>
                      </m:sub>
                    </m:sSub>
                  </m:oMath>
                </a14:m>
                <a:r>
                  <a:rPr lang="en-US" sz="2800" dirty="0"/>
                  <a:t> tons interior paint?</a:t>
                </a:r>
                <a:endParaRPr lang="tr-TR" sz="2800" i="1" dirty="0">
                  <a:solidFill>
                    <a:srgbClr val="FF0000"/>
                  </a:solidFill>
                  <a:latin typeface="Cambria Math" panose="02040503050406030204" pitchFamily="18" charset="0"/>
                </a:endParaRPr>
              </a:p>
              <a:p>
                <a:pPr marL="411480" lvl="1" indent="0">
                  <a:buNone/>
                </a:pPr>
                <a14:m>
                  <m:oMathPara xmlns:m="http://schemas.openxmlformats.org/officeDocument/2006/math">
                    <m:oMathParaPr>
                      <m:jc m:val="centerGroup"/>
                    </m:oMathParaPr>
                    <m:oMath xmlns:m="http://schemas.openxmlformats.org/officeDocument/2006/math">
                      <m:r>
                        <a:rPr lang="en-US" sz="2800" i="1" dirty="0" smtClean="0">
                          <a:solidFill>
                            <a:srgbClr val="FF0000"/>
                          </a:solidFill>
                          <a:latin typeface="Cambria Math" panose="02040503050406030204" pitchFamily="18" charset="0"/>
                        </a:rPr>
                        <m:t>6</m:t>
                      </m:r>
                      <m:sSub>
                        <m:sSubPr>
                          <m:ctrlPr>
                            <a:rPr lang="tr-TR" sz="2800" b="0" i="1" dirty="0" smtClean="0">
                              <a:solidFill>
                                <a:srgbClr val="FF0000"/>
                              </a:solidFill>
                              <a:latin typeface="Cambria Math" panose="02040503050406030204" pitchFamily="18" charset="0"/>
                            </a:rPr>
                          </m:ctrlPr>
                        </m:sSubPr>
                        <m:e>
                          <m:r>
                            <a:rPr lang="fr-FR" sz="2800" i="1" dirty="0">
                              <a:solidFill>
                                <a:srgbClr val="FF0000"/>
                              </a:solidFill>
                              <a:latin typeface="Cambria Math" panose="02040503050406030204" pitchFamily="18" charset="0"/>
                            </a:rPr>
                            <m:t>𝒙</m:t>
                          </m:r>
                        </m:e>
                        <m:sub>
                          <m:r>
                            <a:rPr lang="tr-TR" sz="2800" b="0" i="1" dirty="0" smtClean="0">
                              <a:solidFill>
                                <a:srgbClr val="FF0000"/>
                              </a:solidFill>
                              <a:latin typeface="Cambria Math" panose="02040503050406030204" pitchFamily="18" charset="0"/>
                            </a:rPr>
                            <m:t>1</m:t>
                          </m:r>
                        </m:sub>
                      </m:sSub>
                      <m:r>
                        <a:rPr lang="tr-TR" sz="2800" b="0" i="1" dirty="0" smtClean="0">
                          <a:solidFill>
                            <a:srgbClr val="FF0000"/>
                          </a:solidFill>
                          <a:latin typeface="Cambria Math" panose="02040503050406030204" pitchFamily="18" charset="0"/>
                        </a:rPr>
                        <m:t>+</m:t>
                      </m:r>
                      <m:r>
                        <a:rPr lang="en-US" sz="2800" i="1" dirty="0">
                          <a:solidFill>
                            <a:srgbClr val="FF0000"/>
                          </a:solidFill>
                          <a:latin typeface="Cambria Math" panose="02040503050406030204" pitchFamily="18" charset="0"/>
                        </a:rPr>
                        <m:t>4</m:t>
                      </m:r>
                      <m:sSub>
                        <m:sSubPr>
                          <m:ctrlPr>
                            <a:rPr lang="tr-TR" sz="2800" b="0" i="1" dirty="0" smtClean="0">
                              <a:solidFill>
                                <a:srgbClr val="FF0000"/>
                              </a:solidFill>
                              <a:latin typeface="Cambria Math" panose="02040503050406030204" pitchFamily="18" charset="0"/>
                            </a:rPr>
                          </m:ctrlPr>
                        </m:sSubPr>
                        <m:e>
                          <m:r>
                            <a:rPr lang="fr-FR" sz="2800" i="1" dirty="0">
                              <a:solidFill>
                                <a:srgbClr val="FF0000"/>
                              </a:solidFill>
                              <a:latin typeface="Cambria Math" panose="02040503050406030204" pitchFamily="18" charset="0"/>
                            </a:rPr>
                            <m:t>𝒙</m:t>
                          </m:r>
                        </m:e>
                        <m:sub>
                          <m:r>
                            <a:rPr lang="tr-TR" sz="2800" b="0" i="1" dirty="0" smtClean="0">
                              <a:solidFill>
                                <a:srgbClr val="FF0000"/>
                              </a:solidFill>
                              <a:latin typeface="Cambria Math" panose="02040503050406030204" pitchFamily="18" charset="0"/>
                            </a:rPr>
                            <m:t>2</m:t>
                          </m:r>
                        </m:sub>
                      </m:sSub>
                    </m:oMath>
                  </m:oMathPara>
                </a14:m>
                <a:endParaRPr lang="en-US" sz="2800" dirty="0">
                  <a:solidFill>
                    <a:srgbClr val="FF0000"/>
                  </a:solidFill>
                </a:endParaRPr>
              </a:p>
              <a:p>
                <a:pPr marL="411480" lvl="1" indent="0">
                  <a:buNone/>
                </a:pPr>
                <a:r>
                  <a:rPr lang="en-US" sz="2800" dirty="0"/>
                  <a:t>which should be less than the limits of 2</a:t>
                </a:r>
                <a:r>
                  <a:rPr lang="tr-TR" sz="2800" dirty="0"/>
                  <a:t>4</a:t>
                </a:r>
                <a:r>
                  <a:rPr lang="en-US" sz="2800" dirty="0"/>
                  <a:t> tons. The constraint then is:</a:t>
                </a:r>
                <a:endParaRPr lang="tr-TR" sz="2800" dirty="0"/>
              </a:p>
              <a:p>
                <a:pPr marL="411480" lvl="1" indent="0">
                  <a:buNone/>
                </a:pPr>
                <a14:m>
                  <m:oMathPara xmlns:m="http://schemas.openxmlformats.org/officeDocument/2006/math">
                    <m:oMathParaPr>
                      <m:jc m:val="centerGroup"/>
                    </m:oMathParaPr>
                    <m:oMath xmlns:m="http://schemas.openxmlformats.org/officeDocument/2006/math">
                      <m:r>
                        <a:rPr lang="en-US" sz="2800" i="1" dirty="0">
                          <a:solidFill>
                            <a:srgbClr val="FF0000"/>
                          </a:solidFill>
                          <a:latin typeface="Cambria Math" panose="02040503050406030204" pitchFamily="18" charset="0"/>
                        </a:rPr>
                        <m:t>6</m:t>
                      </m:r>
                      <m:sSub>
                        <m:sSubPr>
                          <m:ctrlPr>
                            <a:rPr lang="tr-TR" sz="2800" i="1" dirty="0">
                              <a:solidFill>
                                <a:srgbClr val="FF0000"/>
                              </a:solidFill>
                              <a:latin typeface="Cambria Math" panose="02040503050406030204" pitchFamily="18" charset="0"/>
                            </a:rPr>
                          </m:ctrlPr>
                        </m:sSubPr>
                        <m:e>
                          <m:r>
                            <a:rPr lang="fr-FR" sz="2800" i="1" dirty="0">
                              <a:solidFill>
                                <a:srgbClr val="FF0000"/>
                              </a:solidFill>
                              <a:latin typeface="Cambria Math" panose="02040503050406030204" pitchFamily="18" charset="0"/>
                            </a:rPr>
                            <m:t>𝒙</m:t>
                          </m:r>
                        </m:e>
                        <m:sub>
                          <m:r>
                            <a:rPr lang="tr-TR" sz="2800" i="1" dirty="0">
                              <a:solidFill>
                                <a:srgbClr val="FF0000"/>
                              </a:solidFill>
                              <a:latin typeface="Cambria Math" panose="02040503050406030204" pitchFamily="18" charset="0"/>
                            </a:rPr>
                            <m:t>1</m:t>
                          </m:r>
                        </m:sub>
                      </m:sSub>
                      <m:r>
                        <a:rPr lang="tr-TR" sz="2800" i="1" dirty="0">
                          <a:solidFill>
                            <a:srgbClr val="FF0000"/>
                          </a:solidFill>
                          <a:latin typeface="Cambria Math" panose="02040503050406030204" pitchFamily="18" charset="0"/>
                        </a:rPr>
                        <m:t>+</m:t>
                      </m:r>
                      <m:r>
                        <a:rPr lang="en-US" sz="2800" i="1" dirty="0">
                          <a:solidFill>
                            <a:srgbClr val="FF0000"/>
                          </a:solidFill>
                          <a:latin typeface="Cambria Math" panose="02040503050406030204" pitchFamily="18" charset="0"/>
                        </a:rPr>
                        <m:t>4</m:t>
                      </m:r>
                      <m:sSub>
                        <m:sSubPr>
                          <m:ctrlPr>
                            <a:rPr lang="tr-TR" sz="2800" i="1" dirty="0">
                              <a:solidFill>
                                <a:srgbClr val="FF0000"/>
                              </a:solidFill>
                              <a:latin typeface="Cambria Math" panose="02040503050406030204" pitchFamily="18" charset="0"/>
                            </a:rPr>
                          </m:ctrlPr>
                        </m:sSubPr>
                        <m:e>
                          <m:r>
                            <a:rPr lang="fr-FR" sz="2800" i="1" dirty="0">
                              <a:solidFill>
                                <a:srgbClr val="FF0000"/>
                              </a:solidFill>
                              <a:latin typeface="Cambria Math" panose="02040503050406030204" pitchFamily="18" charset="0"/>
                            </a:rPr>
                            <m:t>𝒙</m:t>
                          </m:r>
                        </m:e>
                        <m:sub>
                          <m:r>
                            <a:rPr lang="tr-TR" sz="2800" i="1" dirty="0">
                              <a:solidFill>
                                <a:srgbClr val="FF0000"/>
                              </a:solidFill>
                              <a:latin typeface="Cambria Math" panose="02040503050406030204" pitchFamily="18" charset="0"/>
                            </a:rPr>
                            <m:t>2</m:t>
                          </m:r>
                        </m:sub>
                      </m:sSub>
                      <m:r>
                        <a:rPr lang="tr-TR" sz="2800" b="0" i="1" dirty="0" smtClean="0">
                          <a:solidFill>
                            <a:srgbClr val="FF0000"/>
                          </a:solidFill>
                          <a:latin typeface="Cambria Math" panose="02040503050406030204" pitchFamily="18" charset="0"/>
                        </a:rPr>
                        <m:t>≤24</m:t>
                      </m:r>
                    </m:oMath>
                  </m:oMathPara>
                </a14:m>
                <a:endParaRPr lang="en-US" sz="2800" dirty="0">
                  <a:solidFill>
                    <a:srgbClr val="FF0000"/>
                  </a:solidFill>
                </a:endParaRPr>
              </a:p>
              <a:p>
                <a:pPr marL="411480" lvl="1" indent="0">
                  <a:buNone/>
                </a:pPr>
                <a:r>
                  <a:rPr lang="en-US" sz="2800" dirty="0">
                    <a:solidFill>
                      <a:srgbClr val="FF0000"/>
                    </a:solidFill>
                  </a:rPr>
                  <a:t>2) </a:t>
                </a:r>
                <a:r>
                  <a:rPr lang="en-US" sz="2800" dirty="0"/>
                  <a:t>Similarly, constraint on raw material 2 will be as follows,</a:t>
                </a:r>
                <a:endParaRPr lang="tr-TR" sz="2800" dirty="0"/>
              </a:p>
              <a:p>
                <a:pPr marL="411480" lvl="1" indent="0">
                  <a:buNone/>
                </a:pPr>
                <a14:m>
                  <m:oMathPara xmlns:m="http://schemas.openxmlformats.org/officeDocument/2006/math">
                    <m:oMathParaPr>
                      <m:jc m:val="centerGroup"/>
                    </m:oMathParaPr>
                    <m:oMath xmlns:m="http://schemas.openxmlformats.org/officeDocument/2006/math">
                      <m:sSub>
                        <m:sSubPr>
                          <m:ctrlPr>
                            <a:rPr lang="tr-TR" sz="2800" i="1" dirty="0">
                              <a:solidFill>
                                <a:srgbClr val="FF0000"/>
                              </a:solidFill>
                              <a:latin typeface="Cambria Math" panose="02040503050406030204" pitchFamily="18" charset="0"/>
                            </a:rPr>
                          </m:ctrlPr>
                        </m:sSubPr>
                        <m:e>
                          <m:r>
                            <a:rPr lang="fr-FR" sz="2800" i="1" dirty="0">
                              <a:solidFill>
                                <a:srgbClr val="FF0000"/>
                              </a:solidFill>
                              <a:latin typeface="Cambria Math" panose="02040503050406030204" pitchFamily="18" charset="0"/>
                            </a:rPr>
                            <m:t>𝒙</m:t>
                          </m:r>
                        </m:e>
                        <m:sub>
                          <m:r>
                            <a:rPr lang="tr-TR" sz="2800" i="1" dirty="0">
                              <a:solidFill>
                                <a:srgbClr val="FF0000"/>
                              </a:solidFill>
                              <a:latin typeface="Cambria Math" panose="02040503050406030204" pitchFamily="18" charset="0"/>
                            </a:rPr>
                            <m:t>1</m:t>
                          </m:r>
                        </m:sub>
                      </m:sSub>
                      <m:r>
                        <a:rPr lang="tr-TR" sz="2800" i="1" dirty="0">
                          <a:solidFill>
                            <a:srgbClr val="FF0000"/>
                          </a:solidFill>
                          <a:latin typeface="Cambria Math" panose="02040503050406030204" pitchFamily="18" charset="0"/>
                        </a:rPr>
                        <m:t>+</m:t>
                      </m:r>
                      <m:r>
                        <a:rPr lang="tr-TR" sz="2800" b="0" i="1" dirty="0" smtClean="0">
                          <a:solidFill>
                            <a:srgbClr val="FF0000"/>
                          </a:solidFill>
                          <a:latin typeface="Cambria Math" panose="02040503050406030204" pitchFamily="18" charset="0"/>
                        </a:rPr>
                        <m:t>2</m:t>
                      </m:r>
                      <m:sSub>
                        <m:sSubPr>
                          <m:ctrlPr>
                            <a:rPr lang="tr-TR" sz="2800" i="1" dirty="0">
                              <a:solidFill>
                                <a:srgbClr val="FF0000"/>
                              </a:solidFill>
                              <a:latin typeface="Cambria Math" panose="02040503050406030204" pitchFamily="18" charset="0"/>
                            </a:rPr>
                          </m:ctrlPr>
                        </m:sSubPr>
                        <m:e>
                          <m:r>
                            <a:rPr lang="fr-FR" sz="2800" i="1" dirty="0">
                              <a:solidFill>
                                <a:srgbClr val="FF0000"/>
                              </a:solidFill>
                              <a:latin typeface="Cambria Math" panose="02040503050406030204" pitchFamily="18" charset="0"/>
                            </a:rPr>
                            <m:t>𝒙</m:t>
                          </m:r>
                        </m:e>
                        <m:sub>
                          <m:r>
                            <a:rPr lang="tr-TR" sz="2800" i="1" dirty="0">
                              <a:solidFill>
                                <a:srgbClr val="FF0000"/>
                              </a:solidFill>
                              <a:latin typeface="Cambria Math" panose="02040503050406030204" pitchFamily="18" charset="0"/>
                            </a:rPr>
                            <m:t>2</m:t>
                          </m:r>
                        </m:sub>
                      </m:sSub>
                      <m:r>
                        <a:rPr lang="tr-TR" sz="2800" b="0" i="1" dirty="0" smtClean="0">
                          <a:solidFill>
                            <a:srgbClr val="FF0000"/>
                          </a:solidFill>
                          <a:latin typeface="Cambria Math" panose="02040503050406030204" pitchFamily="18" charset="0"/>
                        </a:rPr>
                        <m:t>≤6</m:t>
                      </m:r>
                    </m:oMath>
                  </m:oMathPara>
                </a14:m>
                <a:endParaRPr lang="en-US" sz="2800" dirty="0"/>
              </a:p>
              <a:p>
                <a:pPr marL="411480" lvl="1" indent="0">
                  <a:buNone/>
                </a:pP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3"/>
                <a:stretch>
                  <a:fillRect l="-1043" t="-2107"/>
                </a:stretch>
              </a:blipFill>
            </p:spPr>
            <p:txBody>
              <a:bodyPr/>
              <a:lstStyle/>
              <a:p>
                <a:r>
                  <a:rPr lang="en-US">
                    <a:noFill/>
                  </a:rPr>
                  <a:t> </a:t>
                </a:r>
              </a:p>
            </p:txBody>
          </p:sp>
        </mc:Fallback>
      </mc:AlternateContent>
      <p:sp>
        <p:nvSpPr>
          <p:cNvPr id="4" name="Footer Placeholder 3">
            <a:extLst>
              <a:ext uri="{FF2B5EF4-FFF2-40B4-BE49-F238E27FC236}">
                <a16:creationId xmlns:a16="http://schemas.microsoft.com/office/drawing/2014/main" id="{9C8A7B73-2EFE-4831-9A5E-7F5EDE154AC6}"/>
              </a:ext>
            </a:extLst>
          </p:cNvPr>
          <p:cNvSpPr>
            <a:spLocks noGrp="1"/>
          </p:cNvSpPr>
          <p:nvPr>
            <p:ph type="ftr" sz="quarter" idx="11"/>
          </p:nvPr>
        </p:nvSpPr>
        <p:spPr/>
        <p:txBody>
          <a:bodyPr/>
          <a:lstStyle/>
          <a:p>
            <a:pPr>
              <a:defRPr/>
            </a:pPr>
            <a:r>
              <a:rPr lang="en-US" altLang="en-US"/>
              <a:t>ITU - Business Analytics - Mehmet Yasin Ulukuş</a:t>
            </a:r>
            <a:endParaRPr lang="en-US" altLang="en-US" i="0"/>
          </a:p>
        </p:txBody>
      </p:sp>
    </p:spTree>
    <p:extLst>
      <p:ext uri="{BB962C8B-B14F-4D97-AF65-F5344CB8AC3E}">
        <p14:creationId xmlns:p14="http://schemas.microsoft.com/office/powerpoint/2010/main" val="93681242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Constraints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Autofit/>
              </a:bodyPr>
              <a:lstStyle/>
              <a:p>
                <a:pPr marL="457200" indent="-342900"/>
                <a:r>
                  <a:rPr lang="en-US" sz="2400" dirty="0"/>
                  <a:t>Demand limit / production limit</a:t>
                </a:r>
              </a:p>
              <a:p>
                <a:pPr marL="114300" indent="0">
                  <a:buNone/>
                </a:pPr>
                <a:r>
                  <a:rPr lang="en-US" sz="2400" dirty="0"/>
                  <a:t>	Assuming there is not inventory in this case. We have </a:t>
                </a:r>
                <a:r>
                  <a:rPr lang="tr-TR" sz="2400" dirty="0"/>
                  <a:t>to </a:t>
                </a:r>
                <a:r>
                  <a:rPr lang="en-US" sz="2400" dirty="0"/>
                  <a:t>sell what we produce. The daily production of interior paint should be less or equal to the daily demand of it. Then we have the following constraint, </a:t>
                </a:r>
                <a:endParaRPr lang="tr-TR" sz="2400" dirty="0"/>
              </a:p>
              <a:p>
                <a:pPr marL="114300" indent="0">
                  <a:buNone/>
                </a:pPr>
                <a14:m>
                  <m:oMathPara xmlns:m="http://schemas.openxmlformats.org/officeDocument/2006/math">
                    <m:oMathParaPr>
                      <m:jc m:val="centerGroup"/>
                    </m:oMathParaPr>
                    <m:oMath xmlns:m="http://schemas.openxmlformats.org/officeDocument/2006/math">
                      <m:sSub>
                        <m:sSubPr>
                          <m:ctrlPr>
                            <a:rPr lang="tr-TR" i="1">
                              <a:solidFill>
                                <a:srgbClr val="FF0000"/>
                              </a:solidFill>
                              <a:latin typeface="Cambria Math" panose="02040503050406030204" pitchFamily="18" charset="0"/>
                            </a:rPr>
                          </m:ctrlPr>
                        </m:sSubPr>
                        <m:e>
                          <m:r>
                            <a:rPr lang="tr-TR" i="1">
                              <a:solidFill>
                                <a:srgbClr val="FF0000"/>
                              </a:solidFill>
                              <a:latin typeface="Cambria Math" panose="02040503050406030204" pitchFamily="18" charset="0"/>
                            </a:rPr>
                            <m:t>𝑥</m:t>
                          </m:r>
                        </m:e>
                        <m:sub>
                          <m:r>
                            <a:rPr lang="tr-TR" i="1">
                              <a:solidFill>
                                <a:srgbClr val="FF0000"/>
                              </a:solidFill>
                              <a:latin typeface="Cambria Math" panose="02040503050406030204" pitchFamily="18" charset="0"/>
                            </a:rPr>
                            <m:t>2</m:t>
                          </m:r>
                        </m:sub>
                      </m:sSub>
                      <m:r>
                        <a:rPr lang="tr-TR" i="1">
                          <a:solidFill>
                            <a:srgbClr val="FF0000"/>
                          </a:solidFill>
                          <a:latin typeface="Cambria Math" panose="02040503050406030204" pitchFamily="18" charset="0"/>
                        </a:rPr>
                        <m:t>≤2</m:t>
                      </m:r>
                    </m:oMath>
                  </m:oMathPara>
                </a14:m>
                <a:endParaRPr lang="en-US" i="1" dirty="0">
                  <a:solidFill>
                    <a:srgbClr val="FF0000"/>
                  </a:solidFill>
                  <a:latin typeface="Cambria Math" panose="02040503050406030204" pitchFamily="18" charset="0"/>
                </a:endParaRPr>
              </a:p>
              <a:p>
                <a:pPr marL="457200" indent="-342900"/>
                <a:r>
                  <a:rPr lang="en-US" sz="2400" dirty="0"/>
                  <a:t>Other constraint: The daily demand of interior paint can not exceed that of exterior paint by more than 1 ton </a:t>
                </a:r>
                <a:endParaRPr lang="tr-TR" sz="2400" dirty="0"/>
              </a:p>
              <a:p>
                <a:pPr marL="114300" indent="0">
                  <a:buNone/>
                </a:pPr>
                <a14:m>
                  <m:oMathPara xmlns:m="http://schemas.openxmlformats.org/officeDocument/2006/math">
                    <m:oMathParaPr>
                      <m:jc m:val="centerGroup"/>
                    </m:oMathParaPr>
                    <m:oMath xmlns:m="http://schemas.openxmlformats.org/officeDocument/2006/math">
                      <m:sSub>
                        <m:sSubPr>
                          <m:ctrlPr>
                            <a:rPr lang="tr-TR" i="1">
                              <a:solidFill>
                                <a:srgbClr val="FF0000"/>
                              </a:solidFill>
                              <a:latin typeface="Cambria Math" panose="02040503050406030204" pitchFamily="18" charset="0"/>
                            </a:rPr>
                          </m:ctrlPr>
                        </m:sSubPr>
                        <m:e>
                          <m:r>
                            <a:rPr lang="tr-TR" i="1">
                              <a:solidFill>
                                <a:srgbClr val="FF0000"/>
                              </a:solidFill>
                              <a:latin typeface="Cambria Math" panose="02040503050406030204" pitchFamily="18" charset="0"/>
                            </a:rPr>
                            <m:t>𝑥</m:t>
                          </m:r>
                        </m:e>
                        <m:sub>
                          <m:r>
                            <a:rPr lang="tr-TR" i="1">
                              <a:solidFill>
                                <a:srgbClr val="FF0000"/>
                              </a:solidFill>
                              <a:latin typeface="Cambria Math" panose="02040503050406030204" pitchFamily="18" charset="0"/>
                            </a:rPr>
                            <m:t>2</m:t>
                          </m:r>
                        </m:sub>
                      </m:sSub>
                      <m:r>
                        <a:rPr lang="tr-TR" i="1">
                          <a:solidFill>
                            <a:srgbClr val="FF0000"/>
                          </a:solidFill>
                          <a:latin typeface="Cambria Math" panose="02040503050406030204" pitchFamily="18" charset="0"/>
                        </a:rPr>
                        <m:t>≤</m:t>
                      </m:r>
                      <m:sSub>
                        <m:sSubPr>
                          <m:ctrlPr>
                            <a:rPr lang="tr-TR" i="1">
                              <a:solidFill>
                                <a:srgbClr val="FF0000"/>
                              </a:solidFill>
                              <a:latin typeface="Cambria Math" panose="02040503050406030204" pitchFamily="18" charset="0"/>
                            </a:rPr>
                          </m:ctrlPr>
                        </m:sSubPr>
                        <m:e>
                          <m:r>
                            <m:rPr>
                              <m:sty m:val="p"/>
                            </m:rPr>
                            <a:rPr lang="tr-TR" i="1">
                              <a:solidFill>
                                <a:srgbClr val="FF0000"/>
                              </a:solidFill>
                              <a:latin typeface="Cambria Math" panose="02040503050406030204" pitchFamily="18" charset="0"/>
                            </a:rPr>
                            <m:t>x</m:t>
                          </m:r>
                        </m:e>
                        <m:sub>
                          <m:r>
                            <a:rPr lang="tr-TR" i="1">
                              <a:solidFill>
                                <a:srgbClr val="FF0000"/>
                              </a:solidFill>
                              <a:latin typeface="Cambria Math" panose="02040503050406030204" pitchFamily="18" charset="0"/>
                            </a:rPr>
                            <m:t>1</m:t>
                          </m:r>
                        </m:sub>
                      </m:sSub>
                      <m:r>
                        <a:rPr lang="tr-TR" i="1">
                          <a:solidFill>
                            <a:srgbClr val="FF0000"/>
                          </a:solidFill>
                          <a:latin typeface="Cambria Math" panose="02040503050406030204" pitchFamily="18" charset="0"/>
                        </a:rPr>
                        <m:t>+1</m:t>
                      </m:r>
                    </m:oMath>
                  </m:oMathPara>
                </a14:m>
                <a:endParaRPr lang="en-US" i="1" dirty="0">
                  <a:solidFill>
                    <a:srgbClr val="FF0000"/>
                  </a:solidFill>
                  <a:latin typeface="Cambria Math" panose="02040503050406030204" pitchFamily="18" charset="0"/>
                </a:endParaRPr>
              </a:p>
              <a:p>
                <a:pPr marL="457200" indent="-342900"/>
                <a:r>
                  <a:rPr lang="en-US" sz="2400" dirty="0"/>
                  <a:t>Remember the decision variables are nonnegative</a:t>
                </a:r>
                <a:endParaRPr lang="tr-TR" sz="2400" dirty="0"/>
              </a:p>
              <a:p>
                <a:pPr marL="114300" indent="0">
                  <a:buNone/>
                </a:pPr>
                <a14:m>
                  <m:oMathPara xmlns:m="http://schemas.openxmlformats.org/officeDocument/2006/math">
                    <m:oMathParaPr>
                      <m:jc m:val="centerGroup"/>
                    </m:oMathParaPr>
                    <m:oMath xmlns:m="http://schemas.openxmlformats.org/officeDocument/2006/math">
                      <m:sSub>
                        <m:sSubPr>
                          <m:ctrlPr>
                            <a:rPr lang="tr-TR" sz="2400" i="1">
                              <a:solidFill>
                                <a:srgbClr val="FF0000"/>
                              </a:solidFill>
                              <a:latin typeface="Cambria Math" panose="02040503050406030204" pitchFamily="18" charset="0"/>
                            </a:rPr>
                          </m:ctrlPr>
                        </m:sSubPr>
                        <m:e>
                          <m:r>
                            <a:rPr lang="tr-TR" sz="2400" i="1">
                              <a:solidFill>
                                <a:srgbClr val="FF0000"/>
                              </a:solidFill>
                              <a:latin typeface="Cambria Math" panose="02040503050406030204" pitchFamily="18" charset="0"/>
                            </a:rPr>
                            <m:t>𝑥</m:t>
                          </m:r>
                        </m:e>
                        <m:sub>
                          <m:r>
                            <a:rPr lang="tr-TR" sz="2400" b="0" i="1" smtClean="0">
                              <a:solidFill>
                                <a:srgbClr val="FF0000"/>
                              </a:solidFill>
                              <a:latin typeface="Cambria Math" panose="02040503050406030204" pitchFamily="18" charset="0"/>
                            </a:rPr>
                            <m:t>1</m:t>
                          </m:r>
                        </m:sub>
                      </m:sSub>
                      <m:r>
                        <a:rPr lang="tr-TR" sz="2400" b="0" i="1" smtClean="0">
                          <a:solidFill>
                            <a:srgbClr val="FF0000"/>
                          </a:solidFill>
                          <a:latin typeface="Cambria Math" panose="02040503050406030204" pitchFamily="18" charset="0"/>
                        </a:rPr>
                        <m:t>≥0,</m:t>
                      </m:r>
                      <m:sSub>
                        <m:sSubPr>
                          <m:ctrlPr>
                            <a:rPr lang="tr-TR" sz="2400" b="0" i="1" smtClean="0">
                              <a:solidFill>
                                <a:srgbClr val="FF0000"/>
                              </a:solidFill>
                              <a:latin typeface="Cambria Math" panose="02040503050406030204" pitchFamily="18" charset="0"/>
                            </a:rPr>
                          </m:ctrlPr>
                        </m:sSubPr>
                        <m:e>
                          <m:r>
                            <a:rPr lang="tr-TR" sz="2400" b="0" i="1" smtClean="0">
                              <a:solidFill>
                                <a:srgbClr val="FF0000"/>
                              </a:solidFill>
                              <a:latin typeface="Cambria Math" panose="02040503050406030204" pitchFamily="18" charset="0"/>
                            </a:rPr>
                            <m:t>𝑥</m:t>
                          </m:r>
                        </m:e>
                        <m:sub>
                          <m:r>
                            <a:rPr lang="tr-TR" sz="2400" b="0" i="1" smtClean="0">
                              <a:solidFill>
                                <a:srgbClr val="FF0000"/>
                              </a:solidFill>
                              <a:latin typeface="Cambria Math" panose="02040503050406030204" pitchFamily="18" charset="0"/>
                            </a:rPr>
                            <m:t>2</m:t>
                          </m:r>
                        </m:sub>
                      </m:sSub>
                      <m:r>
                        <a:rPr lang="tr-TR" sz="2400" b="0" i="1" smtClean="0">
                          <a:solidFill>
                            <a:srgbClr val="FF0000"/>
                          </a:solidFill>
                          <a:latin typeface="Cambria Math" panose="02040503050406030204" pitchFamily="18" charset="0"/>
                        </a:rPr>
                        <m:t>≥0</m:t>
                      </m:r>
                    </m:oMath>
                  </m:oMathPara>
                </a14:m>
                <a:endParaRPr lang="en-US" sz="2400" i="1" dirty="0">
                  <a:solidFill>
                    <a:srgbClr val="FF0000"/>
                  </a:solidFill>
                  <a:latin typeface="Cambria Math" panose="020405030504060302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t="-1735" r="-348"/>
                </a:stretch>
              </a:blipFill>
            </p:spPr>
            <p:txBody>
              <a:bodyPr/>
              <a:lstStyle/>
              <a:p>
                <a:r>
                  <a:rPr lang="en-US">
                    <a:noFill/>
                  </a:rPr>
                  <a:t> </a:t>
                </a:r>
              </a:p>
            </p:txBody>
          </p:sp>
        </mc:Fallback>
      </mc:AlternateContent>
      <p:sp>
        <p:nvSpPr>
          <p:cNvPr id="4" name="Footer Placeholder 3">
            <a:extLst>
              <a:ext uri="{FF2B5EF4-FFF2-40B4-BE49-F238E27FC236}">
                <a16:creationId xmlns:a16="http://schemas.microsoft.com/office/drawing/2014/main" id="{79203A6B-EE16-4EC5-8814-169F17AB8C85}"/>
              </a:ext>
            </a:extLst>
          </p:cNvPr>
          <p:cNvSpPr>
            <a:spLocks noGrp="1"/>
          </p:cNvSpPr>
          <p:nvPr>
            <p:ph type="ftr" sz="quarter" idx="11"/>
          </p:nvPr>
        </p:nvSpPr>
        <p:spPr/>
        <p:txBody>
          <a:bodyPr/>
          <a:lstStyle/>
          <a:p>
            <a:pPr>
              <a:defRPr/>
            </a:pPr>
            <a:r>
              <a:rPr lang="en-US" altLang="en-US"/>
              <a:t>ITU - Business Analytics - Mehmet Yasin Ulukuş</a:t>
            </a:r>
            <a:endParaRPr lang="en-US" altLang="en-US" i="0"/>
          </a:p>
        </p:txBody>
      </p:sp>
    </p:spTree>
    <p:extLst>
      <p:ext uri="{BB962C8B-B14F-4D97-AF65-F5344CB8AC3E}">
        <p14:creationId xmlns:p14="http://schemas.microsoft.com/office/powerpoint/2010/main" val="165761192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Objective Function</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en-US" sz="3200" dirty="0"/>
                  <a:t>As we have defined that our goal to maximize the total profit </a:t>
                </a:r>
              </a:p>
              <a:p>
                <a:r>
                  <a:rPr lang="en-US" sz="3200" dirty="0"/>
                  <a:t>We now need to quantify what is the total profit, which is the objective function: </a:t>
                </a:r>
              </a:p>
              <a:p>
                <a:pPr marL="114300" indent="0">
                  <a:buNone/>
                </a:pPr>
                <a14:m>
                  <m:oMathPara xmlns:m="http://schemas.openxmlformats.org/officeDocument/2006/math">
                    <m:oMathParaPr>
                      <m:jc m:val="centerGroup"/>
                    </m:oMathParaPr>
                    <m:oMath xmlns:m="http://schemas.openxmlformats.org/officeDocument/2006/math">
                      <m:r>
                        <a:rPr lang="tr-TR" sz="4000" b="1" i="0" smtClean="0">
                          <a:solidFill>
                            <a:srgbClr val="FF0000"/>
                          </a:solidFill>
                          <a:latin typeface="Cambria Math" panose="02040503050406030204" pitchFamily="18" charset="0"/>
                        </a:rPr>
                        <m:t>𝐳</m:t>
                      </m:r>
                      <m:r>
                        <a:rPr lang="tr-TR" sz="4000" b="1" i="0" smtClean="0">
                          <a:solidFill>
                            <a:srgbClr val="FF0000"/>
                          </a:solidFill>
                          <a:latin typeface="Cambria Math" panose="02040503050406030204" pitchFamily="18" charset="0"/>
                        </a:rPr>
                        <m:t>=5</m:t>
                      </m:r>
                      <m:sSub>
                        <m:sSubPr>
                          <m:ctrlPr>
                            <a:rPr lang="tr-TR" sz="4000" b="1" i="1">
                              <a:solidFill>
                                <a:srgbClr val="FF0000"/>
                              </a:solidFill>
                              <a:latin typeface="Cambria Math" panose="02040503050406030204" pitchFamily="18" charset="0"/>
                            </a:rPr>
                          </m:ctrlPr>
                        </m:sSubPr>
                        <m:e>
                          <m:r>
                            <a:rPr lang="tr-TR" sz="4000" b="1">
                              <a:solidFill>
                                <a:srgbClr val="FF0000"/>
                              </a:solidFill>
                              <a:latin typeface="Cambria Math" panose="02040503050406030204" pitchFamily="18" charset="0"/>
                            </a:rPr>
                            <m:t>𝑥</m:t>
                          </m:r>
                        </m:e>
                        <m:sub>
                          <m:r>
                            <a:rPr lang="tr-TR" sz="4000" b="1">
                              <a:solidFill>
                                <a:srgbClr val="FF0000"/>
                              </a:solidFill>
                              <a:latin typeface="Cambria Math" panose="02040503050406030204" pitchFamily="18" charset="0"/>
                            </a:rPr>
                            <m:t>1</m:t>
                          </m:r>
                        </m:sub>
                      </m:sSub>
                      <m:r>
                        <a:rPr lang="tr-TR" sz="4000" b="1">
                          <a:solidFill>
                            <a:srgbClr val="FF0000"/>
                          </a:solidFill>
                          <a:latin typeface="Cambria Math" panose="02040503050406030204" pitchFamily="18" charset="0"/>
                        </a:rPr>
                        <m:t>+4</m:t>
                      </m:r>
                      <m:sSub>
                        <m:sSubPr>
                          <m:ctrlPr>
                            <a:rPr lang="tr-TR" sz="4000" b="1" i="1">
                              <a:solidFill>
                                <a:srgbClr val="FF0000"/>
                              </a:solidFill>
                              <a:latin typeface="Cambria Math" panose="02040503050406030204" pitchFamily="18" charset="0"/>
                            </a:rPr>
                          </m:ctrlPr>
                        </m:sSubPr>
                        <m:e>
                          <m:r>
                            <a:rPr lang="tr-TR" sz="4000" b="1">
                              <a:solidFill>
                                <a:srgbClr val="FF0000"/>
                              </a:solidFill>
                              <a:latin typeface="Cambria Math" panose="02040503050406030204" pitchFamily="18" charset="0"/>
                            </a:rPr>
                            <m:t>𝑥</m:t>
                          </m:r>
                        </m:e>
                        <m:sub>
                          <m:r>
                            <a:rPr lang="tr-TR" sz="4000" b="1">
                              <a:solidFill>
                                <a:srgbClr val="FF0000"/>
                              </a:solidFill>
                              <a:latin typeface="Cambria Math" panose="02040503050406030204" pitchFamily="18" charset="0"/>
                            </a:rPr>
                            <m:t>2</m:t>
                          </m:r>
                        </m:sub>
                      </m:sSub>
                    </m:oMath>
                  </m:oMathPara>
                </a14:m>
                <a:endParaRPr lang="en-US" sz="4000" b="1" dirty="0">
                  <a:solidFill>
                    <a:srgbClr val="FF0000"/>
                  </a:solidFill>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1333" t="-2602" r="-1565"/>
                </a:stretch>
              </a:blipFill>
            </p:spPr>
            <p:txBody>
              <a:bodyPr/>
              <a:lstStyle/>
              <a:p>
                <a:r>
                  <a:rPr lang="en-US">
                    <a:noFill/>
                  </a:rPr>
                  <a:t> </a:t>
                </a:r>
              </a:p>
            </p:txBody>
          </p:sp>
        </mc:Fallback>
      </mc:AlternateContent>
      <p:sp>
        <p:nvSpPr>
          <p:cNvPr id="4" name="Footer Placeholder 3">
            <a:extLst>
              <a:ext uri="{FF2B5EF4-FFF2-40B4-BE49-F238E27FC236}">
                <a16:creationId xmlns:a16="http://schemas.microsoft.com/office/drawing/2014/main" id="{1EEF859C-AF72-4942-8C2A-9345F2AC9CEF}"/>
              </a:ext>
            </a:extLst>
          </p:cNvPr>
          <p:cNvSpPr>
            <a:spLocks noGrp="1"/>
          </p:cNvSpPr>
          <p:nvPr>
            <p:ph type="ftr" sz="quarter" idx="11"/>
          </p:nvPr>
        </p:nvSpPr>
        <p:spPr/>
        <p:txBody>
          <a:bodyPr/>
          <a:lstStyle/>
          <a:p>
            <a:pPr>
              <a:defRPr/>
            </a:pPr>
            <a:r>
              <a:rPr lang="en-US" altLang="en-US"/>
              <a:t>ITU - Business Analytics - Mehmet Yasin Ulukuş</a:t>
            </a:r>
            <a:endParaRPr lang="en-US" altLang="en-US" i="0"/>
          </a:p>
        </p:txBody>
      </p:sp>
    </p:spTree>
    <p:extLst>
      <p:ext uri="{BB962C8B-B14F-4D97-AF65-F5344CB8AC3E}">
        <p14:creationId xmlns:p14="http://schemas.microsoft.com/office/powerpoint/2010/main" val="373295733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Linear Programming Model</a:t>
            </a:r>
          </a:p>
        </p:txBody>
      </p:sp>
      <p:sp>
        <p:nvSpPr>
          <p:cNvPr id="4" name="Footer Placeholder 3">
            <a:extLst>
              <a:ext uri="{FF2B5EF4-FFF2-40B4-BE49-F238E27FC236}">
                <a16:creationId xmlns:a16="http://schemas.microsoft.com/office/drawing/2014/main" id="{2ED7DE83-E81A-4DC2-B5D5-56C4F91FDE8F}"/>
              </a:ext>
            </a:extLst>
          </p:cNvPr>
          <p:cNvSpPr>
            <a:spLocks noGrp="1"/>
          </p:cNvSpPr>
          <p:nvPr>
            <p:ph type="ftr" sz="quarter" idx="11"/>
          </p:nvPr>
        </p:nvSpPr>
        <p:spPr/>
        <p:txBody>
          <a:bodyPr/>
          <a:lstStyle/>
          <a:p>
            <a:pPr>
              <a:defRPr/>
            </a:pPr>
            <a:r>
              <a:rPr lang="en-US" altLang="en-US"/>
              <a:t>ITU - Business Analytics - Mehmet Yasin Ulukuş</a:t>
            </a:r>
            <a:endParaRPr lang="en-US" altLang="en-US" i="0"/>
          </a:p>
        </p:txBody>
      </p:sp>
      <p:sp>
        <p:nvSpPr>
          <p:cNvPr id="5" name="Text Placeholder 2">
            <a:extLst>
              <a:ext uri="{FF2B5EF4-FFF2-40B4-BE49-F238E27FC236}">
                <a16:creationId xmlns:a16="http://schemas.microsoft.com/office/drawing/2014/main" id="{44C8F511-98AC-4E1D-9B28-9631EE4AF1CB}"/>
              </a:ext>
            </a:extLst>
          </p:cNvPr>
          <p:cNvSpPr>
            <a:spLocks noGrp="1"/>
          </p:cNvSpPr>
          <p:nvPr>
            <p:ph idx="1"/>
          </p:nvPr>
        </p:nvSpPr>
        <p:spPr>
          <a:xfrm>
            <a:off x="838200" y="1389529"/>
            <a:ext cx="10515600" cy="4921102"/>
          </a:xfrm>
        </p:spPr>
        <p:txBody>
          <a:bodyPr/>
          <a:lstStyle/>
          <a:p>
            <a:pPr marL="0" indent="0">
              <a:buNone/>
            </a:pPr>
            <a:r>
              <a:rPr lang="en-US" dirty="0"/>
              <a:t>The formulation is</a:t>
            </a:r>
          </a:p>
          <a:p>
            <a:pPr marL="0" indent="0">
              <a:buNone/>
            </a:pPr>
            <a:endParaRPr lang="en-US" dirty="0"/>
          </a:p>
        </p:txBody>
      </p:sp>
      <mc:AlternateContent xmlns:mc="http://schemas.openxmlformats.org/markup-compatibility/2006" xmlns:a14="http://schemas.microsoft.com/office/drawing/2010/main">
        <mc:Choice Requires="a14">
          <p:graphicFrame>
            <p:nvGraphicFramePr>
              <p:cNvPr id="3" name="Table 2"/>
              <p:cNvGraphicFramePr>
                <a:graphicFrameLocks noGrp="1"/>
              </p:cNvGraphicFramePr>
              <p:nvPr>
                <p:extLst>
                  <p:ext uri="{D42A27DB-BD31-4B8C-83A1-F6EECF244321}">
                    <p14:modId xmlns:p14="http://schemas.microsoft.com/office/powerpoint/2010/main" val="289850517"/>
                  </p:ext>
                </p:extLst>
              </p:nvPr>
            </p:nvGraphicFramePr>
            <p:xfrm>
              <a:off x="3403671" y="2484688"/>
              <a:ext cx="4406320" cy="2743200"/>
            </p:xfrm>
            <a:graphic>
              <a:graphicData uri="http://schemas.openxmlformats.org/drawingml/2006/table">
                <a:tbl>
                  <a:tblPr firstRow="1" bandRow="1">
                    <a:tableStyleId>{2D5ABB26-0587-4C30-8999-92F81FD0307C}</a:tableStyleId>
                  </a:tblPr>
                  <a:tblGrid>
                    <a:gridCol w="1494346">
                      <a:extLst>
                        <a:ext uri="{9D8B030D-6E8A-4147-A177-3AD203B41FA5}">
                          <a16:colId xmlns:a16="http://schemas.microsoft.com/office/drawing/2014/main" val="3888021187"/>
                        </a:ext>
                      </a:extLst>
                    </a:gridCol>
                    <a:gridCol w="771271">
                      <a:extLst>
                        <a:ext uri="{9D8B030D-6E8A-4147-A177-3AD203B41FA5}">
                          <a16:colId xmlns:a16="http://schemas.microsoft.com/office/drawing/2014/main" val="3534266932"/>
                        </a:ext>
                      </a:extLst>
                    </a:gridCol>
                    <a:gridCol w="946595">
                      <a:extLst>
                        <a:ext uri="{9D8B030D-6E8A-4147-A177-3AD203B41FA5}">
                          <a16:colId xmlns:a16="http://schemas.microsoft.com/office/drawing/2014/main" val="3559686337"/>
                        </a:ext>
                      </a:extLst>
                    </a:gridCol>
                    <a:gridCol w="479743">
                      <a:extLst>
                        <a:ext uri="{9D8B030D-6E8A-4147-A177-3AD203B41FA5}">
                          <a16:colId xmlns:a16="http://schemas.microsoft.com/office/drawing/2014/main" val="1158957883"/>
                        </a:ext>
                      </a:extLst>
                    </a:gridCol>
                    <a:gridCol w="714365">
                      <a:extLst>
                        <a:ext uri="{9D8B030D-6E8A-4147-A177-3AD203B41FA5}">
                          <a16:colId xmlns:a16="http://schemas.microsoft.com/office/drawing/2014/main" val="3407547115"/>
                        </a:ext>
                      </a:extLst>
                    </a:gridCol>
                  </a:tblGrid>
                  <a:tr h="370840">
                    <a:tc>
                      <a:txBody>
                        <a:bodyPr/>
                        <a:lstStyle/>
                        <a:p>
                          <a:r>
                            <a:rPr lang="tr-TR" sz="2400" dirty="0"/>
                            <a:t>Max</a:t>
                          </a:r>
                          <a:endParaRPr lang="en-US" sz="2400" dirty="0"/>
                        </a:p>
                      </a:txBody>
                      <a:tcPr/>
                    </a:tc>
                    <a:tc>
                      <a:txBody>
                        <a:bodyPr/>
                        <a:lstStyle/>
                        <a:p>
                          <a:pPr algn="r"/>
                          <a14:m>
                            <m:oMathPara xmlns:m="http://schemas.openxmlformats.org/officeDocument/2006/math">
                              <m:oMathParaPr>
                                <m:jc m:val="right"/>
                              </m:oMathParaPr>
                              <m:oMath xmlns:m="http://schemas.openxmlformats.org/officeDocument/2006/math">
                                <m:r>
                                  <a:rPr lang="tr-TR" sz="2400" b="0" i="1" smtClean="0">
                                    <a:latin typeface="Cambria Math" panose="02040503050406030204" pitchFamily="18" charset="0"/>
                                  </a:rPr>
                                  <m:t>5</m:t>
                                </m:r>
                                <m:sSub>
                                  <m:sSubPr>
                                    <m:ctrlPr>
                                      <a:rPr lang="tr-TR" sz="2400" b="0" i="1" smtClean="0">
                                        <a:latin typeface="Cambria Math" panose="02040503050406030204" pitchFamily="18" charset="0"/>
                                      </a:rPr>
                                    </m:ctrlPr>
                                  </m:sSubPr>
                                  <m:e>
                                    <m:r>
                                      <a:rPr lang="tr-TR" sz="2400" b="0" i="1" smtClean="0">
                                        <a:latin typeface="Cambria Math" panose="02040503050406030204" pitchFamily="18" charset="0"/>
                                      </a:rPr>
                                      <m:t>𝑥</m:t>
                                    </m:r>
                                  </m:e>
                                  <m:sub>
                                    <m:r>
                                      <a:rPr lang="tr-TR" sz="2400" b="0" i="1" smtClean="0">
                                        <a:latin typeface="Cambria Math" panose="02040503050406030204" pitchFamily="18" charset="0"/>
                                      </a:rPr>
                                      <m:t>1</m:t>
                                    </m:r>
                                  </m:sub>
                                </m:sSub>
                              </m:oMath>
                            </m:oMathPara>
                          </a14:m>
                          <a:endParaRPr lang="en-US" sz="2400" b="0" dirty="0"/>
                        </a:p>
                      </a:txBody>
                      <a:tcPr/>
                    </a:tc>
                    <a:tc>
                      <a:txBody>
                        <a:bodyPr/>
                        <a:lstStyle/>
                        <a:p>
                          <a:pPr algn="r"/>
                          <a14:m>
                            <m:oMathPara xmlns:m="http://schemas.openxmlformats.org/officeDocument/2006/math">
                              <m:oMathParaPr>
                                <m:jc m:val="right"/>
                              </m:oMathParaPr>
                              <m:oMath xmlns:m="http://schemas.openxmlformats.org/officeDocument/2006/math">
                                <m:r>
                                  <a:rPr lang="tr-TR" sz="2400" b="0" smtClean="0">
                                    <a:latin typeface="Cambria Math" panose="02040503050406030204" pitchFamily="18" charset="0"/>
                                  </a:rPr>
                                  <m:t>+</m:t>
                                </m:r>
                                <m:r>
                                  <a:rPr lang="tr-TR" sz="2400" b="0" i="1" smtClean="0">
                                    <a:latin typeface="Cambria Math" panose="02040503050406030204" pitchFamily="18" charset="0"/>
                                  </a:rPr>
                                  <m:t>4</m:t>
                                </m:r>
                                <m:sSub>
                                  <m:sSubPr>
                                    <m:ctrlPr>
                                      <a:rPr lang="tr-TR" sz="2400" b="0" i="1" smtClean="0">
                                        <a:latin typeface="Cambria Math" panose="02040503050406030204" pitchFamily="18" charset="0"/>
                                      </a:rPr>
                                    </m:ctrlPr>
                                  </m:sSubPr>
                                  <m:e>
                                    <m:r>
                                      <a:rPr lang="tr-TR" sz="2400" b="0" i="1" smtClean="0">
                                        <a:latin typeface="Cambria Math" panose="02040503050406030204" pitchFamily="18" charset="0"/>
                                      </a:rPr>
                                      <m:t>𝑥</m:t>
                                    </m:r>
                                  </m:e>
                                  <m:sub>
                                    <m:r>
                                      <a:rPr lang="tr-TR" sz="2400" b="0" i="1" smtClean="0">
                                        <a:latin typeface="Cambria Math" panose="02040503050406030204" pitchFamily="18" charset="0"/>
                                      </a:rPr>
                                      <m:t>2</m:t>
                                    </m:r>
                                  </m:sub>
                                </m:sSub>
                              </m:oMath>
                            </m:oMathPara>
                          </a14:m>
                          <a:endParaRPr lang="en-US" sz="2400" b="0" dirty="0"/>
                        </a:p>
                      </a:txBody>
                      <a:tcPr/>
                    </a:tc>
                    <a:tc>
                      <a:txBody>
                        <a:bodyPr/>
                        <a:lstStyle/>
                        <a:p>
                          <a:endParaRPr lang="en-US" sz="2400" b="0"/>
                        </a:p>
                      </a:txBody>
                      <a:tcPr/>
                    </a:tc>
                    <a:tc>
                      <a:txBody>
                        <a:bodyPr/>
                        <a:lstStyle/>
                        <a:p>
                          <a:endParaRPr lang="en-US" sz="2400" b="0" dirty="0"/>
                        </a:p>
                      </a:txBody>
                      <a:tcPr/>
                    </a:tc>
                    <a:extLst>
                      <a:ext uri="{0D108BD9-81ED-4DB2-BD59-A6C34878D82A}">
                        <a16:rowId xmlns:a16="http://schemas.microsoft.com/office/drawing/2014/main" val="1915566640"/>
                      </a:ext>
                    </a:extLst>
                  </a:tr>
                  <a:tr h="370840">
                    <a:tc>
                      <a:txBody>
                        <a:bodyPr/>
                        <a:lstStyle/>
                        <a:p>
                          <a:r>
                            <a:rPr lang="tr-TR" sz="2400" dirty="0"/>
                            <a:t>Subject to</a:t>
                          </a:r>
                          <a:endParaRPr lang="en-US" sz="2400" dirty="0"/>
                        </a:p>
                      </a:txBody>
                      <a:tcPr/>
                    </a:tc>
                    <a:tc>
                      <a:txBody>
                        <a:bodyPr/>
                        <a:lstStyle/>
                        <a:p>
                          <a:pPr algn="r"/>
                          <a14:m>
                            <m:oMathPara xmlns:m="http://schemas.openxmlformats.org/officeDocument/2006/math">
                              <m:oMathParaPr>
                                <m:jc m:val="right"/>
                              </m:oMathParaPr>
                              <m:oMath xmlns:m="http://schemas.openxmlformats.org/officeDocument/2006/math">
                                <m:r>
                                  <a:rPr lang="tr-TR" sz="2400" b="0" i="1" smtClean="0">
                                    <a:latin typeface="Cambria Math" panose="02040503050406030204" pitchFamily="18" charset="0"/>
                                  </a:rPr>
                                  <m:t>6</m:t>
                                </m:r>
                                <m:sSub>
                                  <m:sSubPr>
                                    <m:ctrlPr>
                                      <a:rPr lang="tr-TR" sz="2400" b="0" i="1" smtClean="0">
                                        <a:latin typeface="Cambria Math" panose="02040503050406030204" pitchFamily="18" charset="0"/>
                                      </a:rPr>
                                    </m:ctrlPr>
                                  </m:sSubPr>
                                  <m:e>
                                    <m:r>
                                      <a:rPr lang="tr-TR" sz="2400" b="0" i="1" smtClean="0">
                                        <a:latin typeface="Cambria Math" panose="02040503050406030204" pitchFamily="18" charset="0"/>
                                      </a:rPr>
                                      <m:t>𝑥</m:t>
                                    </m:r>
                                  </m:e>
                                  <m:sub>
                                    <m:r>
                                      <a:rPr lang="tr-TR" sz="2400" b="0" i="1" smtClean="0">
                                        <a:latin typeface="Cambria Math" panose="02040503050406030204" pitchFamily="18" charset="0"/>
                                      </a:rPr>
                                      <m:t>1</m:t>
                                    </m:r>
                                  </m:sub>
                                </m:sSub>
                              </m:oMath>
                            </m:oMathPara>
                          </a14:m>
                          <a:endParaRPr lang="en-US" sz="2400" b="0" dirty="0"/>
                        </a:p>
                      </a:txBody>
                      <a:tcPr/>
                    </a:tc>
                    <a:tc>
                      <a:txBody>
                        <a:bodyPr/>
                        <a:lstStyle/>
                        <a:p>
                          <a:pPr algn="r"/>
                          <a14:m>
                            <m:oMathPara xmlns:m="http://schemas.openxmlformats.org/officeDocument/2006/math">
                              <m:oMathParaPr>
                                <m:jc m:val="right"/>
                              </m:oMathParaPr>
                              <m:oMath xmlns:m="http://schemas.openxmlformats.org/officeDocument/2006/math">
                                <m:r>
                                  <a:rPr lang="tr-TR" sz="2400" b="0" smtClean="0">
                                    <a:latin typeface="Cambria Math" panose="02040503050406030204" pitchFamily="18" charset="0"/>
                                  </a:rPr>
                                  <m:t>+</m:t>
                                </m:r>
                                <m:r>
                                  <a:rPr lang="tr-TR" sz="2400" b="0" i="1" smtClean="0">
                                    <a:latin typeface="Cambria Math" panose="02040503050406030204" pitchFamily="18" charset="0"/>
                                  </a:rPr>
                                  <m:t>4</m:t>
                                </m:r>
                                <m:sSub>
                                  <m:sSubPr>
                                    <m:ctrlPr>
                                      <a:rPr lang="tr-TR" sz="2400" b="0" i="1" smtClean="0">
                                        <a:latin typeface="Cambria Math" panose="02040503050406030204" pitchFamily="18" charset="0"/>
                                      </a:rPr>
                                    </m:ctrlPr>
                                  </m:sSubPr>
                                  <m:e>
                                    <m:r>
                                      <a:rPr lang="tr-TR" sz="2400" b="0" i="1" smtClean="0">
                                        <a:latin typeface="Cambria Math" panose="02040503050406030204" pitchFamily="18" charset="0"/>
                                      </a:rPr>
                                      <m:t>𝑥</m:t>
                                    </m:r>
                                  </m:e>
                                  <m:sub>
                                    <m:r>
                                      <a:rPr lang="tr-TR" sz="2400" b="0" i="1" smtClean="0">
                                        <a:latin typeface="Cambria Math" panose="02040503050406030204" pitchFamily="18" charset="0"/>
                                      </a:rPr>
                                      <m:t>2</m:t>
                                    </m:r>
                                  </m:sub>
                                </m:sSub>
                              </m:oMath>
                            </m:oMathPara>
                          </a14:m>
                          <a:endParaRPr lang="en-US" sz="2400" b="0" dirty="0"/>
                        </a:p>
                      </a:txBody>
                      <a:tcPr/>
                    </a:tc>
                    <a:tc>
                      <a:txBody>
                        <a:bodyPr/>
                        <a:lstStyle/>
                        <a:p>
                          <a:pPr/>
                          <a14:m>
                            <m:oMathPara xmlns:m="http://schemas.openxmlformats.org/officeDocument/2006/math">
                              <m:oMathParaPr>
                                <m:jc m:val="centerGroup"/>
                              </m:oMathParaPr>
                              <m:oMath xmlns:m="http://schemas.openxmlformats.org/officeDocument/2006/math">
                                <m:r>
                                  <a:rPr lang="tr-TR" sz="2400" b="0" i="1" smtClean="0">
                                    <a:latin typeface="Cambria Math" panose="02040503050406030204" pitchFamily="18" charset="0"/>
                                  </a:rPr>
                                  <m:t>≤</m:t>
                                </m:r>
                              </m:oMath>
                            </m:oMathPara>
                          </a14:m>
                          <a:endParaRPr lang="en-US" sz="2400" b="0" dirty="0"/>
                        </a:p>
                      </a:txBody>
                      <a:tcPr/>
                    </a:tc>
                    <a:tc>
                      <a:txBody>
                        <a:bodyPr/>
                        <a:lstStyle/>
                        <a:p>
                          <a:r>
                            <a:rPr lang="tr-TR" sz="2400" b="0" dirty="0"/>
                            <a:t>24</a:t>
                          </a:r>
                          <a:endParaRPr lang="en-US" sz="2400" b="0" dirty="0"/>
                        </a:p>
                      </a:txBody>
                      <a:tcPr/>
                    </a:tc>
                    <a:extLst>
                      <a:ext uri="{0D108BD9-81ED-4DB2-BD59-A6C34878D82A}">
                        <a16:rowId xmlns:a16="http://schemas.microsoft.com/office/drawing/2014/main" val="1849586065"/>
                      </a:ext>
                    </a:extLst>
                  </a:tr>
                  <a:tr h="370840">
                    <a:tc>
                      <a:txBody>
                        <a:bodyPr/>
                        <a:lstStyle/>
                        <a:p>
                          <a:endParaRPr lang="en-US" sz="2400" dirty="0"/>
                        </a:p>
                      </a:txBody>
                      <a:tcPr/>
                    </a:tc>
                    <a:tc>
                      <a:txBody>
                        <a:bodyPr/>
                        <a:lstStyle/>
                        <a:p>
                          <a:pPr algn="r"/>
                          <a14:m>
                            <m:oMathPara xmlns:m="http://schemas.openxmlformats.org/officeDocument/2006/math">
                              <m:oMathParaPr>
                                <m:jc m:val="right"/>
                              </m:oMathParaPr>
                              <m:oMath xmlns:m="http://schemas.openxmlformats.org/officeDocument/2006/math">
                                <m:sSub>
                                  <m:sSubPr>
                                    <m:ctrlPr>
                                      <a:rPr lang="tr-TR" sz="2400" b="0" i="1" smtClean="0">
                                        <a:latin typeface="Cambria Math" panose="02040503050406030204" pitchFamily="18" charset="0"/>
                                      </a:rPr>
                                    </m:ctrlPr>
                                  </m:sSubPr>
                                  <m:e>
                                    <m:r>
                                      <a:rPr lang="tr-TR" sz="2400" b="0" i="1" smtClean="0">
                                        <a:latin typeface="Cambria Math" panose="02040503050406030204" pitchFamily="18" charset="0"/>
                                      </a:rPr>
                                      <m:t>𝑥</m:t>
                                    </m:r>
                                  </m:e>
                                  <m:sub>
                                    <m:r>
                                      <a:rPr lang="tr-TR" sz="2400" b="0" i="1" smtClean="0">
                                        <a:latin typeface="Cambria Math" panose="02040503050406030204" pitchFamily="18" charset="0"/>
                                      </a:rPr>
                                      <m:t>1</m:t>
                                    </m:r>
                                  </m:sub>
                                </m:sSub>
                              </m:oMath>
                            </m:oMathPara>
                          </a14:m>
                          <a:endParaRPr lang="en-US" sz="2400" b="0" dirty="0"/>
                        </a:p>
                      </a:txBody>
                      <a:tcPr/>
                    </a:tc>
                    <a:tc>
                      <a:txBody>
                        <a:bodyPr/>
                        <a:lstStyle/>
                        <a:p>
                          <a:pPr algn="r"/>
                          <a14:m>
                            <m:oMathPara xmlns:m="http://schemas.openxmlformats.org/officeDocument/2006/math">
                              <m:oMathParaPr>
                                <m:jc m:val="right"/>
                              </m:oMathParaPr>
                              <m:oMath xmlns:m="http://schemas.openxmlformats.org/officeDocument/2006/math">
                                <m:r>
                                  <a:rPr lang="tr-TR" sz="2400" b="0" smtClean="0">
                                    <a:latin typeface="Cambria Math" panose="02040503050406030204" pitchFamily="18" charset="0"/>
                                  </a:rPr>
                                  <m:t>+</m:t>
                                </m:r>
                                <m:r>
                                  <a:rPr lang="tr-TR" sz="2400" b="0" i="1" smtClean="0">
                                    <a:latin typeface="Cambria Math" panose="02040503050406030204" pitchFamily="18" charset="0"/>
                                  </a:rPr>
                                  <m:t>2</m:t>
                                </m:r>
                                <m:sSub>
                                  <m:sSubPr>
                                    <m:ctrlPr>
                                      <a:rPr lang="tr-TR" sz="2400" b="0" i="1" smtClean="0">
                                        <a:latin typeface="Cambria Math" panose="02040503050406030204" pitchFamily="18" charset="0"/>
                                      </a:rPr>
                                    </m:ctrlPr>
                                  </m:sSubPr>
                                  <m:e>
                                    <m:r>
                                      <a:rPr lang="tr-TR" sz="2400" b="0" i="1" smtClean="0">
                                        <a:latin typeface="Cambria Math" panose="02040503050406030204" pitchFamily="18" charset="0"/>
                                      </a:rPr>
                                      <m:t>𝑥</m:t>
                                    </m:r>
                                  </m:e>
                                  <m:sub>
                                    <m:r>
                                      <a:rPr lang="tr-TR" sz="2400" b="0" i="1" smtClean="0">
                                        <a:latin typeface="Cambria Math" panose="02040503050406030204" pitchFamily="18" charset="0"/>
                                      </a:rPr>
                                      <m:t>2</m:t>
                                    </m:r>
                                  </m:sub>
                                </m:sSub>
                              </m:oMath>
                            </m:oMathPara>
                          </a14:m>
                          <a:endParaRPr lang="en-US" sz="2400" b="0" dirty="0"/>
                        </a:p>
                      </a:txBody>
                      <a:tcPr/>
                    </a:tc>
                    <a:tc>
                      <a:txBody>
                        <a:bodyPr/>
                        <a:lstStyle/>
                        <a:p>
                          <a:pPr/>
                          <a14:m>
                            <m:oMathPara xmlns:m="http://schemas.openxmlformats.org/officeDocument/2006/math">
                              <m:oMathParaPr>
                                <m:jc m:val="centerGroup"/>
                              </m:oMathParaPr>
                              <m:oMath xmlns:m="http://schemas.openxmlformats.org/officeDocument/2006/math">
                                <m:r>
                                  <a:rPr lang="tr-TR" sz="2400" b="0" i="1" smtClean="0">
                                    <a:latin typeface="Cambria Math" panose="02040503050406030204" pitchFamily="18" charset="0"/>
                                  </a:rPr>
                                  <m:t>≤</m:t>
                                </m:r>
                              </m:oMath>
                            </m:oMathPara>
                          </a14:m>
                          <a:endParaRPr lang="en-US" sz="2400" b="0" dirty="0"/>
                        </a:p>
                      </a:txBody>
                      <a:tcPr/>
                    </a:tc>
                    <a:tc>
                      <a:txBody>
                        <a:bodyPr/>
                        <a:lstStyle/>
                        <a:p>
                          <a:r>
                            <a:rPr lang="tr-TR" sz="2400" b="0" dirty="0"/>
                            <a:t>6</a:t>
                          </a:r>
                          <a:endParaRPr lang="en-US" sz="2400" b="0" dirty="0"/>
                        </a:p>
                      </a:txBody>
                      <a:tcPr/>
                    </a:tc>
                    <a:extLst>
                      <a:ext uri="{0D108BD9-81ED-4DB2-BD59-A6C34878D82A}">
                        <a16:rowId xmlns:a16="http://schemas.microsoft.com/office/drawing/2014/main" val="3907794430"/>
                      </a:ext>
                    </a:extLst>
                  </a:tr>
                  <a:tr h="370840">
                    <a:tc>
                      <a:txBody>
                        <a:bodyPr/>
                        <a:lstStyle/>
                        <a:p>
                          <a:endParaRPr lang="en-US" sz="2400" dirty="0"/>
                        </a:p>
                      </a:txBody>
                      <a:tcPr/>
                    </a:tc>
                    <a:tc>
                      <a:txBody>
                        <a:bodyPr/>
                        <a:lstStyle/>
                        <a:p>
                          <a:pPr algn="r"/>
                          <a:endParaRPr lang="en-US" sz="2400" b="0" dirty="0"/>
                        </a:p>
                      </a:txBody>
                      <a:tcPr/>
                    </a:tc>
                    <a:tc>
                      <a:txBody>
                        <a:bodyPr/>
                        <a:lstStyle/>
                        <a:p>
                          <a:pPr algn="r"/>
                          <a14:m>
                            <m:oMathPara xmlns:m="http://schemas.openxmlformats.org/officeDocument/2006/math">
                              <m:oMathParaPr>
                                <m:jc m:val="right"/>
                              </m:oMathParaPr>
                              <m:oMath xmlns:m="http://schemas.openxmlformats.org/officeDocument/2006/math">
                                <m:sSub>
                                  <m:sSubPr>
                                    <m:ctrlPr>
                                      <a:rPr lang="tr-TR" sz="2400" b="0" i="1" smtClean="0">
                                        <a:latin typeface="Cambria Math" panose="02040503050406030204" pitchFamily="18" charset="0"/>
                                      </a:rPr>
                                    </m:ctrlPr>
                                  </m:sSubPr>
                                  <m:e>
                                    <m:r>
                                      <a:rPr lang="tr-TR" sz="2400" b="0" i="1" smtClean="0">
                                        <a:latin typeface="Cambria Math" panose="02040503050406030204" pitchFamily="18" charset="0"/>
                                      </a:rPr>
                                      <m:t>𝑥</m:t>
                                    </m:r>
                                  </m:e>
                                  <m:sub>
                                    <m:r>
                                      <a:rPr lang="tr-TR" sz="2400" b="0" i="1" smtClean="0">
                                        <a:latin typeface="Cambria Math" panose="02040503050406030204" pitchFamily="18" charset="0"/>
                                      </a:rPr>
                                      <m:t>2</m:t>
                                    </m:r>
                                  </m:sub>
                                </m:sSub>
                              </m:oMath>
                            </m:oMathPara>
                          </a14:m>
                          <a:endParaRPr lang="en-US" sz="2400" b="0" dirty="0"/>
                        </a:p>
                      </a:txBody>
                      <a:tcPr/>
                    </a:tc>
                    <a:tc>
                      <a:txBody>
                        <a:bodyPr/>
                        <a:lstStyle/>
                        <a:p>
                          <a:pPr/>
                          <a14:m>
                            <m:oMathPara xmlns:m="http://schemas.openxmlformats.org/officeDocument/2006/math">
                              <m:oMathParaPr>
                                <m:jc m:val="centerGroup"/>
                              </m:oMathParaPr>
                              <m:oMath xmlns:m="http://schemas.openxmlformats.org/officeDocument/2006/math">
                                <m:r>
                                  <a:rPr lang="tr-TR" sz="2400" b="0" i="1" smtClean="0">
                                    <a:latin typeface="Cambria Math" panose="02040503050406030204" pitchFamily="18" charset="0"/>
                                  </a:rPr>
                                  <m:t>≤</m:t>
                                </m:r>
                              </m:oMath>
                            </m:oMathPara>
                          </a14:m>
                          <a:endParaRPr lang="en-US" sz="2400" b="0" dirty="0"/>
                        </a:p>
                      </a:txBody>
                      <a:tcPr/>
                    </a:tc>
                    <a:tc>
                      <a:txBody>
                        <a:bodyPr/>
                        <a:lstStyle/>
                        <a:p>
                          <a:r>
                            <a:rPr lang="tr-TR" sz="2400" b="0" dirty="0"/>
                            <a:t>2</a:t>
                          </a:r>
                          <a:endParaRPr lang="en-US" sz="2400" b="0" dirty="0"/>
                        </a:p>
                      </a:txBody>
                      <a:tcPr/>
                    </a:tc>
                    <a:extLst>
                      <a:ext uri="{0D108BD9-81ED-4DB2-BD59-A6C34878D82A}">
                        <a16:rowId xmlns:a16="http://schemas.microsoft.com/office/drawing/2014/main" val="3381761340"/>
                      </a:ext>
                    </a:extLst>
                  </a:tr>
                  <a:tr h="370840">
                    <a:tc>
                      <a:txBody>
                        <a:bodyPr/>
                        <a:lstStyle/>
                        <a:p>
                          <a:endParaRPr lang="en-US" sz="2400" dirty="0"/>
                        </a:p>
                      </a:txBody>
                      <a:tcPr/>
                    </a:tc>
                    <a:tc>
                      <a:txBody>
                        <a:bodyPr/>
                        <a:lstStyle/>
                        <a:p>
                          <a:pPr algn="r"/>
                          <a14:m>
                            <m:oMathPara xmlns:m="http://schemas.openxmlformats.org/officeDocument/2006/math">
                              <m:oMathParaPr>
                                <m:jc m:val="right"/>
                              </m:oMathParaPr>
                              <m:oMath xmlns:m="http://schemas.openxmlformats.org/officeDocument/2006/math">
                                <m:r>
                                  <a:rPr lang="tr-TR" sz="2400" b="0" i="1" smtClean="0">
                                    <a:latin typeface="Cambria Math" panose="02040503050406030204" pitchFamily="18" charset="0"/>
                                  </a:rPr>
                                  <m:t>−</m:t>
                                </m:r>
                                <m:sSub>
                                  <m:sSubPr>
                                    <m:ctrlPr>
                                      <a:rPr lang="tr-TR" sz="2400" b="0" i="1" smtClean="0">
                                        <a:latin typeface="Cambria Math" panose="02040503050406030204" pitchFamily="18" charset="0"/>
                                      </a:rPr>
                                    </m:ctrlPr>
                                  </m:sSubPr>
                                  <m:e>
                                    <m:r>
                                      <a:rPr lang="tr-TR" sz="2400" b="0" i="1" smtClean="0">
                                        <a:latin typeface="Cambria Math" panose="02040503050406030204" pitchFamily="18" charset="0"/>
                                      </a:rPr>
                                      <m:t>𝑥</m:t>
                                    </m:r>
                                  </m:e>
                                  <m:sub>
                                    <m:r>
                                      <a:rPr lang="tr-TR" sz="2400" b="0" i="1" smtClean="0">
                                        <a:latin typeface="Cambria Math" panose="02040503050406030204" pitchFamily="18" charset="0"/>
                                      </a:rPr>
                                      <m:t>1</m:t>
                                    </m:r>
                                  </m:sub>
                                </m:sSub>
                              </m:oMath>
                            </m:oMathPara>
                          </a14:m>
                          <a:endParaRPr lang="en-US" sz="2400" b="0" dirty="0"/>
                        </a:p>
                      </a:txBody>
                      <a:tcPr/>
                    </a:tc>
                    <a:tc>
                      <a:txBody>
                        <a:bodyPr/>
                        <a:lstStyle/>
                        <a:p>
                          <a:pPr algn="r"/>
                          <a14:m>
                            <m:oMathPara xmlns:m="http://schemas.openxmlformats.org/officeDocument/2006/math">
                              <m:oMathParaPr>
                                <m:jc m:val="right"/>
                              </m:oMathParaPr>
                              <m:oMath xmlns:m="http://schemas.openxmlformats.org/officeDocument/2006/math">
                                <m:r>
                                  <a:rPr lang="tr-TR" sz="2400" b="0" i="1" smtClean="0">
                                    <a:latin typeface="Cambria Math" panose="02040503050406030204" pitchFamily="18" charset="0"/>
                                  </a:rPr>
                                  <m:t>+</m:t>
                                </m:r>
                                <m:sSub>
                                  <m:sSubPr>
                                    <m:ctrlPr>
                                      <a:rPr lang="tr-TR" sz="2400" b="0" i="1" smtClean="0">
                                        <a:latin typeface="Cambria Math" panose="02040503050406030204" pitchFamily="18" charset="0"/>
                                      </a:rPr>
                                    </m:ctrlPr>
                                  </m:sSubPr>
                                  <m:e>
                                    <m:r>
                                      <a:rPr lang="tr-TR" sz="2400" b="0" i="1" smtClean="0">
                                        <a:latin typeface="Cambria Math" panose="02040503050406030204" pitchFamily="18" charset="0"/>
                                      </a:rPr>
                                      <m:t>𝑥</m:t>
                                    </m:r>
                                  </m:e>
                                  <m:sub>
                                    <m:r>
                                      <a:rPr lang="tr-TR" sz="2400" b="0" i="1" smtClean="0">
                                        <a:latin typeface="Cambria Math" panose="02040503050406030204" pitchFamily="18" charset="0"/>
                                      </a:rPr>
                                      <m:t>2</m:t>
                                    </m:r>
                                  </m:sub>
                                </m:sSub>
                              </m:oMath>
                            </m:oMathPara>
                          </a14:m>
                          <a:endParaRPr lang="en-US" sz="2400" b="0" dirty="0"/>
                        </a:p>
                      </a:txBody>
                      <a:tcPr/>
                    </a:tc>
                    <a:tc>
                      <a:txBody>
                        <a:bodyPr/>
                        <a:lstStyle/>
                        <a:p>
                          <a:pPr/>
                          <a14:m>
                            <m:oMathPara xmlns:m="http://schemas.openxmlformats.org/officeDocument/2006/math">
                              <m:oMathParaPr>
                                <m:jc m:val="centerGroup"/>
                              </m:oMathParaPr>
                              <m:oMath xmlns:m="http://schemas.openxmlformats.org/officeDocument/2006/math">
                                <m:r>
                                  <a:rPr lang="tr-TR" sz="2400" b="0" i="1" smtClean="0">
                                    <a:latin typeface="Cambria Math" panose="02040503050406030204" pitchFamily="18" charset="0"/>
                                  </a:rPr>
                                  <m:t>≤</m:t>
                                </m:r>
                              </m:oMath>
                            </m:oMathPara>
                          </a14:m>
                          <a:endParaRPr lang="en-US" sz="2400" b="0" dirty="0"/>
                        </a:p>
                      </a:txBody>
                      <a:tcPr/>
                    </a:tc>
                    <a:tc>
                      <a:txBody>
                        <a:bodyPr/>
                        <a:lstStyle/>
                        <a:p>
                          <a:r>
                            <a:rPr lang="tr-TR" sz="2400" b="0" dirty="0"/>
                            <a:t>1</a:t>
                          </a:r>
                          <a:endParaRPr lang="en-US" sz="2400" b="0" dirty="0"/>
                        </a:p>
                      </a:txBody>
                      <a:tcPr/>
                    </a:tc>
                    <a:extLst>
                      <a:ext uri="{0D108BD9-81ED-4DB2-BD59-A6C34878D82A}">
                        <a16:rowId xmlns:a16="http://schemas.microsoft.com/office/drawing/2014/main" val="709093355"/>
                      </a:ext>
                    </a:extLst>
                  </a:tr>
                  <a:tr h="370840">
                    <a:tc>
                      <a:txBody>
                        <a:bodyPr/>
                        <a:lstStyle/>
                        <a:p>
                          <a:endParaRPr lang="en-US" sz="2400" dirty="0"/>
                        </a:p>
                      </a:txBody>
                      <a:tcPr/>
                    </a:tc>
                    <a:tc>
                      <a:txBody>
                        <a:bodyPr/>
                        <a:lstStyle/>
                        <a:p>
                          <a:pPr algn="r"/>
                          <a14:m>
                            <m:oMathPara xmlns:m="http://schemas.openxmlformats.org/officeDocument/2006/math">
                              <m:oMathParaPr>
                                <m:jc m:val="right"/>
                              </m:oMathParaPr>
                              <m:oMath xmlns:m="http://schemas.openxmlformats.org/officeDocument/2006/math">
                                <m:sSub>
                                  <m:sSubPr>
                                    <m:ctrlPr>
                                      <a:rPr lang="tr-TR" sz="2400" b="0" i="1" smtClean="0">
                                        <a:latin typeface="Cambria Math" panose="02040503050406030204" pitchFamily="18" charset="0"/>
                                      </a:rPr>
                                    </m:ctrlPr>
                                  </m:sSubPr>
                                  <m:e>
                                    <m:r>
                                      <a:rPr lang="tr-TR" sz="2400" b="0" i="1" smtClean="0">
                                        <a:latin typeface="Cambria Math" panose="02040503050406030204" pitchFamily="18" charset="0"/>
                                      </a:rPr>
                                      <m:t>𝑥</m:t>
                                    </m:r>
                                  </m:e>
                                  <m:sub>
                                    <m:r>
                                      <a:rPr lang="tr-TR" sz="2400" b="0" i="1" smtClean="0">
                                        <a:latin typeface="Cambria Math" panose="02040503050406030204" pitchFamily="18" charset="0"/>
                                      </a:rPr>
                                      <m:t>1</m:t>
                                    </m:r>
                                  </m:sub>
                                </m:sSub>
                              </m:oMath>
                            </m:oMathPara>
                          </a14:m>
                          <a:endParaRPr lang="en-US" sz="2400" b="0" dirty="0"/>
                        </a:p>
                      </a:txBody>
                      <a:tcPr/>
                    </a:tc>
                    <a:tc>
                      <a:txBody>
                        <a:bodyPr/>
                        <a:lstStyle/>
                        <a:p>
                          <a:pPr algn="r"/>
                          <a:r>
                            <a:rPr lang="tr-TR" sz="2400" b="0" dirty="0"/>
                            <a:t>,</a:t>
                          </a:r>
                          <a14:m>
                            <m:oMath xmlns:m="http://schemas.openxmlformats.org/officeDocument/2006/math">
                              <m:sSub>
                                <m:sSubPr>
                                  <m:ctrlPr>
                                    <a:rPr lang="tr-TR" sz="2400" b="0" i="1" smtClean="0">
                                      <a:latin typeface="Cambria Math" panose="02040503050406030204" pitchFamily="18" charset="0"/>
                                    </a:rPr>
                                  </m:ctrlPr>
                                </m:sSubPr>
                                <m:e>
                                  <m:r>
                                    <a:rPr lang="tr-TR" sz="2400" b="0" i="1" smtClean="0">
                                      <a:latin typeface="Cambria Math" panose="02040503050406030204" pitchFamily="18" charset="0"/>
                                    </a:rPr>
                                    <m:t>𝑥</m:t>
                                  </m:r>
                                </m:e>
                                <m:sub>
                                  <m:r>
                                    <a:rPr lang="tr-TR" sz="2400" b="0" i="1" smtClean="0">
                                      <a:latin typeface="Cambria Math" panose="02040503050406030204" pitchFamily="18" charset="0"/>
                                    </a:rPr>
                                    <m:t>2</m:t>
                                  </m:r>
                                </m:sub>
                              </m:sSub>
                            </m:oMath>
                          </a14:m>
                          <a:endParaRPr lang="en-US" sz="2400" b="0" dirty="0"/>
                        </a:p>
                      </a:txBody>
                      <a:tcPr/>
                    </a:tc>
                    <a:tc>
                      <a:txBody>
                        <a:bodyPr/>
                        <a:lstStyle/>
                        <a:p>
                          <a:pPr/>
                          <a14:m>
                            <m:oMathPara xmlns:m="http://schemas.openxmlformats.org/officeDocument/2006/math">
                              <m:oMathParaPr>
                                <m:jc m:val="centerGroup"/>
                              </m:oMathParaPr>
                              <m:oMath xmlns:m="http://schemas.openxmlformats.org/officeDocument/2006/math">
                                <m:r>
                                  <a:rPr lang="tr-TR" sz="2400" b="0" i="1" smtClean="0">
                                    <a:latin typeface="Cambria Math" panose="02040503050406030204" pitchFamily="18" charset="0"/>
                                  </a:rPr>
                                  <m:t>≥</m:t>
                                </m:r>
                              </m:oMath>
                            </m:oMathPara>
                          </a14:m>
                          <a:endParaRPr lang="en-US" sz="2400" b="0" dirty="0"/>
                        </a:p>
                      </a:txBody>
                      <a:tcPr/>
                    </a:tc>
                    <a:tc>
                      <a:txBody>
                        <a:bodyPr/>
                        <a:lstStyle/>
                        <a:p>
                          <a:r>
                            <a:rPr lang="tr-TR" sz="2400" b="0" dirty="0"/>
                            <a:t>0</a:t>
                          </a:r>
                          <a:endParaRPr lang="en-US" sz="2400" b="0" dirty="0"/>
                        </a:p>
                      </a:txBody>
                      <a:tcPr/>
                    </a:tc>
                    <a:extLst>
                      <a:ext uri="{0D108BD9-81ED-4DB2-BD59-A6C34878D82A}">
                        <a16:rowId xmlns:a16="http://schemas.microsoft.com/office/drawing/2014/main" val="3220848258"/>
                      </a:ext>
                    </a:extLst>
                  </a:tr>
                </a:tbl>
              </a:graphicData>
            </a:graphic>
          </p:graphicFrame>
        </mc:Choice>
        <mc:Fallback xmlns="">
          <p:graphicFrame>
            <p:nvGraphicFramePr>
              <p:cNvPr id="3" name="Table 2"/>
              <p:cNvGraphicFramePr>
                <a:graphicFrameLocks noGrp="1"/>
              </p:cNvGraphicFramePr>
              <p:nvPr>
                <p:extLst>
                  <p:ext uri="{D42A27DB-BD31-4B8C-83A1-F6EECF244321}">
                    <p14:modId xmlns:p14="http://schemas.microsoft.com/office/powerpoint/2010/main" val="289850517"/>
                  </p:ext>
                </p:extLst>
              </p:nvPr>
            </p:nvGraphicFramePr>
            <p:xfrm>
              <a:off x="3403671" y="2484688"/>
              <a:ext cx="4406320" cy="2743200"/>
            </p:xfrm>
            <a:graphic>
              <a:graphicData uri="http://schemas.openxmlformats.org/drawingml/2006/table">
                <a:tbl>
                  <a:tblPr firstRow="1" bandRow="1">
                    <a:tableStyleId>{2D5ABB26-0587-4C30-8999-92F81FD0307C}</a:tableStyleId>
                  </a:tblPr>
                  <a:tblGrid>
                    <a:gridCol w="1494346">
                      <a:extLst>
                        <a:ext uri="{9D8B030D-6E8A-4147-A177-3AD203B41FA5}">
                          <a16:colId xmlns:a16="http://schemas.microsoft.com/office/drawing/2014/main" val="3888021187"/>
                        </a:ext>
                      </a:extLst>
                    </a:gridCol>
                    <a:gridCol w="771271">
                      <a:extLst>
                        <a:ext uri="{9D8B030D-6E8A-4147-A177-3AD203B41FA5}">
                          <a16:colId xmlns:a16="http://schemas.microsoft.com/office/drawing/2014/main" val="3534266932"/>
                        </a:ext>
                      </a:extLst>
                    </a:gridCol>
                    <a:gridCol w="946595">
                      <a:extLst>
                        <a:ext uri="{9D8B030D-6E8A-4147-A177-3AD203B41FA5}">
                          <a16:colId xmlns:a16="http://schemas.microsoft.com/office/drawing/2014/main" val="3559686337"/>
                        </a:ext>
                      </a:extLst>
                    </a:gridCol>
                    <a:gridCol w="479743">
                      <a:extLst>
                        <a:ext uri="{9D8B030D-6E8A-4147-A177-3AD203B41FA5}">
                          <a16:colId xmlns:a16="http://schemas.microsoft.com/office/drawing/2014/main" val="1158957883"/>
                        </a:ext>
                      </a:extLst>
                    </a:gridCol>
                    <a:gridCol w="714365">
                      <a:extLst>
                        <a:ext uri="{9D8B030D-6E8A-4147-A177-3AD203B41FA5}">
                          <a16:colId xmlns:a16="http://schemas.microsoft.com/office/drawing/2014/main" val="3407547115"/>
                        </a:ext>
                      </a:extLst>
                    </a:gridCol>
                  </a:tblGrid>
                  <a:tr h="457200">
                    <a:tc>
                      <a:txBody>
                        <a:bodyPr/>
                        <a:lstStyle/>
                        <a:p>
                          <a:r>
                            <a:rPr lang="tr-TR" sz="2400" dirty="0"/>
                            <a:t>Max</a:t>
                          </a:r>
                          <a:endParaRPr lang="en-US" sz="2400" dirty="0"/>
                        </a:p>
                      </a:txBody>
                      <a:tcPr/>
                    </a:tc>
                    <a:tc>
                      <a:txBody>
                        <a:bodyPr/>
                        <a:lstStyle/>
                        <a:p>
                          <a:endParaRPr lang="tr-TR"/>
                        </a:p>
                      </a:txBody>
                      <a:tcPr>
                        <a:blipFill>
                          <a:blip r:embed="rId2"/>
                          <a:stretch>
                            <a:fillRect l="-195238" t="-9333" r="-279365" b="-532000"/>
                          </a:stretch>
                        </a:blipFill>
                      </a:tcPr>
                    </a:tc>
                    <a:tc>
                      <a:txBody>
                        <a:bodyPr/>
                        <a:lstStyle/>
                        <a:p>
                          <a:endParaRPr lang="tr-TR"/>
                        </a:p>
                      </a:txBody>
                      <a:tcPr>
                        <a:blipFill>
                          <a:blip r:embed="rId2"/>
                          <a:stretch>
                            <a:fillRect l="-238462" t="-9333" r="-125641" b="-532000"/>
                          </a:stretch>
                        </a:blipFill>
                      </a:tcPr>
                    </a:tc>
                    <a:tc>
                      <a:txBody>
                        <a:bodyPr/>
                        <a:lstStyle/>
                        <a:p>
                          <a:endParaRPr lang="en-US" sz="2400" b="0"/>
                        </a:p>
                      </a:txBody>
                      <a:tcPr/>
                    </a:tc>
                    <a:tc>
                      <a:txBody>
                        <a:bodyPr/>
                        <a:lstStyle/>
                        <a:p>
                          <a:endParaRPr lang="en-US" sz="2400" b="0" dirty="0"/>
                        </a:p>
                      </a:txBody>
                      <a:tcPr/>
                    </a:tc>
                    <a:extLst>
                      <a:ext uri="{0D108BD9-81ED-4DB2-BD59-A6C34878D82A}">
                        <a16:rowId xmlns:a16="http://schemas.microsoft.com/office/drawing/2014/main" val="1915566640"/>
                      </a:ext>
                    </a:extLst>
                  </a:tr>
                  <a:tr h="457200">
                    <a:tc>
                      <a:txBody>
                        <a:bodyPr/>
                        <a:lstStyle/>
                        <a:p>
                          <a:r>
                            <a:rPr lang="tr-TR" sz="2400" dirty="0"/>
                            <a:t>Subject to</a:t>
                          </a:r>
                          <a:endParaRPr lang="en-US" sz="2400" dirty="0"/>
                        </a:p>
                      </a:txBody>
                      <a:tcPr/>
                    </a:tc>
                    <a:tc>
                      <a:txBody>
                        <a:bodyPr/>
                        <a:lstStyle/>
                        <a:p>
                          <a:endParaRPr lang="tr-TR"/>
                        </a:p>
                      </a:txBody>
                      <a:tcPr>
                        <a:blipFill>
                          <a:blip r:embed="rId2"/>
                          <a:stretch>
                            <a:fillRect l="-195238" t="-109333" r="-279365" b="-432000"/>
                          </a:stretch>
                        </a:blipFill>
                      </a:tcPr>
                    </a:tc>
                    <a:tc>
                      <a:txBody>
                        <a:bodyPr/>
                        <a:lstStyle/>
                        <a:p>
                          <a:endParaRPr lang="tr-TR"/>
                        </a:p>
                      </a:txBody>
                      <a:tcPr>
                        <a:blipFill>
                          <a:blip r:embed="rId2"/>
                          <a:stretch>
                            <a:fillRect l="-238462" t="-109333" r="-125641" b="-432000"/>
                          </a:stretch>
                        </a:blipFill>
                      </a:tcPr>
                    </a:tc>
                    <a:tc>
                      <a:txBody>
                        <a:bodyPr/>
                        <a:lstStyle/>
                        <a:p>
                          <a:endParaRPr lang="tr-TR"/>
                        </a:p>
                      </a:txBody>
                      <a:tcPr>
                        <a:blipFill>
                          <a:blip r:embed="rId2"/>
                          <a:stretch>
                            <a:fillRect l="-668354" t="-109333" r="-148101" b="-432000"/>
                          </a:stretch>
                        </a:blipFill>
                      </a:tcPr>
                    </a:tc>
                    <a:tc>
                      <a:txBody>
                        <a:bodyPr/>
                        <a:lstStyle/>
                        <a:p>
                          <a:r>
                            <a:rPr lang="tr-TR" sz="2400" b="0" dirty="0"/>
                            <a:t>24</a:t>
                          </a:r>
                          <a:endParaRPr lang="en-US" sz="2400" b="0" dirty="0"/>
                        </a:p>
                      </a:txBody>
                      <a:tcPr/>
                    </a:tc>
                    <a:extLst>
                      <a:ext uri="{0D108BD9-81ED-4DB2-BD59-A6C34878D82A}">
                        <a16:rowId xmlns:a16="http://schemas.microsoft.com/office/drawing/2014/main" val="1849586065"/>
                      </a:ext>
                    </a:extLst>
                  </a:tr>
                  <a:tr h="457200">
                    <a:tc>
                      <a:txBody>
                        <a:bodyPr/>
                        <a:lstStyle/>
                        <a:p>
                          <a:endParaRPr lang="en-US" sz="2400" dirty="0"/>
                        </a:p>
                      </a:txBody>
                      <a:tcPr/>
                    </a:tc>
                    <a:tc>
                      <a:txBody>
                        <a:bodyPr/>
                        <a:lstStyle/>
                        <a:p>
                          <a:endParaRPr lang="tr-TR"/>
                        </a:p>
                      </a:txBody>
                      <a:tcPr>
                        <a:blipFill>
                          <a:blip r:embed="rId2"/>
                          <a:stretch>
                            <a:fillRect l="-195238" t="-206579" r="-279365" b="-326316"/>
                          </a:stretch>
                        </a:blipFill>
                      </a:tcPr>
                    </a:tc>
                    <a:tc>
                      <a:txBody>
                        <a:bodyPr/>
                        <a:lstStyle/>
                        <a:p>
                          <a:endParaRPr lang="tr-TR"/>
                        </a:p>
                      </a:txBody>
                      <a:tcPr>
                        <a:blipFill>
                          <a:blip r:embed="rId2"/>
                          <a:stretch>
                            <a:fillRect l="-238462" t="-206579" r="-125641" b="-326316"/>
                          </a:stretch>
                        </a:blipFill>
                      </a:tcPr>
                    </a:tc>
                    <a:tc>
                      <a:txBody>
                        <a:bodyPr/>
                        <a:lstStyle/>
                        <a:p>
                          <a:endParaRPr lang="tr-TR"/>
                        </a:p>
                      </a:txBody>
                      <a:tcPr>
                        <a:blipFill>
                          <a:blip r:embed="rId2"/>
                          <a:stretch>
                            <a:fillRect l="-668354" t="-206579" r="-148101" b="-326316"/>
                          </a:stretch>
                        </a:blipFill>
                      </a:tcPr>
                    </a:tc>
                    <a:tc>
                      <a:txBody>
                        <a:bodyPr/>
                        <a:lstStyle/>
                        <a:p>
                          <a:r>
                            <a:rPr lang="tr-TR" sz="2400" b="0" dirty="0"/>
                            <a:t>6</a:t>
                          </a:r>
                          <a:endParaRPr lang="en-US" sz="2400" b="0" dirty="0"/>
                        </a:p>
                      </a:txBody>
                      <a:tcPr/>
                    </a:tc>
                    <a:extLst>
                      <a:ext uri="{0D108BD9-81ED-4DB2-BD59-A6C34878D82A}">
                        <a16:rowId xmlns:a16="http://schemas.microsoft.com/office/drawing/2014/main" val="3907794430"/>
                      </a:ext>
                    </a:extLst>
                  </a:tr>
                  <a:tr h="457200">
                    <a:tc>
                      <a:txBody>
                        <a:bodyPr/>
                        <a:lstStyle/>
                        <a:p>
                          <a:endParaRPr lang="en-US" sz="2400" dirty="0"/>
                        </a:p>
                      </a:txBody>
                      <a:tcPr/>
                    </a:tc>
                    <a:tc>
                      <a:txBody>
                        <a:bodyPr/>
                        <a:lstStyle/>
                        <a:p>
                          <a:pPr algn="r"/>
                          <a:endParaRPr lang="en-US" sz="2400" b="0" dirty="0"/>
                        </a:p>
                      </a:txBody>
                      <a:tcPr/>
                    </a:tc>
                    <a:tc>
                      <a:txBody>
                        <a:bodyPr/>
                        <a:lstStyle/>
                        <a:p>
                          <a:endParaRPr lang="tr-TR"/>
                        </a:p>
                      </a:txBody>
                      <a:tcPr>
                        <a:blipFill>
                          <a:blip r:embed="rId2"/>
                          <a:stretch>
                            <a:fillRect l="-238462" t="-310667" r="-125641" b="-230667"/>
                          </a:stretch>
                        </a:blipFill>
                      </a:tcPr>
                    </a:tc>
                    <a:tc>
                      <a:txBody>
                        <a:bodyPr/>
                        <a:lstStyle/>
                        <a:p>
                          <a:endParaRPr lang="tr-TR"/>
                        </a:p>
                      </a:txBody>
                      <a:tcPr>
                        <a:blipFill>
                          <a:blip r:embed="rId2"/>
                          <a:stretch>
                            <a:fillRect l="-668354" t="-310667" r="-148101" b="-230667"/>
                          </a:stretch>
                        </a:blipFill>
                      </a:tcPr>
                    </a:tc>
                    <a:tc>
                      <a:txBody>
                        <a:bodyPr/>
                        <a:lstStyle/>
                        <a:p>
                          <a:r>
                            <a:rPr lang="tr-TR" sz="2400" b="0" dirty="0"/>
                            <a:t>2</a:t>
                          </a:r>
                          <a:endParaRPr lang="en-US" sz="2400" b="0" dirty="0"/>
                        </a:p>
                      </a:txBody>
                      <a:tcPr/>
                    </a:tc>
                    <a:extLst>
                      <a:ext uri="{0D108BD9-81ED-4DB2-BD59-A6C34878D82A}">
                        <a16:rowId xmlns:a16="http://schemas.microsoft.com/office/drawing/2014/main" val="3381761340"/>
                      </a:ext>
                    </a:extLst>
                  </a:tr>
                  <a:tr h="457200">
                    <a:tc>
                      <a:txBody>
                        <a:bodyPr/>
                        <a:lstStyle/>
                        <a:p>
                          <a:endParaRPr lang="en-US" sz="2400" dirty="0"/>
                        </a:p>
                      </a:txBody>
                      <a:tcPr/>
                    </a:tc>
                    <a:tc>
                      <a:txBody>
                        <a:bodyPr/>
                        <a:lstStyle/>
                        <a:p>
                          <a:endParaRPr lang="tr-TR"/>
                        </a:p>
                      </a:txBody>
                      <a:tcPr>
                        <a:blipFill>
                          <a:blip r:embed="rId2"/>
                          <a:stretch>
                            <a:fillRect l="-195238" t="-410667" r="-279365" b="-130667"/>
                          </a:stretch>
                        </a:blipFill>
                      </a:tcPr>
                    </a:tc>
                    <a:tc>
                      <a:txBody>
                        <a:bodyPr/>
                        <a:lstStyle/>
                        <a:p>
                          <a:endParaRPr lang="tr-TR"/>
                        </a:p>
                      </a:txBody>
                      <a:tcPr>
                        <a:blipFill>
                          <a:blip r:embed="rId2"/>
                          <a:stretch>
                            <a:fillRect l="-238462" t="-410667" r="-125641" b="-130667"/>
                          </a:stretch>
                        </a:blipFill>
                      </a:tcPr>
                    </a:tc>
                    <a:tc>
                      <a:txBody>
                        <a:bodyPr/>
                        <a:lstStyle/>
                        <a:p>
                          <a:endParaRPr lang="tr-TR"/>
                        </a:p>
                      </a:txBody>
                      <a:tcPr>
                        <a:blipFill>
                          <a:blip r:embed="rId2"/>
                          <a:stretch>
                            <a:fillRect l="-668354" t="-410667" r="-148101" b="-130667"/>
                          </a:stretch>
                        </a:blipFill>
                      </a:tcPr>
                    </a:tc>
                    <a:tc>
                      <a:txBody>
                        <a:bodyPr/>
                        <a:lstStyle/>
                        <a:p>
                          <a:r>
                            <a:rPr lang="tr-TR" sz="2400" b="0" dirty="0"/>
                            <a:t>1</a:t>
                          </a:r>
                          <a:endParaRPr lang="en-US" sz="2400" b="0" dirty="0"/>
                        </a:p>
                      </a:txBody>
                      <a:tcPr/>
                    </a:tc>
                    <a:extLst>
                      <a:ext uri="{0D108BD9-81ED-4DB2-BD59-A6C34878D82A}">
                        <a16:rowId xmlns:a16="http://schemas.microsoft.com/office/drawing/2014/main" val="709093355"/>
                      </a:ext>
                    </a:extLst>
                  </a:tr>
                  <a:tr h="457200">
                    <a:tc>
                      <a:txBody>
                        <a:bodyPr/>
                        <a:lstStyle/>
                        <a:p>
                          <a:endParaRPr lang="en-US" sz="2400" dirty="0"/>
                        </a:p>
                      </a:txBody>
                      <a:tcPr/>
                    </a:tc>
                    <a:tc>
                      <a:txBody>
                        <a:bodyPr/>
                        <a:lstStyle/>
                        <a:p>
                          <a:endParaRPr lang="tr-TR"/>
                        </a:p>
                      </a:txBody>
                      <a:tcPr>
                        <a:blipFill>
                          <a:blip r:embed="rId2"/>
                          <a:stretch>
                            <a:fillRect l="-195238" t="-510667" r="-279365" b="-30667"/>
                          </a:stretch>
                        </a:blipFill>
                      </a:tcPr>
                    </a:tc>
                    <a:tc>
                      <a:txBody>
                        <a:bodyPr/>
                        <a:lstStyle/>
                        <a:p>
                          <a:endParaRPr lang="tr-TR"/>
                        </a:p>
                      </a:txBody>
                      <a:tcPr>
                        <a:blipFill>
                          <a:blip r:embed="rId2"/>
                          <a:stretch>
                            <a:fillRect l="-238462" t="-510667" r="-125641" b="-30667"/>
                          </a:stretch>
                        </a:blipFill>
                      </a:tcPr>
                    </a:tc>
                    <a:tc>
                      <a:txBody>
                        <a:bodyPr/>
                        <a:lstStyle/>
                        <a:p>
                          <a:endParaRPr lang="tr-TR"/>
                        </a:p>
                      </a:txBody>
                      <a:tcPr>
                        <a:blipFill>
                          <a:blip r:embed="rId2"/>
                          <a:stretch>
                            <a:fillRect l="-668354" t="-510667" r="-148101" b="-30667"/>
                          </a:stretch>
                        </a:blipFill>
                      </a:tcPr>
                    </a:tc>
                    <a:tc>
                      <a:txBody>
                        <a:bodyPr/>
                        <a:lstStyle/>
                        <a:p>
                          <a:r>
                            <a:rPr lang="tr-TR" sz="2400" b="0" dirty="0"/>
                            <a:t>0</a:t>
                          </a:r>
                          <a:endParaRPr lang="en-US" sz="2400" b="0" dirty="0"/>
                        </a:p>
                      </a:txBody>
                      <a:tcPr/>
                    </a:tc>
                    <a:extLst>
                      <a:ext uri="{0D108BD9-81ED-4DB2-BD59-A6C34878D82A}">
                        <a16:rowId xmlns:a16="http://schemas.microsoft.com/office/drawing/2014/main" val="3220848258"/>
                      </a:ext>
                    </a:extLst>
                  </a:tr>
                </a:tbl>
              </a:graphicData>
            </a:graphic>
          </p:graphicFrame>
        </mc:Fallback>
      </mc:AlternateContent>
    </p:spTree>
    <p:extLst>
      <p:ext uri="{BB962C8B-B14F-4D97-AF65-F5344CB8AC3E}">
        <p14:creationId xmlns:p14="http://schemas.microsoft.com/office/powerpoint/2010/main" val="8758022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2</a:t>
            </a:r>
          </a:p>
        </p:txBody>
      </p:sp>
      <p:sp>
        <p:nvSpPr>
          <p:cNvPr id="3" name="Content Placeholder 2"/>
          <p:cNvSpPr>
            <a:spLocks noGrp="1"/>
          </p:cNvSpPr>
          <p:nvPr>
            <p:ph idx="1"/>
          </p:nvPr>
        </p:nvSpPr>
        <p:spPr/>
        <p:txBody>
          <a:bodyPr>
            <a:normAutofit/>
          </a:bodyPr>
          <a:lstStyle/>
          <a:p>
            <a:pPr marL="0" indent="0">
              <a:buNone/>
            </a:pPr>
            <a:r>
              <a:rPr lang="en-US" dirty="0"/>
              <a:t>A farmer has 100 acres of land, some or all of which he can use to raise only potatoes and/or wheat. The farmer has 160 man-days of labor available, and he has $11,000 capital. Furthermore, he knows that wheat brings in a revenue of $1200/acre and potato bring in a revenue of $400/acre. The input costs (seeding, cultivating etc.) are $200/acre for wheat and $100/acre for potatoes. The amount of labor required to raise crops is, 4 man-days/acre for wheat and 1 man-days/acre for potatoes. </a:t>
            </a:r>
          </a:p>
        </p:txBody>
      </p:sp>
      <p:sp>
        <p:nvSpPr>
          <p:cNvPr id="4" name="Footer Placeholder 3">
            <a:extLst>
              <a:ext uri="{FF2B5EF4-FFF2-40B4-BE49-F238E27FC236}">
                <a16:creationId xmlns:a16="http://schemas.microsoft.com/office/drawing/2014/main" id="{8893EEA2-09B9-42E1-9B85-C9490F5B779B}"/>
              </a:ext>
            </a:extLst>
          </p:cNvPr>
          <p:cNvSpPr>
            <a:spLocks noGrp="1"/>
          </p:cNvSpPr>
          <p:nvPr>
            <p:ph type="ftr" sz="quarter" idx="11"/>
          </p:nvPr>
        </p:nvSpPr>
        <p:spPr/>
        <p:txBody>
          <a:bodyPr/>
          <a:lstStyle/>
          <a:p>
            <a:pPr>
              <a:defRPr/>
            </a:pPr>
            <a:r>
              <a:rPr lang="en-US" altLang="en-US"/>
              <a:t>ITU - Business Analytics - Mehmet Yasin Ulukuş</a:t>
            </a:r>
            <a:endParaRPr lang="en-US" altLang="en-US" i="0"/>
          </a:p>
        </p:txBody>
      </p:sp>
    </p:spTree>
    <p:extLst>
      <p:ext uri="{BB962C8B-B14F-4D97-AF65-F5344CB8AC3E}">
        <p14:creationId xmlns:p14="http://schemas.microsoft.com/office/powerpoint/2010/main" val="416373561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2</a:t>
            </a:r>
          </a:p>
        </p:txBody>
      </p:sp>
      <p:sp>
        <p:nvSpPr>
          <p:cNvPr id="3" name="Content Placeholder 2"/>
          <p:cNvSpPr>
            <a:spLocks noGrp="1"/>
          </p:cNvSpPr>
          <p:nvPr>
            <p:ph idx="1"/>
          </p:nvPr>
        </p:nvSpPr>
        <p:spPr/>
        <p:txBody>
          <a:bodyPr>
            <a:normAutofit/>
          </a:bodyPr>
          <a:lstStyle/>
          <a:p>
            <a:pPr marL="0" indent="0">
              <a:buNone/>
            </a:pPr>
            <a:r>
              <a:rPr lang="en-US" sz="3200" dirty="0"/>
              <a:t>Following table summarizes the information</a:t>
            </a:r>
          </a:p>
          <a:p>
            <a:pPr marL="0" indent="0">
              <a:buNone/>
            </a:pPr>
            <a:endParaRPr lang="en-US" sz="3200" dirty="0"/>
          </a:p>
          <a:p>
            <a:pPr marL="0" indent="0">
              <a:buNone/>
            </a:pPr>
            <a:endParaRPr lang="en-US" sz="3200" dirty="0"/>
          </a:p>
          <a:p>
            <a:pPr marL="0" indent="0">
              <a:buNone/>
            </a:pPr>
            <a:endParaRPr lang="en-US" sz="3200" dirty="0"/>
          </a:p>
          <a:p>
            <a:pPr marL="0" indent="0">
              <a:buNone/>
            </a:pPr>
            <a:endParaRPr lang="en-US" sz="3200" dirty="0"/>
          </a:p>
          <a:p>
            <a:pPr marL="0" indent="0">
              <a:buNone/>
            </a:pPr>
            <a:r>
              <a:rPr lang="en-US" sz="3200" dirty="0"/>
              <a:t>The farmer wishes to know how many acres of wheat and how many acres of potatoes he should plant to maximize his revenue.</a:t>
            </a:r>
          </a:p>
          <a:p>
            <a:pPr marL="0" indent="0">
              <a:buNone/>
            </a:pPr>
            <a:endParaRPr lang="en-US" sz="3200" dirty="0"/>
          </a:p>
        </p:txBody>
      </p:sp>
      <p:sp>
        <p:nvSpPr>
          <p:cNvPr id="5" name="Footer Placeholder 4">
            <a:extLst>
              <a:ext uri="{FF2B5EF4-FFF2-40B4-BE49-F238E27FC236}">
                <a16:creationId xmlns:a16="http://schemas.microsoft.com/office/drawing/2014/main" id="{22507C99-1D68-4450-B78A-CBB88F8EBEF4}"/>
              </a:ext>
            </a:extLst>
          </p:cNvPr>
          <p:cNvSpPr>
            <a:spLocks noGrp="1"/>
          </p:cNvSpPr>
          <p:nvPr>
            <p:ph type="ftr" sz="quarter" idx="11"/>
          </p:nvPr>
        </p:nvSpPr>
        <p:spPr/>
        <p:txBody>
          <a:bodyPr/>
          <a:lstStyle/>
          <a:p>
            <a:pPr>
              <a:defRPr/>
            </a:pPr>
            <a:r>
              <a:rPr lang="en-US" altLang="en-US"/>
              <a:t>ITU - Business Analytics - Mehmet Yasin Ulukuş</a:t>
            </a:r>
            <a:endParaRPr lang="en-US" altLang="en-US" i="0"/>
          </a:p>
        </p:txBody>
      </p:sp>
      <p:graphicFrame>
        <p:nvGraphicFramePr>
          <p:cNvPr id="4" name="Table 3">
            <a:extLst>
              <a:ext uri="{FF2B5EF4-FFF2-40B4-BE49-F238E27FC236}">
                <a16:creationId xmlns:a16="http://schemas.microsoft.com/office/drawing/2014/main" id="{4864A452-F73C-4DA0-80A5-A12CA9E5D470}"/>
              </a:ext>
            </a:extLst>
          </p:cNvPr>
          <p:cNvGraphicFramePr>
            <a:graphicFrameLocks noGrp="1"/>
          </p:cNvGraphicFramePr>
          <p:nvPr>
            <p:extLst>
              <p:ext uri="{D42A27DB-BD31-4B8C-83A1-F6EECF244321}">
                <p14:modId xmlns:p14="http://schemas.microsoft.com/office/powerpoint/2010/main" val="3862426777"/>
              </p:ext>
            </p:extLst>
          </p:nvPr>
        </p:nvGraphicFramePr>
        <p:xfrm>
          <a:off x="3048000" y="2133600"/>
          <a:ext cx="6096000" cy="1478280"/>
        </p:xfrm>
        <a:graphic>
          <a:graphicData uri="http://schemas.openxmlformats.org/drawingml/2006/table">
            <a:tbl>
              <a:tblPr firstRow="1" bandRow="1">
                <a:tableStyleId>{9D7B26C5-4107-4FEC-AEDC-1716B250A1EF}</a:tableStyleId>
              </a:tblPr>
              <a:tblGrid>
                <a:gridCol w="1524000">
                  <a:extLst>
                    <a:ext uri="{9D8B030D-6E8A-4147-A177-3AD203B41FA5}">
                      <a16:colId xmlns:a16="http://schemas.microsoft.com/office/drawing/2014/main" val="1379064298"/>
                    </a:ext>
                  </a:extLst>
                </a:gridCol>
                <a:gridCol w="1524000">
                  <a:extLst>
                    <a:ext uri="{9D8B030D-6E8A-4147-A177-3AD203B41FA5}">
                      <a16:colId xmlns:a16="http://schemas.microsoft.com/office/drawing/2014/main" val="3671537445"/>
                    </a:ext>
                  </a:extLst>
                </a:gridCol>
                <a:gridCol w="1524000">
                  <a:extLst>
                    <a:ext uri="{9D8B030D-6E8A-4147-A177-3AD203B41FA5}">
                      <a16:colId xmlns:a16="http://schemas.microsoft.com/office/drawing/2014/main" val="3926379954"/>
                    </a:ext>
                  </a:extLst>
                </a:gridCol>
                <a:gridCol w="1524000">
                  <a:extLst>
                    <a:ext uri="{9D8B030D-6E8A-4147-A177-3AD203B41FA5}">
                      <a16:colId xmlns:a16="http://schemas.microsoft.com/office/drawing/2014/main" val="322558353"/>
                    </a:ext>
                  </a:extLst>
                </a:gridCol>
              </a:tblGrid>
              <a:tr h="370840">
                <a:tc>
                  <a:txBody>
                    <a:bodyPr/>
                    <a:lstStyle/>
                    <a:p>
                      <a:pPr algn="ctr"/>
                      <a:endParaRPr lang="en-US" dirty="0"/>
                    </a:p>
                  </a:txBody>
                  <a:tcPr/>
                </a:tc>
                <a:tc>
                  <a:txBody>
                    <a:bodyPr/>
                    <a:lstStyle/>
                    <a:p>
                      <a:pPr algn="ctr"/>
                      <a:r>
                        <a:rPr lang="en-US" dirty="0"/>
                        <a:t>Potato</a:t>
                      </a:r>
                    </a:p>
                  </a:txBody>
                  <a:tcPr/>
                </a:tc>
                <a:tc>
                  <a:txBody>
                    <a:bodyPr/>
                    <a:lstStyle/>
                    <a:p>
                      <a:pPr algn="ctr"/>
                      <a:r>
                        <a:rPr lang="en-US" dirty="0"/>
                        <a:t>Wheat</a:t>
                      </a:r>
                    </a:p>
                  </a:txBody>
                  <a:tcPr/>
                </a:tc>
                <a:tc>
                  <a:txBody>
                    <a:bodyPr/>
                    <a:lstStyle/>
                    <a:p>
                      <a:pPr algn="ctr"/>
                      <a:r>
                        <a:rPr lang="en-US" dirty="0"/>
                        <a:t>Capacity</a:t>
                      </a:r>
                    </a:p>
                  </a:txBody>
                  <a:tcPr/>
                </a:tc>
                <a:extLst>
                  <a:ext uri="{0D108BD9-81ED-4DB2-BD59-A6C34878D82A}">
                    <a16:rowId xmlns:a16="http://schemas.microsoft.com/office/drawing/2014/main" val="2482622584"/>
                  </a:ext>
                </a:extLst>
              </a:tr>
              <a:tr h="370840">
                <a:tc>
                  <a:txBody>
                    <a:bodyPr/>
                    <a:lstStyle/>
                    <a:p>
                      <a:pPr algn="ctr"/>
                      <a:r>
                        <a:rPr lang="en-US" dirty="0"/>
                        <a:t>Acreage</a:t>
                      </a:r>
                    </a:p>
                  </a:txBody>
                  <a:tcPr/>
                </a:tc>
                <a:tc>
                  <a:txBody>
                    <a:bodyPr/>
                    <a:lstStyle/>
                    <a:p>
                      <a:pPr algn="ctr"/>
                      <a:r>
                        <a:rPr lang="en-US" dirty="0"/>
                        <a:t>1</a:t>
                      </a:r>
                    </a:p>
                  </a:txBody>
                  <a:tcPr/>
                </a:tc>
                <a:tc>
                  <a:txBody>
                    <a:bodyPr/>
                    <a:lstStyle/>
                    <a:p>
                      <a:pPr algn="ctr"/>
                      <a:r>
                        <a:rPr lang="en-US" dirty="0"/>
                        <a:t>1</a:t>
                      </a:r>
                    </a:p>
                  </a:txBody>
                  <a:tcPr/>
                </a:tc>
                <a:tc>
                  <a:txBody>
                    <a:bodyPr/>
                    <a:lstStyle/>
                    <a:p>
                      <a:pPr algn="ctr"/>
                      <a:r>
                        <a:rPr lang="en-US" dirty="0"/>
                        <a:t>100</a:t>
                      </a:r>
                    </a:p>
                  </a:txBody>
                  <a:tcPr/>
                </a:tc>
                <a:extLst>
                  <a:ext uri="{0D108BD9-81ED-4DB2-BD59-A6C34878D82A}">
                    <a16:rowId xmlns:a16="http://schemas.microsoft.com/office/drawing/2014/main" val="46718759"/>
                  </a:ext>
                </a:extLst>
              </a:tr>
              <a:tr h="344170">
                <a:tc>
                  <a:txBody>
                    <a:bodyPr/>
                    <a:lstStyle/>
                    <a:p>
                      <a:pPr algn="ctr"/>
                      <a:r>
                        <a:rPr lang="en-US" dirty="0"/>
                        <a:t>Labor</a:t>
                      </a:r>
                    </a:p>
                  </a:txBody>
                  <a:tcPr/>
                </a:tc>
                <a:tc>
                  <a:txBody>
                    <a:bodyPr/>
                    <a:lstStyle/>
                    <a:p>
                      <a:pPr algn="ctr"/>
                      <a:r>
                        <a:rPr lang="en-US" dirty="0"/>
                        <a:t>1</a:t>
                      </a:r>
                    </a:p>
                  </a:txBody>
                  <a:tcPr/>
                </a:tc>
                <a:tc>
                  <a:txBody>
                    <a:bodyPr/>
                    <a:lstStyle/>
                    <a:p>
                      <a:pPr algn="ctr"/>
                      <a:r>
                        <a:rPr lang="en-US" dirty="0"/>
                        <a:t>4</a:t>
                      </a:r>
                    </a:p>
                  </a:txBody>
                  <a:tcPr/>
                </a:tc>
                <a:tc>
                  <a:txBody>
                    <a:bodyPr/>
                    <a:lstStyle/>
                    <a:p>
                      <a:pPr algn="ctr"/>
                      <a:r>
                        <a:rPr lang="en-US" dirty="0"/>
                        <a:t>160</a:t>
                      </a:r>
                    </a:p>
                  </a:txBody>
                  <a:tcPr/>
                </a:tc>
                <a:extLst>
                  <a:ext uri="{0D108BD9-81ED-4DB2-BD59-A6C34878D82A}">
                    <a16:rowId xmlns:a16="http://schemas.microsoft.com/office/drawing/2014/main" val="2203178054"/>
                  </a:ext>
                </a:extLst>
              </a:tr>
              <a:tr h="370840">
                <a:tc>
                  <a:txBody>
                    <a:bodyPr/>
                    <a:lstStyle/>
                    <a:p>
                      <a:pPr algn="ctr"/>
                      <a:r>
                        <a:rPr lang="en-US" dirty="0"/>
                        <a:t>Capital</a:t>
                      </a:r>
                    </a:p>
                  </a:txBody>
                  <a:tcPr/>
                </a:tc>
                <a:tc>
                  <a:txBody>
                    <a:bodyPr/>
                    <a:lstStyle/>
                    <a:p>
                      <a:pPr algn="ctr"/>
                      <a:r>
                        <a:rPr lang="en-US" dirty="0"/>
                        <a:t>100</a:t>
                      </a:r>
                    </a:p>
                  </a:txBody>
                  <a:tcPr/>
                </a:tc>
                <a:tc>
                  <a:txBody>
                    <a:bodyPr/>
                    <a:lstStyle/>
                    <a:p>
                      <a:pPr algn="ctr"/>
                      <a:r>
                        <a:rPr lang="en-US" dirty="0"/>
                        <a:t>200</a:t>
                      </a:r>
                    </a:p>
                  </a:txBody>
                  <a:tcPr/>
                </a:tc>
                <a:tc>
                  <a:txBody>
                    <a:bodyPr/>
                    <a:lstStyle/>
                    <a:p>
                      <a:pPr algn="ctr"/>
                      <a:r>
                        <a:rPr lang="en-US" dirty="0"/>
                        <a:t>11,000</a:t>
                      </a:r>
                    </a:p>
                  </a:txBody>
                  <a:tcPr/>
                </a:tc>
                <a:extLst>
                  <a:ext uri="{0D108BD9-81ED-4DB2-BD59-A6C34878D82A}">
                    <a16:rowId xmlns:a16="http://schemas.microsoft.com/office/drawing/2014/main" val="2913320468"/>
                  </a:ext>
                </a:extLst>
              </a:tr>
            </a:tbl>
          </a:graphicData>
        </a:graphic>
      </p:graphicFrame>
    </p:spTree>
    <p:extLst>
      <p:ext uri="{BB962C8B-B14F-4D97-AF65-F5344CB8AC3E}">
        <p14:creationId xmlns:p14="http://schemas.microsoft.com/office/powerpoint/2010/main" val="302598798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Decision Variables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en-US" dirty="0"/>
                  <a:t>The objective is to determine the best plantation strategy to  maximize revenue</a:t>
                </a:r>
              </a:p>
              <a:p>
                <a:r>
                  <a:rPr lang="en-US" dirty="0"/>
                  <a:t>We can control the area reserved and plant for both wheat and potato. </a:t>
                </a:r>
              </a:p>
              <a:p>
                <a:r>
                  <a:rPr lang="en-US" dirty="0"/>
                  <a:t>We need to be quantitative: </a:t>
                </a:r>
              </a:p>
              <a:p>
                <a:pPr lvl="1"/>
                <a14:m>
                  <m:oMath xmlns:m="http://schemas.openxmlformats.org/officeDocument/2006/math">
                    <m:sSub>
                      <m:sSubPr>
                        <m:ctrlPr>
                          <a:rPr lang="tr-TR" sz="2800" b="1" i="1" smtClean="0">
                            <a:latin typeface="Cambria Math" panose="02040503050406030204" pitchFamily="18" charset="0"/>
                          </a:rPr>
                        </m:ctrlPr>
                      </m:sSubPr>
                      <m:e>
                        <m:r>
                          <a:rPr lang="tr-TR" sz="2800" b="1" i="1" smtClean="0">
                            <a:latin typeface="Cambria Math" panose="02040503050406030204" pitchFamily="18" charset="0"/>
                          </a:rPr>
                          <m:t>𝒙</m:t>
                        </m:r>
                      </m:e>
                      <m:sub>
                        <m:r>
                          <a:rPr lang="tr-TR" sz="2800" b="1" i="1" smtClean="0">
                            <a:latin typeface="Cambria Math" panose="02040503050406030204" pitchFamily="18" charset="0"/>
                          </a:rPr>
                          <m:t>𝟏</m:t>
                        </m:r>
                      </m:sub>
                    </m:sSub>
                  </m:oMath>
                </a14:m>
                <a:r>
                  <a:rPr lang="en-US" sz="2800" b="1" dirty="0"/>
                  <a:t>: Number of acres of potatoes planted</a:t>
                </a:r>
                <a:endParaRPr lang="en-US" sz="2800" dirty="0"/>
              </a:p>
              <a:p>
                <a:pPr lvl="1"/>
                <a14:m>
                  <m:oMath xmlns:m="http://schemas.openxmlformats.org/officeDocument/2006/math">
                    <m:sSub>
                      <m:sSubPr>
                        <m:ctrlPr>
                          <a:rPr lang="tr-TR" sz="2800" b="1" i="1">
                            <a:latin typeface="Cambria Math" panose="02040503050406030204" pitchFamily="18" charset="0"/>
                          </a:rPr>
                        </m:ctrlPr>
                      </m:sSubPr>
                      <m:e>
                        <m:r>
                          <a:rPr lang="tr-TR" sz="2800" b="1" i="1">
                            <a:latin typeface="Cambria Math" panose="02040503050406030204" pitchFamily="18" charset="0"/>
                          </a:rPr>
                          <m:t>𝒙</m:t>
                        </m:r>
                      </m:e>
                      <m:sub>
                        <m:r>
                          <a:rPr lang="tr-TR" sz="2800" b="1" i="1" smtClean="0">
                            <a:latin typeface="Cambria Math" panose="02040503050406030204" pitchFamily="18" charset="0"/>
                          </a:rPr>
                          <m:t>𝟐</m:t>
                        </m:r>
                      </m:sub>
                    </m:sSub>
                  </m:oMath>
                </a14:m>
                <a:r>
                  <a:rPr lang="en-US" sz="2800" b="1" dirty="0"/>
                  <a:t>: Number of acres of wheat planted</a:t>
                </a:r>
                <a:endParaRPr lang="en-US" sz="2800" dirty="0"/>
              </a:p>
              <a:p>
                <a:pPr lvl="1"/>
                <a:r>
                  <a:rPr lang="en-US" sz="2800" dirty="0"/>
                  <a:t>Both of them are nonnegative and continuous variables </a:t>
                </a:r>
              </a:p>
              <a:p>
                <a:pPr marL="114300" indent="0">
                  <a:buNone/>
                </a:pP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1043" t="-2107"/>
                </a:stretch>
              </a:blipFill>
            </p:spPr>
            <p:txBody>
              <a:bodyPr/>
              <a:lstStyle/>
              <a:p>
                <a:r>
                  <a:rPr lang="en-US">
                    <a:noFill/>
                  </a:rPr>
                  <a:t> </a:t>
                </a:r>
              </a:p>
            </p:txBody>
          </p:sp>
        </mc:Fallback>
      </mc:AlternateContent>
      <p:sp>
        <p:nvSpPr>
          <p:cNvPr id="4" name="Footer Placeholder 3">
            <a:extLst>
              <a:ext uri="{FF2B5EF4-FFF2-40B4-BE49-F238E27FC236}">
                <a16:creationId xmlns:a16="http://schemas.microsoft.com/office/drawing/2014/main" id="{4427A2EE-7046-4040-9D7B-B7CFCA103E37}"/>
              </a:ext>
            </a:extLst>
          </p:cNvPr>
          <p:cNvSpPr>
            <a:spLocks noGrp="1"/>
          </p:cNvSpPr>
          <p:nvPr>
            <p:ph type="ftr" sz="quarter" idx="11"/>
          </p:nvPr>
        </p:nvSpPr>
        <p:spPr/>
        <p:txBody>
          <a:bodyPr/>
          <a:lstStyle/>
          <a:p>
            <a:pPr>
              <a:defRPr/>
            </a:pPr>
            <a:r>
              <a:rPr lang="en-US" altLang="en-US"/>
              <a:t>ITU - Business Analytics - Mehmet Yasin Ulukuş</a:t>
            </a:r>
            <a:endParaRPr lang="en-US" altLang="en-US" i="0"/>
          </a:p>
        </p:txBody>
      </p:sp>
    </p:spTree>
    <p:extLst>
      <p:ext uri="{BB962C8B-B14F-4D97-AF65-F5344CB8AC3E}">
        <p14:creationId xmlns:p14="http://schemas.microsoft.com/office/powerpoint/2010/main" val="152851688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Constraints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en-US" sz="2200" dirty="0"/>
                  <a:t>Acreage Constraint:</a:t>
                </a:r>
              </a:p>
              <a:p>
                <a:pPr marL="411480" lvl="1" indent="0">
                  <a:buNone/>
                </a:pPr>
                <a:r>
                  <a:rPr lang="en-US" sz="2200" dirty="0"/>
                  <a:t>The sum of area reserved for potatoes and wheat cannot exceed the total area</a:t>
                </a:r>
                <a:endParaRPr lang="tr-TR" sz="2200" dirty="0"/>
              </a:p>
              <a:p>
                <a:pPr marL="411480" lvl="1" indent="0">
                  <a:buNone/>
                </a:pPr>
                <a14:m>
                  <m:oMathPara xmlns:m="http://schemas.openxmlformats.org/officeDocument/2006/math">
                    <m:oMathParaPr>
                      <m:jc m:val="centerGroup"/>
                    </m:oMathParaPr>
                    <m:oMath xmlns:m="http://schemas.openxmlformats.org/officeDocument/2006/math">
                      <m:sSub>
                        <m:sSubPr>
                          <m:ctrlPr>
                            <a:rPr lang="tr-TR" i="1" dirty="0">
                              <a:solidFill>
                                <a:srgbClr val="FF0000"/>
                              </a:solidFill>
                              <a:latin typeface="Cambria Math" panose="02040503050406030204" pitchFamily="18" charset="0"/>
                            </a:rPr>
                          </m:ctrlPr>
                        </m:sSubPr>
                        <m:e>
                          <m:r>
                            <a:rPr lang="fr-FR" i="1" dirty="0">
                              <a:solidFill>
                                <a:srgbClr val="FF0000"/>
                              </a:solidFill>
                              <a:latin typeface="Cambria Math" panose="02040503050406030204" pitchFamily="18" charset="0"/>
                            </a:rPr>
                            <m:t>𝒙</m:t>
                          </m:r>
                        </m:e>
                        <m:sub>
                          <m:r>
                            <a:rPr lang="tr-TR" i="1" dirty="0">
                              <a:solidFill>
                                <a:srgbClr val="FF0000"/>
                              </a:solidFill>
                              <a:latin typeface="Cambria Math" panose="02040503050406030204" pitchFamily="18" charset="0"/>
                            </a:rPr>
                            <m:t>1</m:t>
                          </m:r>
                        </m:sub>
                      </m:sSub>
                      <m:r>
                        <a:rPr lang="tr-TR" i="1" dirty="0">
                          <a:solidFill>
                            <a:srgbClr val="FF0000"/>
                          </a:solidFill>
                          <a:latin typeface="Cambria Math" panose="02040503050406030204" pitchFamily="18" charset="0"/>
                        </a:rPr>
                        <m:t>+</m:t>
                      </m:r>
                      <m:sSub>
                        <m:sSubPr>
                          <m:ctrlPr>
                            <a:rPr lang="tr-TR" i="1" dirty="0">
                              <a:solidFill>
                                <a:srgbClr val="FF0000"/>
                              </a:solidFill>
                              <a:latin typeface="Cambria Math" panose="02040503050406030204" pitchFamily="18" charset="0"/>
                            </a:rPr>
                          </m:ctrlPr>
                        </m:sSubPr>
                        <m:e>
                          <m:r>
                            <a:rPr lang="fr-FR" i="1" dirty="0">
                              <a:solidFill>
                                <a:srgbClr val="FF0000"/>
                              </a:solidFill>
                              <a:latin typeface="Cambria Math" panose="02040503050406030204" pitchFamily="18" charset="0"/>
                            </a:rPr>
                            <m:t>𝒙</m:t>
                          </m:r>
                        </m:e>
                        <m:sub>
                          <m:r>
                            <a:rPr lang="tr-TR" i="1" dirty="0">
                              <a:solidFill>
                                <a:srgbClr val="FF0000"/>
                              </a:solidFill>
                              <a:latin typeface="Cambria Math" panose="02040503050406030204" pitchFamily="18" charset="0"/>
                            </a:rPr>
                            <m:t>2</m:t>
                          </m:r>
                        </m:sub>
                      </m:sSub>
                      <m:r>
                        <a:rPr lang="tr-TR" i="1" dirty="0">
                          <a:solidFill>
                            <a:srgbClr val="FF0000"/>
                          </a:solidFill>
                          <a:latin typeface="Cambria Math" panose="02040503050406030204" pitchFamily="18" charset="0"/>
                        </a:rPr>
                        <m:t>≤</m:t>
                      </m:r>
                      <m:r>
                        <a:rPr lang="tr-TR" b="0" i="1" dirty="0" smtClean="0">
                          <a:solidFill>
                            <a:srgbClr val="FF0000"/>
                          </a:solidFill>
                          <a:latin typeface="Cambria Math" panose="02040503050406030204" pitchFamily="18" charset="0"/>
                        </a:rPr>
                        <m:t>100</m:t>
                      </m:r>
                    </m:oMath>
                  </m:oMathPara>
                </a14:m>
                <a:endParaRPr lang="en-US" sz="2200" dirty="0"/>
              </a:p>
              <a:p>
                <a:r>
                  <a:rPr lang="en-US" sz="2200" dirty="0"/>
                  <a:t>Labor Constraint</a:t>
                </a:r>
                <a:r>
                  <a:rPr lang="tr-TR" sz="2200" dirty="0"/>
                  <a:t>:</a:t>
                </a:r>
                <a:endParaRPr lang="en-US" sz="2200" dirty="0"/>
              </a:p>
              <a:p>
                <a:pPr marL="411480" lvl="1" indent="0">
                  <a:buNone/>
                </a:pPr>
                <a:r>
                  <a:rPr lang="en-US" sz="2200" dirty="0"/>
                  <a:t>Total man-hour required to raise both planted crops cannot exceed available labor capacity </a:t>
                </a:r>
                <a:endParaRPr lang="tr-TR" sz="2200" dirty="0"/>
              </a:p>
              <a:p>
                <a:pPr marL="411480" lvl="1" indent="0">
                  <a:buNone/>
                </a:pPr>
                <a14:m>
                  <m:oMathPara xmlns:m="http://schemas.openxmlformats.org/officeDocument/2006/math">
                    <m:oMathParaPr>
                      <m:jc m:val="centerGroup"/>
                    </m:oMathParaPr>
                    <m:oMath xmlns:m="http://schemas.openxmlformats.org/officeDocument/2006/math">
                      <m:sSub>
                        <m:sSubPr>
                          <m:ctrlPr>
                            <a:rPr lang="tr-TR" i="1" dirty="0">
                              <a:solidFill>
                                <a:srgbClr val="FF0000"/>
                              </a:solidFill>
                              <a:latin typeface="Cambria Math" panose="02040503050406030204" pitchFamily="18" charset="0"/>
                            </a:rPr>
                          </m:ctrlPr>
                        </m:sSubPr>
                        <m:e>
                          <m:r>
                            <a:rPr lang="fr-FR" i="1" dirty="0">
                              <a:solidFill>
                                <a:srgbClr val="FF0000"/>
                              </a:solidFill>
                              <a:latin typeface="Cambria Math" panose="02040503050406030204" pitchFamily="18" charset="0"/>
                            </a:rPr>
                            <m:t>𝒙</m:t>
                          </m:r>
                        </m:e>
                        <m:sub>
                          <m:r>
                            <a:rPr lang="tr-TR" i="1" dirty="0">
                              <a:solidFill>
                                <a:srgbClr val="FF0000"/>
                              </a:solidFill>
                              <a:latin typeface="Cambria Math" panose="02040503050406030204" pitchFamily="18" charset="0"/>
                            </a:rPr>
                            <m:t>1</m:t>
                          </m:r>
                        </m:sub>
                      </m:sSub>
                      <m:r>
                        <a:rPr lang="tr-TR" i="1" dirty="0">
                          <a:solidFill>
                            <a:srgbClr val="FF0000"/>
                          </a:solidFill>
                          <a:latin typeface="Cambria Math" panose="02040503050406030204" pitchFamily="18" charset="0"/>
                        </a:rPr>
                        <m:t>+</m:t>
                      </m:r>
                      <m:r>
                        <a:rPr lang="en-US" i="1" dirty="0">
                          <a:solidFill>
                            <a:srgbClr val="FF0000"/>
                          </a:solidFill>
                          <a:latin typeface="Cambria Math" panose="02040503050406030204" pitchFamily="18" charset="0"/>
                        </a:rPr>
                        <m:t>4</m:t>
                      </m:r>
                      <m:sSub>
                        <m:sSubPr>
                          <m:ctrlPr>
                            <a:rPr lang="tr-TR" i="1" dirty="0">
                              <a:solidFill>
                                <a:srgbClr val="FF0000"/>
                              </a:solidFill>
                              <a:latin typeface="Cambria Math" panose="02040503050406030204" pitchFamily="18" charset="0"/>
                            </a:rPr>
                          </m:ctrlPr>
                        </m:sSubPr>
                        <m:e>
                          <m:r>
                            <a:rPr lang="fr-FR" i="1" dirty="0">
                              <a:solidFill>
                                <a:srgbClr val="FF0000"/>
                              </a:solidFill>
                              <a:latin typeface="Cambria Math" panose="02040503050406030204" pitchFamily="18" charset="0"/>
                            </a:rPr>
                            <m:t>𝒙</m:t>
                          </m:r>
                        </m:e>
                        <m:sub>
                          <m:r>
                            <a:rPr lang="tr-TR" i="1" dirty="0">
                              <a:solidFill>
                                <a:srgbClr val="FF0000"/>
                              </a:solidFill>
                              <a:latin typeface="Cambria Math" panose="02040503050406030204" pitchFamily="18" charset="0"/>
                            </a:rPr>
                            <m:t>2</m:t>
                          </m:r>
                        </m:sub>
                      </m:sSub>
                      <m:r>
                        <a:rPr lang="tr-TR" i="1" dirty="0">
                          <a:solidFill>
                            <a:srgbClr val="FF0000"/>
                          </a:solidFill>
                          <a:latin typeface="Cambria Math" panose="02040503050406030204" pitchFamily="18" charset="0"/>
                        </a:rPr>
                        <m:t>≤</m:t>
                      </m:r>
                      <m:r>
                        <a:rPr lang="tr-TR" b="0" i="1" dirty="0" smtClean="0">
                          <a:solidFill>
                            <a:srgbClr val="FF0000"/>
                          </a:solidFill>
                          <a:latin typeface="Cambria Math" panose="02040503050406030204" pitchFamily="18" charset="0"/>
                        </a:rPr>
                        <m:t>160</m:t>
                      </m:r>
                    </m:oMath>
                  </m:oMathPara>
                </a14:m>
                <a:endParaRPr lang="en-US" sz="2200" dirty="0"/>
              </a:p>
              <a:p>
                <a:r>
                  <a:rPr lang="en-US" sz="2200" dirty="0"/>
                  <a:t>Capital Constraint</a:t>
                </a:r>
                <a:r>
                  <a:rPr lang="tr-TR" sz="2200" dirty="0"/>
                  <a:t>:</a:t>
                </a:r>
                <a:endParaRPr lang="en-US" sz="2200" dirty="0"/>
              </a:p>
              <a:p>
                <a:pPr marL="411480" lvl="1" indent="0">
                  <a:buNone/>
                </a:pPr>
                <a:r>
                  <a:rPr lang="en-US" sz="2200" dirty="0"/>
                  <a:t>Total capital spent to raise planted crops cannot exceed capital budget</a:t>
                </a:r>
                <a:endParaRPr lang="tr-TR" sz="2200" dirty="0"/>
              </a:p>
              <a:p>
                <a:pPr marL="411480" lvl="1" indent="0">
                  <a:buNone/>
                </a:pPr>
                <a14:m>
                  <m:oMathPara xmlns:m="http://schemas.openxmlformats.org/officeDocument/2006/math">
                    <m:oMathParaPr>
                      <m:jc m:val="centerGroup"/>
                    </m:oMathParaPr>
                    <m:oMath xmlns:m="http://schemas.openxmlformats.org/officeDocument/2006/math">
                      <m:r>
                        <a:rPr lang="tr-TR" i="1" dirty="0" smtClean="0">
                          <a:solidFill>
                            <a:srgbClr val="FF0000"/>
                          </a:solidFill>
                          <a:latin typeface="Cambria Math" panose="02040503050406030204" pitchFamily="18" charset="0"/>
                        </a:rPr>
                        <m:t>1</m:t>
                      </m:r>
                      <m:r>
                        <a:rPr lang="tr-TR" b="0" i="1" dirty="0" smtClean="0">
                          <a:solidFill>
                            <a:srgbClr val="FF0000"/>
                          </a:solidFill>
                          <a:latin typeface="Cambria Math" panose="02040503050406030204" pitchFamily="18" charset="0"/>
                        </a:rPr>
                        <m:t>00</m:t>
                      </m:r>
                      <m:sSub>
                        <m:sSubPr>
                          <m:ctrlPr>
                            <a:rPr lang="tr-TR" i="1" dirty="0">
                              <a:solidFill>
                                <a:srgbClr val="FF0000"/>
                              </a:solidFill>
                              <a:latin typeface="Cambria Math" panose="02040503050406030204" pitchFamily="18" charset="0"/>
                            </a:rPr>
                          </m:ctrlPr>
                        </m:sSubPr>
                        <m:e>
                          <m:r>
                            <a:rPr lang="fr-FR" i="1" dirty="0">
                              <a:solidFill>
                                <a:srgbClr val="FF0000"/>
                              </a:solidFill>
                              <a:latin typeface="Cambria Math" panose="02040503050406030204" pitchFamily="18" charset="0"/>
                            </a:rPr>
                            <m:t>𝒙</m:t>
                          </m:r>
                        </m:e>
                        <m:sub>
                          <m:r>
                            <a:rPr lang="tr-TR" i="1" dirty="0">
                              <a:solidFill>
                                <a:srgbClr val="FF0000"/>
                              </a:solidFill>
                              <a:latin typeface="Cambria Math" panose="02040503050406030204" pitchFamily="18" charset="0"/>
                            </a:rPr>
                            <m:t>1</m:t>
                          </m:r>
                        </m:sub>
                      </m:sSub>
                      <m:r>
                        <a:rPr lang="tr-TR" i="1" dirty="0">
                          <a:solidFill>
                            <a:srgbClr val="FF0000"/>
                          </a:solidFill>
                          <a:latin typeface="Cambria Math" panose="02040503050406030204" pitchFamily="18" charset="0"/>
                        </a:rPr>
                        <m:t>+</m:t>
                      </m:r>
                      <m:r>
                        <a:rPr lang="tr-TR" b="0" i="1" dirty="0" smtClean="0">
                          <a:solidFill>
                            <a:srgbClr val="FF0000"/>
                          </a:solidFill>
                          <a:latin typeface="Cambria Math" panose="02040503050406030204" pitchFamily="18" charset="0"/>
                        </a:rPr>
                        <m:t>200</m:t>
                      </m:r>
                      <m:sSub>
                        <m:sSubPr>
                          <m:ctrlPr>
                            <a:rPr lang="tr-TR" i="1" dirty="0">
                              <a:solidFill>
                                <a:srgbClr val="FF0000"/>
                              </a:solidFill>
                              <a:latin typeface="Cambria Math" panose="02040503050406030204" pitchFamily="18" charset="0"/>
                            </a:rPr>
                          </m:ctrlPr>
                        </m:sSubPr>
                        <m:e>
                          <m:r>
                            <a:rPr lang="fr-FR" i="1" dirty="0">
                              <a:solidFill>
                                <a:srgbClr val="FF0000"/>
                              </a:solidFill>
                              <a:latin typeface="Cambria Math" panose="02040503050406030204" pitchFamily="18" charset="0"/>
                            </a:rPr>
                            <m:t>𝒙</m:t>
                          </m:r>
                        </m:e>
                        <m:sub>
                          <m:r>
                            <a:rPr lang="tr-TR" i="1" dirty="0">
                              <a:solidFill>
                                <a:srgbClr val="FF0000"/>
                              </a:solidFill>
                              <a:latin typeface="Cambria Math" panose="02040503050406030204" pitchFamily="18" charset="0"/>
                            </a:rPr>
                            <m:t>2</m:t>
                          </m:r>
                        </m:sub>
                      </m:sSub>
                      <m:r>
                        <a:rPr lang="tr-TR" i="1" dirty="0">
                          <a:solidFill>
                            <a:srgbClr val="FF0000"/>
                          </a:solidFill>
                          <a:latin typeface="Cambria Math" panose="02040503050406030204" pitchFamily="18" charset="0"/>
                        </a:rPr>
                        <m:t>≤</m:t>
                      </m:r>
                      <m:r>
                        <a:rPr lang="tr-TR" b="0" i="1" dirty="0" smtClean="0">
                          <a:solidFill>
                            <a:srgbClr val="FF0000"/>
                          </a:solidFill>
                          <a:latin typeface="Cambria Math" panose="02040503050406030204" pitchFamily="18" charset="0"/>
                        </a:rPr>
                        <m:t>11,000</m:t>
                      </m:r>
                    </m:oMath>
                  </m:oMathPara>
                </a14:m>
                <a:endParaRPr lang="en-US" sz="2200" dirty="0">
                  <a:solidFill>
                    <a:srgbClr val="FF0000"/>
                  </a:solidFill>
                </a:endParaRPr>
              </a:p>
              <a:p>
                <a:r>
                  <a:rPr lang="en-US" sz="2200" dirty="0"/>
                  <a:t>Areas must be nonnegative </a:t>
                </a:r>
              </a:p>
              <a:p>
                <a:pPr marL="411480" lvl="1" indent="0" algn="ctr">
                  <a:buNone/>
                </a:pPr>
                <a:r>
                  <a:rPr lang="fr-FR" sz="2200" dirty="0">
                    <a:solidFill>
                      <a:srgbClr val="FF0000"/>
                    </a:solidFill>
                  </a:rPr>
                  <a:t>𝒙</a:t>
                </a:r>
                <a:r>
                  <a:rPr lang="fr-FR" sz="2200" baseline="-25000" dirty="0">
                    <a:solidFill>
                      <a:srgbClr val="FF0000"/>
                    </a:solidFill>
                  </a:rPr>
                  <a:t>𝟏</a:t>
                </a:r>
                <a:r>
                  <a:rPr lang="fr-FR" sz="2200" dirty="0">
                    <a:solidFill>
                      <a:srgbClr val="FF0000"/>
                    </a:solidFill>
                  </a:rPr>
                  <a:t>≥𝟎, 𝒙</a:t>
                </a:r>
                <a:r>
                  <a:rPr lang="fr-FR" sz="2200" baseline="-25000" dirty="0">
                    <a:solidFill>
                      <a:srgbClr val="FF0000"/>
                    </a:solidFill>
                  </a:rPr>
                  <a:t>𝟐</a:t>
                </a:r>
                <a:r>
                  <a:rPr lang="fr-FR" sz="2200" dirty="0">
                    <a:solidFill>
                      <a:srgbClr val="FF0000"/>
                    </a:solidFill>
                  </a:rPr>
                  <a:t>≥𝟎</a:t>
                </a:r>
                <a:endParaRPr lang="en-US" sz="22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3"/>
                <a:stretch>
                  <a:fillRect l="-696" t="-1611"/>
                </a:stretch>
              </a:blipFill>
            </p:spPr>
            <p:txBody>
              <a:bodyPr/>
              <a:lstStyle/>
              <a:p>
                <a:r>
                  <a:rPr lang="en-US">
                    <a:noFill/>
                  </a:rPr>
                  <a:t> </a:t>
                </a:r>
              </a:p>
            </p:txBody>
          </p:sp>
        </mc:Fallback>
      </mc:AlternateContent>
      <p:sp>
        <p:nvSpPr>
          <p:cNvPr id="4" name="Footer Placeholder 3">
            <a:extLst>
              <a:ext uri="{FF2B5EF4-FFF2-40B4-BE49-F238E27FC236}">
                <a16:creationId xmlns:a16="http://schemas.microsoft.com/office/drawing/2014/main" id="{3491FB81-A30F-4E5D-AF16-5834D6F9944E}"/>
              </a:ext>
            </a:extLst>
          </p:cNvPr>
          <p:cNvSpPr>
            <a:spLocks noGrp="1"/>
          </p:cNvSpPr>
          <p:nvPr>
            <p:ph type="ftr" sz="quarter" idx="11"/>
          </p:nvPr>
        </p:nvSpPr>
        <p:spPr/>
        <p:txBody>
          <a:bodyPr/>
          <a:lstStyle/>
          <a:p>
            <a:pPr>
              <a:defRPr/>
            </a:pPr>
            <a:r>
              <a:rPr lang="en-US" altLang="en-US"/>
              <a:t>ITU - Business Analytics - Mehmet Yasin Ulukuş</a:t>
            </a:r>
            <a:endParaRPr lang="en-US" altLang="en-US" i="0"/>
          </a:p>
        </p:txBody>
      </p:sp>
    </p:spTree>
    <p:extLst>
      <p:ext uri="{BB962C8B-B14F-4D97-AF65-F5344CB8AC3E}">
        <p14:creationId xmlns:p14="http://schemas.microsoft.com/office/powerpoint/2010/main" val="273002973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Objective Function</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en-US" sz="3200" dirty="0"/>
                  <a:t>As we have defined that our goal to maximize the total revenue </a:t>
                </a:r>
              </a:p>
              <a:p>
                <a:r>
                  <a:rPr lang="en-US" sz="3200" dirty="0"/>
                  <a:t>We quantify it as: </a:t>
                </a:r>
              </a:p>
              <a:p>
                <a:pPr marL="114300" indent="0">
                  <a:buNone/>
                </a:pPr>
                <a:endParaRPr lang="en-US" dirty="0"/>
              </a:p>
              <a:p>
                <a:pPr marL="114300" indent="0" algn="ctr">
                  <a:buNone/>
                </a:pPr>
                <a14:m>
                  <m:oMathPara xmlns:m="http://schemas.openxmlformats.org/officeDocument/2006/math">
                    <m:oMathParaPr>
                      <m:jc m:val="centerGroup"/>
                    </m:oMathParaPr>
                    <m:oMath xmlns:m="http://schemas.openxmlformats.org/officeDocument/2006/math">
                      <m:r>
                        <a:rPr lang="tr-TR" sz="4000" b="0" i="1" dirty="0" smtClean="0">
                          <a:solidFill>
                            <a:srgbClr val="FF0000"/>
                          </a:solidFill>
                          <a:latin typeface="Cambria Math" panose="02040503050406030204" pitchFamily="18" charset="0"/>
                        </a:rPr>
                        <m:t>𝑧</m:t>
                      </m:r>
                      <m:r>
                        <a:rPr lang="tr-TR" sz="4000" b="0" i="1" dirty="0" smtClean="0">
                          <a:solidFill>
                            <a:srgbClr val="FF0000"/>
                          </a:solidFill>
                          <a:latin typeface="Cambria Math" panose="02040503050406030204" pitchFamily="18" charset="0"/>
                        </a:rPr>
                        <m:t>=400</m:t>
                      </m:r>
                      <m:sSub>
                        <m:sSubPr>
                          <m:ctrlPr>
                            <a:rPr lang="tr-TR" sz="4000" i="1" dirty="0">
                              <a:solidFill>
                                <a:srgbClr val="FF0000"/>
                              </a:solidFill>
                              <a:latin typeface="Cambria Math" panose="02040503050406030204" pitchFamily="18" charset="0"/>
                            </a:rPr>
                          </m:ctrlPr>
                        </m:sSubPr>
                        <m:e>
                          <m:r>
                            <a:rPr lang="fr-FR" sz="4000" i="1" dirty="0">
                              <a:solidFill>
                                <a:srgbClr val="FF0000"/>
                              </a:solidFill>
                              <a:latin typeface="Cambria Math" panose="02040503050406030204" pitchFamily="18" charset="0"/>
                            </a:rPr>
                            <m:t>𝒙</m:t>
                          </m:r>
                        </m:e>
                        <m:sub>
                          <m:r>
                            <a:rPr lang="tr-TR" sz="4000" i="1" dirty="0">
                              <a:solidFill>
                                <a:srgbClr val="FF0000"/>
                              </a:solidFill>
                              <a:latin typeface="Cambria Math" panose="02040503050406030204" pitchFamily="18" charset="0"/>
                            </a:rPr>
                            <m:t>1</m:t>
                          </m:r>
                        </m:sub>
                      </m:sSub>
                      <m:r>
                        <a:rPr lang="tr-TR" sz="4000" i="1" dirty="0">
                          <a:solidFill>
                            <a:srgbClr val="FF0000"/>
                          </a:solidFill>
                          <a:latin typeface="Cambria Math" panose="02040503050406030204" pitchFamily="18" charset="0"/>
                        </a:rPr>
                        <m:t>+</m:t>
                      </m:r>
                      <m:r>
                        <a:rPr lang="tr-TR" sz="4000" b="0" i="1" dirty="0" smtClean="0">
                          <a:solidFill>
                            <a:srgbClr val="FF0000"/>
                          </a:solidFill>
                          <a:latin typeface="Cambria Math" panose="02040503050406030204" pitchFamily="18" charset="0"/>
                        </a:rPr>
                        <m:t>1</m:t>
                      </m:r>
                      <m:r>
                        <a:rPr lang="tr-TR" sz="4000" i="1" dirty="0">
                          <a:solidFill>
                            <a:srgbClr val="FF0000"/>
                          </a:solidFill>
                          <a:latin typeface="Cambria Math" panose="02040503050406030204" pitchFamily="18" charset="0"/>
                        </a:rPr>
                        <m:t>200</m:t>
                      </m:r>
                      <m:sSub>
                        <m:sSubPr>
                          <m:ctrlPr>
                            <a:rPr lang="tr-TR" sz="4000" i="1" dirty="0">
                              <a:solidFill>
                                <a:srgbClr val="FF0000"/>
                              </a:solidFill>
                              <a:latin typeface="Cambria Math" panose="02040503050406030204" pitchFamily="18" charset="0"/>
                            </a:rPr>
                          </m:ctrlPr>
                        </m:sSubPr>
                        <m:e>
                          <m:r>
                            <a:rPr lang="fr-FR" sz="4000" i="1" dirty="0">
                              <a:solidFill>
                                <a:srgbClr val="FF0000"/>
                              </a:solidFill>
                              <a:latin typeface="Cambria Math" panose="02040503050406030204" pitchFamily="18" charset="0"/>
                            </a:rPr>
                            <m:t>𝒙</m:t>
                          </m:r>
                        </m:e>
                        <m:sub>
                          <m:r>
                            <a:rPr lang="tr-TR" sz="4000" i="1" dirty="0">
                              <a:solidFill>
                                <a:srgbClr val="FF0000"/>
                              </a:solidFill>
                              <a:latin typeface="Cambria Math" panose="02040503050406030204" pitchFamily="18" charset="0"/>
                            </a:rPr>
                            <m:t>2</m:t>
                          </m:r>
                        </m:sub>
                      </m:sSub>
                    </m:oMath>
                  </m:oMathPara>
                </a14:m>
                <a:endParaRPr lang="en-US" sz="4000" b="1" dirty="0">
                  <a:solidFill>
                    <a:srgbClr val="FF0000"/>
                  </a:solidFill>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1333" t="-2602"/>
                </a:stretch>
              </a:blipFill>
            </p:spPr>
            <p:txBody>
              <a:bodyPr/>
              <a:lstStyle/>
              <a:p>
                <a:r>
                  <a:rPr lang="en-US">
                    <a:noFill/>
                  </a:rPr>
                  <a:t> </a:t>
                </a:r>
              </a:p>
            </p:txBody>
          </p:sp>
        </mc:Fallback>
      </mc:AlternateContent>
      <p:sp>
        <p:nvSpPr>
          <p:cNvPr id="4" name="Footer Placeholder 3">
            <a:extLst>
              <a:ext uri="{FF2B5EF4-FFF2-40B4-BE49-F238E27FC236}">
                <a16:creationId xmlns:a16="http://schemas.microsoft.com/office/drawing/2014/main" id="{4F8D66DE-5F60-472B-B694-9E3CFA7F13C0}"/>
              </a:ext>
            </a:extLst>
          </p:cNvPr>
          <p:cNvSpPr>
            <a:spLocks noGrp="1"/>
          </p:cNvSpPr>
          <p:nvPr>
            <p:ph type="ftr" sz="quarter" idx="11"/>
          </p:nvPr>
        </p:nvSpPr>
        <p:spPr/>
        <p:txBody>
          <a:bodyPr/>
          <a:lstStyle/>
          <a:p>
            <a:pPr>
              <a:defRPr/>
            </a:pPr>
            <a:r>
              <a:rPr lang="en-US" altLang="en-US"/>
              <a:t>ITU - Business Analytics - Mehmet Yasin Ulukuş</a:t>
            </a:r>
            <a:endParaRPr lang="en-US" altLang="en-US" i="0"/>
          </a:p>
        </p:txBody>
      </p:sp>
    </p:spTree>
    <p:extLst>
      <p:ext uri="{BB962C8B-B14F-4D97-AF65-F5344CB8AC3E}">
        <p14:creationId xmlns:p14="http://schemas.microsoft.com/office/powerpoint/2010/main" val="22160827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The Linear Programming Model</a:t>
            </a:r>
          </a:p>
        </p:txBody>
      </p:sp>
      <p:sp>
        <p:nvSpPr>
          <p:cNvPr id="3" name="Text Placeholder 2">
            <a:extLst>
              <a:ext uri="{FF2B5EF4-FFF2-40B4-BE49-F238E27FC236}">
                <a16:creationId xmlns:a16="http://schemas.microsoft.com/office/drawing/2014/main" id="{44C8F511-98AC-4E1D-9B28-9631EE4AF1CB}"/>
              </a:ext>
            </a:extLst>
          </p:cNvPr>
          <p:cNvSpPr>
            <a:spLocks noGrp="1"/>
          </p:cNvSpPr>
          <p:nvPr>
            <p:ph idx="1"/>
          </p:nvPr>
        </p:nvSpPr>
        <p:spPr/>
        <p:txBody>
          <a:bodyPr/>
          <a:lstStyle/>
          <a:p>
            <a:pPr marL="0" indent="0">
              <a:buNone/>
            </a:pPr>
            <a:r>
              <a:rPr lang="en-US" dirty="0"/>
              <a:t>The formulation is</a:t>
            </a:r>
          </a:p>
          <a:p>
            <a:pPr marL="0" indent="0">
              <a:buNone/>
            </a:pPr>
            <a:endParaRPr lang="en-US" dirty="0"/>
          </a:p>
          <a:p>
            <a:pPr marL="0" indent="0">
              <a:buNone/>
            </a:pPr>
            <a:endParaRPr lang="en-US" dirty="0"/>
          </a:p>
          <a:p>
            <a:pPr marL="0" indent="0">
              <a:buNone/>
            </a:pPr>
            <a:r>
              <a:rPr lang="en-US" dirty="0"/>
              <a:t>	</a:t>
            </a:r>
            <a:endParaRPr lang="en-US" i="1" dirty="0">
              <a:latin typeface="Cambria Math" panose="02040503050406030204" pitchFamily="18" charset="0"/>
              <a:ea typeface="Cambria Math" panose="02040503050406030204" pitchFamily="18" charset="0"/>
            </a:endParaRPr>
          </a:p>
        </p:txBody>
      </p:sp>
      <p:sp>
        <p:nvSpPr>
          <p:cNvPr id="5" name="Footer Placeholder 4">
            <a:extLst>
              <a:ext uri="{FF2B5EF4-FFF2-40B4-BE49-F238E27FC236}">
                <a16:creationId xmlns:a16="http://schemas.microsoft.com/office/drawing/2014/main" id="{3AB6D481-1D2E-4AE6-9135-7198301793F0}"/>
              </a:ext>
            </a:extLst>
          </p:cNvPr>
          <p:cNvSpPr>
            <a:spLocks noGrp="1"/>
          </p:cNvSpPr>
          <p:nvPr>
            <p:ph type="ftr" sz="quarter" idx="11"/>
          </p:nvPr>
        </p:nvSpPr>
        <p:spPr/>
        <p:txBody>
          <a:bodyPr/>
          <a:lstStyle/>
          <a:p>
            <a:pPr>
              <a:defRPr/>
            </a:pPr>
            <a:r>
              <a:rPr lang="en-US" altLang="en-US"/>
              <a:t>ITU - Business Analytics - Mehmet Yasin Ulukuş</a:t>
            </a:r>
            <a:endParaRPr lang="en-US" altLang="en-US" i="0"/>
          </a:p>
        </p:txBody>
      </p:sp>
      <mc:AlternateContent xmlns:mc="http://schemas.openxmlformats.org/markup-compatibility/2006" xmlns:a14="http://schemas.microsoft.com/office/drawing/2010/main">
        <mc:Choice Requires="a14">
          <p:graphicFrame>
            <p:nvGraphicFramePr>
              <p:cNvPr id="6" name="Table 5"/>
              <p:cNvGraphicFramePr>
                <a:graphicFrameLocks noGrp="1"/>
              </p:cNvGraphicFramePr>
              <p:nvPr>
                <p:extLst>
                  <p:ext uri="{D42A27DB-BD31-4B8C-83A1-F6EECF244321}">
                    <p14:modId xmlns:p14="http://schemas.microsoft.com/office/powerpoint/2010/main" val="3695688464"/>
                  </p:ext>
                </p:extLst>
              </p:nvPr>
            </p:nvGraphicFramePr>
            <p:xfrm>
              <a:off x="2952749" y="2707080"/>
              <a:ext cx="5857876" cy="2286000"/>
            </p:xfrm>
            <a:graphic>
              <a:graphicData uri="http://schemas.openxmlformats.org/drawingml/2006/table">
                <a:tbl>
                  <a:tblPr firstRow="1" bandRow="1">
                    <a:tableStyleId>{2D5ABB26-0587-4C30-8999-92F81FD0307C}</a:tableStyleId>
                  </a:tblPr>
                  <a:tblGrid>
                    <a:gridCol w="1784145">
                      <a:extLst>
                        <a:ext uri="{9D8B030D-6E8A-4147-A177-3AD203B41FA5}">
                          <a16:colId xmlns:a16="http://schemas.microsoft.com/office/drawing/2014/main" val="3888021187"/>
                        </a:ext>
                      </a:extLst>
                    </a:gridCol>
                    <a:gridCol w="920844">
                      <a:extLst>
                        <a:ext uri="{9D8B030D-6E8A-4147-A177-3AD203B41FA5}">
                          <a16:colId xmlns:a16="http://schemas.microsoft.com/office/drawing/2014/main" val="3534266932"/>
                        </a:ext>
                      </a:extLst>
                    </a:gridCol>
                    <a:gridCol w="1371712">
                      <a:extLst>
                        <a:ext uri="{9D8B030D-6E8A-4147-A177-3AD203B41FA5}">
                          <a16:colId xmlns:a16="http://schemas.microsoft.com/office/drawing/2014/main" val="3559686337"/>
                        </a:ext>
                      </a:extLst>
                    </a:gridCol>
                    <a:gridCol w="647700">
                      <a:extLst>
                        <a:ext uri="{9D8B030D-6E8A-4147-A177-3AD203B41FA5}">
                          <a16:colId xmlns:a16="http://schemas.microsoft.com/office/drawing/2014/main" val="1158957883"/>
                        </a:ext>
                      </a:extLst>
                    </a:gridCol>
                    <a:gridCol w="1133475">
                      <a:extLst>
                        <a:ext uri="{9D8B030D-6E8A-4147-A177-3AD203B41FA5}">
                          <a16:colId xmlns:a16="http://schemas.microsoft.com/office/drawing/2014/main" val="3407547115"/>
                        </a:ext>
                      </a:extLst>
                    </a:gridCol>
                  </a:tblGrid>
                  <a:tr h="370840">
                    <a:tc>
                      <a:txBody>
                        <a:bodyPr/>
                        <a:lstStyle/>
                        <a:p>
                          <a:r>
                            <a:rPr lang="tr-TR" sz="2400" dirty="0"/>
                            <a:t>Max</a:t>
                          </a:r>
                          <a:endParaRPr lang="en-US" sz="2400" dirty="0"/>
                        </a:p>
                      </a:txBody>
                      <a:tcPr/>
                    </a:tc>
                    <a:tc>
                      <a:txBody>
                        <a:bodyPr/>
                        <a:lstStyle/>
                        <a:p>
                          <a:pPr algn="r"/>
                          <a14:m>
                            <m:oMathPara xmlns:m="http://schemas.openxmlformats.org/officeDocument/2006/math">
                              <m:oMathParaPr>
                                <m:jc m:val="right"/>
                              </m:oMathParaPr>
                              <m:oMath xmlns:m="http://schemas.openxmlformats.org/officeDocument/2006/math">
                                <m:r>
                                  <a:rPr lang="tr-TR" sz="2400" b="0" i="0" smtClean="0">
                                    <a:latin typeface="Cambria Math" panose="02040503050406030204" pitchFamily="18" charset="0"/>
                                  </a:rPr>
                                  <m:t>400</m:t>
                                </m:r>
                                <m:sSub>
                                  <m:sSubPr>
                                    <m:ctrlPr>
                                      <a:rPr lang="tr-TR" sz="2400" b="0" i="1" smtClean="0">
                                        <a:latin typeface="Cambria Math" panose="02040503050406030204" pitchFamily="18" charset="0"/>
                                      </a:rPr>
                                    </m:ctrlPr>
                                  </m:sSubPr>
                                  <m:e>
                                    <m:r>
                                      <a:rPr lang="tr-TR" sz="2400" b="0" i="1" smtClean="0">
                                        <a:latin typeface="Cambria Math" panose="02040503050406030204" pitchFamily="18" charset="0"/>
                                      </a:rPr>
                                      <m:t>𝑥</m:t>
                                    </m:r>
                                  </m:e>
                                  <m:sub>
                                    <m:r>
                                      <a:rPr lang="tr-TR" sz="2400" b="0" i="1" smtClean="0">
                                        <a:latin typeface="Cambria Math" panose="02040503050406030204" pitchFamily="18" charset="0"/>
                                      </a:rPr>
                                      <m:t>1</m:t>
                                    </m:r>
                                  </m:sub>
                                </m:sSub>
                              </m:oMath>
                            </m:oMathPara>
                          </a14:m>
                          <a:endParaRPr lang="en-US" sz="2400" b="0" dirty="0"/>
                        </a:p>
                      </a:txBody>
                      <a:tcPr/>
                    </a:tc>
                    <a:tc>
                      <a:txBody>
                        <a:bodyPr/>
                        <a:lstStyle/>
                        <a:p>
                          <a:pPr algn="r"/>
                          <a14:m>
                            <m:oMathPara xmlns:m="http://schemas.openxmlformats.org/officeDocument/2006/math">
                              <m:oMathParaPr>
                                <m:jc m:val="right"/>
                              </m:oMathParaPr>
                              <m:oMath xmlns:m="http://schemas.openxmlformats.org/officeDocument/2006/math">
                                <m:r>
                                  <a:rPr lang="tr-TR" sz="2400" b="0" smtClean="0">
                                    <a:latin typeface="Cambria Math" panose="02040503050406030204" pitchFamily="18" charset="0"/>
                                  </a:rPr>
                                  <m:t>+</m:t>
                                </m:r>
                                <m:r>
                                  <a:rPr lang="tr-TR" sz="2400" b="0" i="1" smtClean="0">
                                    <a:latin typeface="Cambria Math" panose="02040503050406030204" pitchFamily="18" charset="0"/>
                                  </a:rPr>
                                  <m:t>1200</m:t>
                                </m:r>
                                <m:sSub>
                                  <m:sSubPr>
                                    <m:ctrlPr>
                                      <a:rPr lang="tr-TR" sz="2400" b="0" i="1" smtClean="0">
                                        <a:latin typeface="Cambria Math" panose="02040503050406030204" pitchFamily="18" charset="0"/>
                                      </a:rPr>
                                    </m:ctrlPr>
                                  </m:sSubPr>
                                  <m:e>
                                    <m:r>
                                      <a:rPr lang="tr-TR" sz="2400" b="0" i="1" smtClean="0">
                                        <a:latin typeface="Cambria Math" panose="02040503050406030204" pitchFamily="18" charset="0"/>
                                      </a:rPr>
                                      <m:t>𝑥</m:t>
                                    </m:r>
                                  </m:e>
                                  <m:sub>
                                    <m:r>
                                      <a:rPr lang="tr-TR" sz="2400" b="0" i="1" smtClean="0">
                                        <a:latin typeface="Cambria Math" panose="02040503050406030204" pitchFamily="18" charset="0"/>
                                      </a:rPr>
                                      <m:t>2</m:t>
                                    </m:r>
                                  </m:sub>
                                </m:sSub>
                              </m:oMath>
                            </m:oMathPara>
                          </a14:m>
                          <a:endParaRPr lang="en-US" sz="2400" b="0" dirty="0"/>
                        </a:p>
                      </a:txBody>
                      <a:tcPr/>
                    </a:tc>
                    <a:tc>
                      <a:txBody>
                        <a:bodyPr/>
                        <a:lstStyle/>
                        <a:p>
                          <a:endParaRPr lang="en-US" sz="2400" b="0"/>
                        </a:p>
                      </a:txBody>
                      <a:tcPr/>
                    </a:tc>
                    <a:tc>
                      <a:txBody>
                        <a:bodyPr/>
                        <a:lstStyle/>
                        <a:p>
                          <a:endParaRPr lang="en-US" sz="2400" b="0" dirty="0"/>
                        </a:p>
                      </a:txBody>
                      <a:tcPr/>
                    </a:tc>
                    <a:extLst>
                      <a:ext uri="{0D108BD9-81ED-4DB2-BD59-A6C34878D82A}">
                        <a16:rowId xmlns:a16="http://schemas.microsoft.com/office/drawing/2014/main" val="1915566640"/>
                      </a:ext>
                    </a:extLst>
                  </a:tr>
                  <a:tr h="370840">
                    <a:tc>
                      <a:txBody>
                        <a:bodyPr/>
                        <a:lstStyle/>
                        <a:p>
                          <a:r>
                            <a:rPr lang="tr-TR" sz="2400" dirty="0"/>
                            <a:t>Subject to</a:t>
                          </a:r>
                          <a:endParaRPr lang="en-US" sz="2400" dirty="0"/>
                        </a:p>
                      </a:txBody>
                      <a:tcPr/>
                    </a:tc>
                    <a:tc>
                      <a:txBody>
                        <a:bodyPr/>
                        <a:lstStyle/>
                        <a:p>
                          <a:pPr algn="r"/>
                          <a14:m>
                            <m:oMathPara xmlns:m="http://schemas.openxmlformats.org/officeDocument/2006/math">
                              <m:oMathParaPr>
                                <m:jc m:val="right"/>
                              </m:oMathParaPr>
                              <m:oMath xmlns:m="http://schemas.openxmlformats.org/officeDocument/2006/math">
                                <m:sSub>
                                  <m:sSubPr>
                                    <m:ctrlPr>
                                      <a:rPr lang="tr-TR" sz="2400" b="0" i="1" smtClean="0">
                                        <a:latin typeface="Cambria Math" panose="02040503050406030204" pitchFamily="18" charset="0"/>
                                      </a:rPr>
                                    </m:ctrlPr>
                                  </m:sSubPr>
                                  <m:e>
                                    <m:r>
                                      <a:rPr lang="tr-TR" sz="2400" b="0" i="1" smtClean="0">
                                        <a:latin typeface="Cambria Math" panose="02040503050406030204" pitchFamily="18" charset="0"/>
                                      </a:rPr>
                                      <m:t>𝑥</m:t>
                                    </m:r>
                                  </m:e>
                                  <m:sub>
                                    <m:r>
                                      <a:rPr lang="tr-TR" sz="2400" b="0" i="1" smtClean="0">
                                        <a:latin typeface="Cambria Math" panose="02040503050406030204" pitchFamily="18" charset="0"/>
                                      </a:rPr>
                                      <m:t>1</m:t>
                                    </m:r>
                                  </m:sub>
                                </m:sSub>
                              </m:oMath>
                            </m:oMathPara>
                          </a14:m>
                          <a:endParaRPr lang="en-US" sz="2400" b="0" dirty="0"/>
                        </a:p>
                      </a:txBody>
                      <a:tcPr/>
                    </a:tc>
                    <a:tc>
                      <a:txBody>
                        <a:bodyPr/>
                        <a:lstStyle/>
                        <a:p>
                          <a:pPr algn="r"/>
                          <a14:m>
                            <m:oMathPara xmlns:m="http://schemas.openxmlformats.org/officeDocument/2006/math">
                              <m:oMathParaPr>
                                <m:jc m:val="right"/>
                              </m:oMathParaPr>
                              <m:oMath xmlns:m="http://schemas.openxmlformats.org/officeDocument/2006/math">
                                <m:r>
                                  <a:rPr lang="tr-TR" sz="2400" b="0" smtClean="0">
                                    <a:latin typeface="Cambria Math" panose="02040503050406030204" pitchFamily="18" charset="0"/>
                                  </a:rPr>
                                  <m:t>+</m:t>
                                </m:r>
                                <m:sSub>
                                  <m:sSubPr>
                                    <m:ctrlPr>
                                      <a:rPr lang="tr-TR" sz="2400" b="0" i="1" smtClean="0">
                                        <a:latin typeface="Cambria Math" panose="02040503050406030204" pitchFamily="18" charset="0"/>
                                      </a:rPr>
                                    </m:ctrlPr>
                                  </m:sSubPr>
                                  <m:e>
                                    <m:r>
                                      <a:rPr lang="tr-TR" sz="2400" b="0" i="1" smtClean="0">
                                        <a:latin typeface="Cambria Math" panose="02040503050406030204" pitchFamily="18" charset="0"/>
                                      </a:rPr>
                                      <m:t>𝑥</m:t>
                                    </m:r>
                                  </m:e>
                                  <m:sub>
                                    <m:r>
                                      <a:rPr lang="tr-TR" sz="2400" b="0" i="1" smtClean="0">
                                        <a:latin typeface="Cambria Math" panose="02040503050406030204" pitchFamily="18" charset="0"/>
                                      </a:rPr>
                                      <m:t>2</m:t>
                                    </m:r>
                                  </m:sub>
                                </m:sSub>
                              </m:oMath>
                            </m:oMathPara>
                          </a14:m>
                          <a:endParaRPr lang="en-US" sz="2400" b="0" dirty="0"/>
                        </a:p>
                      </a:txBody>
                      <a:tcPr/>
                    </a:tc>
                    <a:tc>
                      <a:txBody>
                        <a:bodyPr/>
                        <a:lstStyle/>
                        <a:p>
                          <a:pPr/>
                          <a14:m>
                            <m:oMathPara xmlns:m="http://schemas.openxmlformats.org/officeDocument/2006/math">
                              <m:oMathParaPr>
                                <m:jc m:val="centerGroup"/>
                              </m:oMathParaPr>
                              <m:oMath xmlns:m="http://schemas.openxmlformats.org/officeDocument/2006/math">
                                <m:r>
                                  <a:rPr lang="tr-TR" sz="2400" b="0" i="1" smtClean="0">
                                    <a:latin typeface="Cambria Math" panose="02040503050406030204" pitchFamily="18" charset="0"/>
                                  </a:rPr>
                                  <m:t>≤</m:t>
                                </m:r>
                              </m:oMath>
                            </m:oMathPara>
                          </a14:m>
                          <a:endParaRPr lang="en-US" sz="2400" b="0" dirty="0"/>
                        </a:p>
                      </a:txBody>
                      <a:tcPr/>
                    </a:tc>
                    <a:tc>
                      <a:txBody>
                        <a:bodyPr/>
                        <a:lstStyle/>
                        <a:p>
                          <a:r>
                            <a:rPr lang="tr-TR" sz="2400" b="0" dirty="0"/>
                            <a:t>100</a:t>
                          </a:r>
                          <a:endParaRPr lang="en-US" sz="2400" b="0" dirty="0"/>
                        </a:p>
                      </a:txBody>
                      <a:tcPr/>
                    </a:tc>
                    <a:extLst>
                      <a:ext uri="{0D108BD9-81ED-4DB2-BD59-A6C34878D82A}">
                        <a16:rowId xmlns:a16="http://schemas.microsoft.com/office/drawing/2014/main" val="1849586065"/>
                      </a:ext>
                    </a:extLst>
                  </a:tr>
                  <a:tr h="370840">
                    <a:tc>
                      <a:txBody>
                        <a:bodyPr/>
                        <a:lstStyle/>
                        <a:p>
                          <a:endParaRPr lang="en-US" sz="2400" dirty="0"/>
                        </a:p>
                      </a:txBody>
                      <a:tcPr/>
                    </a:tc>
                    <a:tc>
                      <a:txBody>
                        <a:bodyPr/>
                        <a:lstStyle/>
                        <a:p>
                          <a:pPr algn="r"/>
                          <a14:m>
                            <m:oMathPara xmlns:m="http://schemas.openxmlformats.org/officeDocument/2006/math">
                              <m:oMathParaPr>
                                <m:jc m:val="right"/>
                              </m:oMathParaPr>
                              <m:oMath xmlns:m="http://schemas.openxmlformats.org/officeDocument/2006/math">
                                <m:sSub>
                                  <m:sSubPr>
                                    <m:ctrlPr>
                                      <a:rPr lang="tr-TR" sz="2400" b="0" i="1" smtClean="0">
                                        <a:latin typeface="Cambria Math" panose="02040503050406030204" pitchFamily="18" charset="0"/>
                                      </a:rPr>
                                    </m:ctrlPr>
                                  </m:sSubPr>
                                  <m:e>
                                    <m:r>
                                      <a:rPr lang="tr-TR" sz="2400" b="0" i="1" smtClean="0">
                                        <a:latin typeface="Cambria Math" panose="02040503050406030204" pitchFamily="18" charset="0"/>
                                      </a:rPr>
                                      <m:t>𝑥</m:t>
                                    </m:r>
                                  </m:e>
                                  <m:sub>
                                    <m:r>
                                      <a:rPr lang="tr-TR" sz="2400" b="0" i="1" smtClean="0">
                                        <a:latin typeface="Cambria Math" panose="02040503050406030204" pitchFamily="18" charset="0"/>
                                      </a:rPr>
                                      <m:t>1</m:t>
                                    </m:r>
                                  </m:sub>
                                </m:sSub>
                              </m:oMath>
                            </m:oMathPara>
                          </a14:m>
                          <a:endParaRPr lang="en-US" sz="2400" b="0" dirty="0"/>
                        </a:p>
                      </a:txBody>
                      <a:tcPr/>
                    </a:tc>
                    <a:tc>
                      <a:txBody>
                        <a:bodyPr/>
                        <a:lstStyle/>
                        <a:p>
                          <a:pPr algn="r"/>
                          <a14:m>
                            <m:oMathPara xmlns:m="http://schemas.openxmlformats.org/officeDocument/2006/math">
                              <m:oMathParaPr>
                                <m:jc m:val="right"/>
                              </m:oMathParaPr>
                              <m:oMath xmlns:m="http://schemas.openxmlformats.org/officeDocument/2006/math">
                                <m:r>
                                  <a:rPr lang="tr-TR" sz="2400" b="0" smtClean="0">
                                    <a:latin typeface="Cambria Math" panose="02040503050406030204" pitchFamily="18" charset="0"/>
                                  </a:rPr>
                                  <m:t>+</m:t>
                                </m:r>
                                <m:r>
                                  <a:rPr lang="tr-TR" sz="2400" b="0" i="1" smtClean="0">
                                    <a:latin typeface="Cambria Math" panose="02040503050406030204" pitchFamily="18" charset="0"/>
                                  </a:rPr>
                                  <m:t>4</m:t>
                                </m:r>
                                <m:sSub>
                                  <m:sSubPr>
                                    <m:ctrlPr>
                                      <a:rPr lang="tr-TR" sz="2400" b="0" i="1" smtClean="0">
                                        <a:latin typeface="Cambria Math" panose="02040503050406030204" pitchFamily="18" charset="0"/>
                                      </a:rPr>
                                    </m:ctrlPr>
                                  </m:sSubPr>
                                  <m:e>
                                    <m:r>
                                      <a:rPr lang="tr-TR" sz="2400" b="0" i="1" smtClean="0">
                                        <a:latin typeface="Cambria Math" panose="02040503050406030204" pitchFamily="18" charset="0"/>
                                      </a:rPr>
                                      <m:t>𝑥</m:t>
                                    </m:r>
                                  </m:e>
                                  <m:sub>
                                    <m:r>
                                      <a:rPr lang="tr-TR" sz="2400" b="0" i="1" smtClean="0">
                                        <a:latin typeface="Cambria Math" panose="02040503050406030204" pitchFamily="18" charset="0"/>
                                      </a:rPr>
                                      <m:t>2</m:t>
                                    </m:r>
                                  </m:sub>
                                </m:sSub>
                              </m:oMath>
                            </m:oMathPara>
                          </a14:m>
                          <a:endParaRPr lang="en-US" sz="2400" b="0" dirty="0"/>
                        </a:p>
                      </a:txBody>
                      <a:tcPr/>
                    </a:tc>
                    <a:tc>
                      <a:txBody>
                        <a:bodyPr/>
                        <a:lstStyle/>
                        <a:p>
                          <a:pPr/>
                          <a14:m>
                            <m:oMathPara xmlns:m="http://schemas.openxmlformats.org/officeDocument/2006/math">
                              <m:oMathParaPr>
                                <m:jc m:val="centerGroup"/>
                              </m:oMathParaPr>
                              <m:oMath xmlns:m="http://schemas.openxmlformats.org/officeDocument/2006/math">
                                <m:r>
                                  <a:rPr lang="tr-TR" sz="2400" b="0" i="1" smtClean="0">
                                    <a:latin typeface="Cambria Math" panose="02040503050406030204" pitchFamily="18" charset="0"/>
                                  </a:rPr>
                                  <m:t>≤</m:t>
                                </m:r>
                              </m:oMath>
                            </m:oMathPara>
                          </a14:m>
                          <a:endParaRPr lang="en-US" sz="2400" b="0" dirty="0"/>
                        </a:p>
                      </a:txBody>
                      <a:tcPr/>
                    </a:tc>
                    <a:tc>
                      <a:txBody>
                        <a:bodyPr/>
                        <a:lstStyle/>
                        <a:p>
                          <a:r>
                            <a:rPr lang="tr-TR" sz="2400" b="0" dirty="0"/>
                            <a:t>160</a:t>
                          </a:r>
                          <a:endParaRPr lang="en-US" sz="2400" b="0" dirty="0"/>
                        </a:p>
                      </a:txBody>
                      <a:tcPr/>
                    </a:tc>
                    <a:extLst>
                      <a:ext uri="{0D108BD9-81ED-4DB2-BD59-A6C34878D82A}">
                        <a16:rowId xmlns:a16="http://schemas.microsoft.com/office/drawing/2014/main" val="3907794430"/>
                      </a:ext>
                    </a:extLst>
                  </a:tr>
                  <a:tr h="370840">
                    <a:tc>
                      <a:txBody>
                        <a:bodyPr/>
                        <a:lstStyle/>
                        <a:p>
                          <a:endParaRPr lang="en-US" sz="2400" dirty="0"/>
                        </a:p>
                      </a:txBody>
                      <a:tcPr/>
                    </a:tc>
                    <a:tc>
                      <a:txBody>
                        <a:bodyPr/>
                        <a:lstStyle/>
                        <a:p>
                          <a:pPr algn="r"/>
                          <a14:m>
                            <m:oMathPara xmlns:m="http://schemas.openxmlformats.org/officeDocument/2006/math">
                              <m:oMathParaPr>
                                <m:jc m:val="right"/>
                              </m:oMathParaPr>
                              <m:oMath xmlns:m="http://schemas.openxmlformats.org/officeDocument/2006/math">
                                <m:r>
                                  <a:rPr lang="tr-TR" sz="2400" b="0" i="1" smtClean="0">
                                    <a:latin typeface="Cambria Math" panose="02040503050406030204" pitchFamily="18" charset="0"/>
                                  </a:rPr>
                                  <m:t>100</m:t>
                                </m:r>
                                <m:sSub>
                                  <m:sSubPr>
                                    <m:ctrlPr>
                                      <a:rPr lang="tr-TR" sz="2400" b="0" i="1" smtClean="0">
                                        <a:latin typeface="Cambria Math" panose="02040503050406030204" pitchFamily="18" charset="0"/>
                                      </a:rPr>
                                    </m:ctrlPr>
                                  </m:sSubPr>
                                  <m:e>
                                    <m:r>
                                      <a:rPr lang="tr-TR" sz="2400" b="0" i="1" smtClean="0">
                                        <a:latin typeface="Cambria Math" panose="02040503050406030204" pitchFamily="18" charset="0"/>
                                      </a:rPr>
                                      <m:t>𝑥</m:t>
                                    </m:r>
                                  </m:e>
                                  <m:sub>
                                    <m:r>
                                      <a:rPr lang="tr-TR" sz="2400" b="0" i="1" smtClean="0">
                                        <a:latin typeface="Cambria Math" panose="02040503050406030204" pitchFamily="18" charset="0"/>
                                      </a:rPr>
                                      <m:t>1</m:t>
                                    </m:r>
                                  </m:sub>
                                </m:sSub>
                              </m:oMath>
                            </m:oMathPara>
                          </a14:m>
                          <a:endParaRPr lang="en-US" sz="2400" b="0" dirty="0"/>
                        </a:p>
                      </a:txBody>
                      <a:tcPr/>
                    </a:tc>
                    <a:tc>
                      <a:txBody>
                        <a:bodyPr/>
                        <a:lstStyle/>
                        <a:p>
                          <a:pPr algn="r"/>
                          <a14:m>
                            <m:oMathPara xmlns:m="http://schemas.openxmlformats.org/officeDocument/2006/math">
                              <m:oMathParaPr>
                                <m:jc m:val="right"/>
                              </m:oMathParaPr>
                              <m:oMath xmlns:m="http://schemas.openxmlformats.org/officeDocument/2006/math">
                                <m:r>
                                  <a:rPr lang="tr-TR" sz="2400" b="0" i="1" smtClean="0">
                                    <a:latin typeface="Cambria Math" panose="02040503050406030204" pitchFamily="18" charset="0"/>
                                  </a:rPr>
                                  <m:t>+200</m:t>
                                </m:r>
                                <m:sSub>
                                  <m:sSubPr>
                                    <m:ctrlPr>
                                      <a:rPr lang="tr-TR" sz="2400" b="0" i="1" smtClean="0">
                                        <a:latin typeface="Cambria Math" panose="02040503050406030204" pitchFamily="18" charset="0"/>
                                      </a:rPr>
                                    </m:ctrlPr>
                                  </m:sSubPr>
                                  <m:e>
                                    <m:r>
                                      <a:rPr lang="tr-TR" sz="2400" b="0" i="1" smtClean="0">
                                        <a:latin typeface="Cambria Math" panose="02040503050406030204" pitchFamily="18" charset="0"/>
                                      </a:rPr>
                                      <m:t>𝑥</m:t>
                                    </m:r>
                                  </m:e>
                                  <m:sub>
                                    <m:r>
                                      <a:rPr lang="tr-TR" sz="2400" b="0" i="1" smtClean="0">
                                        <a:latin typeface="Cambria Math" panose="02040503050406030204" pitchFamily="18" charset="0"/>
                                      </a:rPr>
                                      <m:t>2</m:t>
                                    </m:r>
                                  </m:sub>
                                </m:sSub>
                              </m:oMath>
                            </m:oMathPara>
                          </a14:m>
                          <a:endParaRPr lang="en-US" sz="2400" b="0" dirty="0"/>
                        </a:p>
                      </a:txBody>
                      <a:tcPr/>
                    </a:tc>
                    <a:tc>
                      <a:txBody>
                        <a:bodyPr/>
                        <a:lstStyle/>
                        <a:p>
                          <a:pPr/>
                          <a14:m>
                            <m:oMathPara xmlns:m="http://schemas.openxmlformats.org/officeDocument/2006/math">
                              <m:oMathParaPr>
                                <m:jc m:val="centerGroup"/>
                              </m:oMathParaPr>
                              <m:oMath xmlns:m="http://schemas.openxmlformats.org/officeDocument/2006/math">
                                <m:r>
                                  <a:rPr lang="tr-TR" sz="2400" b="0" i="1" smtClean="0">
                                    <a:latin typeface="Cambria Math" panose="02040503050406030204" pitchFamily="18" charset="0"/>
                                  </a:rPr>
                                  <m:t>≤</m:t>
                                </m:r>
                              </m:oMath>
                            </m:oMathPara>
                          </a14:m>
                          <a:endParaRPr lang="en-US" sz="2400" b="0" dirty="0"/>
                        </a:p>
                      </a:txBody>
                      <a:tcPr/>
                    </a:tc>
                    <a:tc>
                      <a:txBody>
                        <a:bodyPr/>
                        <a:lstStyle/>
                        <a:p>
                          <a:r>
                            <a:rPr lang="tr-TR" sz="2400" b="0" dirty="0"/>
                            <a:t>11,000</a:t>
                          </a:r>
                          <a:endParaRPr lang="en-US" sz="2400" b="0" dirty="0"/>
                        </a:p>
                      </a:txBody>
                      <a:tcPr/>
                    </a:tc>
                    <a:extLst>
                      <a:ext uri="{0D108BD9-81ED-4DB2-BD59-A6C34878D82A}">
                        <a16:rowId xmlns:a16="http://schemas.microsoft.com/office/drawing/2014/main" val="3381761340"/>
                      </a:ext>
                    </a:extLst>
                  </a:tr>
                  <a:tr h="370840">
                    <a:tc>
                      <a:txBody>
                        <a:bodyPr/>
                        <a:lstStyle/>
                        <a:p>
                          <a:endParaRPr lang="en-US" sz="2400" dirty="0"/>
                        </a:p>
                      </a:txBody>
                      <a:tcPr/>
                    </a:tc>
                    <a:tc>
                      <a:txBody>
                        <a:bodyPr/>
                        <a:lstStyle/>
                        <a:p>
                          <a:pPr algn="r"/>
                          <a14:m>
                            <m:oMathPara xmlns:m="http://schemas.openxmlformats.org/officeDocument/2006/math">
                              <m:oMathParaPr>
                                <m:jc m:val="right"/>
                              </m:oMathParaPr>
                              <m:oMath xmlns:m="http://schemas.openxmlformats.org/officeDocument/2006/math">
                                <m:sSub>
                                  <m:sSubPr>
                                    <m:ctrlPr>
                                      <a:rPr lang="tr-TR" sz="2400" b="0" i="1" smtClean="0">
                                        <a:latin typeface="Cambria Math" panose="02040503050406030204" pitchFamily="18" charset="0"/>
                                      </a:rPr>
                                    </m:ctrlPr>
                                  </m:sSubPr>
                                  <m:e>
                                    <m:r>
                                      <a:rPr lang="tr-TR" sz="2400" b="0" i="1" smtClean="0">
                                        <a:latin typeface="Cambria Math" panose="02040503050406030204" pitchFamily="18" charset="0"/>
                                      </a:rPr>
                                      <m:t>𝑥</m:t>
                                    </m:r>
                                  </m:e>
                                  <m:sub>
                                    <m:r>
                                      <a:rPr lang="tr-TR" sz="2400" b="0" i="1" smtClean="0">
                                        <a:latin typeface="Cambria Math" panose="02040503050406030204" pitchFamily="18" charset="0"/>
                                      </a:rPr>
                                      <m:t>1</m:t>
                                    </m:r>
                                  </m:sub>
                                </m:sSub>
                              </m:oMath>
                            </m:oMathPara>
                          </a14:m>
                          <a:endParaRPr lang="en-US" sz="2400" b="0" dirty="0"/>
                        </a:p>
                      </a:txBody>
                      <a:tcPr/>
                    </a:tc>
                    <a:tc>
                      <a:txBody>
                        <a:bodyPr/>
                        <a:lstStyle/>
                        <a:p>
                          <a:pPr algn="r"/>
                          <a14:m>
                            <m:oMathPara xmlns:m="http://schemas.openxmlformats.org/officeDocument/2006/math">
                              <m:oMathParaPr>
                                <m:jc m:val="right"/>
                              </m:oMathParaPr>
                              <m:oMath xmlns:m="http://schemas.openxmlformats.org/officeDocument/2006/math">
                                <m:r>
                                  <a:rPr lang="tr-TR" sz="2400" b="0" i="1" smtClean="0">
                                    <a:latin typeface="Cambria Math" panose="02040503050406030204" pitchFamily="18" charset="0"/>
                                  </a:rPr>
                                  <m:t>,</m:t>
                                </m:r>
                                <m:sSub>
                                  <m:sSubPr>
                                    <m:ctrlPr>
                                      <a:rPr lang="tr-TR" sz="2400" b="0" i="1" smtClean="0">
                                        <a:latin typeface="Cambria Math" panose="02040503050406030204" pitchFamily="18" charset="0"/>
                                      </a:rPr>
                                    </m:ctrlPr>
                                  </m:sSubPr>
                                  <m:e>
                                    <m:r>
                                      <a:rPr lang="tr-TR" sz="2400" b="0" i="1" smtClean="0">
                                        <a:latin typeface="Cambria Math" panose="02040503050406030204" pitchFamily="18" charset="0"/>
                                      </a:rPr>
                                      <m:t>𝑥</m:t>
                                    </m:r>
                                  </m:e>
                                  <m:sub>
                                    <m:r>
                                      <a:rPr lang="tr-TR" sz="2400" b="0" i="1" smtClean="0">
                                        <a:latin typeface="Cambria Math" panose="02040503050406030204" pitchFamily="18" charset="0"/>
                                      </a:rPr>
                                      <m:t>2</m:t>
                                    </m:r>
                                  </m:sub>
                                </m:sSub>
                              </m:oMath>
                            </m:oMathPara>
                          </a14:m>
                          <a:endParaRPr lang="en-US" sz="2400" b="0" dirty="0"/>
                        </a:p>
                      </a:txBody>
                      <a:tcPr/>
                    </a:tc>
                    <a:tc>
                      <a:txBody>
                        <a:bodyPr/>
                        <a:lstStyle/>
                        <a:p>
                          <a:pPr/>
                          <a14:m>
                            <m:oMathPara xmlns:m="http://schemas.openxmlformats.org/officeDocument/2006/math">
                              <m:oMathParaPr>
                                <m:jc m:val="centerGroup"/>
                              </m:oMathParaPr>
                              <m:oMath xmlns:m="http://schemas.openxmlformats.org/officeDocument/2006/math">
                                <m:r>
                                  <a:rPr lang="tr-TR" sz="2400" b="0" i="1" smtClean="0">
                                    <a:latin typeface="Cambria Math" panose="02040503050406030204" pitchFamily="18" charset="0"/>
                                  </a:rPr>
                                  <m:t>≥</m:t>
                                </m:r>
                              </m:oMath>
                            </m:oMathPara>
                          </a14:m>
                          <a:endParaRPr lang="en-US" sz="2400" b="0" dirty="0"/>
                        </a:p>
                      </a:txBody>
                      <a:tcPr/>
                    </a:tc>
                    <a:tc>
                      <a:txBody>
                        <a:bodyPr/>
                        <a:lstStyle/>
                        <a:p>
                          <a:r>
                            <a:rPr lang="tr-TR" sz="2400" b="0" dirty="0"/>
                            <a:t>0</a:t>
                          </a:r>
                          <a:endParaRPr lang="en-US" sz="2400" b="0" dirty="0"/>
                        </a:p>
                      </a:txBody>
                      <a:tcPr/>
                    </a:tc>
                    <a:extLst>
                      <a:ext uri="{0D108BD9-81ED-4DB2-BD59-A6C34878D82A}">
                        <a16:rowId xmlns:a16="http://schemas.microsoft.com/office/drawing/2014/main" val="3220848258"/>
                      </a:ext>
                    </a:extLst>
                  </a:tr>
                </a:tbl>
              </a:graphicData>
            </a:graphic>
          </p:graphicFrame>
        </mc:Choice>
        <mc:Fallback xmlns="">
          <p:graphicFrame>
            <p:nvGraphicFramePr>
              <p:cNvPr id="6" name="Table 5"/>
              <p:cNvGraphicFramePr>
                <a:graphicFrameLocks noGrp="1"/>
              </p:cNvGraphicFramePr>
              <p:nvPr>
                <p:extLst>
                  <p:ext uri="{D42A27DB-BD31-4B8C-83A1-F6EECF244321}">
                    <p14:modId xmlns:p14="http://schemas.microsoft.com/office/powerpoint/2010/main" val="3695688464"/>
                  </p:ext>
                </p:extLst>
              </p:nvPr>
            </p:nvGraphicFramePr>
            <p:xfrm>
              <a:off x="2952749" y="2707080"/>
              <a:ext cx="5857876" cy="2286000"/>
            </p:xfrm>
            <a:graphic>
              <a:graphicData uri="http://schemas.openxmlformats.org/drawingml/2006/table">
                <a:tbl>
                  <a:tblPr firstRow="1" bandRow="1">
                    <a:tableStyleId>{2D5ABB26-0587-4C30-8999-92F81FD0307C}</a:tableStyleId>
                  </a:tblPr>
                  <a:tblGrid>
                    <a:gridCol w="1784145">
                      <a:extLst>
                        <a:ext uri="{9D8B030D-6E8A-4147-A177-3AD203B41FA5}">
                          <a16:colId xmlns:a16="http://schemas.microsoft.com/office/drawing/2014/main" val="3888021187"/>
                        </a:ext>
                      </a:extLst>
                    </a:gridCol>
                    <a:gridCol w="920844">
                      <a:extLst>
                        <a:ext uri="{9D8B030D-6E8A-4147-A177-3AD203B41FA5}">
                          <a16:colId xmlns:a16="http://schemas.microsoft.com/office/drawing/2014/main" val="3534266932"/>
                        </a:ext>
                      </a:extLst>
                    </a:gridCol>
                    <a:gridCol w="1371712">
                      <a:extLst>
                        <a:ext uri="{9D8B030D-6E8A-4147-A177-3AD203B41FA5}">
                          <a16:colId xmlns:a16="http://schemas.microsoft.com/office/drawing/2014/main" val="3559686337"/>
                        </a:ext>
                      </a:extLst>
                    </a:gridCol>
                    <a:gridCol w="647700">
                      <a:extLst>
                        <a:ext uri="{9D8B030D-6E8A-4147-A177-3AD203B41FA5}">
                          <a16:colId xmlns:a16="http://schemas.microsoft.com/office/drawing/2014/main" val="1158957883"/>
                        </a:ext>
                      </a:extLst>
                    </a:gridCol>
                    <a:gridCol w="1133475">
                      <a:extLst>
                        <a:ext uri="{9D8B030D-6E8A-4147-A177-3AD203B41FA5}">
                          <a16:colId xmlns:a16="http://schemas.microsoft.com/office/drawing/2014/main" val="3407547115"/>
                        </a:ext>
                      </a:extLst>
                    </a:gridCol>
                  </a:tblGrid>
                  <a:tr h="457200">
                    <a:tc>
                      <a:txBody>
                        <a:bodyPr/>
                        <a:lstStyle/>
                        <a:p>
                          <a:r>
                            <a:rPr lang="tr-TR" sz="2400" dirty="0" smtClean="0"/>
                            <a:t>Max</a:t>
                          </a:r>
                          <a:endParaRPr lang="en-US" sz="2400" dirty="0"/>
                        </a:p>
                      </a:txBody>
                      <a:tcPr/>
                    </a:tc>
                    <a:tc>
                      <a:txBody>
                        <a:bodyPr/>
                        <a:lstStyle/>
                        <a:p>
                          <a:endParaRPr lang="tr-TR"/>
                        </a:p>
                      </a:txBody>
                      <a:tcPr>
                        <a:blipFill>
                          <a:blip r:embed="rId2"/>
                          <a:stretch>
                            <a:fillRect l="-194040" t="-10667" r="-343046" b="-430667"/>
                          </a:stretch>
                        </a:blipFill>
                      </a:tcPr>
                    </a:tc>
                    <a:tc>
                      <a:txBody>
                        <a:bodyPr/>
                        <a:lstStyle/>
                        <a:p>
                          <a:endParaRPr lang="tr-TR"/>
                        </a:p>
                      </a:txBody>
                      <a:tcPr>
                        <a:blipFill>
                          <a:blip r:embed="rId2"/>
                          <a:stretch>
                            <a:fillRect l="-197333" t="-10667" r="-130222" b="-430667"/>
                          </a:stretch>
                        </a:blipFill>
                      </a:tcPr>
                    </a:tc>
                    <a:tc>
                      <a:txBody>
                        <a:bodyPr/>
                        <a:lstStyle/>
                        <a:p>
                          <a:endParaRPr lang="en-US" sz="2400" b="0"/>
                        </a:p>
                      </a:txBody>
                      <a:tcPr/>
                    </a:tc>
                    <a:tc>
                      <a:txBody>
                        <a:bodyPr/>
                        <a:lstStyle/>
                        <a:p>
                          <a:endParaRPr lang="en-US" sz="2400" b="0" dirty="0"/>
                        </a:p>
                      </a:txBody>
                      <a:tcPr/>
                    </a:tc>
                    <a:extLst>
                      <a:ext uri="{0D108BD9-81ED-4DB2-BD59-A6C34878D82A}">
                        <a16:rowId xmlns:a16="http://schemas.microsoft.com/office/drawing/2014/main" val="1915566640"/>
                      </a:ext>
                    </a:extLst>
                  </a:tr>
                  <a:tr h="457200">
                    <a:tc>
                      <a:txBody>
                        <a:bodyPr/>
                        <a:lstStyle/>
                        <a:p>
                          <a:r>
                            <a:rPr lang="tr-TR" sz="2400" dirty="0" smtClean="0"/>
                            <a:t>Subject to</a:t>
                          </a:r>
                          <a:endParaRPr lang="en-US" sz="2400" dirty="0"/>
                        </a:p>
                      </a:txBody>
                      <a:tcPr/>
                    </a:tc>
                    <a:tc>
                      <a:txBody>
                        <a:bodyPr/>
                        <a:lstStyle/>
                        <a:p>
                          <a:endParaRPr lang="tr-TR"/>
                        </a:p>
                      </a:txBody>
                      <a:tcPr>
                        <a:blipFill>
                          <a:blip r:embed="rId2"/>
                          <a:stretch>
                            <a:fillRect l="-194040" t="-110667" r="-343046" b="-330667"/>
                          </a:stretch>
                        </a:blipFill>
                      </a:tcPr>
                    </a:tc>
                    <a:tc>
                      <a:txBody>
                        <a:bodyPr/>
                        <a:lstStyle/>
                        <a:p>
                          <a:endParaRPr lang="tr-TR"/>
                        </a:p>
                      </a:txBody>
                      <a:tcPr>
                        <a:blipFill>
                          <a:blip r:embed="rId2"/>
                          <a:stretch>
                            <a:fillRect l="-197333" t="-110667" r="-130222" b="-330667"/>
                          </a:stretch>
                        </a:blipFill>
                      </a:tcPr>
                    </a:tc>
                    <a:tc>
                      <a:txBody>
                        <a:bodyPr/>
                        <a:lstStyle/>
                        <a:p>
                          <a:endParaRPr lang="tr-TR"/>
                        </a:p>
                      </a:txBody>
                      <a:tcPr>
                        <a:blipFill>
                          <a:blip r:embed="rId2"/>
                          <a:stretch>
                            <a:fillRect l="-625234" t="-110667" r="-173832" b="-330667"/>
                          </a:stretch>
                        </a:blipFill>
                      </a:tcPr>
                    </a:tc>
                    <a:tc>
                      <a:txBody>
                        <a:bodyPr/>
                        <a:lstStyle/>
                        <a:p>
                          <a:r>
                            <a:rPr lang="tr-TR" sz="2400" b="0" dirty="0" smtClean="0"/>
                            <a:t>100</a:t>
                          </a:r>
                          <a:endParaRPr lang="en-US" sz="2400" b="0" dirty="0"/>
                        </a:p>
                      </a:txBody>
                      <a:tcPr/>
                    </a:tc>
                    <a:extLst>
                      <a:ext uri="{0D108BD9-81ED-4DB2-BD59-A6C34878D82A}">
                        <a16:rowId xmlns:a16="http://schemas.microsoft.com/office/drawing/2014/main" val="1849586065"/>
                      </a:ext>
                    </a:extLst>
                  </a:tr>
                  <a:tr h="457200">
                    <a:tc>
                      <a:txBody>
                        <a:bodyPr/>
                        <a:lstStyle/>
                        <a:p>
                          <a:endParaRPr lang="en-US" sz="2400" dirty="0"/>
                        </a:p>
                      </a:txBody>
                      <a:tcPr/>
                    </a:tc>
                    <a:tc>
                      <a:txBody>
                        <a:bodyPr/>
                        <a:lstStyle/>
                        <a:p>
                          <a:endParaRPr lang="tr-TR"/>
                        </a:p>
                      </a:txBody>
                      <a:tcPr>
                        <a:blipFill>
                          <a:blip r:embed="rId2"/>
                          <a:stretch>
                            <a:fillRect l="-194040" t="-207895" r="-343046" b="-226316"/>
                          </a:stretch>
                        </a:blipFill>
                      </a:tcPr>
                    </a:tc>
                    <a:tc>
                      <a:txBody>
                        <a:bodyPr/>
                        <a:lstStyle/>
                        <a:p>
                          <a:endParaRPr lang="tr-TR"/>
                        </a:p>
                      </a:txBody>
                      <a:tcPr>
                        <a:blipFill>
                          <a:blip r:embed="rId2"/>
                          <a:stretch>
                            <a:fillRect l="-197333" t="-207895" r="-130222" b="-226316"/>
                          </a:stretch>
                        </a:blipFill>
                      </a:tcPr>
                    </a:tc>
                    <a:tc>
                      <a:txBody>
                        <a:bodyPr/>
                        <a:lstStyle/>
                        <a:p>
                          <a:endParaRPr lang="tr-TR"/>
                        </a:p>
                      </a:txBody>
                      <a:tcPr>
                        <a:blipFill>
                          <a:blip r:embed="rId2"/>
                          <a:stretch>
                            <a:fillRect l="-625234" t="-207895" r="-173832" b="-226316"/>
                          </a:stretch>
                        </a:blipFill>
                      </a:tcPr>
                    </a:tc>
                    <a:tc>
                      <a:txBody>
                        <a:bodyPr/>
                        <a:lstStyle/>
                        <a:p>
                          <a:r>
                            <a:rPr lang="tr-TR" sz="2400" b="0" dirty="0" smtClean="0"/>
                            <a:t>160</a:t>
                          </a:r>
                          <a:endParaRPr lang="en-US" sz="2400" b="0" dirty="0"/>
                        </a:p>
                      </a:txBody>
                      <a:tcPr/>
                    </a:tc>
                    <a:extLst>
                      <a:ext uri="{0D108BD9-81ED-4DB2-BD59-A6C34878D82A}">
                        <a16:rowId xmlns:a16="http://schemas.microsoft.com/office/drawing/2014/main" val="3907794430"/>
                      </a:ext>
                    </a:extLst>
                  </a:tr>
                  <a:tr h="457200">
                    <a:tc>
                      <a:txBody>
                        <a:bodyPr/>
                        <a:lstStyle/>
                        <a:p>
                          <a:endParaRPr lang="en-US" sz="2400" dirty="0"/>
                        </a:p>
                      </a:txBody>
                      <a:tcPr/>
                    </a:tc>
                    <a:tc>
                      <a:txBody>
                        <a:bodyPr/>
                        <a:lstStyle/>
                        <a:p>
                          <a:endParaRPr lang="tr-TR"/>
                        </a:p>
                      </a:txBody>
                      <a:tcPr>
                        <a:blipFill>
                          <a:blip r:embed="rId2"/>
                          <a:stretch>
                            <a:fillRect l="-194040" t="-312000" r="-343046" b="-129333"/>
                          </a:stretch>
                        </a:blipFill>
                      </a:tcPr>
                    </a:tc>
                    <a:tc>
                      <a:txBody>
                        <a:bodyPr/>
                        <a:lstStyle/>
                        <a:p>
                          <a:endParaRPr lang="tr-TR"/>
                        </a:p>
                      </a:txBody>
                      <a:tcPr>
                        <a:blipFill>
                          <a:blip r:embed="rId2"/>
                          <a:stretch>
                            <a:fillRect l="-197333" t="-312000" r="-130222" b="-129333"/>
                          </a:stretch>
                        </a:blipFill>
                      </a:tcPr>
                    </a:tc>
                    <a:tc>
                      <a:txBody>
                        <a:bodyPr/>
                        <a:lstStyle/>
                        <a:p>
                          <a:endParaRPr lang="tr-TR"/>
                        </a:p>
                      </a:txBody>
                      <a:tcPr>
                        <a:blipFill>
                          <a:blip r:embed="rId2"/>
                          <a:stretch>
                            <a:fillRect l="-625234" t="-312000" r="-173832" b="-129333"/>
                          </a:stretch>
                        </a:blipFill>
                      </a:tcPr>
                    </a:tc>
                    <a:tc>
                      <a:txBody>
                        <a:bodyPr/>
                        <a:lstStyle/>
                        <a:p>
                          <a:r>
                            <a:rPr lang="tr-TR" sz="2400" b="0" dirty="0" smtClean="0"/>
                            <a:t>11,000</a:t>
                          </a:r>
                          <a:endParaRPr lang="en-US" sz="2400" b="0" dirty="0"/>
                        </a:p>
                      </a:txBody>
                      <a:tcPr/>
                    </a:tc>
                    <a:extLst>
                      <a:ext uri="{0D108BD9-81ED-4DB2-BD59-A6C34878D82A}">
                        <a16:rowId xmlns:a16="http://schemas.microsoft.com/office/drawing/2014/main" val="3381761340"/>
                      </a:ext>
                    </a:extLst>
                  </a:tr>
                  <a:tr h="457200">
                    <a:tc>
                      <a:txBody>
                        <a:bodyPr/>
                        <a:lstStyle/>
                        <a:p>
                          <a:endParaRPr lang="en-US" sz="2400" dirty="0"/>
                        </a:p>
                      </a:txBody>
                      <a:tcPr/>
                    </a:tc>
                    <a:tc>
                      <a:txBody>
                        <a:bodyPr/>
                        <a:lstStyle/>
                        <a:p>
                          <a:endParaRPr lang="tr-TR"/>
                        </a:p>
                      </a:txBody>
                      <a:tcPr>
                        <a:blipFill>
                          <a:blip r:embed="rId2"/>
                          <a:stretch>
                            <a:fillRect l="-194040" t="-412000" r="-343046" b="-29333"/>
                          </a:stretch>
                        </a:blipFill>
                      </a:tcPr>
                    </a:tc>
                    <a:tc>
                      <a:txBody>
                        <a:bodyPr/>
                        <a:lstStyle/>
                        <a:p>
                          <a:endParaRPr lang="tr-TR"/>
                        </a:p>
                      </a:txBody>
                      <a:tcPr>
                        <a:blipFill>
                          <a:blip r:embed="rId2"/>
                          <a:stretch>
                            <a:fillRect l="-197333" t="-412000" r="-130222" b="-29333"/>
                          </a:stretch>
                        </a:blipFill>
                      </a:tcPr>
                    </a:tc>
                    <a:tc>
                      <a:txBody>
                        <a:bodyPr/>
                        <a:lstStyle/>
                        <a:p>
                          <a:endParaRPr lang="tr-TR"/>
                        </a:p>
                      </a:txBody>
                      <a:tcPr>
                        <a:blipFill>
                          <a:blip r:embed="rId2"/>
                          <a:stretch>
                            <a:fillRect l="-625234" t="-412000" r="-173832" b="-29333"/>
                          </a:stretch>
                        </a:blipFill>
                      </a:tcPr>
                    </a:tc>
                    <a:tc>
                      <a:txBody>
                        <a:bodyPr/>
                        <a:lstStyle/>
                        <a:p>
                          <a:r>
                            <a:rPr lang="tr-TR" sz="2400" b="0" dirty="0" smtClean="0"/>
                            <a:t>0</a:t>
                          </a:r>
                          <a:endParaRPr lang="en-US" sz="2400" b="0" dirty="0"/>
                        </a:p>
                      </a:txBody>
                      <a:tcPr/>
                    </a:tc>
                    <a:extLst>
                      <a:ext uri="{0D108BD9-81ED-4DB2-BD59-A6C34878D82A}">
                        <a16:rowId xmlns:a16="http://schemas.microsoft.com/office/drawing/2014/main" val="3220848258"/>
                      </a:ext>
                    </a:extLst>
                  </a:tr>
                </a:tbl>
              </a:graphicData>
            </a:graphic>
          </p:graphicFrame>
        </mc:Fallback>
      </mc:AlternateContent>
    </p:spTree>
    <p:extLst>
      <p:ext uri="{BB962C8B-B14F-4D97-AF65-F5344CB8AC3E}">
        <p14:creationId xmlns:p14="http://schemas.microsoft.com/office/powerpoint/2010/main" val="158160800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Linear Program General Formulation</a:t>
            </a:r>
          </a:p>
        </p:txBody>
      </p:sp>
      <p:sp>
        <p:nvSpPr>
          <p:cNvPr id="3" name="Content Placeholder 2"/>
          <p:cNvSpPr>
            <a:spLocks noGrp="1"/>
          </p:cNvSpPr>
          <p:nvPr>
            <p:ph idx="1"/>
          </p:nvPr>
        </p:nvSpPr>
        <p:spPr/>
        <p:txBody>
          <a:bodyPr>
            <a:normAutofit/>
          </a:bodyPr>
          <a:lstStyle/>
          <a:p>
            <a:r>
              <a:rPr lang="en-US" dirty="0"/>
              <a:t>A </a:t>
            </a:r>
            <a:r>
              <a:rPr lang="en-US" i="1" dirty="0"/>
              <a:t>linear function </a:t>
            </a:r>
            <a:r>
              <a:rPr lang="en-US" dirty="0"/>
              <a:t>is a function of the form: </a:t>
            </a:r>
          </a:p>
          <a:p>
            <a:endParaRPr lang="en-US" dirty="0"/>
          </a:p>
          <a:p>
            <a:pPr marL="114300" indent="0">
              <a:buNone/>
            </a:pPr>
            <a:endParaRPr lang="en-US" dirty="0"/>
          </a:p>
          <a:p>
            <a:pPr marL="114300" indent="0">
              <a:buNone/>
            </a:pPr>
            <a:endParaRPr lang="en-US" dirty="0"/>
          </a:p>
          <a:p>
            <a:r>
              <a:rPr lang="en-US" dirty="0"/>
              <a:t>A Mathematical program is a </a:t>
            </a:r>
            <a:r>
              <a:rPr lang="en-US" i="1" dirty="0"/>
              <a:t>linear program (LP) </a:t>
            </a:r>
            <a:r>
              <a:rPr lang="en-US" dirty="0"/>
              <a:t>if the objective is a linear function and the constraints are linear equalities or inequalities. </a:t>
            </a:r>
          </a:p>
          <a:p>
            <a:endParaRPr lang="en-US" dirty="0"/>
          </a:p>
          <a:p>
            <a:pPr marL="0" indent="0">
              <a:buNone/>
            </a:pPr>
            <a:endParaRPr lang="en-US" dirty="0"/>
          </a:p>
          <a:p>
            <a:r>
              <a:rPr lang="en-US" dirty="0"/>
              <a:t>Typically, an LP has non-negativity constraints. </a:t>
            </a:r>
          </a:p>
          <a:p>
            <a:endParaRPr lang="en-US" dirty="0"/>
          </a:p>
        </p:txBody>
      </p:sp>
      <p:sp>
        <p:nvSpPr>
          <p:cNvPr id="5" name="Footer Placeholder 4">
            <a:extLst>
              <a:ext uri="{FF2B5EF4-FFF2-40B4-BE49-F238E27FC236}">
                <a16:creationId xmlns:a16="http://schemas.microsoft.com/office/drawing/2014/main" id="{8DD3F3D0-0CB0-49E9-83F9-009DA6004039}"/>
              </a:ext>
            </a:extLst>
          </p:cNvPr>
          <p:cNvSpPr>
            <a:spLocks noGrp="1"/>
          </p:cNvSpPr>
          <p:nvPr>
            <p:ph type="ftr" sz="quarter" idx="11"/>
          </p:nvPr>
        </p:nvSpPr>
        <p:spPr/>
        <p:txBody>
          <a:bodyPr/>
          <a:lstStyle/>
          <a:p>
            <a:pPr>
              <a:defRPr/>
            </a:pPr>
            <a:r>
              <a:rPr lang="en-US" altLang="en-US"/>
              <a:t>ITU - Business Analytics - Mehmet Yasin Ulukuş</a:t>
            </a:r>
            <a:endParaRPr lang="en-US" altLang="en-US" i="0"/>
          </a:p>
        </p:txBody>
      </p:sp>
      <p:pic>
        <p:nvPicPr>
          <p:cNvPr id="4" name="Picture 3" descr="Screen Shot 2016-10-04 at 11.35.57 A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14801" y="4724401"/>
            <a:ext cx="3467111" cy="824257"/>
          </a:xfrm>
          <a:prstGeom prst="rect">
            <a:avLst/>
          </a:prstGeom>
        </p:spPr>
      </p:pic>
      <p:pic>
        <p:nvPicPr>
          <p:cNvPr id="7" name="Picture 6" descr="Screen Shot 2016-10-04 at 11.47.15 AM.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29000" y="2057400"/>
            <a:ext cx="5650940" cy="1167042"/>
          </a:xfrm>
          <a:prstGeom prst="rect">
            <a:avLst/>
          </a:prstGeom>
        </p:spPr>
      </p:pic>
    </p:spTree>
    <p:extLst>
      <p:ext uri="{BB962C8B-B14F-4D97-AF65-F5344CB8AC3E}">
        <p14:creationId xmlns:p14="http://schemas.microsoft.com/office/powerpoint/2010/main" val="409186362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Linear Functions</a:t>
            </a:r>
          </a:p>
        </p:txBody>
      </p:sp>
      <p:sp>
        <p:nvSpPr>
          <p:cNvPr id="3" name="Footer Placeholder 2">
            <a:extLst>
              <a:ext uri="{FF2B5EF4-FFF2-40B4-BE49-F238E27FC236}">
                <a16:creationId xmlns:a16="http://schemas.microsoft.com/office/drawing/2014/main" id="{1E574790-43E8-425A-BFA0-D048C6F2C67B}"/>
              </a:ext>
            </a:extLst>
          </p:cNvPr>
          <p:cNvSpPr>
            <a:spLocks noGrp="1"/>
          </p:cNvSpPr>
          <p:nvPr>
            <p:ph type="ftr" sz="quarter" idx="11"/>
          </p:nvPr>
        </p:nvSpPr>
        <p:spPr/>
        <p:txBody>
          <a:bodyPr/>
          <a:lstStyle/>
          <a:p>
            <a:pPr>
              <a:defRPr/>
            </a:pPr>
            <a:r>
              <a:rPr lang="en-US" altLang="en-US"/>
              <a:t>ITU - Business Analytics - Mehmet Yasin Ulukuş</a:t>
            </a:r>
            <a:endParaRPr lang="en-US" altLang="en-US" i="0"/>
          </a:p>
        </p:txBody>
      </p:sp>
      <p:pic>
        <p:nvPicPr>
          <p:cNvPr id="4" name="Picture 3" descr="Screen Shot 2016-10-04 at 11.38.10 A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57600" y="1447801"/>
            <a:ext cx="4575318" cy="4631717"/>
          </a:xfrm>
          <a:prstGeom prst="rect">
            <a:avLst/>
          </a:prstGeom>
        </p:spPr>
      </p:pic>
    </p:spTree>
    <p:extLst>
      <p:ext uri="{BB962C8B-B14F-4D97-AF65-F5344CB8AC3E}">
        <p14:creationId xmlns:p14="http://schemas.microsoft.com/office/powerpoint/2010/main" val="98501168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Linear Functions</a:t>
            </a:r>
          </a:p>
        </p:txBody>
      </p:sp>
      <p:sp>
        <p:nvSpPr>
          <p:cNvPr id="3" name="Content Placeholder 2"/>
          <p:cNvSpPr>
            <a:spLocks noGrp="1"/>
          </p:cNvSpPr>
          <p:nvPr>
            <p:ph idx="1"/>
          </p:nvPr>
        </p:nvSpPr>
        <p:spPr/>
        <p:txBody>
          <a:bodyPr>
            <a:normAutofit/>
          </a:bodyPr>
          <a:lstStyle/>
          <a:p>
            <a:r>
              <a:rPr lang="en-US" dirty="0"/>
              <a:t>If x and y are decision variables, which of these are Linear Functions or equations? </a:t>
            </a:r>
          </a:p>
          <a:p>
            <a:pPr marL="571500" indent="-457200">
              <a:buFont typeface="+mj-lt"/>
              <a:buAutoNum type="arabicPeriod"/>
            </a:pPr>
            <a:r>
              <a:rPr lang="es-ES_tradnl" dirty="0"/>
              <a:t>x + y </a:t>
            </a:r>
          </a:p>
          <a:p>
            <a:pPr marL="571500" indent="-457200">
              <a:buFont typeface="+mj-lt"/>
              <a:buAutoNum type="arabicPeriod"/>
            </a:pPr>
            <a:r>
              <a:rPr lang="de-DE" dirty="0"/>
              <a:t>3x + 5y ≤ 25 </a:t>
            </a:r>
          </a:p>
          <a:p>
            <a:pPr marL="571500" indent="-457200">
              <a:buFont typeface="+mj-lt"/>
              <a:buAutoNum type="arabicPeriod"/>
            </a:pPr>
            <a:r>
              <a:rPr lang="hr-HR" dirty="0"/>
              <a:t>xy ≤ 25 </a:t>
            </a:r>
          </a:p>
          <a:p>
            <a:pPr marL="571500" indent="-457200">
              <a:buFont typeface="+mj-lt"/>
              <a:buAutoNum type="arabicPeriod"/>
            </a:pPr>
            <a:r>
              <a:rPr lang="es-ES_tradnl" dirty="0"/>
              <a:t>x + y ≤ 25/(</a:t>
            </a:r>
            <a:r>
              <a:rPr lang="es-ES_tradnl" dirty="0" err="1"/>
              <a:t>x+y</a:t>
            </a:r>
            <a:r>
              <a:rPr lang="es-ES_tradnl" dirty="0"/>
              <a:t>) </a:t>
            </a:r>
          </a:p>
          <a:p>
            <a:pPr marL="571500" indent="-457200">
              <a:buFont typeface="+mj-lt"/>
              <a:buAutoNum type="arabicPeriod"/>
            </a:pPr>
            <a:r>
              <a:rPr lang="is-IS" dirty="0"/>
              <a:t>(12x + 6y + 8z)/(x+y+z) &gt; 10 </a:t>
            </a:r>
          </a:p>
          <a:p>
            <a:pPr marL="571500" indent="-457200">
              <a:buFont typeface="+mj-lt"/>
              <a:buAutoNum type="arabicPeriod"/>
            </a:pPr>
            <a:r>
              <a:rPr lang="is-IS" dirty="0"/>
              <a:t>a</a:t>
            </a:r>
            <a:r>
              <a:rPr lang="is-IS" baseline="30000" dirty="0"/>
              <a:t>2</a:t>
            </a:r>
            <a:r>
              <a:rPr lang="is-IS" dirty="0"/>
              <a:t>x + 10 =(1/b)y </a:t>
            </a:r>
          </a:p>
        </p:txBody>
      </p:sp>
      <p:sp>
        <p:nvSpPr>
          <p:cNvPr id="4" name="Footer Placeholder 3">
            <a:extLst>
              <a:ext uri="{FF2B5EF4-FFF2-40B4-BE49-F238E27FC236}">
                <a16:creationId xmlns:a16="http://schemas.microsoft.com/office/drawing/2014/main" id="{A62333A8-864A-4DB9-9ADF-1CD41180BC62}"/>
              </a:ext>
            </a:extLst>
          </p:cNvPr>
          <p:cNvSpPr>
            <a:spLocks noGrp="1"/>
          </p:cNvSpPr>
          <p:nvPr>
            <p:ph type="ftr" sz="quarter" idx="11"/>
          </p:nvPr>
        </p:nvSpPr>
        <p:spPr/>
        <p:txBody>
          <a:bodyPr/>
          <a:lstStyle/>
          <a:p>
            <a:pPr>
              <a:defRPr/>
            </a:pPr>
            <a:r>
              <a:rPr lang="en-US" altLang="en-US"/>
              <a:t>ITU - Business Analytics - Mehmet Yasin Ulukuş</a:t>
            </a:r>
            <a:endParaRPr lang="en-US" altLang="en-US" i="0"/>
          </a:p>
        </p:txBody>
      </p:sp>
    </p:spTree>
    <p:extLst>
      <p:ext uri="{BB962C8B-B14F-4D97-AF65-F5344CB8AC3E}">
        <p14:creationId xmlns:p14="http://schemas.microsoft.com/office/powerpoint/2010/main" val="154684170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Linear Constraints</a:t>
            </a:r>
          </a:p>
        </p:txBody>
      </p:sp>
      <p:sp>
        <p:nvSpPr>
          <p:cNvPr id="3" name="Content Placeholder 2"/>
          <p:cNvSpPr>
            <a:spLocks noGrp="1"/>
          </p:cNvSpPr>
          <p:nvPr>
            <p:ph idx="1"/>
          </p:nvPr>
        </p:nvSpPr>
        <p:spPr/>
        <p:txBody>
          <a:bodyPr/>
          <a:lstStyle/>
          <a:p>
            <a:r>
              <a:rPr lang="en-US" dirty="0"/>
              <a:t>Linear constraints are linear functions that are restricted to be "less than or equal to", "equal to", or "greater than or equal to" a constant. </a:t>
            </a:r>
          </a:p>
          <a:p>
            <a:endParaRPr lang="en-US" dirty="0"/>
          </a:p>
        </p:txBody>
      </p:sp>
      <p:sp>
        <p:nvSpPr>
          <p:cNvPr id="5" name="Footer Placeholder 4">
            <a:extLst>
              <a:ext uri="{FF2B5EF4-FFF2-40B4-BE49-F238E27FC236}">
                <a16:creationId xmlns:a16="http://schemas.microsoft.com/office/drawing/2014/main" id="{143F7C7C-31C7-4A79-884C-CEE66807A765}"/>
              </a:ext>
            </a:extLst>
          </p:cNvPr>
          <p:cNvSpPr>
            <a:spLocks noGrp="1"/>
          </p:cNvSpPr>
          <p:nvPr>
            <p:ph type="ftr" sz="quarter" idx="11"/>
          </p:nvPr>
        </p:nvSpPr>
        <p:spPr/>
        <p:txBody>
          <a:bodyPr/>
          <a:lstStyle/>
          <a:p>
            <a:pPr>
              <a:defRPr/>
            </a:pPr>
            <a:r>
              <a:rPr lang="en-US" altLang="en-US"/>
              <a:t>ITU - Business Analytics - Mehmet Yasin Ulukuş</a:t>
            </a:r>
            <a:endParaRPr lang="en-US" altLang="en-US" i="0"/>
          </a:p>
        </p:txBody>
      </p:sp>
      <p:pic>
        <p:nvPicPr>
          <p:cNvPr id="4" name="Picture 3" descr="Screen Shot 2016-10-04 at 11.37.25 A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29000" y="3200401"/>
            <a:ext cx="5486822" cy="1875243"/>
          </a:xfrm>
          <a:prstGeom prst="rect">
            <a:avLst/>
          </a:prstGeom>
        </p:spPr>
      </p:pic>
    </p:spTree>
    <p:extLst>
      <p:ext uri="{BB962C8B-B14F-4D97-AF65-F5344CB8AC3E}">
        <p14:creationId xmlns:p14="http://schemas.microsoft.com/office/powerpoint/2010/main" val="391810601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Linear Programming Assumptions</a:t>
            </a:r>
          </a:p>
        </p:txBody>
      </p:sp>
      <p:sp>
        <p:nvSpPr>
          <p:cNvPr id="3" name="Content Placeholder 2"/>
          <p:cNvSpPr>
            <a:spLocks noGrp="1"/>
          </p:cNvSpPr>
          <p:nvPr>
            <p:ph idx="1"/>
          </p:nvPr>
        </p:nvSpPr>
        <p:spPr/>
        <p:txBody>
          <a:bodyPr>
            <a:noAutofit/>
          </a:bodyPr>
          <a:lstStyle/>
          <a:p>
            <a:pPr marL="114300" indent="0">
              <a:buNone/>
            </a:pPr>
            <a:r>
              <a:rPr lang="en-US" dirty="0"/>
              <a:t>In fact, the model is called LINEAR if it satisfies </a:t>
            </a:r>
            <a:r>
              <a:rPr lang="tr-TR" dirty="0"/>
              <a:t>two</a:t>
            </a:r>
            <a:r>
              <a:rPr lang="en-US" dirty="0"/>
              <a:t> assumptions:</a:t>
            </a:r>
          </a:p>
          <a:p>
            <a:pPr marL="114300" indent="0">
              <a:buNone/>
            </a:pPr>
            <a:r>
              <a:rPr lang="en-US" b="1" dirty="0"/>
              <a:t>1. Proportionality </a:t>
            </a:r>
            <a:endParaRPr lang="en-US" dirty="0"/>
          </a:p>
          <a:p>
            <a:r>
              <a:rPr lang="en-US" dirty="0"/>
              <a:t>The contribution of each decision variable in </a:t>
            </a:r>
            <a:r>
              <a:rPr lang="en-US" b="1" dirty="0"/>
              <a:t>both </a:t>
            </a:r>
            <a:r>
              <a:rPr lang="en-US" dirty="0"/>
              <a:t>the objective function and the constraints is directly proportional to the value of the variable. </a:t>
            </a:r>
            <a:endParaRPr lang="tr-TR" dirty="0"/>
          </a:p>
          <a:p>
            <a:pPr marL="0" indent="0">
              <a:buNone/>
            </a:pPr>
            <a:r>
              <a:rPr lang="en-US" b="1" dirty="0"/>
              <a:t>2. Additivity </a:t>
            </a:r>
            <a:endParaRPr lang="en-US" dirty="0"/>
          </a:p>
          <a:p>
            <a:r>
              <a:rPr lang="en-US" dirty="0"/>
              <a:t>The total contribution of all the variables in the objective function and in the constraints is the direct sum of individual contribution of each variable. </a:t>
            </a:r>
          </a:p>
          <a:p>
            <a:r>
              <a:rPr lang="en-US" dirty="0"/>
              <a:t>A similar argument holds for constraints. </a:t>
            </a:r>
          </a:p>
          <a:p>
            <a:endParaRPr lang="en-US" sz="3200" dirty="0"/>
          </a:p>
        </p:txBody>
      </p:sp>
      <p:sp>
        <p:nvSpPr>
          <p:cNvPr id="4" name="Footer Placeholder 3">
            <a:extLst>
              <a:ext uri="{FF2B5EF4-FFF2-40B4-BE49-F238E27FC236}">
                <a16:creationId xmlns:a16="http://schemas.microsoft.com/office/drawing/2014/main" id="{8C5D104A-723A-456E-BEAE-BC3CA571C032}"/>
              </a:ext>
            </a:extLst>
          </p:cNvPr>
          <p:cNvSpPr>
            <a:spLocks noGrp="1"/>
          </p:cNvSpPr>
          <p:nvPr>
            <p:ph type="ftr" sz="quarter" idx="11"/>
          </p:nvPr>
        </p:nvSpPr>
        <p:spPr/>
        <p:txBody>
          <a:bodyPr/>
          <a:lstStyle/>
          <a:p>
            <a:pPr>
              <a:defRPr/>
            </a:pPr>
            <a:r>
              <a:rPr lang="en-US" altLang="en-US"/>
              <a:t>ITU - Business Analytics - Mehmet Yasin Ulukuş</a:t>
            </a:r>
            <a:endParaRPr lang="en-US" altLang="en-US" i="0"/>
          </a:p>
        </p:txBody>
      </p:sp>
    </p:spTree>
    <p:extLst>
      <p:ext uri="{BB962C8B-B14F-4D97-AF65-F5344CB8AC3E}">
        <p14:creationId xmlns:p14="http://schemas.microsoft.com/office/powerpoint/2010/main" val="401325375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Linear Programming Assumptions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Autofit/>
              </a:bodyPr>
              <a:lstStyle/>
              <a:p>
                <a:pPr marL="114300" indent="0">
                  <a:buNone/>
                </a:pPr>
                <a:r>
                  <a:rPr lang="en-US" sz="2400" dirty="0"/>
                  <a:t>For an LP to be an appropriate representation of real-life situation, two more assumptions are needed: </a:t>
                </a:r>
                <a:endParaRPr lang="tr-TR" sz="2400" dirty="0"/>
              </a:p>
              <a:p>
                <a:pPr marL="114300" indent="0">
                  <a:buNone/>
                </a:pPr>
                <a:r>
                  <a:rPr lang="en-US" sz="2400" b="1" dirty="0"/>
                  <a:t>3. Divisibility </a:t>
                </a:r>
                <a:endParaRPr lang="en-US" sz="2400" dirty="0"/>
              </a:p>
              <a:p>
                <a:r>
                  <a:rPr lang="en-US" sz="2200" dirty="0"/>
                  <a:t>Decision variables can assume fractional values, i.e. values like </a:t>
                </a:r>
                <a14:m>
                  <m:oMath xmlns:m="http://schemas.openxmlformats.org/officeDocument/2006/math">
                    <m:sSub>
                      <m:sSubPr>
                        <m:ctrlPr>
                          <a:rPr lang="tr-TR" sz="2200" b="0" i="1" dirty="0" smtClean="0">
                            <a:latin typeface="Cambria Math" panose="02040503050406030204" pitchFamily="18" charset="0"/>
                          </a:rPr>
                        </m:ctrlPr>
                      </m:sSubPr>
                      <m:e>
                        <m:r>
                          <a:rPr lang="en-US" sz="2200" i="1" dirty="0" smtClean="0">
                            <a:latin typeface="Cambria Math" panose="02040503050406030204" pitchFamily="18" charset="0"/>
                          </a:rPr>
                          <m:t>𝑥</m:t>
                        </m:r>
                      </m:e>
                      <m:sub>
                        <m:r>
                          <a:rPr lang="en-US" sz="2200" i="1" dirty="0" smtClean="0">
                            <a:latin typeface="Cambria Math" panose="02040503050406030204" pitchFamily="18" charset="0"/>
                          </a:rPr>
                          <m:t>1</m:t>
                        </m:r>
                      </m:sub>
                    </m:sSub>
                    <m:r>
                      <a:rPr lang="en-US" sz="2200" i="1" dirty="0" smtClean="0">
                        <a:latin typeface="Cambria Math" panose="02040503050406030204" pitchFamily="18" charset="0"/>
                      </a:rPr>
                      <m:t>=</m:t>
                    </m:r>
                    <m:r>
                      <a:rPr lang="tr-TR" sz="2200" b="0" i="1" dirty="0" smtClean="0">
                        <a:latin typeface="Cambria Math" panose="02040503050406030204" pitchFamily="18" charset="0"/>
                      </a:rPr>
                      <m:t>3.2</m:t>
                    </m:r>
                  </m:oMath>
                </a14:m>
                <a:r>
                  <a:rPr lang="en-US" sz="2200" dirty="0"/>
                  <a:t> or </a:t>
                </a:r>
                <a14:m>
                  <m:oMath xmlns:m="http://schemas.openxmlformats.org/officeDocument/2006/math">
                    <m:sSub>
                      <m:sSubPr>
                        <m:ctrlPr>
                          <a:rPr lang="tr-TR" sz="2200" b="0" i="1" dirty="0" smtClean="0">
                            <a:latin typeface="Cambria Math" panose="02040503050406030204" pitchFamily="18" charset="0"/>
                          </a:rPr>
                        </m:ctrlPr>
                      </m:sSubPr>
                      <m:e>
                        <m:r>
                          <a:rPr lang="en-US" sz="2200" i="1" dirty="0" smtClean="0">
                            <a:latin typeface="Cambria Math" panose="02040503050406030204" pitchFamily="18" charset="0"/>
                          </a:rPr>
                          <m:t>𝑥</m:t>
                        </m:r>
                      </m:e>
                      <m:sub>
                        <m:r>
                          <a:rPr lang="en-US" sz="2200" i="1" dirty="0" smtClean="0">
                            <a:latin typeface="Cambria Math" panose="02040503050406030204" pitchFamily="18" charset="0"/>
                          </a:rPr>
                          <m:t>2</m:t>
                        </m:r>
                      </m:sub>
                    </m:sSub>
                    <m:r>
                      <a:rPr lang="en-US" sz="2200" i="1" dirty="0" smtClean="0">
                        <a:latin typeface="Cambria Math" panose="02040503050406030204" pitchFamily="18" charset="0"/>
                      </a:rPr>
                      <m:t>=1.75</m:t>
                    </m:r>
                  </m:oMath>
                </a14:m>
                <a:r>
                  <a:rPr lang="en-US" sz="2200" dirty="0"/>
                  <a:t> are possible. </a:t>
                </a:r>
              </a:p>
              <a:p>
                <a:r>
                  <a:rPr lang="en-US" sz="2200" dirty="0"/>
                  <a:t>If </a:t>
                </a:r>
                <a:r>
                  <a:rPr lang="tr-TR" sz="2200" i="1" dirty="0"/>
                  <a:t>variables </a:t>
                </a:r>
                <a:r>
                  <a:rPr lang="en-US" sz="2200" dirty="0"/>
                  <a:t>must be nonnegative integers (no divisibility) then we will have an INTEGER PROGRAMMING problem. </a:t>
                </a:r>
              </a:p>
              <a:p>
                <a:pPr marL="114300" indent="0">
                  <a:buNone/>
                </a:pPr>
                <a:r>
                  <a:rPr lang="en-US" sz="2400" b="1" dirty="0"/>
                  <a:t>4. Certainty </a:t>
                </a:r>
              </a:p>
              <a:p>
                <a:pPr marL="457200" indent="-342900"/>
                <a:r>
                  <a:rPr lang="en-US" sz="2200" dirty="0"/>
                  <a:t>Each parameter of the LP (objective function coefficients, right hand sides, and technology coefficients) is known with certainty. </a:t>
                </a:r>
              </a:p>
              <a:p>
                <a:pPr marL="457200" indent="-342900"/>
                <a:r>
                  <a:rPr lang="en-US" sz="2200" dirty="0"/>
                  <a:t>Otherwise, it is </a:t>
                </a:r>
                <a:r>
                  <a:rPr lang="en-US" sz="2200" i="1" dirty="0">
                    <a:solidFill>
                      <a:srgbClr val="FF0000"/>
                    </a:solidFill>
                  </a:rPr>
                  <a:t>stochastic</a:t>
                </a:r>
                <a:r>
                  <a:rPr lang="en-US" sz="2200" dirty="0">
                    <a:solidFill>
                      <a:srgbClr val="FF6700"/>
                    </a:solidFill>
                  </a:rPr>
                  <a:t>.</a:t>
                </a:r>
              </a:p>
              <a:p>
                <a:pPr marL="0" indent="0">
                  <a:buNone/>
                </a:pPr>
                <a:endParaRPr lang="en-US" sz="2400" dirty="0"/>
              </a:p>
              <a:p>
                <a:pPr marL="114300" indent="0">
                  <a:buNone/>
                </a:pPr>
                <a:endParaRPr lang="en-US" sz="24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696" t="-1735" r="-870"/>
                </a:stretch>
              </a:blipFill>
            </p:spPr>
            <p:txBody>
              <a:bodyPr/>
              <a:lstStyle/>
              <a:p>
                <a:r>
                  <a:rPr lang="en-US">
                    <a:noFill/>
                  </a:rPr>
                  <a:t> </a:t>
                </a:r>
              </a:p>
            </p:txBody>
          </p:sp>
        </mc:Fallback>
      </mc:AlternateContent>
      <p:sp>
        <p:nvSpPr>
          <p:cNvPr id="4" name="Footer Placeholder 3">
            <a:extLst>
              <a:ext uri="{FF2B5EF4-FFF2-40B4-BE49-F238E27FC236}">
                <a16:creationId xmlns:a16="http://schemas.microsoft.com/office/drawing/2014/main" id="{F302C714-9AB6-4CCA-AABC-B50425A20647}"/>
              </a:ext>
            </a:extLst>
          </p:cNvPr>
          <p:cNvSpPr>
            <a:spLocks noGrp="1"/>
          </p:cNvSpPr>
          <p:nvPr>
            <p:ph type="ftr" sz="quarter" idx="11"/>
          </p:nvPr>
        </p:nvSpPr>
        <p:spPr/>
        <p:txBody>
          <a:bodyPr/>
          <a:lstStyle/>
          <a:p>
            <a:pPr>
              <a:defRPr/>
            </a:pPr>
            <a:r>
              <a:rPr lang="en-US" altLang="en-US"/>
              <a:t>ITU - Business Analytics - Mehmet Yasin Ulukuş</a:t>
            </a:r>
            <a:endParaRPr lang="en-US" altLang="en-US" i="0"/>
          </a:p>
        </p:txBody>
      </p:sp>
    </p:spTree>
    <p:extLst>
      <p:ext uri="{BB962C8B-B14F-4D97-AF65-F5344CB8AC3E}">
        <p14:creationId xmlns:p14="http://schemas.microsoft.com/office/powerpoint/2010/main" val="12462176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Terminology</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en-US" sz="2400" b="1" i="1" dirty="0"/>
                  <a:t>Decision variables: </a:t>
                </a:r>
                <a:r>
                  <a:rPr lang="en-US" sz="2400" dirty="0"/>
                  <a:t>e.g., </a:t>
                </a:r>
                <a14:m>
                  <m:oMath xmlns:m="http://schemas.openxmlformats.org/officeDocument/2006/math">
                    <m:r>
                      <a:rPr lang="en-US" sz="2400" i="1" dirty="0" smtClean="0">
                        <a:latin typeface="Cambria Math" panose="02040503050406030204" pitchFamily="18" charset="0"/>
                      </a:rPr>
                      <m:t>𝑥</m:t>
                    </m:r>
                  </m:oMath>
                </a14:m>
                <a:r>
                  <a:rPr lang="en-US" sz="2400" dirty="0"/>
                  <a:t> and </a:t>
                </a:r>
                <a14:m>
                  <m:oMath xmlns:m="http://schemas.openxmlformats.org/officeDocument/2006/math">
                    <m:r>
                      <a:rPr lang="en-US" sz="2400" i="1" dirty="0" smtClean="0">
                        <a:latin typeface="Cambria Math" panose="02040503050406030204" pitchFamily="18" charset="0"/>
                      </a:rPr>
                      <m:t>𝑦</m:t>
                    </m:r>
                  </m:oMath>
                </a14:m>
                <a:r>
                  <a:rPr lang="en-US" sz="2400" dirty="0"/>
                  <a:t>. </a:t>
                </a:r>
              </a:p>
              <a:p>
                <a:pPr lvl="1"/>
                <a:r>
                  <a:rPr lang="en-US" dirty="0"/>
                  <a:t>In general, there are quantities you can control to improve your objective which should completely describe the set of decisions to be made </a:t>
                </a:r>
              </a:p>
              <a:p>
                <a:r>
                  <a:rPr lang="tr-TR" sz="2400" b="1" i="1" dirty="0"/>
                  <a:t>Constraints</a:t>
                </a:r>
                <a:r>
                  <a:rPr lang="fr-FR" sz="2400" b="1" i="1" dirty="0"/>
                  <a:t>: </a:t>
                </a:r>
                <a:r>
                  <a:rPr lang="fr-FR" sz="2400" dirty="0"/>
                  <a:t>e.g., </a:t>
                </a:r>
                <a14:m>
                  <m:oMath xmlns:m="http://schemas.openxmlformats.org/officeDocument/2006/math">
                    <m:r>
                      <a:rPr lang="fr-FR" sz="2400" i="1" dirty="0" smtClean="0">
                        <a:latin typeface="Cambria Math" panose="02040503050406030204" pitchFamily="18" charset="0"/>
                      </a:rPr>
                      <m:t>5</m:t>
                    </m:r>
                    <m:r>
                      <a:rPr lang="fr-FR" sz="2400" i="1" dirty="0" smtClean="0">
                        <a:latin typeface="Cambria Math" panose="02040503050406030204" pitchFamily="18" charset="0"/>
                      </a:rPr>
                      <m:t>𝑥</m:t>
                    </m:r>
                    <m:r>
                      <a:rPr lang="fr-FR" sz="2400" i="1" dirty="0" smtClean="0">
                        <a:latin typeface="Cambria Math" panose="02040503050406030204" pitchFamily="18" charset="0"/>
                      </a:rPr>
                      <m:t>+8</m:t>
                    </m:r>
                    <m:r>
                      <a:rPr lang="fr-FR" sz="2400" i="1" dirty="0" smtClean="0">
                        <a:latin typeface="Cambria Math" panose="02040503050406030204" pitchFamily="18" charset="0"/>
                      </a:rPr>
                      <m:t>𝑦</m:t>
                    </m:r>
                    <m:r>
                      <a:rPr lang="fr-FR" sz="2400" i="1" dirty="0" smtClean="0">
                        <a:latin typeface="Cambria Math" panose="02040503050406030204" pitchFamily="18" charset="0"/>
                      </a:rPr>
                      <m:t>≤24</m:t>
                    </m:r>
                  </m:oMath>
                </a14:m>
                <a:r>
                  <a:rPr lang="fr-FR" sz="2400" dirty="0"/>
                  <a:t>, </a:t>
                </a:r>
              </a:p>
              <a:p>
                <a:pPr lvl="1"/>
                <a:r>
                  <a:rPr lang="fr-FR" dirty="0"/>
                  <a:t>Limitations on the values of the </a:t>
                </a:r>
                <a:r>
                  <a:rPr lang="en-US" dirty="0"/>
                  <a:t>decision</a:t>
                </a:r>
                <a:r>
                  <a:rPr lang="fr-FR" dirty="0"/>
                  <a:t> variables</a:t>
                </a:r>
                <a:r>
                  <a:rPr lang="fr-FR" sz="2000" dirty="0"/>
                  <a:t>. </a:t>
                </a:r>
              </a:p>
              <a:p>
                <a:pPr lvl="1"/>
                <a:r>
                  <a:rPr lang="fr-FR" dirty="0"/>
                  <a:t>Non-</a:t>
                </a:r>
                <a:r>
                  <a:rPr lang="fr-FR" dirty="0" err="1"/>
                  <a:t>negativity</a:t>
                </a:r>
                <a:r>
                  <a:rPr lang="fr-FR" dirty="0"/>
                  <a:t> </a:t>
                </a:r>
                <a:r>
                  <a:rPr lang="en-US" dirty="0"/>
                  <a:t>constraints</a:t>
                </a:r>
                <a:r>
                  <a:rPr lang="fr-FR" dirty="0"/>
                  <a:t>. (Don’t </a:t>
                </a:r>
                <a:r>
                  <a:rPr lang="fr-FR" dirty="0" err="1"/>
                  <a:t>forget</a:t>
                </a:r>
                <a:r>
                  <a:rPr lang="fr-FR" dirty="0"/>
                  <a:t> to </a:t>
                </a:r>
                <a:r>
                  <a:rPr lang="fr-FR" dirty="0" err="1"/>
                  <a:t>add</a:t>
                </a:r>
                <a:r>
                  <a:rPr lang="fr-FR" dirty="0"/>
                  <a:t> </a:t>
                </a:r>
                <a:r>
                  <a:rPr lang="fr-FR" dirty="0" err="1"/>
                  <a:t>these</a:t>
                </a:r>
                <a:r>
                  <a:rPr lang="fr-FR" dirty="0"/>
                  <a:t>.) </a:t>
                </a:r>
              </a:p>
              <a:p>
                <a:pPr lvl="1"/>
                <a:r>
                  <a:rPr lang="fr-FR" dirty="0"/>
                  <a:t>No strict </a:t>
                </a:r>
                <a:r>
                  <a:rPr lang="fr-FR" dirty="0" err="1"/>
                  <a:t>inequalities</a:t>
                </a:r>
                <a:r>
                  <a:rPr lang="fr-FR" dirty="0"/>
                  <a:t>. </a:t>
                </a:r>
              </a:p>
              <a:p>
                <a:r>
                  <a:rPr lang="en-US" sz="2400" b="1" i="1" dirty="0"/>
                  <a:t>Objective Function: </a:t>
                </a:r>
                <a:r>
                  <a:rPr lang="en-US" sz="2400" dirty="0"/>
                  <a:t>e.g., </a:t>
                </a:r>
                <a14:m>
                  <m:oMath xmlns:m="http://schemas.openxmlformats.org/officeDocument/2006/math">
                    <m:r>
                      <a:rPr lang="en-US" sz="2400" i="1" dirty="0" smtClean="0">
                        <a:latin typeface="Cambria Math" panose="02040503050406030204" pitchFamily="18" charset="0"/>
                      </a:rPr>
                      <m:t>3</m:t>
                    </m:r>
                    <m:r>
                      <a:rPr lang="en-US" sz="2400" i="1" dirty="0" smtClean="0">
                        <a:latin typeface="Cambria Math" panose="02040503050406030204" pitchFamily="18" charset="0"/>
                      </a:rPr>
                      <m:t>𝑥</m:t>
                    </m:r>
                    <m:r>
                      <a:rPr lang="en-US" sz="2400" i="1" dirty="0" smtClean="0">
                        <a:latin typeface="Cambria Math" panose="02040503050406030204" pitchFamily="18" charset="0"/>
                      </a:rPr>
                      <m:t>+4</m:t>
                    </m:r>
                    <m:r>
                      <a:rPr lang="en-US" sz="2400" i="1" dirty="0" smtClean="0">
                        <a:latin typeface="Cambria Math" panose="02040503050406030204" pitchFamily="18" charset="0"/>
                      </a:rPr>
                      <m:t>𝑦</m:t>
                    </m:r>
                    <m:r>
                      <a:rPr lang="en-US" sz="2400" i="1" dirty="0" smtClean="0">
                        <a:latin typeface="Cambria Math" panose="02040503050406030204" pitchFamily="18" charset="0"/>
                      </a:rPr>
                      <m:t> </m:t>
                    </m:r>
                  </m:oMath>
                </a14:m>
                <a:endParaRPr lang="en-US" sz="2400" dirty="0"/>
              </a:p>
              <a:p>
                <a:pPr lvl="1"/>
                <a:r>
                  <a:rPr lang="en-US" dirty="0"/>
                  <a:t>Value measure used to rank alternatives </a:t>
                </a:r>
              </a:p>
              <a:p>
                <a:pPr lvl="1"/>
                <a:r>
                  <a:rPr lang="en-US" dirty="0"/>
                  <a:t>Seek to maximize or minimize this objective </a:t>
                </a:r>
              </a:p>
              <a:p>
                <a:pPr marL="114300" indent="0">
                  <a:buNone/>
                </a:pP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812" t="-1735"/>
                </a:stretch>
              </a:blipFill>
            </p:spPr>
            <p:txBody>
              <a:bodyPr/>
              <a:lstStyle/>
              <a:p>
                <a:r>
                  <a:rPr lang="en-US">
                    <a:noFill/>
                  </a:rPr>
                  <a:t> </a:t>
                </a:r>
              </a:p>
            </p:txBody>
          </p:sp>
        </mc:Fallback>
      </mc:AlternateContent>
      <p:sp>
        <p:nvSpPr>
          <p:cNvPr id="4" name="Footer Placeholder 3">
            <a:extLst>
              <a:ext uri="{FF2B5EF4-FFF2-40B4-BE49-F238E27FC236}">
                <a16:creationId xmlns:a16="http://schemas.microsoft.com/office/drawing/2014/main" id="{E6219887-1F5F-40BC-AFDE-E5DEAF50DBE5}"/>
              </a:ext>
            </a:extLst>
          </p:cNvPr>
          <p:cNvSpPr>
            <a:spLocks noGrp="1"/>
          </p:cNvSpPr>
          <p:nvPr>
            <p:ph type="ftr" sz="quarter" idx="11"/>
          </p:nvPr>
        </p:nvSpPr>
        <p:spPr/>
        <p:txBody>
          <a:bodyPr/>
          <a:lstStyle/>
          <a:p>
            <a:pPr>
              <a:defRPr/>
            </a:pPr>
            <a:r>
              <a:rPr lang="en-US" altLang="en-US"/>
              <a:t>ITU - Business Analytics - Mehmet Yasin Ulukuş</a:t>
            </a:r>
            <a:endParaRPr lang="en-US" altLang="en-US" i="0"/>
          </a:p>
        </p:txBody>
      </p:sp>
    </p:spTree>
    <p:extLst>
      <p:ext uri="{BB962C8B-B14F-4D97-AF65-F5344CB8AC3E}">
        <p14:creationId xmlns:p14="http://schemas.microsoft.com/office/powerpoint/2010/main" val="388500396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 Linear Program</a:t>
            </a:r>
          </a:p>
        </p:txBody>
      </p:sp>
      <p:sp>
        <p:nvSpPr>
          <p:cNvPr id="5" name="Footer Placeholder 4">
            <a:extLst>
              <a:ext uri="{FF2B5EF4-FFF2-40B4-BE49-F238E27FC236}">
                <a16:creationId xmlns:a16="http://schemas.microsoft.com/office/drawing/2014/main" id="{181B5AF0-2DC6-405A-A7A4-BED1F52399D8}"/>
              </a:ext>
            </a:extLst>
          </p:cNvPr>
          <p:cNvSpPr>
            <a:spLocks noGrp="1"/>
          </p:cNvSpPr>
          <p:nvPr>
            <p:ph type="ftr" sz="quarter" idx="11"/>
          </p:nvPr>
        </p:nvSpPr>
        <p:spPr/>
        <p:txBody>
          <a:bodyPr/>
          <a:lstStyle/>
          <a:p>
            <a:pPr>
              <a:defRPr/>
            </a:pPr>
            <a:r>
              <a:rPr lang="en-US" altLang="en-US"/>
              <a:t>ITU - Business Analytics - Mehmet Yasin Ulukuş</a:t>
            </a:r>
            <a:endParaRPr lang="en-US" altLang="en-US" i="0"/>
          </a:p>
        </p:txBody>
      </p:sp>
      <p:pic>
        <p:nvPicPr>
          <p:cNvPr id="4" name="Picture 3" descr="Screen Shot 2016-10-04 at 11.52.21 A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81201" y="1524000"/>
            <a:ext cx="7751231" cy="4100013"/>
          </a:xfrm>
          <a:prstGeom prst="rect">
            <a:avLst/>
          </a:prstGeom>
        </p:spPr>
      </p:pic>
    </p:spTree>
    <p:extLst>
      <p:ext uri="{BB962C8B-B14F-4D97-AF65-F5344CB8AC3E}">
        <p14:creationId xmlns:p14="http://schemas.microsoft.com/office/powerpoint/2010/main" val="324281012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LP Formulation Steps</a:t>
            </a:r>
          </a:p>
        </p:txBody>
      </p:sp>
      <p:sp>
        <p:nvSpPr>
          <p:cNvPr id="3" name="Content Placeholder 2"/>
          <p:cNvSpPr>
            <a:spLocks noGrp="1"/>
          </p:cNvSpPr>
          <p:nvPr>
            <p:ph idx="1"/>
          </p:nvPr>
        </p:nvSpPr>
        <p:spPr/>
        <p:txBody>
          <a:bodyPr>
            <a:normAutofit/>
          </a:bodyPr>
          <a:lstStyle/>
          <a:p>
            <a:pPr marL="571500" indent="-457200">
              <a:buFont typeface="+mj-lt"/>
              <a:buAutoNum type="arabicPeriod"/>
            </a:pPr>
            <a:r>
              <a:rPr lang="en-US" sz="3200" dirty="0"/>
              <a:t>Define decision variables, including their “units”</a:t>
            </a:r>
          </a:p>
          <a:p>
            <a:pPr marL="571500" indent="-457200">
              <a:buFont typeface="+mj-lt"/>
              <a:buAutoNum type="arabicPeriod"/>
            </a:pPr>
            <a:r>
              <a:rPr lang="en-US" sz="3200" dirty="0"/>
              <a:t>Express the objective function in terms of the decision variables. If unsuccessful, go to Step 1.</a:t>
            </a:r>
          </a:p>
          <a:p>
            <a:pPr marL="571500" indent="-457200">
              <a:buFont typeface="+mj-lt"/>
              <a:buAutoNum type="arabicPeriod"/>
            </a:pPr>
            <a:r>
              <a:rPr lang="en-US" sz="3200" dirty="0"/>
              <a:t>Express the constraints in the terms of the decision variables. If unsuccessful, go to Step 1.</a:t>
            </a:r>
          </a:p>
          <a:p>
            <a:pPr marL="114300" indent="0">
              <a:buNone/>
            </a:pPr>
            <a:r>
              <a:rPr lang="en-US" sz="3200" dirty="0"/>
              <a:t>LP formulation an iterative process</a:t>
            </a:r>
            <a:r>
              <a:rPr lang="en-US" dirty="0"/>
              <a:t>.</a:t>
            </a:r>
          </a:p>
        </p:txBody>
      </p:sp>
      <p:sp>
        <p:nvSpPr>
          <p:cNvPr id="4" name="Footer Placeholder 3">
            <a:extLst>
              <a:ext uri="{FF2B5EF4-FFF2-40B4-BE49-F238E27FC236}">
                <a16:creationId xmlns:a16="http://schemas.microsoft.com/office/drawing/2014/main" id="{2083BE00-64EF-42D7-BE8A-93C9846AF727}"/>
              </a:ext>
            </a:extLst>
          </p:cNvPr>
          <p:cNvSpPr>
            <a:spLocks noGrp="1"/>
          </p:cNvSpPr>
          <p:nvPr>
            <p:ph type="ftr" sz="quarter" idx="11"/>
          </p:nvPr>
        </p:nvSpPr>
        <p:spPr/>
        <p:txBody>
          <a:bodyPr/>
          <a:lstStyle/>
          <a:p>
            <a:pPr>
              <a:defRPr/>
            </a:pPr>
            <a:r>
              <a:rPr lang="en-US" altLang="en-US"/>
              <a:t>ITU - Business Analytics - Mehmet Yasin Ulukuş</a:t>
            </a:r>
            <a:endParaRPr lang="en-US" altLang="en-US" i="0"/>
          </a:p>
        </p:txBody>
      </p:sp>
    </p:spTree>
    <p:extLst>
      <p:ext uri="{BB962C8B-B14F-4D97-AF65-F5344CB8AC3E}">
        <p14:creationId xmlns:p14="http://schemas.microsoft.com/office/powerpoint/2010/main" val="350158453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LP Modeling Examples 3</a:t>
            </a:r>
          </a:p>
        </p:txBody>
      </p:sp>
      <p:sp>
        <p:nvSpPr>
          <p:cNvPr id="3" name="Footer Placeholder 2">
            <a:extLst>
              <a:ext uri="{FF2B5EF4-FFF2-40B4-BE49-F238E27FC236}">
                <a16:creationId xmlns:a16="http://schemas.microsoft.com/office/drawing/2014/main" id="{FC59B925-E9B0-4056-B8FF-5B1799E9A7D5}"/>
              </a:ext>
            </a:extLst>
          </p:cNvPr>
          <p:cNvSpPr>
            <a:spLocks noGrp="1"/>
          </p:cNvSpPr>
          <p:nvPr>
            <p:ph type="ftr" sz="quarter" idx="11"/>
          </p:nvPr>
        </p:nvSpPr>
        <p:spPr/>
        <p:txBody>
          <a:bodyPr/>
          <a:lstStyle/>
          <a:p>
            <a:pPr>
              <a:defRPr/>
            </a:pPr>
            <a:r>
              <a:rPr lang="en-US" altLang="en-US"/>
              <a:t>ITU - Business Analytics - Mehmet Yasin Ulukuş</a:t>
            </a:r>
            <a:endParaRPr lang="en-US" altLang="en-US" i="0"/>
          </a:p>
        </p:txBody>
      </p:sp>
      <p:pic>
        <p:nvPicPr>
          <p:cNvPr id="6" name="Picture 5">
            <a:extLst>
              <a:ext uri="{FF2B5EF4-FFF2-40B4-BE49-F238E27FC236}">
                <a16:creationId xmlns:a16="http://schemas.microsoft.com/office/drawing/2014/main" id="{DFE1ED13-FA8D-478A-8AB9-3F51FE2DD85E}"/>
              </a:ext>
            </a:extLst>
          </p:cNvPr>
          <p:cNvPicPr>
            <a:picLocks noChangeAspect="1"/>
          </p:cNvPicPr>
          <p:nvPr/>
        </p:nvPicPr>
        <p:blipFill>
          <a:blip r:embed="rId2"/>
          <a:stretch>
            <a:fillRect/>
          </a:stretch>
        </p:blipFill>
        <p:spPr>
          <a:xfrm>
            <a:off x="1038224" y="1381126"/>
            <a:ext cx="8753475" cy="4933541"/>
          </a:xfrm>
          <a:prstGeom prst="rect">
            <a:avLst/>
          </a:prstGeom>
        </p:spPr>
      </p:pic>
    </p:spTree>
    <p:extLst>
      <p:ext uri="{BB962C8B-B14F-4D97-AF65-F5344CB8AC3E}">
        <p14:creationId xmlns:p14="http://schemas.microsoft.com/office/powerpoint/2010/main" val="202736870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LP Modeling Examples 3</a:t>
            </a:r>
          </a:p>
        </p:txBody>
      </p:sp>
      <p:sp>
        <p:nvSpPr>
          <p:cNvPr id="3" name="Footer Placeholder 2">
            <a:extLst>
              <a:ext uri="{FF2B5EF4-FFF2-40B4-BE49-F238E27FC236}">
                <a16:creationId xmlns:a16="http://schemas.microsoft.com/office/drawing/2014/main" id="{A3711ACA-F726-494F-B482-BE26938ACAD4}"/>
              </a:ext>
            </a:extLst>
          </p:cNvPr>
          <p:cNvSpPr>
            <a:spLocks noGrp="1"/>
          </p:cNvSpPr>
          <p:nvPr>
            <p:ph type="ftr" sz="quarter" idx="11"/>
          </p:nvPr>
        </p:nvSpPr>
        <p:spPr/>
        <p:txBody>
          <a:bodyPr/>
          <a:lstStyle/>
          <a:p>
            <a:pPr>
              <a:defRPr/>
            </a:pPr>
            <a:r>
              <a:rPr lang="en-US" altLang="en-US"/>
              <a:t>ITU - Business Analytics - Mehmet Yasin Ulukuş</a:t>
            </a:r>
            <a:endParaRPr lang="en-US" altLang="en-US" i="0"/>
          </a:p>
        </p:txBody>
      </p:sp>
      <p:pic>
        <p:nvPicPr>
          <p:cNvPr id="7" name="Picture 6">
            <a:extLst>
              <a:ext uri="{FF2B5EF4-FFF2-40B4-BE49-F238E27FC236}">
                <a16:creationId xmlns:a16="http://schemas.microsoft.com/office/drawing/2014/main" id="{52DA3FE3-F009-42B8-B9EA-D4AD596D3C7A}"/>
              </a:ext>
            </a:extLst>
          </p:cNvPr>
          <p:cNvPicPr>
            <a:picLocks noChangeAspect="1"/>
          </p:cNvPicPr>
          <p:nvPr/>
        </p:nvPicPr>
        <p:blipFill>
          <a:blip r:embed="rId2"/>
          <a:stretch>
            <a:fillRect/>
          </a:stretch>
        </p:blipFill>
        <p:spPr>
          <a:xfrm>
            <a:off x="2133600" y="1371600"/>
            <a:ext cx="6898138" cy="4840344"/>
          </a:xfrm>
          <a:prstGeom prst="rect">
            <a:avLst/>
          </a:prstGeom>
        </p:spPr>
      </p:pic>
    </p:spTree>
    <p:extLst>
      <p:ext uri="{BB962C8B-B14F-4D97-AF65-F5344CB8AC3E}">
        <p14:creationId xmlns:p14="http://schemas.microsoft.com/office/powerpoint/2010/main" val="374634824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LP Modeling Examples 4</a:t>
            </a:r>
          </a:p>
        </p:txBody>
      </p:sp>
      <p:sp>
        <p:nvSpPr>
          <p:cNvPr id="3" name="Footer Placeholder 2">
            <a:extLst>
              <a:ext uri="{FF2B5EF4-FFF2-40B4-BE49-F238E27FC236}">
                <a16:creationId xmlns:a16="http://schemas.microsoft.com/office/drawing/2014/main" id="{5643BFD1-F8F1-47AA-B8D7-E167CA9C021A}"/>
              </a:ext>
            </a:extLst>
          </p:cNvPr>
          <p:cNvSpPr>
            <a:spLocks noGrp="1"/>
          </p:cNvSpPr>
          <p:nvPr>
            <p:ph type="ftr" sz="quarter" idx="11"/>
          </p:nvPr>
        </p:nvSpPr>
        <p:spPr/>
        <p:txBody>
          <a:bodyPr/>
          <a:lstStyle/>
          <a:p>
            <a:pPr>
              <a:defRPr/>
            </a:pPr>
            <a:r>
              <a:rPr lang="en-US" altLang="en-US"/>
              <a:t>ITU - Business Analytics - Mehmet Yasin Ulukuş</a:t>
            </a:r>
            <a:endParaRPr lang="en-US" altLang="en-US" i="0"/>
          </a:p>
        </p:txBody>
      </p:sp>
      <p:pic>
        <p:nvPicPr>
          <p:cNvPr id="4" name="Picture 3">
            <a:extLst>
              <a:ext uri="{FF2B5EF4-FFF2-40B4-BE49-F238E27FC236}">
                <a16:creationId xmlns:a16="http://schemas.microsoft.com/office/drawing/2014/main" id="{3FAC580D-3169-43F5-8462-B5A5F0791515}"/>
              </a:ext>
            </a:extLst>
          </p:cNvPr>
          <p:cNvPicPr>
            <a:picLocks noChangeAspect="1"/>
          </p:cNvPicPr>
          <p:nvPr/>
        </p:nvPicPr>
        <p:blipFill>
          <a:blip r:embed="rId2"/>
          <a:stretch>
            <a:fillRect/>
          </a:stretch>
        </p:blipFill>
        <p:spPr>
          <a:xfrm>
            <a:off x="2044361" y="1685926"/>
            <a:ext cx="8103277" cy="2966541"/>
          </a:xfrm>
          <a:prstGeom prst="rect">
            <a:avLst/>
          </a:prstGeom>
        </p:spPr>
      </p:pic>
      <p:sp>
        <p:nvSpPr>
          <p:cNvPr id="5" name="TextBox 4">
            <a:extLst>
              <a:ext uri="{FF2B5EF4-FFF2-40B4-BE49-F238E27FC236}">
                <a16:creationId xmlns:a16="http://schemas.microsoft.com/office/drawing/2014/main" id="{E1A414FB-7ACB-412F-905B-D97B30C06BA2}"/>
              </a:ext>
            </a:extLst>
          </p:cNvPr>
          <p:cNvSpPr txBox="1"/>
          <p:nvPr/>
        </p:nvSpPr>
        <p:spPr>
          <a:xfrm>
            <a:off x="5181600" y="4191000"/>
            <a:ext cx="5181600" cy="369332"/>
          </a:xfrm>
          <a:prstGeom prst="rect">
            <a:avLst/>
          </a:prstGeom>
          <a:noFill/>
        </p:spPr>
        <p:txBody>
          <a:bodyPr wrap="square" rtlCol="0">
            <a:spAutoFit/>
          </a:bodyPr>
          <a:lstStyle/>
          <a:p>
            <a:r>
              <a:rPr lang="en-US" dirty="0"/>
              <a:t>(Minimize cost and satisfy nutritional requirements)</a:t>
            </a:r>
          </a:p>
        </p:txBody>
      </p:sp>
    </p:spTree>
    <p:extLst>
      <p:ext uri="{BB962C8B-B14F-4D97-AF65-F5344CB8AC3E}">
        <p14:creationId xmlns:p14="http://schemas.microsoft.com/office/powerpoint/2010/main" val="108934123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LP Modeling Examples 4</a:t>
            </a:r>
          </a:p>
        </p:txBody>
      </p:sp>
      <p:sp>
        <p:nvSpPr>
          <p:cNvPr id="3" name="Footer Placeholder 2">
            <a:extLst>
              <a:ext uri="{FF2B5EF4-FFF2-40B4-BE49-F238E27FC236}">
                <a16:creationId xmlns:a16="http://schemas.microsoft.com/office/drawing/2014/main" id="{75DE22D2-65A0-45C7-9878-09B2C1F8FF3C}"/>
              </a:ext>
            </a:extLst>
          </p:cNvPr>
          <p:cNvSpPr>
            <a:spLocks noGrp="1"/>
          </p:cNvSpPr>
          <p:nvPr>
            <p:ph type="ftr" sz="quarter" idx="11"/>
          </p:nvPr>
        </p:nvSpPr>
        <p:spPr/>
        <p:txBody>
          <a:bodyPr/>
          <a:lstStyle/>
          <a:p>
            <a:pPr>
              <a:defRPr/>
            </a:pPr>
            <a:r>
              <a:rPr lang="en-US" altLang="en-US"/>
              <a:t>ITU - Business Analytics - Mehmet Yasin Ulukuş</a:t>
            </a:r>
            <a:endParaRPr lang="en-US" altLang="en-US" i="0"/>
          </a:p>
        </p:txBody>
      </p:sp>
      <p:pic>
        <p:nvPicPr>
          <p:cNvPr id="4" name="Picture 3">
            <a:extLst>
              <a:ext uri="{FF2B5EF4-FFF2-40B4-BE49-F238E27FC236}">
                <a16:creationId xmlns:a16="http://schemas.microsoft.com/office/drawing/2014/main" id="{A4BD1C6A-4ECB-4D44-AC24-76F193751E5C}"/>
              </a:ext>
            </a:extLst>
          </p:cNvPr>
          <p:cNvPicPr>
            <a:picLocks noChangeAspect="1"/>
          </p:cNvPicPr>
          <p:nvPr/>
        </p:nvPicPr>
        <p:blipFill>
          <a:blip r:embed="rId2"/>
          <a:stretch>
            <a:fillRect/>
          </a:stretch>
        </p:blipFill>
        <p:spPr>
          <a:xfrm>
            <a:off x="2286000" y="1524000"/>
            <a:ext cx="4152900" cy="3002096"/>
          </a:xfrm>
          <a:prstGeom prst="rect">
            <a:avLst/>
          </a:prstGeom>
        </p:spPr>
      </p:pic>
      <p:pic>
        <p:nvPicPr>
          <p:cNvPr id="5" name="Picture 4">
            <a:extLst>
              <a:ext uri="{FF2B5EF4-FFF2-40B4-BE49-F238E27FC236}">
                <a16:creationId xmlns:a16="http://schemas.microsoft.com/office/drawing/2014/main" id="{F4C44B45-883B-4944-BC64-A9E2C05D684E}"/>
              </a:ext>
            </a:extLst>
          </p:cNvPr>
          <p:cNvPicPr>
            <a:picLocks noChangeAspect="1"/>
          </p:cNvPicPr>
          <p:nvPr/>
        </p:nvPicPr>
        <p:blipFill>
          <a:blip r:embed="rId3"/>
          <a:stretch>
            <a:fillRect/>
          </a:stretch>
        </p:blipFill>
        <p:spPr>
          <a:xfrm>
            <a:off x="2227123" y="4267201"/>
            <a:ext cx="3945078" cy="2190915"/>
          </a:xfrm>
          <a:prstGeom prst="rect">
            <a:avLst/>
          </a:prstGeom>
        </p:spPr>
      </p:pic>
    </p:spTree>
    <p:extLst>
      <p:ext uri="{BB962C8B-B14F-4D97-AF65-F5344CB8AC3E}">
        <p14:creationId xmlns:p14="http://schemas.microsoft.com/office/powerpoint/2010/main" val="381429426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LP Modeling Examples: Oil Refinery</a:t>
            </a:r>
          </a:p>
        </p:txBody>
      </p:sp>
      <p:sp>
        <p:nvSpPr>
          <p:cNvPr id="6" name="Content Placeholder 5">
            <a:extLst>
              <a:ext uri="{FF2B5EF4-FFF2-40B4-BE49-F238E27FC236}">
                <a16:creationId xmlns:a16="http://schemas.microsoft.com/office/drawing/2014/main" id="{FB330D30-3793-4763-A5BB-F1D943684CD7}"/>
              </a:ext>
            </a:extLst>
          </p:cNvPr>
          <p:cNvSpPr>
            <a:spLocks noGrp="1"/>
          </p:cNvSpPr>
          <p:nvPr>
            <p:ph idx="1"/>
          </p:nvPr>
        </p:nvSpPr>
        <p:spPr/>
        <p:txBody>
          <a:bodyPr>
            <a:normAutofit/>
          </a:bodyPr>
          <a:lstStyle/>
          <a:p>
            <a:pPr marL="0" indent="0">
              <a:buNone/>
            </a:pPr>
            <a:r>
              <a:rPr lang="en-US" sz="2400" dirty="0" err="1"/>
              <a:t>Sunco</a:t>
            </a:r>
            <a:r>
              <a:rPr lang="en-US" sz="2400" dirty="0"/>
              <a:t> processes oil into aviation fuel and heating oil. It costs $40 to purchase each 1,000 barrels of oil, which is then distilled and yields 500 barrels of aviation fuel and 500 barrels of heating oil. Output from the distillation may be sold directly or processed in the catalytic cracker. If sold after distillation without further processing, aviation fuel sells for $60 per 1,000 barrels, and heating oil sells for $40 per 1,000 barrels. It takes 1 hour to process 1,000 barrels of aviation fuel in the catalytic cracker, and these 1,000 barrels</a:t>
            </a:r>
            <a:r>
              <a:rPr lang="tr-TR" sz="2400" dirty="0"/>
              <a:t> </a:t>
            </a:r>
            <a:r>
              <a:rPr lang="en-US" sz="2400" dirty="0"/>
              <a:t>can be sold for $130. It takes 45 minutes to process 1,000 barrels of heating oil in the cracker, and these 1,000 barrels can be sold for $90. Each day, at most 20,000 barrels of oil</a:t>
            </a:r>
            <a:r>
              <a:rPr lang="tr-TR" sz="2400" dirty="0"/>
              <a:t> </a:t>
            </a:r>
            <a:r>
              <a:rPr lang="en-US" sz="2400" dirty="0"/>
              <a:t>can be purchased, and 8 hours of cracker time are available. Formulate an LP to maximize </a:t>
            </a:r>
            <a:r>
              <a:rPr lang="en-US" sz="2400" dirty="0" err="1"/>
              <a:t>Sunco’s</a:t>
            </a:r>
            <a:r>
              <a:rPr lang="en-US" sz="2400" dirty="0"/>
              <a:t> profits. Clearly define decision variables, objective function and constraints. </a:t>
            </a:r>
            <a:endParaRPr lang="tr-TR" sz="2400" dirty="0"/>
          </a:p>
          <a:p>
            <a:endParaRPr lang="en-US" dirty="0"/>
          </a:p>
        </p:txBody>
      </p:sp>
      <p:sp>
        <p:nvSpPr>
          <p:cNvPr id="3" name="Footer Placeholder 2">
            <a:extLst>
              <a:ext uri="{FF2B5EF4-FFF2-40B4-BE49-F238E27FC236}">
                <a16:creationId xmlns:a16="http://schemas.microsoft.com/office/drawing/2014/main" id="{5643BFD1-F8F1-47AA-B8D7-E167CA9C021A}"/>
              </a:ext>
            </a:extLst>
          </p:cNvPr>
          <p:cNvSpPr>
            <a:spLocks noGrp="1"/>
          </p:cNvSpPr>
          <p:nvPr>
            <p:ph type="ftr" sz="quarter" idx="11"/>
          </p:nvPr>
        </p:nvSpPr>
        <p:spPr/>
        <p:txBody>
          <a:bodyPr/>
          <a:lstStyle/>
          <a:p>
            <a:pPr>
              <a:defRPr/>
            </a:pPr>
            <a:r>
              <a:rPr lang="en-US" altLang="en-US"/>
              <a:t>ITU - Business Analytics - Mehmet Yasin Ulukuş</a:t>
            </a:r>
            <a:endParaRPr lang="en-US" altLang="en-US" i="0"/>
          </a:p>
        </p:txBody>
      </p:sp>
    </p:spTree>
    <p:extLst>
      <p:ext uri="{BB962C8B-B14F-4D97-AF65-F5344CB8AC3E}">
        <p14:creationId xmlns:p14="http://schemas.microsoft.com/office/powerpoint/2010/main" val="82771793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LP Modeling Examples: Oil Refinery</a:t>
            </a:r>
          </a:p>
        </p:txBody>
      </p:sp>
      <mc:AlternateContent xmlns:mc="http://schemas.openxmlformats.org/markup-compatibility/2006" xmlns:a14="http://schemas.microsoft.com/office/drawing/2010/main">
        <mc:Choice Requires="a14">
          <p:sp>
            <p:nvSpPr>
              <p:cNvPr id="6" name="Content Placeholder 5">
                <a:extLst>
                  <a:ext uri="{FF2B5EF4-FFF2-40B4-BE49-F238E27FC236}">
                    <a16:creationId xmlns:a16="http://schemas.microsoft.com/office/drawing/2014/main" id="{FB330D30-3793-4763-A5BB-F1D943684CD7}"/>
                  </a:ext>
                </a:extLst>
              </p:cNvPr>
              <p:cNvSpPr>
                <a:spLocks noGrp="1"/>
              </p:cNvSpPr>
              <p:nvPr>
                <p:ph idx="1"/>
              </p:nvPr>
            </p:nvSpPr>
            <p:spPr/>
            <p:txBody>
              <a:bodyPr>
                <a:normAutofit/>
              </a:bodyPr>
              <a:lstStyle/>
              <a:p>
                <a:r>
                  <a:rPr lang="en-US" sz="2200" dirty="0"/>
                  <a:t>Decision variables:</a:t>
                </a:r>
              </a:p>
              <a:p>
                <a:endParaRPr lang="en-US" sz="2200" b="1" u="sng" dirty="0"/>
              </a:p>
              <a:p>
                <a:endParaRPr lang="en-US" sz="2200" b="1" u="sng" dirty="0"/>
              </a:p>
              <a:p>
                <a:endParaRPr lang="en-US" sz="2200" b="1" u="sng" dirty="0"/>
              </a:p>
              <a:p>
                <a:endParaRPr lang="en-US" sz="2200" b="1" u="sng" dirty="0"/>
              </a:p>
              <a:p>
                <a:endParaRPr lang="en-US" sz="2200" b="1" u="sng" dirty="0"/>
              </a:p>
              <a:p>
                <a:endParaRPr lang="en-US" sz="2200" b="1" u="sng" dirty="0"/>
              </a:p>
              <a:p>
                <a:r>
                  <a:rPr lang="en-US" sz="2000" dirty="0"/>
                  <a:t>Objective function:</a:t>
                </a:r>
              </a:p>
              <a:p>
                <a:pPr marL="0" indent="0" algn="ctr">
                  <a:buNone/>
                </a:pPr>
                <a:r>
                  <a:rPr lang="en-US" sz="2200" dirty="0"/>
                  <a:t>Max </a:t>
                </a:r>
                <a14:m>
                  <m:oMath xmlns:m="http://schemas.openxmlformats.org/officeDocument/2006/math">
                    <m:r>
                      <a:rPr lang="en-US" sz="2200" b="0" i="1" smtClean="0">
                        <a:latin typeface="Cambria Math" panose="02040503050406030204" pitchFamily="18" charset="0"/>
                      </a:rPr>
                      <m:t>𝑧</m:t>
                    </m:r>
                    <m:r>
                      <a:rPr lang="en-US" sz="2200" i="1">
                        <a:latin typeface="Cambria Math" panose="02040503050406030204" pitchFamily="18" charset="0"/>
                      </a:rPr>
                      <m:t>= 130</m:t>
                    </m:r>
                    <m:sSub>
                      <m:sSubPr>
                        <m:ctrlPr>
                          <a:rPr lang="tr-TR" sz="2200" i="1">
                            <a:latin typeface="Cambria Math" panose="02040503050406030204" pitchFamily="18" charset="0"/>
                          </a:rPr>
                        </m:ctrlPr>
                      </m:sSubPr>
                      <m:e>
                        <m:r>
                          <a:rPr lang="en-US" sz="2200" b="0" i="1" smtClean="0">
                            <a:latin typeface="Cambria Math" panose="02040503050406030204" pitchFamily="18" charset="0"/>
                          </a:rPr>
                          <m:t>𝑥</m:t>
                        </m:r>
                      </m:e>
                      <m:sub>
                        <m:r>
                          <a:rPr lang="en-US" sz="2200" i="1">
                            <a:latin typeface="Cambria Math" panose="02040503050406030204" pitchFamily="18" charset="0"/>
                          </a:rPr>
                          <m:t>4</m:t>
                        </m:r>
                      </m:sub>
                    </m:sSub>
                    <m:r>
                      <a:rPr lang="en-US" sz="2200" i="1">
                        <a:latin typeface="Cambria Math" panose="02040503050406030204" pitchFamily="18" charset="0"/>
                      </a:rPr>
                      <m:t>+90</m:t>
                    </m:r>
                    <m:sSub>
                      <m:sSubPr>
                        <m:ctrlPr>
                          <a:rPr lang="tr-TR" sz="2200" i="1">
                            <a:latin typeface="Cambria Math" panose="02040503050406030204" pitchFamily="18" charset="0"/>
                          </a:rPr>
                        </m:ctrlPr>
                      </m:sSubPr>
                      <m:e>
                        <m:r>
                          <a:rPr lang="en-US" sz="2200" b="0" i="1" smtClean="0">
                            <a:latin typeface="Cambria Math" panose="02040503050406030204" pitchFamily="18" charset="0"/>
                          </a:rPr>
                          <m:t>𝑥</m:t>
                        </m:r>
                      </m:e>
                      <m:sub>
                        <m:r>
                          <a:rPr lang="en-US" sz="2200" i="1">
                            <a:latin typeface="Cambria Math" panose="02040503050406030204" pitchFamily="18" charset="0"/>
                          </a:rPr>
                          <m:t>5</m:t>
                        </m:r>
                      </m:sub>
                    </m:sSub>
                    <m:r>
                      <a:rPr lang="en-US" sz="2200" i="1" smtClean="0">
                        <a:latin typeface="Cambria Math" panose="02040503050406030204" pitchFamily="18" charset="0"/>
                      </a:rPr>
                      <m:t>+</m:t>
                    </m:r>
                    <m:r>
                      <a:rPr lang="en-US" sz="2200" i="1">
                        <a:latin typeface="Cambria Math" panose="02040503050406030204" pitchFamily="18" charset="0"/>
                      </a:rPr>
                      <m:t>60</m:t>
                    </m:r>
                    <m:sSub>
                      <m:sSubPr>
                        <m:ctrlPr>
                          <a:rPr lang="tr-TR" sz="2200" i="1">
                            <a:latin typeface="Cambria Math" panose="02040503050406030204" pitchFamily="18" charset="0"/>
                          </a:rPr>
                        </m:ctrlPr>
                      </m:sSubPr>
                      <m:e>
                        <m:r>
                          <a:rPr lang="en-US" sz="2200" i="1">
                            <a:latin typeface="Cambria Math" panose="02040503050406030204" pitchFamily="18" charset="0"/>
                          </a:rPr>
                          <m:t>(</m:t>
                        </m:r>
                        <m:r>
                          <a:rPr lang="en-US" sz="2200" b="0" i="1" smtClean="0">
                            <a:latin typeface="Cambria Math" panose="02040503050406030204" pitchFamily="18" charset="0"/>
                          </a:rPr>
                          <m:t>𝑥</m:t>
                        </m:r>
                      </m:e>
                      <m:sub>
                        <m:r>
                          <a:rPr lang="en-US" sz="2200" i="1">
                            <a:latin typeface="Cambria Math" panose="02040503050406030204" pitchFamily="18" charset="0"/>
                          </a:rPr>
                          <m:t>2</m:t>
                        </m:r>
                      </m:sub>
                    </m:sSub>
                    <m:r>
                      <a:rPr lang="en-US" sz="2200" i="1">
                        <a:latin typeface="Cambria Math" panose="02040503050406030204" pitchFamily="18" charset="0"/>
                      </a:rPr>
                      <m:t>−</m:t>
                    </m:r>
                    <m:sSub>
                      <m:sSubPr>
                        <m:ctrlPr>
                          <a:rPr lang="tr-TR" sz="2200" i="1">
                            <a:latin typeface="Cambria Math" panose="02040503050406030204" pitchFamily="18" charset="0"/>
                          </a:rPr>
                        </m:ctrlPr>
                      </m:sSubPr>
                      <m:e>
                        <m:r>
                          <a:rPr lang="en-US" sz="2200" b="0" i="1" smtClean="0">
                            <a:latin typeface="Cambria Math" panose="02040503050406030204" pitchFamily="18" charset="0"/>
                          </a:rPr>
                          <m:t>𝑥</m:t>
                        </m:r>
                      </m:e>
                      <m:sub>
                        <m:r>
                          <a:rPr lang="en-US" sz="2200" b="0" i="1" smtClean="0">
                            <a:latin typeface="Cambria Math" panose="02040503050406030204" pitchFamily="18" charset="0"/>
                          </a:rPr>
                          <m:t>4</m:t>
                        </m:r>
                      </m:sub>
                    </m:sSub>
                    <m:r>
                      <a:rPr lang="en-US" sz="2200" i="1" smtClean="0">
                        <a:latin typeface="Cambria Math" panose="02040503050406030204" pitchFamily="18" charset="0"/>
                      </a:rPr>
                      <m:t>)</m:t>
                    </m:r>
                    <m:r>
                      <a:rPr lang="en-US" sz="2200" i="1">
                        <a:latin typeface="Cambria Math" panose="02040503050406030204" pitchFamily="18" charset="0"/>
                      </a:rPr>
                      <m:t>+40(</m:t>
                    </m:r>
                    <m:sSub>
                      <m:sSubPr>
                        <m:ctrlPr>
                          <a:rPr lang="tr-TR" sz="2200" i="1">
                            <a:latin typeface="Cambria Math" panose="02040503050406030204" pitchFamily="18" charset="0"/>
                          </a:rPr>
                        </m:ctrlPr>
                      </m:sSubPr>
                      <m:e>
                        <m:r>
                          <a:rPr lang="en-US" sz="2200" b="0" i="1" smtClean="0">
                            <a:latin typeface="Cambria Math" panose="02040503050406030204" pitchFamily="18" charset="0"/>
                          </a:rPr>
                          <m:t>𝑥</m:t>
                        </m:r>
                      </m:e>
                      <m:sub>
                        <m:r>
                          <a:rPr lang="en-US" sz="2200" i="1">
                            <a:latin typeface="Cambria Math" panose="02040503050406030204" pitchFamily="18" charset="0"/>
                          </a:rPr>
                          <m:t>3</m:t>
                        </m:r>
                      </m:sub>
                    </m:sSub>
                    <m:r>
                      <a:rPr lang="en-US" sz="2200" i="1">
                        <a:latin typeface="Cambria Math" panose="02040503050406030204" pitchFamily="18" charset="0"/>
                      </a:rPr>
                      <m:t>−</m:t>
                    </m:r>
                    <m:sSub>
                      <m:sSubPr>
                        <m:ctrlPr>
                          <a:rPr lang="tr-TR" sz="2200" i="1">
                            <a:latin typeface="Cambria Math" panose="02040503050406030204" pitchFamily="18" charset="0"/>
                          </a:rPr>
                        </m:ctrlPr>
                      </m:sSubPr>
                      <m:e>
                        <m:r>
                          <a:rPr lang="en-US" sz="2200" b="0" i="1" smtClean="0">
                            <a:latin typeface="Cambria Math" panose="02040503050406030204" pitchFamily="18" charset="0"/>
                          </a:rPr>
                          <m:t>𝑥</m:t>
                        </m:r>
                      </m:e>
                      <m:sub>
                        <m:r>
                          <a:rPr lang="en-US" sz="2200" i="1">
                            <a:latin typeface="Cambria Math" panose="02040503050406030204" pitchFamily="18" charset="0"/>
                          </a:rPr>
                          <m:t>5</m:t>
                        </m:r>
                      </m:sub>
                    </m:sSub>
                    <m:r>
                      <a:rPr lang="en-US" sz="2200" i="1">
                        <a:latin typeface="Cambria Math" panose="02040503050406030204" pitchFamily="18" charset="0"/>
                      </a:rPr>
                      <m:t>)−40</m:t>
                    </m:r>
                    <m:sSub>
                      <m:sSubPr>
                        <m:ctrlPr>
                          <a:rPr lang="tr-TR" sz="2200" i="1">
                            <a:latin typeface="Cambria Math" panose="02040503050406030204" pitchFamily="18" charset="0"/>
                          </a:rPr>
                        </m:ctrlPr>
                      </m:sSubPr>
                      <m:e>
                        <m:r>
                          <a:rPr lang="en-US" sz="2200" b="0" i="1" smtClean="0">
                            <a:latin typeface="Cambria Math" panose="02040503050406030204" pitchFamily="18" charset="0"/>
                          </a:rPr>
                          <m:t>𝑥</m:t>
                        </m:r>
                      </m:e>
                      <m:sub>
                        <m:r>
                          <a:rPr lang="en-US" sz="2200" i="1">
                            <a:latin typeface="Cambria Math" panose="02040503050406030204" pitchFamily="18" charset="0"/>
                          </a:rPr>
                          <m:t>1</m:t>
                        </m:r>
                      </m:sub>
                    </m:sSub>
                    <m:r>
                      <a:rPr lang="en-US" sz="2200" i="1">
                        <a:latin typeface="Cambria Math" panose="02040503050406030204" pitchFamily="18" charset="0"/>
                      </a:rPr>
                      <m:t> </m:t>
                    </m:r>
                  </m:oMath>
                </a14:m>
                <a:endParaRPr lang="tr-TR" sz="2200" dirty="0"/>
              </a:p>
            </p:txBody>
          </p:sp>
        </mc:Choice>
        <mc:Fallback xmlns="">
          <p:sp>
            <p:nvSpPr>
              <p:cNvPr id="6" name="Content Placeholder 5">
                <a:extLst>
                  <a:ext uri="{FF2B5EF4-FFF2-40B4-BE49-F238E27FC236}">
                    <a16:creationId xmlns:a16="http://schemas.microsoft.com/office/drawing/2014/main" id="{FB330D30-3793-4763-A5BB-F1D943684CD7}"/>
                  </a:ext>
                </a:extLst>
              </p:cNvPr>
              <p:cNvSpPr>
                <a:spLocks noGrp="1" noRot="1" noChangeAspect="1" noMove="1" noResize="1" noEditPoints="1" noAdjustHandles="1" noChangeArrowheads="1" noChangeShapeType="1" noTextEdit="1"/>
              </p:cNvSpPr>
              <p:nvPr>
                <p:ph idx="1"/>
              </p:nvPr>
            </p:nvSpPr>
            <p:spPr>
              <a:blipFill>
                <a:blip r:embed="rId2"/>
                <a:stretch>
                  <a:fillRect l="-696" t="-1611"/>
                </a:stretch>
              </a:blipFill>
            </p:spPr>
            <p:txBody>
              <a:bodyPr/>
              <a:lstStyle/>
              <a:p>
                <a:r>
                  <a:rPr lang="en-US">
                    <a:noFill/>
                  </a:rPr>
                  <a:t> </a:t>
                </a:r>
              </a:p>
            </p:txBody>
          </p:sp>
        </mc:Fallback>
      </mc:AlternateContent>
      <p:sp>
        <p:nvSpPr>
          <p:cNvPr id="3" name="Footer Placeholder 2">
            <a:extLst>
              <a:ext uri="{FF2B5EF4-FFF2-40B4-BE49-F238E27FC236}">
                <a16:creationId xmlns:a16="http://schemas.microsoft.com/office/drawing/2014/main" id="{5643BFD1-F8F1-47AA-B8D7-E167CA9C021A}"/>
              </a:ext>
            </a:extLst>
          </p:cNvPr>
          <p:cNvSpPr>
            <a:spLocks noGrp="1"/>
          </p:cNvSpPr>
          <p:nvPr>
            <p:ph type="ftr" sz="quarter" idx="11"/>
          </p:nvPr>
        </p:nvSpPr>
        <p:spPr/>
        <p:txBody>
          <a:bodyPr/>
          <a:lstStyle/>
          <a:p>
            <a:pPr>
              <a:defRPr/>
            </a:pPr>
            <a:r>
              <a:rPr lang="en-US" altLang="en-US"/>
              <a:t>ITU - Business Analytics - Mehmet Yasin Ulukuş</a:t>
            </a:r>
            <a:endParaRPr lang="en-US" altLang="en-US" i="0"/>
          </a:p>
        </p:txBody>
      </p:sp>
      <mc:AlternateContent xmlns:mc="http://schemas.openxmlformats.org/markup-compatibility/2006" xmlns:a14="http://schemas.microsoft.com/office/drawing/2010/main">
        <mc:Choice Requires="a14">
          <p:graphicFrame>
            <p:nvGraphicFramePr>
              <p:cNvPr id="4" name="Table 3">
                <a:extLst>
                  <a:ext uri="{FF2B5EF4-FFF2-40B4-BE49-F238E27FC236}">
                    <a16:creationId xmlns:a16="http://schemas.microsoft.com/office/drawing/2014/main" id="{15F187B4-744D-48AC-AF8A-07AC2FA4260F}"/>
                  </a:ext>
                </a:extLst>
              </p:cNvPr>
              <p:cNvGraphicFramePr>
                <a:graphicFrameLocks noGrp="1"/>
              </p:cNvGraphicFramePr>
              <p:nvPr>
                <p:extLst/>
              </p:nvPr>
            </p:nvGraphicFramePr>
            <p:xfrm>
              <a:off x="2585087" y="1882867"/>
              <a:ext cx="8037518" cy="2197176"/>
            </p:xfrm>
            <a:graphic>
              <a:graphicData uri="http://schemas.openxmlformats.org/drawingml/2006/table">
                <a:tbl>
                  <a:tblPr firstRow="1" bandRow="1">
                    <a:tableStyleId>{2D5ABB26-0587-4C30-8999-92F81FD0307C}</a:tableStyleId>
                  </a:tblPr>
                  <a:tblGrid>
                    <a:gridCol w="644496">
                      <a:extLst>
                        <a:ext uri="{9D8B030D-6E8A-4147-A177-3AD203B41FA5}">
                          <a16:colId xmlns:a16="http://schemas.microsoft.com/office/drawing/2014/main" val="3520546844"/>
                        </a:ext>
                      </a:extLst>
                    </a:gridCol>
                    <a:gridCol w="7393022">
                      <a:extLst>
                        <a:ext uri="{9D8B030D-6E8A-4147-A177-3AD203B41FA5}">
                          <a16:colId xmlns:a16="http://schemas.microsoft.com/office/drawing/2014/main" val="2676795060"/>
                        </a:ext>
                      </a:extLst>
                    </a:gridCol>
                  </a:tblGrid>
                  <a:tr h="447912">
                    <a:tc>
                      <a:txBody>
                        <a:bodyPr/>
                        <a:lstStyle/>
                        <a:p>
                          <a:pPr/>
                          <a14:m>
                            <m:oMathPara xmlns:m="http://schemas.openxmlformats.org/officeDocument/2006/math">
                              <m:oMathParaPr>
                                <m:jc m:val="centerGroup"/>
                              </m:oMathParaPr>
                              <m:oMath xmlns:m="http://schemas.openxmlformats.org/officeDocument/2006/math">
                                <m:sSub>
                                  <m:sSubPr>
                                    <m:ctrlPr>
                                      <a:rPr lang="tr-TR" sz="2200" i="1" smtClean="0">
                                        <a:latin typeface="Cambria Math" panose="02040503050406030204" pitchFamily="18" charset="0"/>
                                      </a:rPr>
                                    </m:ctrlPr>
                                  </m:sSubPr>
                                  <m:e>
                                    <m:r>
                                      <a:rPr lang="en-US" sz="2200" smtClean="0">
                                        <a:latin typeface="Cambria Math" panose="02040503050406030204" pitchFamily="18" charset="0"/>
                                      </a:rPr>
                                      <m:t>𝑥</m:t>
                                    </m:r>
                                  </m:e>
                                  <m:sub>
                                    <m:r>
                                      <a:rPr lang="en-US" sz="2200">
                                        <a:latin typeface="Cambria Math" panose="02040503050406030204" pitchFamily="18" charset="0"/>
                                      </a:rPr>
                                      <m:t>1</m:t>
                                    </m:r>
                                  </m:sub>
                                </m:sSub>
                                <m:r>
                                  <a:rPr lang="en-US" sz="2200" smtClean="0">
                                    <a:latin typeface="Cambria Math" panose="02040503050406030204" pitchFamily="18" charset="0"/>
                                  </a:rPr>
                                  <m:t>:</m:t>
                                </m:r>
                              </m:oMath>
                            </m:oMathPara>
                          </a14:m>
                          <a:endParaRPr lang="en-US" sz="22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200" dirty="0"/>
                            <a:t>Amount of oil bought (thousands of barrels)</a:t>
                          </a:r>
                        </a:p>
                      </a:txBody>
                      <a:tcPr/>
                    </a:tc>
                    <a:extLst>
                      <a:ext uri="{0D108BD9-81ED-4DB2-BD59-A6C34878D82A}">
                        <a16:rowId xmlns:a16="http://schemas.microsoft.com/office/drawing/2014/main" val="2463391422"/>
                      </a:ext>
                    </a:extLst>
                  </a:tr>
                  <a:tr h="337095">
                    <a:tc>
                      <a:txBody>
                        <a:bodyPr/>
                        <a:lstStyle/>
                        <a:p>
                          <a:pPr/>
                          <a14:m>
                            <m:oMathPara xmlns:m="http://schemas.openxmlformats.org/officeDocument/2006/math">
                              <m:oMathParaPr>
                                <m:jc m:val="centerGroup"/>
                              </m:oMathParaPr>
                              <m:oMath xmlns:m="http://schemas.openxmlformats.org/officeDocument/2006/math">
                                <m:sSub>
                                  <m:sSubPr>
                                    <m:ctrlPr>
                                      <a:rPr lang="tr-TR" sz="2200" i="1" smtClean="0">
                                        <a:latin typeface="Cambria Math" panose="02040503050406030204" pitchFamily="18" charset="0"/>
                                      </a:rPr>
                                    </m:ctrlPr>
                                  </m:sSubPr>
                                  <m:e>
                                    <m:r>
                                      <a:rPr lang="en-US" sz="2200" smtClean="0">
                                        <a:latin typeface="Cambria Math" panose="02040503050406030204" pitchFamily="18" charset="0"/>
                                      </a:rPr>
                                      <m:t>𝑥</m:t>
                                    </m:r>
                                  </m:e>
                                  <m:sub>
                                    <m:r>
                                      <a:rPr lang="en-US" sz="2200" smtClean="0">
                                        <a:latin typeface="Cambria Math" panose="02040503050406030204" pitchFamily="18" charset="0"/>
                                      </a:rPr>
                                      <m:t>2</m:t>
                                    </m:r>
                                  </m:sub>
                                </m:sSub>
                                <m:r>
                                  <a:rPr lang="en-US" sz="2200" smtClean="0">
                                    <a:latin typeface="Cambria Math" panose="02040503050406030204" pitchFamily="18" charset="0"/>
                                  </a:rPr>
                                  <m:t>:</m:t>
                                </m:r>
                              </m:oMath>
                            </m:oMathPara>
                          </a14:m>
                          <a:endParaRPr lang="en-US" sz="2200" dirty="0"/>
                        </a:p>
                      </a:txBody>
                      <a:tcPr/>
                    </a:tc>
                    <a:tc>
                      <a:txBody>
                        <a:bodyPr/>
                        <a:lstStyle/>
                        <a:p>
                          <a:r>
                            <a:rPr lang="en-US" sz="2200" dirty="0"/>
                            <a:t>Amount of aviation fuel distilled (thousands of barrels)</a:t>
                          </a:r>
                        </a:p>
                      </a:txBody>
                      <a:tcPr/>
                    </a:tc>
                    <a:extLst>
                      <a:ext uri="{0D108BD9-81ED-4DB2-BD59-A6C34878D82A}">
                        <a16:rowId xmlns:a16="http://schemas.microsoft.com/office/drawing/2014/main" val="2027391582"/>
                      </a:ext>
                    </a:extLst>
                  </a:tr>
                  <a:tr h="447912">
                    <a:tc>
                      <a:txBody>
                        <a:bodyPr/>
                        <a:lstStyle/>
                        <a:p>
                          <a:pPr/>
                          <a14:m>
                            <m:oMathPara xmlns:m="http://schemas.openxmlformats.org/officeDocument/2006/math">
                              <m:oMathParaPr>
                                <m:jc m:val="centerGroup"/>
                              </m:oMathParaPr>
                              <m:oMath xmlns:m="http://schemas.openxmlformats.org/officeDocument/2006/math">
                                <m:sSub>
                                  <m:sSubPr>
                                    <m:ctrlPr>
                                      <a:rPr lang="tr-TR" sz="2200" i="1" smtClean="0">
                                        <a:latin typeface="Cambria Math" panose="02040503050406030204" pitchFamily="18" charset="0"/>
                                      </a:rPr>
                                    </m:ctrlPr>
                                  </m:sSubPr>
                                  <m:e>
                                    <m:r>
                                      <a:rPr lang="en-US" sz="2200" smtClean="0">
                                        <a:latin typeface="Cambria Math" panose="02040503050406030204" pitchFamily="18" charset="0"/>
                                      </a:rPr>
                                      <m:t>𝑥</m:t>
                                    </m:r>
                                  </m:e>
                                  <m:sub>
                                    <m:r>
                                      <a:rPr lang="en-US" sz="2200" smtClean="0">
                                        <a:latin typeface="Cambria Math" panose="02040503050406030204" pitchFamily="18" charset="0"/>
                                      </a:rPr>
                                      <m:t>3</m:t>
                                    </m:r>
                                  </m:sub>
                                </m:sSub>
                                <m:r>
                                  <a:rPr lang="en-US" sz="2200" smtClean="0">
                                    <a:latin typeface="Cambria Math" panose="02040503050406030204" pitchFamily="18" charset="0"/>
                                  </a:rPr>
                                  <m:t>:</m:t>
                                </m:r>
                              </m:oMath>
                            </m:oMathPara>
                          </a14:m>
                          <a:endParaRPr lang="en-US" sz="22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200" dirty="0"/>
                            <a:t>Amount of heating fuel distilled (thousands of barrels)</a:t>
                          </a:r>
                        </a:p>
                      </a:txBody>
                      <a:tcPr/>
                    </a:tc>
                    <a:extLst>
                      <a:ext uri="{0D108BD9-81ED-4DB2-BD59-A6C34878D82A}">
                        <a16:rowId xmlns:a16="http://schemas.microsoft.com/office/drawing/2014/main" val="2923970960"/>
                      </a:ext>
                    </a:extLst>
                  </a:tr>
                  <a:tr h="337095">
                    <a:tc>
                      <a:txBody>
                        <a:bodyPr/>
                        <a:lstStyle/>
                        <a:p>
                          <a:pPr/>
                          <a14:m>
                            <m:oMathPara xmlns:m="http://schemas.openxmlformats.org/officeDocument/2006/math">
                              <m:oMathParaPr>
                                <m:jc m:val="centerGroup"/>
                              </m:oMathParaPr>
                              <m:oMath xmlns:m="http://schemas.openxmlformats.org/officeDocument/2006/math">
                                <m:sSub>
                                  <m:sSubPr>
                                    <m:ctrlPr>
                                      <a:rPr lang="tr-TR" sz="2200" i="1" smtClean="0">
                                        <a:latin typeface="Cambria Math" panose="02040503050406030204" pitchFamily="18" charset="0"/>
                                      </a:rPr>
                                    </m:ctrlPr>
                                  </m:sSubPr>
                                  <m:e>
                                    <m:r>
                                      <a:rPr lang="en-US" sz="2200" smtClean="0">
                                        <a:latin typeface="Cambria Math" panose="02040503050406030204" pitchFamily="18" charset="0"/>
                                      </a:rPr>
                                      <m:t>𝑥</m:t>
                                    </m:r>
                                  </m:e>
                                  <m:sub>
                                    <m:r>
                                      <a:rPr lang="en-US" sz="2200" smtClean="0">
                                        <a:latin typeface="Cambria Math" panose="02040503050406030204" pitchFamily="18" charset="0"/>
                                      </a:rPr>
                                      <m:t>4</m:t>
                                    </m:r>
                                  </m:sub>
                                </m:sSub>
                                <m:r>
                                  <a:rPr lang="en-US" sz="2200">
                                    <a:latin typeface="Cambria Math" panose="02040503050406030204" pitchFamily="18" charset="0"/>
                                  </a:rPr>
                                  <m:t> </m:t>
                                </m:r>
                              </m:oMath>
                            </m:oMathPara>
                          </a14:m>
                          <a:endParaRPr lang="en-US" sz="2200" dirty="0"/>
                        </a:p>
                      </a:txBody>
                      <a:tcPr/>
                    </a:tc>
                    <a:tc>
                      <a:txBody>
                        <a:bodyPr/>
                        <a:lstStyle/>
                        <a:p>
                          <a:r>
                            <a:rPr lang="en-US" sz="2200" dirty="0"/>
                            <a:t>Amount of processed aviation fuel (thousands of barrels)</a:t>
                          </a:r>
                        </a:p>
                      </a:txBody>
                      <a:tcPr/>
                    </a:tc>
                    <a:extLst>
                      <a:ext uri="{0D108BD9-81ED-4DB2-BD59-A6C34878D82A}">
                        <a16:rowId xmlns:a16="http://schemas.microsoft.com/office/drawing/2014/main" val="642391014"/>
                      </a:ext>
                    </a:extLst>
                  </a:tr>
                  <a:tr h="447912">
                    <a:tc>
                      <a:txBody>
                        <a:bodyPr/>
                        <a:lstStyle/>
                        <a:p>
                          <a:pPr/>
                          <a14:m>
                            <m:oMathPara xmlns:m="http://schemas.openxmlformats.org/officeDocument/2006/math">
                              <m:oMathParaPr>
                                <m:jc m:val="centerGroup"/>
                              </m:oMathParaPr>
                              <m:oMath xmlns:m="http://schemas.openxmlformats.org/officeDocument/2006/math">
                                <m:sSub>
                                  <m:sSubPr>
                                    <m:ctrlPr>
                                      <a:rPr lang="tr-TR" sz="2200" i="1" smtClean="0">
                                        <a:latin typeface="Cambria Math" panose="02040503050406030204" pitchFamily="18" charset="0"/>
                                      </a:rPr>
                                    </m:ctrlPr>
                                  </m:sSubPr>
                                  <m:e>
                                    <m:r>
                                      <a:rPr lang="en-US" sz="2200" smtClean="0">
                                        <a:latin typeface="Cambria Math" panose="02040503050406030204" pitchFamily="18" charset="0"/>
                                      </a:rPr>
                                      <m:t>𝑥</m:t>
                                    </m:r>
                                  </m:e>
                                  <m:sub>
                                    <m:r>
                                      <a:rPr lang="en-US" sz="2200" smtClean="0">
                                        <a:latin typeface="Cambria Math" panose="02040503050406030204" pitchFamily="18" charset="0"/>
                                      </a:rPr>
                                      <m:t>5</m:t>
                                    </m:r>
                                  </m:sub>
                                </m:sSub>
                                <m:r>
                                  <a:rPr lang="en-US" sz="2200" smtClean="0">
                                    <a:latin typeface="Cambria Math" panose="02040503050406030204" pitchFamily="18" charset="0"/>
                                  </a:rPr>
                                  <m:t>:</m:t>
                                </m:r>
                              </m:oMath>
                            </m:oMathPara>
                          </a14:m>
                          <a:endParaRPr lang="en-US" sz="22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200" dirty="0"/>
                            <a:t>Amount of processed heating fuel (thousands of barrels)</a:t>
                          </a:r>
                        </a:p>
                      </a:txBody>
                      <a:tcPr/>
                    </a:tc>
                    <a:extLst>
                      <a:ext uri="{0D108BD9-81ED-4DB2-BD59-A6C34878D82A}">
                        <a16:rowId xmlns:a16="http://schemas.microsoft.com/office/drawing/2014/main" val="1135093568"/>
                      </a:ext>
                    </a:extLst>
                  </a:tr>
                </a:tbl>
              </a:graphicData>
            </a:graphic>
          </p:graphicFrame>
        </mc:Choice>
        <mc:Fallback xmlns="">
          <p:graphicFrame>
            <p:nvGraphicFramePr>
              <p:cNvPr id="4" name="Table 3">
                <a:extLst>
                  <a:ext uri="{FF2B5EF4-FFF2-40B4-BE49-F238E27FC236}">
                    <a16:creationId xmlns:a16="http://schemas.microsoft.com/office/drawing/2014/main" id="{15F187B4-744D-48AC-AF8A-07AC2FA4260F}"/>
                  </a:ext>
                </a:extLst>
              </p:cNvPr>
              <p:cNvGraphicFramePr>
                <a:graphicFrameLocks noGrp="1"/>
              </p:cNvGraphicFramePr>
              <p:nvPr>
                <p:extLst>
                  <p:ext uri="{D42A27DB-BD31-4B8C-83A1-F6EECF244321}">
                    <p14:modId xmlns:p14="http://schemas.microsoft.com/office/powerpoint/2010/main" val="236412183"/>
                  </p:ext>
                </p:extLst>
              </p:nvPr>
            </p:nvGraphicFramePr>
            <p:xfrm>
              <a:off x="2585087" y="1882867"/>
              <a:ext cx="8037518" cy="2197176"/>
            </p:xfrm>
            <a:graphic>
              <a:graphicData uri="http://schemas.openxmlformats.org/drawingml/2006/table">
                <a:tbl>
                  <a:tblPr firstRow="1" bandRow="1">
                    <a:tableStyleId>{2D5ABB26-0587-4C30-8999-92F81FD0307C}</a:tableStyleId>
                  </a:tblPr>
                  <a:tblGrid>
                    <a:gridCol w="644496">
                      <a:extLst>
                        <a:ext uri="{9D8B030D-6E8A-4147-A177-3AD203B41FA5}">
                          <a16:colId xmlns:a16="http://schemas.microsoft.com/office/drawing/2014/main" val="3520546844"/>
                        </a:ext>
                      </a:extLst>
                    </a:gridCol>
                    <a:gridCol w="7393022">
                      <a:extLst>
                        <a:ext uri="{9D8B030D-6E8A-4147-A177-3AD203B41FA5}">
                          <a16:colId xmlns:a16="http://schemas.microsoft.com/office/drawing/2014/main" val="2676795060"/>
                        </a:ext>
                      </a:extLst>
                    </a:gridCol>
                  </a:tblGrid>
                  <a:tr h="447912">
                    <a:tc>
                      <a:txBody>
                        <a:bodyPr/>
                        <a:lstStyle/>
                        <a:p>
                          <a:endParaRPr lang="en-US"/>
                        </a:p>
                      </a:txBody>
                      <a:tcPr>
                        <a:blipFill>
                          <a:blip r:embed="rId3"/>
                          <a:stretch>
                            <a:fillRect t="-8108" r="-1144340" b="-410811"/>
                          </a:stretch>
                        </a:blip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200" dirty="0"/>
                            <a:t>Amount of oil bought (thousands of barrels)</a:t>
                          </a:r>
                        </a:p>
                      </a:txBody>
                      <a:tcPr/>
                    </a:tc>
                    <a:extLst>
                      <a:ext uri="{0D108BD9-81ED-4DB2-BD59-A6C34878D82A}">
                        <a16:rowId xmlns:a16="http://schemas.microsoft.com/office/drawing/2014/main" val="2463391422"/>
                      </a:ext>
                    </a:extLst>
                  </a:tr>
                  <a:tr h="426720">
                    <a:tc>
                      <a:txBody>
                        <a:bodyPr/>
                        <a:lstStyle/>
                        <a:p>
                          <a:endParaRPr lang="en-US"/>
                        </a:p>
                      </a:txBody>
                      <a:tcPr>
                        <a:blipFill>
                          <a:blip r:embed="rId3"/>
                          <a:stretch>
                            <a:fillRect t="-114286" r="-1144340" b="-334286"/>
                          </a:stretch>
                        </a:blipFill>
                      </a:tcPr>
                    </a:tc>
                    <a:tc>
                      <a:txBody>
                        <a:bodyPr/>
                        <a:lstStyle/>
                        <a:p>
                          <a:r>
                            <a:rPr lang="en-US" sz="2200" dirty="0"/>
                            <a:t>Amount of aviation fuel distilled (thousands of barrels)</a:t>
                          </a:r>
                        </a:p>
                      </a:txBody>
                      <a:tcPr/>
                    </a:tc>
                    <a:extLst>
                      <a:ext uri="{0D108BD9-81ED-4DB2-BD59-A6C34878D82A}">
                        <a16:rowId xmlns:a16="http://schemas.microsoft.com/office/drawing/2014/main" val="2027391582"/>
                      </a:ext>
                    </a:extLst>
                  </a:tr>
                  <a:tr h="447912">
                    <a:tc>
                      <a:txBody>
                        <a:bodyPr/>
                        <a:lstStyle/>
                        <a:p>
                          <a:endParaRPr lang="en-US"/>
                        </a:p>
                      </a:txBody>
                      <a:tcPr>
                        <a:blipFill>
                          <a:blip r:embed="rId3"/>
                          <a:stretch>
                            <a:fillRect t="-202703" r="-1144340" b="-216216"/>
                          </a:stretch>
                        </a:blip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200" dirty="0"/>
                            <a:t>Amount of heating fuel distilled (thousands of barrels)</a:t>
                          </a:r>
                        </a:p>
                      </a:txBody>
                      <a:tcPr/>
                    </a:tc>
                    <a:extLst>
                      <a:ext uri="{0D108BD9-81ED-4DB2-BD59-A6C34878D82A}">
                        <a16:rowId xmlns:a16="http://schemas.microsoft.com/office/drawing/2014/main" val="2923970960"/>
                      </a:ext>
                    </a:extLst>
                  </a:tr>
                  <a:tr h="426720">
                    <a:tc>
                      <a:txBody>
                        <a:bodyPr/>
                        <a:lstStyle/>
                        <a:p>
                          <a:endParaRPr lang="en-US"/>
                        </a:p>
                      </a:txBody>
                      <a:tcPr>
                        <a:blipFill>
                          <a:blip r:embed="rId3"/>
                          <a:stretch>
                            <a:fillRect t="-320000" r="-1144340" b="-128571"/>
                          </a:stretch>
                        </a:blipFill>
                      </a:tcPr>
                    </a:tc>
                    <a:tc>
                      <a:txBody>
                        <a:bodyPr/>
                        <a:lstStyle/>
                        <a:p>
                          <a:r>
                            <a:rPr lang="en-US" sz="2200" dirty="0"/>
                            <a:t>Amount of processed aviation fuel (thousands of barrels)</a:t>
                          </a:r>
                        </a:p>
                      </a:txBody>
                      <a:tcPr/>
                    </a:tc>
                    <a:extLst>
                      <a:ext uri="{0D108BD9-81ED-4DB2-BD59-A6C34878D82A}">
                        <a16:rowId xmlns:a16="http://schemas.microsoft.com/office/drawing/2014/main" val="642391014"/>
                      </a:ext>
                    </a:extLst>
                  </a:tr>
                  <a:tr h="447912">
                    <a:tc>
                      <a:txBody>
                        <a:bodyPr/>
                        <a:lstStyle/>
                        <a:p>
                          <a:endParaRPr lang="en-US"/>
                        </a:p>
                      </a:txBody>
                      <a:tcPr>
                        <a:blipFill>
                          <a:blip r:embed="rId3"/>
                          <a:stretch>
                            <a:fillRect t="-397297" r="-1144340" b="-21622"/>
                          </a:stretch>
                        </a:blip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200" dirty="0"/>
                            <a:t>Amount of processed heating fuel (thousands of barrels)</a:t>
                          </a:r>
                        </a:p>
                      </a:txBody>
                      <a:tcPr/>
                    </a:tc>
                    <a:extLst>
                      <a:ext uri="{0D108BD9-81ED-4DB2-BD59-A6C34878D82A}">
                        <a16:rowId xmlns:a16="http://schemas.microsoft.com/office/drawing/2014/main" val="1135093568"/>
                      </a:ext>
                    </a:extLst>
                  </a:tr>
                </a:tbl>
              </a:graphicData>
            </a:graphic>
          </p:graphicFrame>
        </mc:Fallback>
      </mc:AlternateContent>
    </p:spTree>
    <p:extLst>
      <p:ext uri="{BB962C8B-B14F-4D97-AF65-F5344CB8AC3E}">
        <p14:creationId xmlns:p14="http://schemas.microsoft.com/office/powerpoint/2010/main" val="407449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7" end="7"/>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uiExpand="1" build="p"/>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LP Modeling Examples: Oil Refinery</a:t>
            </a:r>
          </a:p>
        </p:txBody>
      </p:sp>
      <p:sp>
        <p:nvSpPr>
          <p:cNvPr id="6" name="Content Placeholder 5">
            <a:extLst>
              <a:ext uri="{FF2B5EF4-FFF2-40B4-BE49-F238E27FC236}">
                <a16:creationId xmlns:a16="http://schemas.microsoft.com/office/drawing/2014/main" id="{FB330D30-3793-4763-A5BB-F1D943684CD7}"/>
              </a:ext>
            </a:extLst>
          </p:cNvPr>
          <p:cNvSpPr>
            <a:spLocks noGrp="1"/>
          </p:cNvSpPr>
          <p:nvPr>
            <p:ph idx="1"/>
          </p:nvPr>
        </p:nvSpPr>
        <p:spPr/>
        <p:txBody>
          <a:bodyPr>
            <a:normAutofit/>
          </a:bodyPr>
          <a:lstStyle/>
          <a:p>
            <a:r>
              <a:rPr lang="en-US" sz="2200" dirty="0"/>
              <a:t>Constraints:</a:t>
            </a:r>
          </a:p>
        </p:txBody>
      </p:sp>
      <p:sp>
        <p:nvSpPr>
          <p:cNvPr id="3" name="Footer Placeholder 2">
            <a:extLst>
              <a:ext uri="{FF2B5EF4-FFF2-40B4-BE49-F238E27FC236}">
                <a16:creationId xmlns:a16="http://schemas.microsoft.com/office/drawing/2014/main" id="{5643BFD1-F8F1-47AA-B8D7-E167CA9C021A}"/>
              </a:ext>
            </a:extLst>
          </p:cNvPr>
          <p:cNvSpPr>
            <a:spLocks noGrp="1"/>
          </p:cNvSpPr>
          <p:nvPr>
            <p:ph type="ftr" sz="quarter" idx="11"/>
          </p:nvPr>
        </p:nvSpPr>
        <p:spPr/>
        <p:txBody>
          <a:bodyPr/>
          <a:lstStyle/>
          <a:p>
            <a:pPr>
              <a:defRPr/>
            </a:pPr>
            <a:r>
              <a:rPr lang="en-US" altLang="en-US"/>
              <a:t>ITU - Business Analytics - Mehmet Yasin Ulukuş</a:t>
            </a:r>
            <a:endParaRPr lang="en-US" altLang="en-US" i="0"/>
          </a:p>
        </p:txBody>
      </p:sp>
      <mc:AlternateContent xmlns:mc="http://schemas.openxmlformats.org/markup-compatibility/2006" xmlns:a14="http://schemas.microsoft.com/office/drawing/2010/main">
        <mc:Choice Requires="a14">
          <p:graphicFrame>
            <p:nvGraphicFramePr>
              <p:cNvPr id="5" name="Table 4">
                <a:extLst>
                  <a:ext uri="{FF2B5EF4-FFF2-40B4-BE49-F238E27FC236}">
                    <a16:creationId xmlns:a16="http://schemas.microsoft.com/office/drawing/2014/main" id="{1A0B1417-C222-4932-8AB5-71E931A9D47F}"/>
                  </a:ext>
                </a:extLst>
              </p:cNvPr>
              <p:cNvGraphicFramePr>
                <a:graphicFrameLocks noGrp="1"/>
              </p:cNvGraphicFramePr>
              <p:nvPr>
                <p:extLst/>
              </p:nvPr>
            </p:nvGraphicFramePr>
            <p:xfrm>
              <a:off x="649726" y="2021280"/>
              <a:ext cx="10892547" cy="3657600"/>
            </p:xfrm>
            <a:graphic>
              <a:graphicData uri="http://schemas.openxmlformats.org/drawingml/2006/table">
                <a:tbl>
                  <a:tblPr firstRow="1" bandRow="1">
                    <a:tableStyleId>{2D5ABB26-0587-4C30-8999-92F81FD0307C}</a:tableStyleId>
                  </a:tblPr>
                  <a:tblGrid>
                    <a:gridCol w="2103276">
                      <a:extLst>
                        <a:ext uri="{9D8B030D-6E8A-4147-A177-3AD203B41FA5}">
                          <a16:colId xmlns:a16="http://schemas.microsoft.com/office/drawing/2014/main" val="2206644011"/>
                        </a:ext>
                      </a:extLst>
                    </a:gridCol>
                    <a:gridCol w="1204456">
                      <a:extLst>
                        <a:ext uri="{9D8B030D-6E8A-4147-A177-3AD203B41FA5}">
                          <a16:colId xmlns:a16="http://schemas.microsoft.com/office/drawing/2014/main" val="3100224540"/>
                        </a:ext>
                      </a:extLst>
                    </a:gridCol>
                    <a:gridCol w="7584815">
                      <a:extLst>
                        <a:ext uri="{9D8B030D-6E8A-4147-A177-3AD203B41FA5}">
                          <a16:colId xmlns:a16="http://schemas.microsoft.com/office/drawing/2014/main" val="3884498642"/>
                        </a:ext>
                      </a:extLst>
                    </a:gridCol>
                  </a:tblGrid>
                  <a:tr h="370840">
                    <a:tc>
                      <a:txBody>
                        <a:bodyPr/>
                        <a:lstStyle/>
                        <a:p>
                          <a:pPr algn="r"/>
                          <a14:m>
                            <m:oMathPara xmlns:m="http://schemas.openxmlformats.org/officeDocument/2006/math">
                              <m:oMathParaPr>
                                <m:jc m:val="right"/>
                              </m:oMathParaPr>
                              <m:oMath xmlns:m="http://schemas.openxmlformats.org/officeDocument/2006/math">
                                <m:sSub>
                                  <m:sSubPr>
                                    <m:ctrlPr>
                                      <a:rPr lang="tr-TR" sz="2200" i="1" smtClean="0">
                                        <a:latin typeface="Cambria Math" panose="02040503050406030204" pitchFamily="18" charset="0"/>
                                      </a:rPr>
                                    </m:ctrlPr>
                                  </m:sSubPr>
                                  <m:e>
                                    <m:r>
                                      <a:rPr lang="en-US" sz="2200" b="0" i="1" smtClean="0">
                                        <a:latin typeface="Cambria Math" panose="02040503050406030204" pitchFamily="18" charset="0"/>
                                      </a:rPr>
                                      <m:t>𝑥</m:t>
                                    </m:r>
                                  </m:e>
                                  <m:sub>
                                    <m:r>
                                      <a:rPr lang="en-US" sz="2200" i="1" baseline="-25000">
                                        <a:latin typeface="Cambria Math" panose="02040503050406030204" pitchFamily="18" charset="0"/>
                                      </a:rPr>
                                      <m:t>1</m:t>
                                    </m:r>
                                  </m:sub>
                                </m:sSub>
                              </m:oMath>
                            </m:oMathPara>
                          </a14:m>
                          <a:endParaRPr lang="en-US" sz="2200" dirty="0"/>
                        </a:p>
                      </a:txBody>
                      <a:tcPr/>
                    </a:tc>
                    <a:tc>
                      <a:txBody>
                        <a:bodyPr/>
                        <a:lstStyle/>
                        <a:p>
                          <a:pPr algn="l"/>
                          <a14:m>
                            <m:oMathPara xmlns:m="http://schemas.openxmlformats.org/officeDocument/2006/math">
                              <m:oMathParaPr>
                                <m:jc m:val="left"/>
                              </m:oMathParaPr>
                              <m:oMath xmlns:m="http://schemas.openxmlformats.org/officeDocument/2006/math">
                                <m:r>
                                  <a:rPr lang="en-US" sz="2200" i="1" smtClean="0">
                                    <a:latin typeface="Cambria Math" panose="02040503050406030204" pitchFamily="18" charset="0"/>
                                  </a:rPr>
                                  <m:t>≤20</m:t>
                                </m:r>
                              </m:oMath>
                            </m:oMathPara>
                          </a14:m>
                          <a:endParaRPr lang="en-US" sz="2200" dirty="0"/>
                        </a:p>
                      </a:txBody>
                      <a:tcPr/>
                    </a:tc>
                    <a:tc>
                      <a:txBody>
                        <a:bodyPr/>
                        <a:lstStyle/>
                        <a:p>
                          <a:r>
                            <a:rPr lang="en-US" sz="2200" dirty="0"/>
                            <a:t>(Amount of oil bought cannot exceed 20,000 barrels)</a:t>
                          </a:r>
                          <a:endParaRPr lang="tr-TR" sz="2200" dirty="0"/>
                        </a:p>
                      </a:txBody>
                      <a:tcPr/>
                    </a:tc>
                    <a:extLst>
                      <a:ext uri="{0D108BD9-81ED-4DB2-BD59-A6C34878D82A}">
                        <a16:rowId xmlns:a16="http://schemas.microsoft.com/office/drawing/2014/main" val="295534260"/>
                      </a:ext>
                    </a:extLst>
                  </a:tr>
                  <a:tr h="370840">
                    <a:tc>
                      <a:txBody>
                        <a:bodyPr/>
                        <a:lstStyle/>
                        <a:p>
                          <a:pPr algn="r"/>
                          <a14:m>
                            <m:oMathPara xmlns:m="http://schemas.openxmlformats.org/officeDocument/2006/math">
                              <m:oMathParaPr>
                                <m:jc m:val="right"/>
                              </m:oMathParaPr>
                              <m:oMath xmlns:m="http://schemas.openxmlformats.org/officeDocument/2006/math">
                                <m:sSub>
                                  <m:sSubPr>
                                    <m:ctrlPr>
                                      <a:rPr lang="tr-TR" sz="2200" i="1" smtClean="0">
                                        <a:latin typeface="Cambria Math" panose="02040503050406030204" pitchFamily="18" charset="0"/>
                                      </a:rPr>
                                    </m:ctrlPr>
                                  </m:sSubPr>
                                  <m:e>
                                    <m:r>
                                      <a:rPr lang="en-US" sz="2200" b="0" i="1" smtClean="0">
                                        <a:latin typeface="Cambria Math" panose="02040503050406030204" pitchFamily="18" charset="0"/>
                                      </a:rPr>
                                      <m:t>𝑥</m:t>
                                    </m:r>
                                  </m:e>
                                  <m:sub>
                                    <m:r>
                                      <a:rPr lang="en-US" sz="2200" i="1">
                                        <a:latin typeface="Cambria Math" panose="02040503050406030204" pitchFamily="18" charset="0"/>
                                      </a:rPr>
                                      <m:t>2</m:t>
                                    </m:r>
                                  </m:sub>
                                </m:sSub>
                              </m:oMath>
                            </m:oMathPara>
                          </a14:m>
                          <a:endParaRPr lang="en-US" sz="2200" dirty="0"/>
                        </a:p>
                      </a:txBody>
                      <a:tcPr/>
                    </a:tc>
                    <a:tc>
                      <a:txBody>
                        <a:bodyPr/>
                        <a:lstStyle/>
                        <a:p>
                          <a:pPr algn="l"/>
                          <a14:m>
                            <m:oMathPara xmlns:m="http://schemas.openxmlformats.org/officeDocument/2006/math">
                              <m:oMathParaPr>
                                <m:jc m:val="left"/>
                              </m:oMathParaPr>
                              <m:oMath xmlns:m="http://schemas.openxmlformats.org/officeDocument/2006/math">
                                <m:r>
                                  <a:rPr lang="en-US" sz="2200" i="1" smtClean="0">
                                    <a:latin typeface="Cambria Math" panose="02040503050406030204" pitchFamily="18" charset="0"/>
                                  </a:rPr>
                                  <m:t>=0.5</m:t>
                                </m:r>
                                <m:sSub>
                                  <m:sSubPr>
                                    <m:ctrlPr>
                                      <a:rPr lang="tr-TR" sz="2200" i="1">
                                        <a:latin typeface="Cambria Math" panose="02040503050406030204" pitchFamily="18" charset="0"/>
                                      </a:rPr>
                                    </m:ctrlPr>
                                  </m:sSubPr>
                                  <m:e>
                                    <m:r>
                                      <a:rPr lang="en-US" sz="2200" b="0" i="1" smtClean="0">
                                        <a:latin typeface="Cambria Math" panose="02040503050406030204" pitchFamily="18" charset="0"/>
                                      </a:rPr>
                                      <m:t>𝑥</m:t>
                                    </m:r>
                                  </m:e>
                                  <m:sub>
                                    <m:r>
                                      <a:rPr lang="en-US" sz="2200" i="1">
                                        <a:latin typeface="Cambria Math" panose="02040503050406030204" pitchFamily="18" charset="0"/>
                                      </a:rPr>
                                      <m:t>1</m:t>
                                    </m:r>
                                  </m:sub>
                                </m:sSub>
                              </m:oMath>
                            </m:oMathPara>
                          </a14:m>
                          <a:endParaRPr lang="en-US" sz="2200" dirty="0"/>
                        </a:p>
                      </a:txBody>
                      <a:tcPr/>
                    </a:tc>
                    <a:tc>
                      <a:txBody>
                        <a:bodyPr/>
                        <a:lstStyle/>
                        <a:p>
                          <a:r>
                            <a:rPr lang="en-US" sz="2200" dirty="0"/>
                            <a:t>(Amount of aviation fuel distilled is half of the oil bought)</a:t>
                          </a:r>
                          <a:endParaRPr lang="tr-TR" sz="2200" dirty="0"/>
                        </a:p>
                      </a:txBody>
                      <a:tcPr/>
                    </a:tc>
                    <a:extLst>
                      <a:ext uri="{0D108BD9-81ED-4DB2-BD59-A6C34878D82A}">
                        <a16:rowId xmlns:a16="http://schemas.microsoft.com/office/drawing/2014/main" val="2719343881"/>
                      </a:ext>
                    </a:extLst>
                  </a:tr>
                  <a:tr h="370840">
                    <a:tc>
                      <a:txBody>
                        <a:bodyPr/>
                        <a:lstStyle/>
                        <a:p>
                          <a:pPr algn="r"/>
                          <a14:m>
                            <m:oMathPara xmlns:m="http://schemas.openxmlformats.org/officeDocument/2006/math">
                              <m:oMathParaPr>
                                <m:jc m:val="right"/>
                              </m:oMathParaPr>
                              <m:oMath xmlns:m="http://schemas.openxmlformats.org/officeDocument/2006/math">
                                <m:sSub>
                                  <m:sSubPr>
                                    <m:ctrlPr>
                                      <a:rPr lang="tr-TR" sz="2200" i="1" smtClean="0">
                                        <a:latin typeface="Cambria Math" panose="02040503050406030204" pitchFamily="18" charset="0"/>
                                      </a:rPr>
                                    </m:ctrlPr>
                                  </m:sSubPr>
                                  <m:e>
                                    <m:r>
                                      <a:rPr lang="en-US" sz="2200" b="0" i="1" smtClean="0">
                                        <a:latin typeface="Cambria Math" panose="02040503050406030204" pitchFamily="18" charset="0"/>
                                      </a:rPr>
                                      <m:t>𝑥</m:t>
                                    </m:r>
                                  </m:e>
                                  <m:sub>
                                    <m:r>
                                      <a:rPr lang="en-US" sz="2200" i="1">
                                        <a:latin typeface="Cambria Math" panose="02040503050406030204" pitchFamily="18" charset="0"/>
                                      </a:rPr>
                                      <m:t>3</m:t>
                                    </m:r>
                                  </m:sub>
                                </m:sSub>
                              </m:oMath>
                            </m:oMathPara>
                          </a14:m>
                          <a:endParaRPr lang="en-US" sz="2200" dirty="0"/>
                        </a:p>
                      </a:txBody>
                      <a:tcPr/>
                    </a:tc>
                    <a:tc>
                      <a:txBody>
                        <a:bodyPr/>
                        <a:lstStyle/>
                        <a:p>
                          <a:pPr algn="l"/>
                          <a14:m>
                            <m:oMathPara xmlns:m="http://schemas.openxmlformats.org/officeDocument/2006/math">
                              <m:oMathParaPr>
                                <m:jc m:val="left"/>
                              </m:oMathParaPr>
                              <m:oMath xmlns:m="http://schemas.openxmlformats.org/officeDocument/2006/math">
                                <m:r>
                                  <a:rPr lang="en-US" sz="2200" i="1" smtClean="0">
                                    <a:latin typeface="Cambria Math" panose="02040503050406030204" pitchFamily="18" charset="0"/>
                                  </a:rPr>
                                  <m:t>=0.5</m:t>
                                </m:r>
                                <m:sSub>
                                  <m:sSubPr>
                                    <m:ctrlPr>
                                      <a:rPr lang="tr-TR" sz="2200" i="1">
                                        <a:latin typeface="Cambria Math" panose="02040503050406030204" pitchFamily="18" charset="0"/>
                                      </a:rPr>
                                    </m:ctrlPr>
                                  </m:sSubPr>
                                  <m:e>
                                    <m:r>
                                      <a:rPr lang="en-US" sz="2200" b="0" i="1" smtClean="0">
                                        <a:latin typeface="Cambria Math" panose="02040503050406030204" pitchFamily="18" charset="0"/>
                                      </a:rPr>
                                      <m:t>𝑥</m:t>
                                    </m:r>
                                  </m:e>
                                  <m:sub>
                                    <m:r>
                                      <a:rPr lang="en-US" sz="2200" i="1">
                                        <a:latin typeface="Cambria Math" panose="02040503050406030204" pitchFamily="18" charset="0"/>
                                      </a:rPr>
                                      <m:t>1</m:t>
                                    </m:r>
                                  </m:sub>
                                </m:sSub>
                              </m:oMath>
                            </m:oMathPara>
                          </a14:m>
                          <a:endParaRPr lang="en-US" sz="2200" dirty="0"/>
                        </a:p>
                      </a:txBody>
                      <a:tcPr/>
                    </a:tc>
                    <a:tc>
                      <a:txBody>
                        <a:bodyPr/>
                        <a:lstStyle/>
                        <a:p>
                          <a:r>
                            <a:rPr lang="en-US" sz="2200" dirty="0"/>
                            <a:t>(Amount of heating fuel distilled is half of the oil bought)</a:t>
                          </a:r>
                          <a:endParaRPr lang="tr-TR" sz="2200" dirty="0"/>
                        </a:p>
                      </a:txBody>
                      <a:tcPr/>
                    </a:tc>
                    <a:extLst>
                      <a:ext uri="{0D108BD9-81ED-4DB2-BD59-A6C34878D82A}">
                        <a16:rowId xmlns:a16="http://schemas.microsoft.com/office/drawing/2014/main" val="3584402613"/>
                      </a:ext>
                    </a:extLst>
                  </a:tr>
                  <a:tr h="147739">
                    <a:tc>
                      <a:txBody>
                        <a:bodyPr/>
                        <a:lstStyle/>
                        <a:p>
                          <a:pPr algn="r"/>
                          <a14:m>
                            <m:oMathPara xmlns:m="http://schemas.openxmlformats.org/officeDocument/2006/math">
                              <m:oMathParaPr>
                                <m:jc m:val="right"/>
                              </m:oMathParaPr>
                              <m:oMath xmlns:m="http://schemas.openxmlformats.org/officeDocument/2006/math">
                                <m:sSub>
                                  <m:sSubPr>
                                    <m:ctrlPr>
                                      <a:rPr lang="tr-TR" sz="2200" i="1" smtClean="0">
                                        <a:latin typeface="Cambria Math" panose="02040503050406030204" pitchFamily="18" charset="0"/>
                                      </a:rPr>
                                    </m:ctrlPr>
                                  </m:sSubPr>
                                  <m:e>
                                    <m:r>
                                      <a:rPr lang="en-US" sz="2200" b="0" i="1" smtClean="0">
                                        <a:latin typeface="Cambria Math" panose="02040503050406030204" pitchFamily="18" charset="0"/>
                                      </a:rPr>
                                      <m:t>𝑥</m:t>
                                    </m:r>
                                  </m:e>
                                  <m:sub>
                                    <m:r>
                                      <a:rPr lang="en-US" sz="2200" i="1">
                                        <a:latin typeface="Cambria Math" panose="02040503050406030204" pitchFamily="18" charset="0"/>
                                      </a:rPr>
                                      <m:t>4</m:t>
                                    </m:r>
                                  </m:sub>
                                </m:sSub>
                              </m:oMath>
                            </m:oMathPara>
                          </a14:m>
                          <a:endParaRPr lang="en-US" sz="2200" dirty="0"/>
                        </a:p>
                      </a:txBody>
                      <a:tcPr/>
                    </a:tc>
                    <a:tc>
                      <a:txBody>
                        <a:bodyPr/>
                        <a:lstStyle/>
                        <a:p>
                          <a:pPr algn="l"/>
                          <a14:m>
                            <m:oMathPara xmlns:m="http://schemas.openxmlformats.org/officeDocument/2006/math">
                              <m:oMathParaPr>
                                <m:jc m:val="left"/>
                              </m:oMathParaPr>
                              <m:oMath xmlns:m="http://schemas.openxmlformats.org/officeDocument/2006/math">
                                <m:r>
                                  <a:rPr lang="en-US" sz="2200" i="1" smtClean="0">
                                    <a:latin typeface="Cambria Math" panose="02040503050406030204" pitchFamily="18" charset="0"/>
                                  </a:rPr>
                                  <m:t>≤</m:t>
                                </m:r>
                                <m:sSub>
                                  <m:sSubPr>
                                    <m:ctrlPr>
                                      <a:rPr lang="tr-TR" sz="2200" i="1">
                                        <a:latin typeface="Cambria Math" panose="02040503050406030204" pitchFamily="18" charset="0"/>
                                      </a:rPr>
                                    </m:ctrlPr>
                                  </m:sSubPr>
                                  <m:e>
                                    <m:r>
                                      <a:rPr lang="en-US" sz="2200" b="0" i="1" smtClean="0">
                                        <a:latin typeface="Cambria Math" panose="02040503050406030204" pitchFamily="18" charset="0"/>
                                      </a:rPr>
                                      <m:t>𝑥</m:t>
                                    </m:r>
                                  </m:e>
                                  <m:sub>
                                    <m:r>
                                      <a:rPr lang="en-US" sz="2200" i="1">
                                        <a:latin typeface="Cambria Math" panose="02040503050406030204" pitchFamily="18" charset="0"/>
                                      </a:rPr>
                                      <m:t>2</m:t>
                                    </m:r>
                                  </m:sub>
                                </m:sSub>
                              </m:oMath>
                            </m:oMathPara>
                          </a14:m>
                          <a:endParaRPr lang="en-US" sz="22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200" dirty="0"/>
                            <a:t>(Amount of processed aviation fuel cannot exceed amount of distilled aviation fuel, since the former is made from the latter)</a:t>
                          </a:r>
                          <a:endParaRPr lang="tr-TR" sz="2200" dirty="0"/>
                        </a:p>
                      </a:txBody>
                      <a:tcPr/>
                    </a:tc>
                    <a:extLst>
                      <a:ext uri="{0D108BD9-81ED-4DB2-BD59-A6C34878D82A}">
                        <a16:rowId xmlns:a16="http://schemas.microsoft.com/office/drawing/2014/main" val="1696620212"/>
                      </a:ext>
                    </a:extLst>
                  </a:tr>
                  <a:tr h="0">
                    <a:tc>
                      <a:txBody>
                        <a:bodyPr/>
                        <a:lstStyle/>
                        <a:p>
                          <a:pPr algn="r"/>
                          <a14:m>
                            <m:oMathPara xmlns:m="http://schemas.openxmlformats.org/officeDocument/2006/math">
                              <m:oMathParaPr>
                                <m:jc m:val="right"/>
                              </m:oMathParaPr>
                              <m:oMath xmlns:m="http://schemas.openxmlformats.org/officeDocument/2006/math">
                                <m:sSub>
                                  <m:sSubPr>
                                    <m:ctrlPr>
                                      <a:rPr lang="tr-TR" sz="2200" i="1" smtClean="0">
                                        <a:latin typeface="Cambria Math" panose="02040503050406030204" pitchFamily="18" charset="0"/>
                                      </a:rPr>
                                    </m:ctrlPr>
                                  </m:sSubPr>
                                  <m:e>
                                    <m:r>
                                      <a:rPr lang="en-US" sz="2200" b="0" i="1" smtClean="0">
                                        <a:latin typeface="Cambria Math" panose="02040503050406030204" pitchFamily="18" charset="0"/>
                                      </a:rPr>
                                      <m:t>𝑥</m:t>
                                    </m:r>
                                  </m:e>
                                  <m:sub>
                                    <m:r>
                                      <a:rPr lang="en-US" sz="2200" i="1">
                                        <a:latin typeface="Cambria Math" panose="02040503050406030204" pitchFamily="18" charset="0"/>
                                      </a:rPr>
                                      <m:t>5</m:t>
                                    </m:r>
                                  </m:sub>
                                </m:sSub>
                              </m:oMath>
                            </m:oMathPara>
                          </a14:m>
                          <a:endParaRPr lang="en-US" sz="2200" dirty="0"/>
                        </a:p>
                      </a:txBody>
                      <a:tcPr/>
                    </a:tc>
                    <a:tc>
                      <a:txBody>
                        <a:bodyPr/>
                        <a:lstStyle/>
                        <a:p>
                          <a:pPr algn="l"/>
                          <a14:m>
                            <m:oMath xmlns:m="http://schemas.openxmlformats.org/officeDocument/2006/math">
                              <m:r>
                                <a:rPr lang="en-US" sz="2200" i="1" smtClean="0">
                                  <a:latin typeface="Cambria Math" panose="02040503050406030204" pitchFamily="18" charset="0"/>
                                </a:rPr>
                                <m:t>≤</m:t>
                              </m:r>
                              <m:sSub>
                                <m:sSubPr>
                                  <m:ctrlPr>
                                    <a:rPr lang="tr-TR" sz="2200" i="1">
                                      <a:latin typeface="Cambria Math" panose="02040503050406030204" pitchFamily="18" charset="0"/>
                                    </a:rPr>
                                  </m:ctrlPr>
                                </m:sSubPr>
                                <m:e>
                                  <m:r>
                                    <a:rPr lang="en-US" sz="2200" b="0" i="1" smtClean="0">
                                      <a:latin typeface="Cambria Math" panose="02040503050406030204" pitchFamily="18" charset="0"/>
                                    </a:rPr>
                                    <m:t>𝑥</m:t>
                                  </m:r>
                                </m:e>
                                <m:sub>
                                  <m:r>
                                    <a:rPr lang="en-US" sz="2200" i="1">
                                      <a:latin typeface="Cambria Math" panose="02040503050406030204" pitchFamily="18" charset="0"/>
                                    </a:rPr>
                                    <m:t>3</m:t>
                                  </m:r>
                                </m:sub>
                              </m:sSub>
                            </m:oMath>
                          </a14:m>
                          <a:r>
                            <a:rPr lang="en-US" sz="2200" dirty="0"/>
                            <a:t>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200" dirty="0"/>
                            <a:t>(Amount of processed heating fuel cannot exceed amount of distilled heating fuel, since the former is made from the latter)</a:t>
                          </a:r>
                          <a:endParaRPr lang="tr-TR" sz="2200" dirty="0"/>
                        </a:p>
                      </a:txBody>
                      <a:tcPr/>
                    </a:tc>
                    <a:extLst>
                      <a:ext uri="{0D108BD9-81ED-4DB2-BD59-A6C34878D82A}">
                        <a16:rowId xmlns:a16="http://schemas.microsoft.com/office/drawing/2014/main" val="1897425443"/>
                      </a:ext>
                    </a:extLst>
                  </a:tr>
                  <a:tr h="370840">
                    <a:tc>
                      <a:txBody>
                        <a:bodyPr/>
                        <a:lstStyle/>
                        <a:p>
                          <a:pPr algn="r"/>
                          <a14:m>
                            <m:oMathPara xmlns:m="http://schemas.openxmlformats.org/officeDocument/2006/math">
                              <m:oMathParaPr>
                                <m:jc m:val="right"/>
                              </m:oMathParaPr>
                              <m:oMath xmlns:m="http://schemas.openxmlformats.org/officeDocument/2006/math">
                                <m:sSub>
                                  <m:sSubPr>
                                    <m:ctrlPr>
                                      <a:rPr lang="tr-TR" sz="2200" i="1" smtClean="0">
                                        <a:latin typeface="Cambria Math" panose="02040503050406030204" pitchFamily="18" charset="0"/>
                                      </a:rPr>
                                    </m:ctrlPr>
                                  </m:sSubPr>
                                  <m:e>
                                    <m:r>
                                      <a:rPr lang="en-US" sz="2200" b="0" i="1" smtClean="0">
                                        <a:latin typeface="Cambria Math" panose="02040503050406030204" pitchFamily="18" charset="0"/>
                                      </a:rPr>
                                      <m:t>𝑥</m:t>
                                    </m:r>
                                  </m:e>
                                  <m:sub>
                                    <m:r>
                                      <a:rPr lang="en-US" sz="2200" i="1">
                                        <a:latin typeface="Cambria Math" panose="02040503050406030204" pitchFamily="18" charset="0"/>
                                      </a:rPr>
                                      <m:t>4</m:t>
                                    </m:r>
                                  </m:sub>
                                </m:sSub>
                                <m:r>
                                  <a:rPr lang="en-US" sz="2200" i="1">
                                    <a:latin typeface="Cambria Math" panose="02040503050406030204" pitchFamily="18" charset="0"/>
                                  </a:rPr>
                                  <m:t>+0.75 </m:t>
                                </m:r>
                                <m:sSub>
                                  <m:sSubPr>
                                    <m:ctrlPr>
                                      <a:rPr lang="tr-TR" sz="2200" i="1">
                                        <a:latin typeface="Cambria Math" panose="02040503050406030204" pitchFamily="18" charset="0"/>
                                      </a:rPr>
                                    </m:ctrlPr>
                                  </m:sSubPr>
                                  <m:e>
                                    <m:r>
                                      <a:rPr lang="en-US" sz="2200" b="0" i="1" smtClean="0">
                                        <a:latin typeface="Cambria Math" panose="02040503050406030204" pitchFamily="18" charset="0"/>
                                      </a:rPr>
                                      <m:t>𝑥</m:t>
                                    </m:r>
                                  </m:e>
                                  <m:sub>
                                    <m:r>
                                      <a:rPr lang="en-US" sz="2200" i="1">
                                        <a:latin typeface="Cambria Math" panose="02040503050406030204" pitchFamily="18" charset="0"/>
                                      </a:rPr>
                                      <m:t>5</m:t>
                                    </m:r>
                                  </m:sub>
                                </m:sSub>
                              </m:oMath>
                            </m:oMathPara>
                          </a14:m>
                          <a:endParaRPr lang="en-US" sz="2200" dirty="0"/>
                        </a:p>
                      </a:txBody>
                      <a:tcPr/>
                    </a:tc>
                    <a:tc>
                      <a:txBody>
                        <a:bodyPr/>
                        <a:lstStyle/>
                        <a:p>
                          <a:pPr algn="l"/>
                          <a14:m>
                            <m:oMath xmlns:m="http://schemas.openxmlformats.org/officeDocument/2006/math">
                              <m:r>
                                <a:rPr lang="en-US" sz="2200" i="1" smtClean="0">
                                  <a:latin typeface="Cambria Math" panose="02040503050406030204" pitchFamily="18" charset="0"/>
                                </a:rPr>
                                <m:t>≤8</m:t>
                              </m:r>
                            </m:oMath>
                          </a14:m>
                          <a:r>
                            <a:rPr lang="en-US" sz="2200" dirty="0"/>
                            <a:t>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200" dirty="0"/>
                            <a:t>(Cracker Availability constraint)</a:t>
                          </a:r>
                          <a:endParaRPr lang="tr-TR" sz="2200" dirty="0"/>
                        </a:p>
                      </a:txBody>
                      <a:tcPr/>
                    </a:tc>
                    <a:extLst>
                      <a:ext uri="{0D108BD9-81ED-4DB2-BD59-A6C34878D82A}">
                        <a16:rowId xmlns:a16="http://schemas.microsoft.com/office/drawing/2014/main" val="3180231249"/>
                      </a:ext>
                    </a:extLst>
                  </a:tr>
                  <a:tr h="370840">
                    <a:tc>
                      <a:txBody>
                        <a:bodyPr/>
                        <a:lstStyle/>
                        <a:p>
                          <a:pPr/>
                          <a14:m>
                            <m:oMathPara xmlns:m="http://schemas.openxmlformats.org/officeDocument/2006/math">
                              <m:oMathParaPr>
                                <m:jc m:val="right"/>
                              </m:oMathParaPr>
                              <m:oMath xmlns:m="http://schemas.openxmlformats.org/officeDocument/2006/math">
                                <m:sSub>
                                  <m:sSubPr>
                                    <m:ctrlPr>
                                      <a:rPr lang="en-US" sz="2200" i="1" smtClean="0">
                                        <a:latin typeface="Cambria Math" panose="02040503050406030204" pitchFamily="18" charset="0"/>
                                      </a:rPr>
                                    </m:ctrlPr>
                                  </m:sSubPr>
                                  <m:e>
                                    <m:r>
                                      <a:rPr lang="en-US" sz="2200" smtClean="0">
                                        <a:latin typeface="Cambria Math" panose="02040503050406030204" pitchFamily="18" charset="0"/>
                                      </a:rPr>
                                      <m:t>𝑥</m:t>
                                    </m:r>
                                  </m:e>
                                  <m:sub>
                                    <m:r>
                                      <a:rPr lang="en-US" sz="2200" smtClean="0">
                                        <a:latin typeface="Cambria Math" panose="02040503050406030204" pitchFamily="18" charset="0"/>
                                      </a:rPr>
                                      <m:t>1</m:t>
                                    </m:r>
                                  </m:sub>
                                </m:sSub>
                                <m:r>
                                  <a:rPr lang="en-US" sz="2200" smtClean="0">
                                    <a:latin typeface="Cambria Math" panose="02040503050406030204" pitchFamily="18" charset="0"/>
                                  </a:rPr>
                                  <m:t>,</m:t>
                                </m:r>
                                <m:sSub>
                                  <m:sSubPr>
                                    <m:ctrlPr>
                                      <a:rPr lang="en-US" sz="2200" i="1" smtClean="0">
                                        <a:latin typeface="Cambria Math" panose="02040503050406030204" pitchFamily="18" charset="0"/>
                                      </a:rPr>
                                    </m:ctrlPr>
                                  </m:sSubPr>
                                  <m:e>
                                    <m:r>
                                      <a:rPr lang="en-US" sz="2200" smtClean="0">
                                        <a:latin typeface="Cambria Math" panose="02040503050406030204" pitchFamily="18" charset="0"/>
                                      </a:rPr>
                                      <m:t>𝑥</m:t>
                                    </m:r>
                                  </m:e>
                                  <m:sub>
                                    <m:r>
                                      <a:rPr lang="en-US" sz="2200" smtClean="0">
                                        <a:latin typeface="Cambria Math" panose="02040503050406030204" pitchFamily="18" charset="0"/>
                                      </a:rPr>
                                      <m:t>2</m:t>
                                    </m:r>
                                  </m:sub>
                                </m:sSub>
                                <m:r>
                                  <a:rPr lang="en-US" sz="2200" smtClean="0">
                                    <a:latin typeface="Cambria Math" panose="02040503050406030204" pitchFamily="18" charset="0"/>
                                  </a:rPr>
                                  <m:t>,</m:t>
                                </m:r>
                                <m:sSub>
                                  <m:sSubPr>
                                    <m:ctrlPr>
                                      <a:rPr lang="en-US" sz="2200" i="1" smtClean="0">
                                        <a:latin typeface="Cambria Math" panose="02040503050406030204" pitchFamily="18" charset="0"/>
                                      </a:rPr>
                                    </m:ctrlPr>
                                  </m:sSubPr>
                                  <m:e>
                                    <m:r>
                                      <a:rPr lang="en-US" sz="2200" smtClean="0">
                                        <a:latin typeface="Cambria Math" panose="02040503050406030204" pitchFamily="18" charset="0"/>
                                      </a:rPr>
                                      <m:t>𝑥</m:t>
                                    </m:r>
                                  </m:e>
                                  <m:sub>
                                    <m:r>
                                      <a:rPr lang="en-US" sz="2200" smtClean="0">
                                        <a:latin typeface="Cambria Math" panose="02040503050406030204" pitchFamily="18" charset="0"/>
                                      </a:rPr>
                                      <m:t>3</m:t>
                                    </m:r>
                                  </m:sub>
                                </m:sSub>
                                <m:r>
                                  <a:rPr lang="en-US" sz="2200" b="0" i="0" smtClean="0">
                                    <a:latin typeface="Cambria Math" panose="02040503050406030204" pitchFamily="18" charset="0"/>
                                  </a:rPr>
                                  <m:t>,</m:t>
                                </m:r>
                                <m:sSub>
                                  <m:sSubPr>
                                    <m:ctrlPr>
                                      <a:rPr lang="en-US" sz="2200" b="0" i="1" smtClean="0">
                                        <a:latin typeface="Cambria Math" panose="02040503050406030204" pitchFamily="18" charset="0"/>
                                      </a:rPr>
                                    </m:ctrlPr>
                                  </m:sSubPr>
                                  <m:e>
                                    <m:r>
                                      <a:rPr lang="en-US" sz="2200" smtClean="0">
                                        <a:latin typeface="Cambria Math" panose="02040503050406030204" pitchFamily="18" charset="0"/>
                                      </a:rPr>
                                      <m:t>𝑥</m:t>
                                    </m:r>
                                  </m:e>
                                  <m:sub>
                                    <m:r>
                                      <a:rPr lang="en-US" sz="2200" b="0" i="0" smtClean="0">
                                        <a:latin typeface="Cambria Math" panose="02040503050406030204" pitchFamily="18" charset="0"/>
                                      </a:rPr>
                                      <m:t>4</m:t>
                                    </m:r>
                                  </m:sub>
                                </m:sSub>
                                <m:r>
                                  <a:rPr lang="en-US" sz="2200" b="0" i="0" smtClean="0">
                                    <a:latin typeface="Cambria Math" panose="02040503050406030204" pitchFamily="18" charset="0"/>
                                  </a:rPr>
                                  <m:t>,</m:t>
                                </m:r>
                                <m:sSub>
                                  <m:sSubPr>
                                    <m:ctrlPr>
                                      <a:rPr lang="en-US" sz="2200" b="0" i="1" smtClean="0">
                                        <a:latin typeface="Cambria Math" panose="02040503050406030204" pitchFamily="18" charset="0"/>
                                      </a:rPr>
                                    </m:ctrlPr>
                                  </m:sSubPr>
                                  <m:e>
                                    <m:r>
                                      <a:rPr lang="en-US" sz="2200" smtClean="0">
                                        <a:latin typeface="Cambria Math" panose="02040503050406030204" pitchFamily="18" charset="0"/>
                                      </a:rPr>
                                      <m:t>𝑥</m:t>
                                    </m:r>
                                  </m:e>
                                  <m:sub>
                                    <m:r>
                                      <a:rPr lang="en-US" sz="2200" b="0" i="0" smtClean="0">
                                        <a:latin typeface="Cambria Math" panose="02040503050406030204" pitchFamily="18" charset="0"/>
                                      </a:rPr>
                                      <m:t>5</m:t>
                                    </m:r>
                                  </m:sub>
                                </m:sSub>
                              </m:oMath>
                            </m:oMathPara>
                          </a14:m>
                          <a:endParaRPr lang="en-US" sz="2200" dirty="0"/>
                        </a:p>
                      </a:txBody>
                      <a:tcPr/>
                    </a:tc>
                    <a:tc>
                      <a:txBody>
                        <a:bodyPr/>
                        <a:lstStyle/>
                        <a:p>
                          <a:pPr algn="l"/>
                          <a14:m>
                            <m:oMathPara xmlns:m="http://schemas.openxmlformats.org/officeDocument/2006/math">
                              <m:oMathParaPr>
                                <m:jc m:val="left"/>
                              </m:oMathParaPr>
                              <m:oMath xmlns:m="http://schemas.openxmlformats.org/officeDocument/2006/math">
                                <m:r>
                                  <a:rPr lang="en-US" sz="2200" smtClean="0">
                                    <a:latin typeface="Cambria Math" panose="02040503050406030204" pitchFamily="18" charset="0"/>
                                  </a:rPr>
                                  <m:t>≥0</m:t>
                                </m:r>
                              </m:oMath>
                            </m:oMathPara>
                          </a14:m>
                          <a:endParaRPr lang="en-US" sz="2200" dirty="0"/>
                        </a:p>
                      </a:txBody>
                      <a:tcPr/>
                    </a:tc>
                    <a:tc>
                      <a:txBody>
                        <a:bodyPr/>
                        <a:lstStyle/>
                        <a:p>
                          <a:r>
                            <a:rPr lang="en-US" sz="2200" dirty="0"/>
                            <a:t>(Non-negativity)</a:t>
                          </a:r>
                        </a:p>
                      </a:txBody>
                      <a:tcPr/>
                    </a:tc>
                    <a:extLst>
                      <a:ext uri="{0D108BD9-81ED-4DB2-BD59-A6C34878D82A}">
                        <a16:rowId xmlns:a16="http://schemas.microsoft.com/office/drawing/2014/main" val="1124689325"/>
                      </a:ext>
                    </a:extLst>
                  </a:tr>
                </a:tbl>
              </a:graphicData>
            </a:graphic>
          </p:graphicFrame>
        </mc:Choice>
        <mc:Fallback xmlns="">
          <p:graphicFrame>
            <p:nvGraphicFramePr>
              <p:cNvPr id="5" name="Table 4">
                <a:extLst>
                  <a:ext uri="{FF2B5EF4-FFF2-40B4-BE49-F238E27FC236}">
                    <a16:creationId xmlns:a16="http://schemas.microsoft.com/office/drawing/2014/main" id="{1A0B1417-C222-4932-8AB5-71E931A9D47F}"/>
                  </a:ext>
                </a:extLst>
              </p:cNvPr>
              <p:cNvGraphicFramePr>
                <a:graphicFrameLocks noGrp="1"/>
              </p:cNvGraphicFramePr>
              <p:nvPr>
                <p:extLst>
                  <p:ext uri="{D42A27DB-BD31-4B8C-83A1-F6EECF244321}">
                    <p14:modId xmlns:p14="http://schemas.microsoft.com/office/powerpoint/2010/main" val="112009260"/>
                  </p:ext>
                </p:extLst>
              </p:nvPr>
            </p:nvGraphicFramePr>
            <p:xfrm>
              <a:off x="649726" y="2021280"/>
              <a:ext cx="10892547" cy="3657600"/>
            </p:xfrm>
            <a:graphic>
              <a:graphicData uri="http://schemas.openxmlformats.org/drawingml/2006/table">
                <a:tbl>
                  <a:tblPr firstRow="1" bandRow="1">
                    <a:tableStyleId>{2D5ABB26-0587-4C30-8999-92F81FD0307C}</a:tableStyleId>
                  </a:tblPr>
                  <a:tblGrid>
                    <a:gridCol w="2103276">
                      <a:extLst>
                        <a:ext uri="{9D8B030D-6E8A-4147-A177-3AD203B41FA5}">
                          <a16:colId xmlns:a16="http://schemas.microsoft.com/office/drawing/2014/main" val="2206644011"/>
                        </a:ext>
                      </a:extLst>
                    </a:gridCol>
                    <a:gridCol w="1204456">
                      <a:extLst>
                        <a:ext uri="{9D8B030D-6E8A-4147-A177-3AD203B41FA5}">
                          <a16:colId xmlns:a16="http://schemas.microsoft.com/office/drawing/2014/main" val="3100224540"/>
                        </a:ext>
                      </a:extLst>
                    </a:gridCol>
                    <a:gridCol w="7584815">
                      <a:extLst>
                        <a:ext uri="{9D8B030D-6E8A-4147-A177-3AD203B41FA5}">
                          <a16:colId xmlns:a16="http://schemas.microsoft.com/office/drawing/2014/main" val="3884498642"/>
                        </a:ext>
                      </a:extLst>
                    </a:gridCol>
                  </a:tblGrid>
                  <a:tr h="426720">
                    <a:tc>
                      <a:txBody>
                        <a:bodyPr/>
                        <a:lstStyle/>
                        <a:p>
                          <a:endParaRPr lang="en-US"/>
                        </a:p>
                      </a:txBody>
                      <a:tcPr>
                        <a:blipFill>
                          <a:blip r:embed="rId2"/>
                          <a:stretch>
                            <a:fillRect t="-8571" r="-418261" b="-787143"/>
                          </a:stretch>
                        </a:blipFill>
                      </a:tcPr>
                    </a:tc>
                    <a:tc>
                      <a:txBody>
                        <a:bodyPr/>
                        <a:lstStyle/>
                        <a:p>
                          <a:endParaRPr lang="en-US"/>
                        </a:p>
                      </a:txBody>
                      <a:tcPr>
                        <a:blipFill>
                          <a:blip r:embed="rId2"/>
                          <a:stretch>
                            <a:fillRect l="-174242" t="-8571" r="-628788" b="-787143"/>
                          </a:stretch>
                        </a:blipFill>
                      </a:tcPr>
                    </a:tc>
                    <a:tc>
                      <a:txBody>
                        <a:bodyPr/>
                        <a:lstStyle/>
                        <a:p>
                          <a:r>
                            <a:rPr lang="en-US" sz="2200" dirty="0"/>
                            <a:t>(Amount of oil bought cannot exceed 20,000 barrels)</a:t>
                          </a:r>
                          <a:endParaRPr lang="tr-TR" sz="2200" dirty="0"/>
                        </a:p>
                      </a:txBody>
                      <a:tcPr/>
                    </a:tc>
                    <a:extLst>
                      <a:ext uri="{0D108BD9-81ED-4DB2-BD59-A6C34878D82A}">
                        <a16:rowId xmlns:a16="http://schemas.microsoft.com/office/drawing/2014/main" val="295534260"/>
                      </a:ext>
                    </a:extLst>
                  </a:tr>
                  <a:tr h="426720">
                    <a:tc>
                      <a:txBody>
                        <a:bodyPr/>
                        <a:lstStyle/>
                        <a:p>
                          <a:endParaRPr lang="en-US"/>
                        </a:p>
                      </a:txBody>
                      <a:tcPr>
                        <a:blipFill>
                          <a:blip r:embed="rId2"/>
                          <a:stretch>
                            <a:fillRect t="-108571" r="-418261" b="-687143"/>
                          </a:stretch>
                        </a:blipFill>
                      </a:tcPr>
                    </a:tc>
                    <a:tc>
                      <a:txBody>
                        <a:bodyPr/>
                        <a:lstStyle/>
                        <a:p>
                          <a:endParaRPr lang="en-US"/>
                        </a:p>
                      </a:txBody>
                      <a:tcPr>
                        <a:blipFill>
                          <a:blip r:embed="rId2"/>
                          <a:stretch>
                            <a:fillRect l="-174242" t="-108571" r="-628788" b="-687143"/>
                          </a:stretch>
                        </a:blipFill>
                      </a:tcPr>
                    </a:tc>
                    <a:tc>
                      <a:txBody>
                        <a:bodyPr/>
                        <a:lstStyle/>
                        <a:p>
                          <a:r>
                            <a:rPr lang="en-US" sz="2200" dirty="0"/>
                            <a:t>(Amount of aviation fuel distilled is half of the oil bought)</a:t>
                          </a:r>
                          <a:endParaRPr lang="tr-TR" sz="2200" dirty="0"/>
                        </a:p>
                      </a:txBody>
                      <a:tcPr/>
                    </a:tc>
                    <a:extLst>
                      <a:ext uri="{0D108BD9-81ED-4DB2-BD59-A6C34878D82A}">
                        <a16:rowId xmlns:a16="http://schemas.microsoft.com/office/drawing/2014/main" val="2719343881"/>
                      </a:ext>
                    </a:extLst>
                  </a:tr>
                  <a:tr h="426720">
                    <a:tc>
                      <a:txBody>
                        <a:bodyPr/>
                        <a:lstStyle/>
                        <a:p>
                          <a:endParaRPr lang="en-US"/>
                        </a:p>
                      </a:txBody>
                      <a:tcPr>
                        <a:blipFill>
                          <a:blip r:embed="rId2"/>
                          <a:stretch>
                            <a:fillRect t="-208571" r="-418261" b="-587143"/>
                          </a:stretch>
                        </a:blipFill>
                      </a:tcPr>
                    </a:tc>
                    <a:tc>
                      <a:txBody>
                        <a:bodyPr/>
                        <a:lstStyle/>
                        <a:p>
                          <a:endParaRPr lang="en-US"/>
                        </a:p>
                      </a:txBody>
                      <a:tcPr>
                        <a:blipFill>
                          <a:blip r:embed="rId2"/>
                          <a:stretch>
                            <a:fillRect l="-174242" t="-208571" r="-628788" b="-587143"/>
                          </a:stretch>
                        </a:blipFill>
                      </a:tcPr>
                    </a:tc>
                    <a:tc>
                      <a:txBody>
                        <a:bodyPr/>
                        <a:lstStyle/>
                        <a:p>
                          <a:r>
                            <a:rPr lang="en-US" sz="2200" dirty="0"/>
                            <a:t>(Amount of heating fuel distilled is half of the oil bought)</a:t>
                          </a:r>
                          <a:endParaRPr lang="tr-TR" sz="2200" dirty="0"/>
                        </a:p>
                      </a:txBody>
                      <a:tcPr/>
                    </a:tc>
                    <a:extLst>
                      <a:ext uri="{0D108BD9-81ED-4DB2-BD59-A6C34878D82A}">
                        <a16:rowId xmlns:a16="http://schemas.microsoft.com/office/drawing/2014/main" val="3584402613"/>
                      </a:ext>
                    </a:extLst>
                  </a:tr>
                  <a:tr h="762000">
                    <a:tc>
                      <a:txBody>
                        <a:bodyPr/>
                        <a:lstStyle/>
                        <a:p>
                          <a:endParaRPr lang="en-US"/>
                        </a:p>
                      </a:txBody>
                      <a:tcPr>
                        <a:blipFill>
                          <a:blip r:embed="rId2"/>
                          <a:stretch>
                            <a:fillRect t="-171429" r="-418261" b="-226190"/>
                          </a:stretch>
                        </a:blipFill>
                      </a:tcPr>
                    </a:tc>
                    <a:tc>
                      <a:txBody>
                        <a:bodyPr/>
                        <a:lstStyle/>
                        <a:p>
                          <a:endParaRPr lang="en-US"/>
                        </a:p>
                      </a:txBody>
                      <a:tcPr>
                        <a:blipFill>
                          <a:blip r:embed="rId2"/>
                          <a:stretch>
                            <a:fillRect l="-174242" t="-171429" r="-628788" b="-226190"/>
                          </a:stretch>
                        </a:blip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200" dirty="0"/>
                            <a:t>(Amount of processed aviation fuel cannot exceed amount of distilled aviation fuel, since the former is made from the latter)</a:t>
                          </a:r>
                          <a:endParaRPr lang="tr-TR" sz="2200" dirty="0"/>
                        </a:p>
                      </a:txBody>
                      <a:tcPr/>
                    </a:tc>
                    <a:extLst>
                      <a:ext uri="{0D108BD9-81ED-4DB2-BD59-A6C34878D82A}">
                        <a16:rowId xmlns:a16="http://schemas.microsoft.com/office/drawing/2014/main" val="1696620212"/>
                      </a:ext>
                    </a:extLst>
                  </a:tr>
                  <a:tr h="762000">
                    <a:tc>
                      <a:txBody>
                        <a:bodyPr/>
                        <a:lstStyle/>
                        <a:p>
                          <a:endParaRPr lang="en-US"/>
                        </a:p>
                      </a:txBody>
                      <a:tcPr>
                        <a:blipFill>
                          <a:blip r:embed="rId2"/>
                          <a:stretch>
                            <a:fillRect t="-273600" r="-418261" b="-128000"/>
                          </a:stretch>
                        </a:blipFill>
                      </a:tcPr>
                    </a:tc>
                    <a:tc>
                      <a:txBody>
                        <a:bodyPr/>
                        <a:lstStyle/>
                        <a:p>
                          <a:endParaRPr lang="en-US"/>
                        </a:p>
                      </a:txBody>
                      <a:tcPr>
                        <a:blipFill>
                          <a:blip r:embed="rId2"/>
                          <a:stretch>
                            <a:fillRect l="-174242" t="-273600" r="-628788" b="-128000"/>
                          </a:stretch>
                        </a:blip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200" dirty="0"/>
                            <a:t>(Amount of processed heating fuel cannot exceed amount of distilled heating fuel, since the former is made from the latter)</a:t>
                          </a:r>
                          <a:endParaRPr lang="tr-TR" sz="2200" dirty="0"/>
                        </a:p>
                      </a:txBody>
                      <a:tcPr/>
                    </a:tc>
                    <a:extLst>
                      <a:ext uri="{0D108BD9-81ED-4DB2-BD59-A6C34878D82A}">
                        <a16:rowId xmlns:a16="http://schemas.microsoft.com/office/drawing/2014/main" val="1897425443"/>
                      </a:ext>
                    </a:extLst>
                  </a:tr>
                  <a:tr h="426720">
                    <a:tc>
                      <a:txBody>
                        <a:bodyPr/>
                        <a:lstStyle/>
                        <a:p>
                          <a:endParaRPr lang="en-US"/>
                        </a:p>
                      </a:txBody>
                      <a:tcPr>
                        <a:blipFill>
                          <a:blip r:embed="rId2"/>
                          <a:stretch>
                            <a:fillRect t="-667143" r="-418261" b="-128571"/>
                          </a:stretch>
                        </a:blipFill>
                      </a:tcPr>
                    </a:tc>
                    <a:tc>
                      <a:txBody>
                        <a:bodyPr/>
                        <a:lstStyle/>
                        <a:p>
                          <a:endParaRPr lang="en-US"/>
                        </a:p>
                      </a:txBody>
                      <a:tcPr>
                        <a:blipFill>
                          <a:blip r:embed="rId2"/>
                          <a:stretch>
                            <a:fillRect l="-174242" t="-667143" r="-628788" b="-128571"/>
                          </a:stretch>
                        </a:blip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200" dirty="0"/>
                            <a:t>(Cracker Availability constraint)</a:t>
                          </a:r>
                          <a:endParaRPr lang="tr-TR" sz="2200" dirty="0"/>
                        </a:p>
                      </a:txBody>
                      <a:tcPr/>
                    </a:tc>
                    <a:extLst>
                      <a:ext uri="{0D108BD9-81ED-4DB2-BD59-A6C34878D82A}">
                        <a16:rowId xmlns:a16="http://schemas.microsoft.com/office/drawing/2014/main" val="3180231249"/>
                      </a:ext>
                    </a:extLst>
                  </a:tr>
                  <a:tr h="426720">
                    <a:tc>
                      <a:txBody>
                        <a:bodyPr/>
                        <a:lstStyle/>
                        <a:p>
                          <a:endParaRPr lang="en-US"/>
                        </a:p>
                      </a:txBody>
                      <a:tcPr>
                        <a:blipFill>
                          <a:blip r:embed="rId2"/>
                          <a:stretch>
                            <a:fillRect t="-767143" r="-418261" b="-28571"/>
                          </a:stretch>
                        </a:blipFill>
                      </a:tcPr>
                    </a:tc>
                    <a:tc>
                      <a:txBody>
                        <a:bodyPr/>
                        <a:lstStyle/>
                        <a:p>
                          <a:endParaRPr lang="en-US"/>
                        </a:p>
                      </a:txBody>
                      <a:tcPr>
                        <a:blipFill>
                          <a:blip r:embed="rId2"/>
                          <a:stretch>
                            <a:fillRect l="-174242" t="-767143" r="-628788" b="-28571"/>
                          </a:stretch>
                        </a:blipFill>
                      </a:tcPr>
                    </a:tc>
                    <a:tc>
                      <a:txBody>
                        <a:bodyPr/>
                        <a:lstStyle/>
                        <a:p>
                          <a:r>
                            <a:rPr lang="en-US" sz="2200" dirty="0"/>
                            <a:t>(Non-negativity)</a:t>
                          </a:r>
                        </a:p>
                      </a:txBody>
                      <a:tcPr/>
                    </a:tc>
                    <a:extLst>
                      <a:ext uri="{0D108BD9-81ED-4DB2-BD59-A6C34878D82A}">
                        <a16:rowId xmlns:a16="http://schemas.microsoft.com/office/drawing/2014/main" val="1124689325"/>
                      </a:ext>
                    </a:extLst>
                  </a:tr>
                </a:tbl>
              </a:graphicData>
            </a:graphic>
          </p:graphicFrame>
        </mc:Fallback>
      </mc:AlternateContent>
    </p:spTree>
    <p:extLst>
      <p:ext uri="{BB962C8B-B14F-4D97-AF65-F5344CB8AC3E}">
        <p14:creationId xmlns:p14="http://schemas.microsoft.com/office/powerpoint/2010/main" val="29369528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LP Modeling Examples: Currency Exchange</a:t>
            </a:r>
          </a:p>
        </p:txBody>
      </p:sp>
      <p:sp>
        <p:nvSpPr>
          <p:cNvPr id="6" name="Content Placeholder 5">
            <a:extLst>
              <a:ext uri="{FF2B5EF4-FFF2-40B4-BE49-F238E27FC236}">
                <a16:creationId xmlns:a16="http://schemas.microsoft.com/office/drawing/2014/main" id="{FB330D30-3793-4763-A5BB-F1D943684CD7}"/>
              </a:ext>
            </a:extLst>
          </p:cNvPr>
          <p:cNvSpPr>
            <a:spLocks noGrp="1"/>
          </p:cNvSpPr>
          <p:nvPr>
            <p:ph idx="1"/>
          </p:nvPr>
        </p:nvSpPr>
        <p:spPr/>
        <p:txBody>
          <a:bodyPr>
            <a:normAutofit/>
          </a:bodyPr>
          <a:lstStyle/>
          <a:p>
            <a:pPr marL="0" indent="0">
              <a:buNone/>
            </a:pPr>
            <a:r>
              <a:rPr lang="en-US" sz="2400" dirty="0"/>
              <a:t>An international company has operations in USA, United Kingdom, China, Germany and Japan and they have daily varying needs and surpluses for cash in these countries currencies. Accordingly, the company needs to do large scale currency exchanges and cash transfers very frequently. The decision of which surplus currencies to exchange for which demanded currencies, is a frequently faced decision that needs a fast answer and in aggregate, considerably effects overall profitability.</a:t>
            </a:r>
          </a:p>
          <a:p>
            <a:pPr marL="0" indent="0">
              <a:buNone/>
            </a:pPr>
            <a:r>
              <a:rPr lang="en-US" sz="2400" dirty="0"/>
              <a:t>On a specific day, Chinese operations have 8 Million Yuan and Japanese operations have 1280 million yen urgent cash need; while, USA operations have $2 million, British operations have £5 million and German operation have €3 million cash surplus.</a:t>
            </a:r>
          </a:p>
          <a:p>
            <a:endParaRPr lang="en-US" dirty="0"/>
          </a:p>
        </p:txBody>
      </p:sp>
      <p:sp>
        <p:nvSpPr>
          <p:cNvPr id="3" name="Footer Placeholder 2">
            <a:extLst>
              <a:ext uri="{FF2B5EF4-FFF2-40B4-BE49-F238E27FC236}">
                <a16:creationId xmlns:a16="http://schemas.microsoft.com/office/drawing/2014/main" id="{5643BFD1-F8F1-47AA-B8D7-E167CA9C021A}"/>
              </a:ext>
            </a:extLst>
          </p:cNvPr>
          <p:cNvSpPr>
            <a:spLocks noGrp="1"/>
          </p:cNvSpPr>
          <p:nvPr>
            <p:ph type="ftr" sz="quarter" idx="11"/>
          </p:nvPr>
        </p:nvSpPr>
        <p:spPr/>
        <p:txBody>
          <a:bodyPr/>
          <a:lstStyle/>
          <a:p>
            <a:pPr>
              <a:defRPr/>
            </a:pPr>
            <a:r>
              <a:rPr lang="en-US" altLang="en-US"/>
              <a:t>ITU - Business Analytics - Mehmet Yasin Ulukuş</a:t>
            </a:r>
            <a:endParaRPr lang="en-US" altLang="en-US" i="0"/>
          </a:p>
        </p:txBody>
      </p:sp>
    </p:spTree>
    <p:extLst>
      <p:ext uri="{BB962C8B-B14F-4D97-AF65-F5344CB8AC3E}">
        <p14:creationId xmlns:p14="http://schemas.microsoft.com/office/powerpoint/2010/main" val="27866442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LP Modeling Examples: Currency Exchange</a:t>
            </a:r>
          </a:p>
        </p:txBody>
      </p:sp>
      <p:sp>
        <p:nvSpPr>
          <p:cNvPr id="6" name="Content Placeholder 5">
            <a:extLst>
              <a:ext uri="{FF2B5EF4-FFF2-40B4-BE49-F238E27FC236}">
                <a16:creationId xmlns:a16="http://schemas.microsoft.com/office/drawing/2014/main" id="{FB330D30-3793-4763-A5BB-F1D943684CD7}"/>
              </a:ext>
            </a:extLst>
          </p:cNvPr>
          <p:cNvSpPr>
            <a:spLocks noGrp="1"/>
          </p:cNvSpPr>
          <p:nvPr>
            <p:ph idx="1"/>
          </p:nvPr>
        </p:nvSpPr>
        <p:spPr/>
        <p:txBody>
          <a:bodyPr>
            <a:noAutofit/>
          </a:bodyPr>
          <a:lstStyle/>
          <a:p>
            <a:pPr marL="0" indent="0">
              <a:buNone/>
            </a:pPr>
            <a:r>
              <a:rPr lang="en-US" sz="2200" dirty="0"/>
              <a:t>Exchange rates faced by the company  that morning between all currency pairs are as follows. </a:t>
            </a:r>
          </a:p>
          <a:p>
            <a:pPr marL="0" indent="0">
              <a:buNone/>
            </a:pPr>
            <a:endParaRPr lang="en-US" sz="2200" dirty="0"/>
          </a:p>
          <a:p>
            <a:pPr marL="0" indent="0">
              <a:buNone/>
            </a:pPr>
            <a:endParaRPr lang="en-US" sz="2200" dirty="0"/>
          </a:p>
          <a:p>
            <a:pPr marL="0" indent="0">
              <a:buNone/>
            </a:pPr>
            <a:endParaRPr lang="en-US" sz="2200" dirty="0"/>
          </a:p>
          <a:p>
            <a:pPr marL="0" indent="0">
              <a:buNone/>
            </a:pPr>
            <a:endParaRPr lang="en-US" sz="2200" dirty="0"/>
          </a:p>
          <a:p>
            <a:pPr marL="0" indent="0">
              <a:buNone/>
            </a:pPr>
            <a:r>
              <a:rPr lang="en-US" sz="2200" dirty="0"/>
              <a:t>According to the above table, it is possible to buy £0.69980 with $1; while £1 buys $1.425, i.e., there is a natural commission and buy/sell loss between buying and selling prices (while $1 buys £0.69980, £0.69980 buys only 0.69980x1.425 = $0.99722). The levels of these commissions and price differentials, change from one currency pair to another.</a:t>
            </a:r>
          </a:p>
          <a:p>
            <a:pPr marL="0" indent="0">
              <a:buNone/>
            </a:pPr>
            <a:r>
              <a:rPr lang="en-US" sz="2200" dirty="0"/>
              <a:t>The problem of which currency need to satisfy by which currency surpluses, and which currency transactions to undertake, to maximize total remaining assets (or equivalently minimize overall exchange commissions) can be modeled and solved through LP.</a:t>
            </a:r>
          </a:p>
        </p:txBody>
      </p:sp>
      <p:sp>
        <p:nvSpPr>
          <p:cNvPr id="3" name="Footer Placeholder 2">
            <a:extLst>
              <a:ext uri="{FF2B5EF4-FFF2-40B4-BE49-F238E27FC236}">
                <a16:creationId xmlns:a16="http://schemas.microsoft.com/office/drawing/2014/main" id="{5643BFD1-F8F1-47AA-B8D7-E167CA9C021A}"/>
              </a:ext>
            </a:extLst>
          </p:cNvPr>
          <p:cNvSpPr>
            <a:spLocks noGrp="1"/>
          </p:cNvSpPr>
          <p:nvPr>
            <p:ph type="ftr" sz="quarter" idx="11"/>
          </p:nvPr>
        </p:nvSpPr>
        <p:spPr/>
        <p:txBody>
          <a:bodyPr/>
          <a:lstStyle/>
          <a:p>
            <a:pPr>
              <a:defRPr/>
            </a:pPr>
            <a:r>
              <a:rPr lang="en-US" altLang="en-US"/>
              <a:t>ITU - Business Analytics - Mehmet Yasin Ulukuş</a:t>
            </a:r>
            <a:endParaRPr lang="en-US" altLang="en-US" i="0"/>
          </a:p>
        </p:txBody>
      </p:sp>
      <p:graphicFrame>
        <p:nvGraphicFramePr>
          <p:cNvPr id="5" name="Table 4">
            <a:extLst>
              <a:ext uri="{FF2B5EF4-FFF2-40B4-BE49-F238E27FC236}">
                <a16:creationId xmlns:a16="http://schemas.microsoft.com/office/drawing/2014/main" id="{00260DD3-2509-45E9-92E8-29C9A6894E9B}"/>
              </a:ext>
            </a:extLst>
          </p:cNvPr>
          <p:cNvGraphicFramePr>
            <a:graphicFrameLocks noGrp="1"/>
          </p:cNvGraphicFramePr>
          <p:nvPr>
            <p:extLst/>
          </p:nvPr>
        </p:nvGraphicFramePr>
        <p:xfrm>
          <a:off x="3436775" y="1944701"/>
          <a:ext cx="5169162" cy="1828800"/>
        </p:xfrm>
        <a:graphic>
          <a:graphicData uri="http://schemas.openxmlformats.org/drawingml/2006/table">
            <a:tbl>
              <a:tblPr firstRow="1" bandRow="1">
                <a:tableStyleId>{5940675A-B579-460E-94D1-54222C63F5DA}</a:tableStyleId>
              </a:tblPr>
              <a:tblGrid>
                <a:gridCol w="861527">
                  <a:extLst>
                    <a:ext uri="{9D8B030D-6E8A-4147-A177-3AD203B41FA5}">
                      <a16:colId xmlns:a16="http://schemas.microsoft.com/office/drawing/2014/main" val="1676571520"/>
                    </a:ext>
                  </a:extLst>
                </a:gridCol>
                <a:gridCol w="861527">
                  <a:extLst>
                    <a:ext uri="{9D8B030D-6E8A-4147-A177-3AD203B41FA5}">
                      <a16:colId xmlns:a16="http://schemas.microsoft.com/office/drawing/2014/main" val="1166711545"/>
                    </a:ext>
                  </a:extLst>
                </a:gridCol>
                <a:gridCol w="861527">
                  <a:extLst>
                    <a:ext uri="{9D8B030D-6E8A-4147-A177-3AD203B41FA5}">
                      <a16:colId xmlns:a16="http://schemas.microsoft.com/office/drawing/2014/main" val="1460881603"/>
                    </a:ext>
                  </a:extLst>
                </a:gridCol>
                <a:gridCol w="861527">
                  <a:extLst>
                    <a:ext uri="{9D8B030D-6E8A-4147-A177-3AD203B41FA5}">
                      <a16:colId xmlns:a16="http://schemas.microsoft.com/office/drawing/2014/main" val="872658615"/>
                    </a:ext>
                  </a:extLst>
                </a:gridCol>
                <a:gridCol w="861527">
                  <a:extLst>
                    <a:ext uri="{9D8B030D-6E8A-4147-A177-3AD203B41FA5}">
                      <a16:colId xmlns:a16="http://schemas.microsoft.com/office/drawing/2014/main" val="295637140"/>
                    </a:ext>
                  </a:extLst>
                </a:gridCol>
                <a:gridCol w="861527">
                  <a:extLst>
                    <a:ext uri="{9D8B030D-6E8A-4147-A177-3AD203B41FA5}">
                      <a16:colId xmlns:a16="http://schemas.microsoft.com/office/drawing/2014/main" val="2671291501"/>
                    </a:ext>
                  </a:extLst>
                </a:gridCol>
              </a:tblGrid>
              <a:tr h="264489">
                <a:tc>
                  <a:txBody>
                    <a:bodyPr/>
                    <a:lstStyle/>
                    <a:p>
                      <a:endParaRPr lang="en-US" sz="1400" dirty="0"/>
                    </a:p>
                  </a:txBody>
                  <a:tcPr/>
                </a:tc>
                <a:tc>
                  <a:txBody>
                    <a:bodyPr/>
                    <a:lstStyle/>
                    <a:p>
                      <a:r>
                        <a:rPr lang="en-US" sz="1400" dirty="0"/>
                        <a:t>1.Dollar</a:t>
                      </a:r>
                    </a:p>
                  </a:txBody>
                  <a:tcPr/>
                </a:tc>
                <a:tc>
                  <a:txBody>
                    <a:bodyPr/>
                    <a:lstStyle/>
                    <a:p>
                      <a:r>
                        <a:rPr lang="en-US" sz="1400" dirty="0"/>
                        <a:t>2.Pound</a:t>
                      </a:r>
                    </a:p>
                  </a:txBody>
                  <a:tcPr/>
                </a:tc>
                <a:tc>
                  <a:txBody>
                    <a:bodyPr/>
                    <a:lstStyle/>
                    <a:p>
                      <a:r>
                        <a:rPr lang="en-US" sz="1400" dirty="0"/>
                        <a:t>3.Yuan</a:t>
                      </a:r>
                    </a:p>
                  </a:txBody>
                  <a:tcPr/>
                </a:tc>
                <a:tc>
                  <a:txBody>
                    <a:bodyPr/>
                    <a:lstStyle/>
                    <a:p>
                      <a:r>
                        <a:rPr lang="en-US" sz="1400" dirty="0"/>
                        <a:t>4.Euro</a:t>
                      </a:r>
                    </a:p>
                  </a:txBody>
                  <a:tcPr/>
                </a:tc>
                <a:tc>
                  <a:txBody>
                    <a:bodyPr/>
                    <a:lstStyle/>
                    <a:p>
                      <a:r>
                        <a:rPr lang="en-US" sz="1400" dirty="0"/>
                        <a:t>5.Yen</a:t>
                      </a:r>
                    </a:p>
                  </a:txBody>
                  <a:tcPr/>
                </a:tc>
                <a:extLst>
                  <a:ext uri="{0D108BD9-81ED-4DB2-BD59-A6C34878D82A}">
                    <a16:rowId xmlns:a16="http://schemas.microsoft.com/office/drawing/2014/main" val="867642397"/>
                  </a:ext>
                </a:extLst>
              </a:tr>
              <a:tr h="264489">
                <a:tc>
                  <a:txBody>
                    <a:bodyPr/>
                    <a:lstStyle/>
                    <a:p>
                      <a:r>
                        <a:rPr lang="en-US" sz="1400" dirty="0"/>
                        <a:t>1.Dollar</a:t>
                      </a:r>
                    </a:p>
                  </a:txBody>
                  <a:tcPr/>
                </a:tc>
                <a:tc>
                  <a:txBody>
                    <a:bodyPr/>
                    <a:lstStyle/>
                    <a:p>
                      <a:r>
                        <a:rPr lang="en-US" sz="1400" dirty="0"/>
                        <a:t>1.00000</a:t>
                      </a:r>
                    </a:p>
                  </a:txBody>
                  <a:tcPr/>
                </a:tc>
                <a:tc>
                  <a:txBody>
                    <a:bodyPr/>
                    <a:lstStyle/>
                    <a:p>
                      <a:r>
                        <a:rPr lang="en-US" sz="1400" dirty="0"/>
                        <a:t>0.69980</a:t>
                      </a:r>
                    </a:p>
                  </a:txBody>
                  <a:tcPr/>
                </a:tc>
                <a:tc>
                  <a:txBody>
                    <a:bodyPr/>
                    <a:lstStyle/>
                    <a:p>
                      <a:r>
                        <a:rPr lang="en-US" sz="1400" dirty="0"/>
                        <a:t>8.07800</a:t>
                      </a:r>
                    </a:p>
                  </a:txBody>
                  <a:tcPr/>
                </a:tc>
                <a:tc>
                  <a:txBody>
                    <a:bodyPr/>
                    <a:lstStyle/>
                    <a:p>
                      <a:r>
                        <a:rPr lang="en-US" sz="1400" dirty="0"/>
                        <a:t>2.62700</a:t>
                      </a:r>
                    </a:p>
                  </a:txBody>
                  <a:tcPr/>
                </a:tc>
                <a:tc>
                  <a:txBody>
                    <a:bodyPr/>
                    <a:lstStyle/>
                    <a:p>
                      <a:r>
                        <a:rPr lang="en-US" sz="1400" dirty="0"/>
                        <a:t>224.700</a:t>
                      </a:r>
                    </a:p>
                  </a:txBody>
                  <a:tcPr/>
                </a:tc>
                <a:extLst>
                  <a:ext uri="{0D108BD9-81ED-4DB2-BD59-A6C34878D82A}">
                    <a16:rowId xmlns:a16="http://schemas.microsoft.com/office/drawing/2014/main" val="1052278988"/>
                  </a:ext>
                </a:extLst>
              </a:tr>
              <a:tr h="264489">
                <a:tc>
                  <a:txBody>
                    <a:bodyPr/>
                    <a:lstStyle/>
                    <a:p>
                      <a:r>
                        <a:rPr lang="en-US" sz="1400" dirty="0"/>
                        <a:t>2.Pound</a:t>
                      </a:r>
                    </a:p>
                  </a:txBody>
                  <a:tcPr/>
                </a:tc>
                <a:tc>
                  <a:txBody>
                    <a:bodyPr/>
                    <a:lstStyle/>
                    <a:p>
                      <a:r>
                        <a:rPr lang="en-US" sz="1400" dirty="0"/>
                        <a:t>1.42500</a:t>
                      </a:r>
                    </a:p>
                  </a:txBody>
                  <a:tcPr/>
                </a:tc>
                <a:tc>
                  <a:txBody>
                    <a:bodyPr/>
                    <a:lstStyle/>
                    <a:p>
                      <a:r>
                        <a:rPr lang="en-US" sz="1400" dirty="0"/>
                        <a:t>1.00000</a:t>
                      </a:r>
                    </a:p>
                  </a:txBody>
                  <a:tcPr/>
                </a:tc>
                <a:tc>
                  <a:txBody>
                    <a:bodyPr/>
                    <a:lstStyle/>
                    <a:p>
                      <a:r>
                        <a:rPr lang="en-US" sz="1400" dirty="0"/>
                        <a:t>11.55000</a:t>
                      </a:r>
                    </a:p>
                  </a:txBody>
                  <a:tcPr/>
                </a:tc>
                <a:tc>
                  <a:txBody>
                    <a:bodyPr/>
                    <a:lstStyle/>
                    <a:p>
                      <a:r>
                        <a:rPr lang="en-US" sz="1400" dirty="0"/>
                        <a:t>3.75400</a:t>
                      </a:r>
                    </a:p>
                  </a:txBody>
                  <a:tcPr/>
                </a:tc>
                <a:tc>
                  <a:txBody>
                    <a:bodyPr/>
                    <a:lstStyle/>
                    <a:p>
                      <a:r>
                        <a:rPr lang="en-US" sz="1400" dirty="0"/>
                        <a:t>320.700</a:t>
                      </a:r>
                    </a:p>
                  </a:txBody>
                  <a:tcPr/>
                </a:tc>
                <a:extLst>
                  <a:ext uri="{0D108BD9-81ED-4DB2-BD59-A6C34878D82A}">
                    <a16:rowId xmlns:a16="http://schemas.microsoft.com/office/drawing/2014/main" val="2781427050"/>
                  </a:ext>
                </a:extLst>
              </a:tr>
              <a:tr h="264489">
                <a:tc>
                  <a:txBody>
                    <a:bodyPr/>
                    <a:lstStyle/>
                    <a:p>
                      <a:r>
                        <a:rPr lang="en-US" sz="1400" dirty="0"/>
                        <a:t>3.Yuan</a:t>
                      </a:r>
                    </a:p>
                  </a:txBody>
                  <a:tcPr/>
                </a:tc>
                <a:tc>
                  <a:txBody>
                    <a:bodyPr/>
                    <a:lstStyle/>
                    <a:p>
                      <a:r>
                        <a:rPr lang="en-US" sz="1400" dirty="0"/>
                        <a:t>0.12340</a:t>
                      </a:r>
                    </a:p>
                  </a:txBody>
                  <a:tcPr/>
                </a:tc>
                <a:tc>
                  <a:txBody>
                    <a:bodyPr/>
                    <a:lstStyle/>
                    <a:p>
                      <a:r>
                        <a:rPr lang="en-US" sz="1400" dirty="0"/>
                        <a:t>0.08647</a:t>
                      </a:r>
                    </a:p>
                  </a:txBody>
                  <a:tcPr/>
                </a:tc>
                <a:tc>
                  <a:txBody>
                    <a:bodyPr/>
                    <a:lstStyle/>
                    <a:p>
                      <a:r>
                        <a:rPr lang="en-US" sz="1400" dirty="0"/>
                        <a:t>1.00000</a:t>
                      </a:r>
                    </a:p>
                  </a:txBody>
                  <a:tcPr/>
                </a:tc>
                <a:tc>
                  <a:txBody>
                    <a:bodyPr/>
                    <a:lstStyle/>
                    <a:p>
                      <a:r>
                        <a:rPr lang="en-US" sz="1400" dirty="0"/>
                        <a:t>0.32500</a:t>
                      </a:r>
                    </a:p>
                  </a:txBody>
                  <a:tcPr/>
                </a:tc>
                <a:tc>
                  <a:txBody>
                    <a:bodyPr/>
                    <a:lstStyle/>
                    <a:p>
                      <a:r>
                        <a:rPr lang="en-US" sz="1400" dirty="0"/>
                        <a:t>27.760</a:t>
                      </a:r>
                    </a:p>
                  </a:txBody>
                  <a:tcPr/>
                </a:tc>
                <a:extLst>
                  <a:ext uri="{0D108BD9-81ED-4DB2-BD59-A6C34878D82A}">
                    <a16:rowId xmlns:a16="http://schemas.microsoft.com/office/drawing/2014/main" val="3146591141"/>
                  </a:ext>
                </a:extLst>
              </a:tr>
              <a:tr h="264489">
                <a:tc>
                  <a:txBody>
                    <a:bodyPr/>
                    <a:lstStyle/>
                    <a:p>
                      <a:r>
                        <a:rPr lang="en-US" sz="1400" dirty="0"/>
                        <a:t>4.Euro</a:t>
                      </a:r>
                    </a:p>
                  </a:txBody>
                  <a:tcPr/>
                </a:tc>
                <a:tc>
                  <a:txBody>
                    <a:bodyPr/>
                    <a:lstStyle/>
                    <a:p>
                      <a:r>
                        <a:rPr lang="en-US" sz="1400" dirty="0"/>
                        <a:t>0.37930</a:t>
                      </a:r>
                    </a:p>
                  </a:txBody>
                  <a:tcPr/>
                </a:tc>
                <a:tc>
                  <a:txBody>
                    <a:bodyPr/>
                    <a:lstStyle/>
                    <a:p>
                      <a:r>
                        <a:rPr lang="en-US" sz="1400" dirty="0"/>
                        <a:t>0.22620</a:t>
                      </a:r>
                    </a:p>
                  </a:txBody>
                  <a:tcPr/>
                </a:tc>
                <a:tc>
                  <a:txBody>
                    <a:bodyPr/>
                    <a:lstStyle/>
                    <a:p>
                      <a:r>
                        <a:rPr lang="en-US" sz="1400" dirty="0"/>
                        <a:t>3.07300</a:t>
                      </a:r>
                    </a:p>
                  </a:txBody>
                  <a:tcPr/>
                </a:tc>
                <a:tc>
                  <a:txBody>
                    <a:bodyPr/>
                    <a:lstStyle/>
                    <a:p>
                      <a:r>
                        <a:rPr lang="en-US" sz="1400" dirty="0"/>
                        <a:t>1.00000</a:t>
                      </a:r>
                    </a:p>
                  </a:txBody>
                  <a:tcPr/>
                </a:tc>
                <a:tc>
                  <a:txBody>
                    <a:bodyPr/>
                    <a:lstStyle/>
                    <a:p>
                      <a:r>
                        <a:rPr lang="en-US" sz="1400" dirty="0"/>
                        <a:t>85.510</a:t>
                      </a:r>
                    </a:p>
                  </a:txBody>
                  <a:tcPr/>
                </a:tc>
                <a:extLst>
                  <a:ext uri="{0D108BD9-81ED-4DB2-BD59-A6C34878D82A}">
                    <a16:rowId xmlns:a16="http://schemas.microsoft.com/office/drawing/2014/main" val="3917879771"/>
                  </a:ext>
                </a:extLst>
              </a:tr>
              <a:tr h="264489">
                <a:tc>
                  <a:txBody>
                    <a:bodyPr/>
                    <a:lstStyle/>
                    <a:p>
                      <a:r>
                        <a:rPr lang="en-US" sz="1400" dirty="0"/>
                        <a:t>5.Yen</a:t>
                      </a:r>
                    </a:p>
                  </a:txBody>
                  <a:tcPr/>
                </a:tc>
                <a:tc>
                  <a:txBody>
                    <a:bodyPr/>
                    <a:lstStyle/>
                    <a:p>
                      <a:r>
                        <a:rPr lang="en-US" sz="1400" dirty="0"/>
                        <a:t>0.00443</a:t>
                      </a:r>
                    </a:p>
                  </a:txBody>
                  <a:tcPr/>
                </a:tc>
                <a:tc>
                  <a:txBody>
                    <a:bodyPr/>
                    <a:lstStyle/>
                    <a:p>
                      <a:r>
                        <a:rPr lang="en-US" sz="1400" dirty="0"/>
                        <a:t>0.00310</a:t>
                      </a:r>
                    </a:p>
                  </a:txBody>
                  <a:tcPr/>
                </a:tc>
                <a:tc>
                  <a:txBody>
                    <a:bodyPr/>
                    <a:lstStyle/>
                    <a:p>
                      <a:r>
                        <a:rPr lang="en-US" sz="1400" dirty="0"/>
                        <a:t>0.03586</a:t>
                      </a:r>
                    </a:p>
                  </a:txBody>
                  <a:tcPr/>
                </a:tc>
                <a:tc>
                  <a:txBody>
                    <a:bodyPr/>
                    <a:lstStyle/>
                    <a:p>
                      <a:r>
                        <a:rPr lang="en-US" sz="1400" dirty="0"/>
                        <a:t>0.01163</a:t>
                      </a:r>
                    </a:p>
                  </a:txBody>
                  <a:tcPr/>
                </a:tc>
                <a:tc>
                  <a:txBody>
                    <a:bodyPr/>
                    <a:lstStyle/>
                    <a:p>
                      <a:r>
                        <a:rPr lang="en-US" sz="1400" dirty="0"/>
                        <a:t>1.00000</a:t>
                      </a:r>
                    </a:p>
                  </a:txBody>
                  <a:tcPr/>
                </a:tc>
                <a:extLst>
                  <a:ext uri="{0D108BD9-81ED-4DB2-BD59-A6C34878D82A}">
                    <a16:rowId xmlns:a16="http://schemas.microsoft.com/office/drawing/2014/main" val="684200903"/>
                  </a:ext>
                </a:extLst>
              </a:tr>
            </a:tbl>
          </a:graphicData>
        </a:graphic>
      </p:graphicFrame>
    </p:spTree>
    <p:extLst>
      <p:ext uri="{BB962C8B-B14F-4D97-AF65-F5344CB8AC3E}">
        <p14:creationId xmlns:p14="http://schemas.microsoft.com/office/powerpoint/2010/main" val="275880750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LP Modeling Examples: Currency Exchange</a:t>
            </a:r>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C5AB1AEC-0338-465E-AE3C-AE76750D7215}"/>
                  </a:ext>
                </a:extLst>
              </p:cNvPr>
              <p:cNvSpPr>
                <a:spLocks noGrp="1"/>
              </p:cNvSpPr>
              <p:nvPr>
                <p:ph idx="1"/>
              </p:nvPr>
            </p:nvSpPr>
            <p:spPr/>
            <p:txBody>
              <a:bodyPr/>
              <a:lstStyle/>
              <a:p>
                <a:r>
                  <a:rPr lang="en-US" sz="2000" dirty="0"/>
                  <a:t>Decision variables:</a:t>
                </a:r>
              </a:p>
              <a:p>
                <a:endParaRPr lang="en-US" sz="2000" dirty="0"/>
              </a:p>
              <a:p>
                <a:endParaRPr lang="en-US" sz="2000" dirty="0"/>
              </a:p>
              <a:p>
                <a:r>
                  <a:rPr lang="en-US" sz="2000" dirty="0"/>
                  <a:t>Objective function:</a:t>
                </a:r>
              </a:p>
              <a:p>
                <a:pPr marL="0" indent="0" algn="ctr">
                  <a:buNone/>
                </a:pPr>
                <a:r>
                  <a:rPr lang="en-US" sz="2000" dirty="0"/>
                  <a:t>Max </a:t>
                </a:r>
                <a14:m>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𝑥</m:t>
                        </m:r>
                      </m:e>
                      <m:sub>
                        <m:r>
                          <a:rPr lang="en-US" sz="2000" b="0" i="1" smtClean="0">
                            <a:latin typeface="Cambria Math" panose="02040503050406030204" pitchFamily="18" charset="0"/>
                          </a:rPr>
                          <m:t>11</m:t>
                        </m:r>
                      </m:sub>
                    </m:sSub>
                    <m:r>
                      <a:rPr lang="en-US" sz="2000" b="0" i="1" smtClean="0">
                        <a:latin typeface="Cambria Math" panose="02040503050406030204" pitchFamily="18" charset="0"/>
                      </a:rPr>
                      <m:t>+1.427</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𝑥</m:t>
                        </m:r>
                      </m:e>
                      <m:sub>
                        <m:r>
                          <a:rPr lang="en-US" sz="2000" b="0" i="1" smtClean="0">
                            <a:latin typeface="Cambria Math" panose="02040503050406030204" pitchFamily="18" charset="0"/>
                          </a:rPr>
                          <m:t>22</m:t>
                        </m:r>
                      </m:sub>
                    </m:sSub>
                    <m:r>
                      <a:rPr lang="en-US" sz="2000" b="0" i="1" smtClean="0">
                        <a:latin typeface="Cambria Math" panose="02040503050406030204" pitchFamily="18" charset="0"/>
                      </a:rPr>
                      <m:t>+0.1236</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𝑥</m:t>
                        </m:r>
                      </m:e>
                      <m:sub>
                        <m:r>
                          <a:rPr lang="en-US" sz="2000" b="0" i="1" smtClean="0">
                            <a:latin typeface="Cambria Math" panose="02040503050406030204" pitchFamily="18" charset="0"/>
                          </a:rPr>
                          <m:t>33</m:t>
                        </m:r>
                      </m:sub>
                    </m:sSub>
                    <m:r>
                      <a:rPr lang="en-US" sz="2000" b="0" i="1" smtClean="0">
                        <a:latin typeface="Cambria Math" panose="02040503050406030204" pitchFamily="18" charset="0"/>
                      </a:rPr>
                      <m:t>+0.37998</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𝑥</m:t>
                        </m:r>
                      </m:e>
                      <m:sub>
                        <m:r>
                          <a:rPr lang="en-US" sz="2000" b="0" i="1" smtClean="0">
                            <a:latin typeface="Cambria Math" panose="02040503050406030204" pitchFamily="18" charset="0"/>
                          </a:rPr>
                          <m:t>44</m:t>
                        </m:r>
                      </m:sub>
                    </m:sSub>
                    <m:r>
                      <a:rPr lang="en-US" sz="2000" b="0" i="1" smtClean="0">
                        <a:latin typeface="Cambria Math" panose="02040503050406030204" pitchFamily="18" charset="0"/>
                      </a:rPr>
                      <m:t>+0.00444</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𝑥</m:t>
                        </m:r>
                      </m:e>
                      <m:sub>
                        <m:r>
                          <a:rPr lang="en-US" sz="2000" b="0" i="1" smtClean="0">
                            <a:latin typeface="Cambria Math" panose="02040503050406030204" pitchFamily="18" charset="0"/>
                          </a:rPr>
                          <m:t>55</m:t>
                        </m:r>
                      </m:sub>
                    </m:sSub>
                  </m:oMath>
                </a14:m>
                <a:endParaRPr lang="en-US" sz="2000" dirty="0"/>
              </a:p>
              <a:p>
                <a:r>
                  <a:rPr lang="en-US" sz="2000" dirty="0"/>
                  <a:t>Constraints:</a:t>
                </a:r>
              </a:p>
              <a:p>
                <a:pPr marL="0" indent="0">
                  <a:buNone/>
                </a:pPr>
                <a:endParaRPr lang="en-US" sz="2200" dirty="0"/>
              </a:p>
              <a:p>
                <a:pPr marL="0" indent="0">
                  <a:buNone/>
                </a:pPr>
                <a:endParaRPr lang="en-US" dirty="0"/>
              </a:p>
            </p:txBody>
          </p:sp>
        </mc:Choice>
        <mc:Fallback xmlns="">
          <p:sp>
            <p:nvSpPr>
              <p:cNvPr id="4" name="Content Placeholder 3">
                <a:extLst>
                  <a:ext uri="{FF2B5EF4-FFF2-40B4-BE49-F238E27FC236}">
                    <a16:creationId xmlns:a16="http://schemas.microsoft.com/office/drawing/2014/main" id="{C5AB1AEC-0338-465E-AE3C-AE76750D7215}"/>
                  </a:ext>
                </a:extLst>
              </p:cNvPr>
              <p:cNvSpPr>
                <a:spLocks noGrp="1" noRot="1" noChangeAspect="1" noMove="1" noResize="1" noEditPoints="1" noAdjustHandles="1" noChangeArrowheads="1" noChangeShapeType="1" noTextEdit="1"/>
              </p:cNvSpPr>
              <p:nvPr>
                <p:ph idx="1"/>
              </p:nvPr>
            </p:nvSpPr>
            <p:spPr>
              <a:blipFill>
                <a:blip r:embed="rId2"/>
                <a:stretch>
                  <a:fillRect l="-522" t="-1363"/>
                </a:stretch>
              </a:blipFill>
            </p:spPr>
            <p:txBody>
              <a:bodyPr/>
              <a:lstStyle/>
              <a:p>
                <a:r>
                  <a:rPr lang="en-US">
                    <a:noFill/>
                  </a:rPr>
                  <a:t> </a:t>
                </a:r>
              </a:p>
            </p:txBody>
          </p:sp>
        </mc:Fallback>
      </mc:AlternateContent>
      <p:sp>
        <p:nvSpPr>
          <p:cNvPr id="3" name="Footer Placeholder 2">
            <a:extLst>
              <a:ext uri="{FF2B5EF4-FFF2-40B4-BE49-F238E27FC236}">
                <a16:creationId xmlns:a16="http://schemas.microsoft.com/office/drawing/2014/main" id="{5643BFD1-F8F1-47AA-B8D7-E167CA9C021A}"/>
              </a:ext>
            </a:extLst>
          </p:cNvPr>
          <p:cNvSpPr>
            <a:spLocks noGrp="1"/>
          </p:cNvSpPr>
          <p:nvPr>
            <p:ph type="ftr" sz="quarter" idx="11"/>
          </p:nvPr>
        </p:nvSpPr>
        <p:spPr/>
        <p:txBody>
          <a:bodyPr/>
          <a:lstStyle/>
          <a:p>
            <a:pPr>
              <a:defRPr/>
            </a:pPr>
            <a:r>
              <a:rPr lang="en-US" altLang="en-US"/>
              <a:t>ITU - Business Analytics - Mehmet Yasin Ulukuş</a:t>
            </a:r>
            <a:endParaRPr lang="en-US" altLang="en-US" i="0"/>
          </a:p>
        </p:txBody>
      </p:sp>
      <mc:AlternateContent xmlns:mc="http://schemas.openxmlformats.org/markup-compatibility/2006" xmlns:a14="http://schemas.microsoft.com/office/drawing/2010/main">
        <mc:Choice Requires="a14">
          <p:graphicFrame>
            <p:nvGraphicFramePr>
              <p:cNvPr id="5" name="Table 4">
                <a:extLst>
                  <a:ext uri="{FF2B5EF4-FFF2-40B4-BE49-F238E27FC236}">
                    <a16:creationId xmlns:a16="http://schemas.microsoft.com/office/drawing/2014/main" id="{E1F250D9-5D3A-4CA5-9CB4-E76199683834}"/>
                  </a:ext>
                </a:extLst>
              </p:cNvPr>
              <p:cNvGraphicFramePr>
                <a:graphicFrameLocks noGrp="1"/>
              </p:cNvGraphicFramePr>
              <p:nvPr>
                <p:extLst/>
              </p:nvPr>
            </p:nvGraphicFramePr>
            <p:xfrm>
              <a:off x="935394" y="1745631"/>
              <a:ext cx="10321212" cy="816928"/>
            </p:xfrm>
            <a:graphic>
              <a:graphicData uri="http://schemas.openxmlformats.org/drawingml/2006/table">
                <a:tbl>
                  <a:tblPr firstRow="1" bandRow="1">
                    <a:tableStyleId>{2D5ABB26-0587-4C30-8999-92F81FD0307C}</a:tableStyleId>
                  </a:tblPr>
                  <a:tblGrid>
                    <a:gridCol w="599133">
                      <a:extLst>
                        <a:ext uri="{9D8B030D-6E8A-4147-A177-3AD203B41FA5}">
                          <a16:colId xmlns:a16="http://schemas.microsoft.com/office/drawing/2014/main" val="2566931068"/>
                        </a:ext>
                      </a:extLst>
                    </a:gridCol>
                    <a:gridCol w="9722079">
                      <a:extLst>
                        <a:ext uri="{9D8B030D-6E8A-4147-A177-3AD203B41FA5}">
                          <a16:colId xmlns:a16="http://schemas.microsoft.com/office/drawing/2014/main" val="3137319715"/>
                        </a:ext>
                      </a:extLst>
                    </a:gridCol>
                  </a:tblGrid>
                  <a:tr h="370840">
                    <a:tc>
                      <a:txBody>
                        <a:bodyPr/>
                        <a:lstStyle/>
                        <a:p>
                          <a:pPr algn="r"/>
                          <a14:m>
                            <m:oMath xmlns:m="http://schemas.openxmlformats.org/officeDocument/2006/math">
                              <m:sSub>
                                <m:sSubPr>
                                  <m:ctrlPr>
                                    <a:rPr lang="en-US" sz="2000" i="1" smtClean="0">
                                      <a:latin typeface="Cambria Math" panose="02040503050406030204" pitchFamily="18" charset="0"/>
                                    </a:rPr>
                                  </m:ctrlPr>
                                </m:sSubPr>
                                <m:e>
                                  <m:r>
                                    <a:rPr lang="en-US" sz="2000" smtClean="0">
                                      <a:latin typeface="Cambria Math" panose="02040503050406030204" pitchFamily="18" charset="0"/>
                                    </a:rPr>
                                    <m:t>𝑥</m:t>
                                  </m:r>
                                </m:e>
                                <m:sub>
                                  <m:r>
                                    <a:rPr lang="en-US" sz="2000" smtClean="0">
                                      <a:latin typeface="Cambria Math" panose="02040503050406030204" pitchFamily="18" charset="0"/>
                                    </a:rPr>
                                    <m:t>𝑖𝑗</m:t>
                                  </m:r>
                                </m:sub>
                              </m:sSub>
                            </m:oMath>
                          </a14:m>
                          <a:r>
                            <a:rPr lang="en-US" sz="2000" dirty="0"/>
                            <a:t>:</a:t>
                          </a:r>
                        </a:p>
                      </a:txBody>
                      <a:tcPr/>
                    </a:tc>
                    <a:tc>
                      <a:txBody>
                        <a:bodyPr/>
                        <a:lstStyle/>
                        <a:p>
                          <a:pPr algn="l"/>
                          <a:r>
                            <a:rPr lang="en-US" sz="2000" dirty="0"/>
                            <a:t>Amount to be sold from currency </a:t>
                          </a:r>
                          <a14:m>
                            <m:oMath xmlns:m="http://schemas.openxmlformats.org/officeDocument/2006/math">
                              <m:r>
                                <a:rPr lang="en-US" sz="2000" smtClean="0">
                                  <a:latin typeface="Cambria Math" panose="02040503050406030204" pitchFamily="18" charset="0"/>
                                </a:rPr>
                                <m:t>𝑖</m:t>
                              </m:r>
                            </m:oMath>
                          </a14:m>
                          <a:r>
                            <a:rPr lang="en-US" sz="2000" dirty="0"/>
                            <a:t>, to buy</a:t>
                          </a:r>
                          <a:r>
                            <a:rPr lang="en-US" sz="2000" baseline="0" dirty="0"/>
                            <a:t> currency </a:t>
                          </a:r>
                          <a14:m>
                            <m:oMath xmlns:m="http://schemas.openxmlformats.org/officeDocument/2006/math">
                              <m:r>
                                <a:rPr lang="en-US" sz="2000" baseline="0" smtClean="0">
                                  <a:latin typeface="Cambria Math" panose="02040503050406030204" pitchFamily="18" charset="0"/>
                                </a:rPr>
                                <m:t>𝑗</m:t>
                              </m:r>
                            </m:oMath>
                          </a14:m>
                          <a:r>
                            <a:rPr lang="en-US" sz="2000" dirty="0"/>
                            <a:t>, where</a:t>
                          </a:r>
                          <a:r>
                            <a:rPr lang="en-US" sz="2000" baseline="0" dirty="0"/>
                            <a:t> </a:t>
                          </a:r>
                          <a14:m>
                            <m:oMath xmlns:m="http://schemas.openxmlformats.org/officeDocument/2006/math">
                              <m:r>
                                <a:rPr lang="en-US" sz="2000" baseline="0" smtClean="0">
                                  <a:latin typeface="Cambria Math" panose="02040503050406030204" pitchFamily="18" charset="0"/>
                                </a:rPr>
                                <m:t>𝑖</m:t>
                              </m:r>
                              <m:r>
                                <a:rPr lang="en-US" sz="2000" baseline="0" smtClean="0">
                                  <a:latin typeface="Cambria Math" panose="02040503050406030204" pitchFamily="18" charset="0"/>
                                </a:rPr>
                                <m:t>=1,…,5, </m:t>
                              </m:r>
                              <m:r>
                                <a:rPr lang="en-US" sz="2000" baseline="0" smtClean="0">
                                  <a:latin typeface="Cambria Math" panose="02040503050406030204" pitchFamily="18" charset="0"/>
                                </a:rPr>
                                <m:t>𝑗</m:t>
                              </m:r>
                              <m:r>
                                <a:rPr lang="en-US" sz="2000" baseline="0" smtClean="0">
                                  <a:latin typeface="Cambria Math" panose="02040503050406030204" pitchFamily="18" charset="0"/>
                                </a:rPr>
                                <m:t>=1,…,5, </m:t>
                              </m:r>
                              <m:r>
                                <a:rPr lang="en-US" sz="2000" baseline="0" smtClean="0">
                                  <a:latin typeface="Cambria Math" panose="02040503050406030204" pitchFamily="18" charset="0"/>
                                </a:rPr>
                                <m:t>𝑖</m:t>
                              </m:r>
                              <m:r>
                                <a:rPr lang="en-US" sz="2000" baseline="0" smtClean="0">
                                  <a:latin typeface="Cambria Math" panose="02040503050406030204" pitchFamily="18" charset="0"/>
                                </a:rPr>
                                <m:t>≠</m:t>
                              </m:r>
                              <m:r>
                                <a:rPr lang="en-US" sz="2000" baseline="0" smtClean="0">
                                  <a:latin typeface="Cambria Math" panose="02040503050406030204" pitchFamily="18" charset="0"/>
                                </a:rPr>
                                <m:t>𝑗</m:t>
                              </m:r>
                            </m:oMath>
                          </a14:m>
                          <a:endParaRPr lang="en-US" sz="2000" dirty="0"/>
                        </a:p>
                      </a:txBody>
                      <a:tcPr/>
                    </a:tc>
                    <a:extLst>
                      <a:ext uri="{0D108BD9-81ED-4DB2-BD59-A6C34878D82A}">
                        <a16:rowId xmlns:a16="http://schemas.microsoft.com/office/drawing/2014/main" val="2475884656"/>
                      </a:ext>
                    </a:extLst>
                  </a:tr>
                  <a:tr h="370840">
                    <a:tc>
                      <a:txBody>
                        <a:bodyPr/>
                        <a:lstStyle/>
                        <a:p>
                          <a:pPr algn="r"/>
                          <a14:m>
                            <m:oMath xmlns:m="http://schemas.openxmlformats.org/officeDocument/2006/math">
                              <m:sSub>
                                <m:sSubPr>
                                  <m:ctrlPr>
                                    <a:rPr lang="en-US" sz="2000" i="1" smtClean="0">
                                      <a:latin typeface="Cambria Math" panose="02040503050406030204" pitchFamily="18" charset="0"/>
                                    </a:rPr>
                                  </m:ctrlPr>
                                </m:sSubPr>
                                <m:e>
                                  <m:r>
                                    <a:rPr lang="en-US" sz="2000" smtClean="0">
                                      <a:latin typeface="Cambria Math" panose="02040503050406030204" pitchFamily="18" charset="0"/>
                                    </a:rPr>
                                    <m:t>𝑥</m:t>
                                  </m:r>
                                </m:e>
                                <m:sub>
                                  <m:r>
                                    <a:rPr lang="en-US" sz="2000" smtClean="0">
                                      <a:latin typeface="Cambria Math" panose="02040503050406030204" pitchFamily="18" charset="0"/>
                                    </a:rPr>
                                    <m:t>𝑖𝑖</m:t>
                                  </m:r>
                                </m:sub>
                              </m:sSub>
                            </m:oMath>
                          </a14:m>
                          <a:r>
                            <a:rPr lang="en-US" sz="2000" dirty="0"/>
                            <a:t>:</a:t>
                          </a:r>
                        </a:p>
                      </a:txBody>
                      <a:tcPr/>
                    </a:tc>
                    <a:tc>
                      <a:txBody>
                        <a:bodyPr/>
                        <a:lstStyle/>
                        <a:p>
                          <a:pPr algn="l"/>
                          <a:r>
                            <a:rPr lang="en-US" sz="2000" dirty="0"/>
                            <a:t>Cash position in currency </a:t>
                          </a:r>
                          <a14:m>
                            <m:oMath xmlns:m="http://schemas.openxmlformats.org/officeDocument/2006/math">
                              <m:r>
                                <a:rPr lang="en-US" sz="2000" smtClean="0">
                                  <a:latin typeface="Cambria Math" panose="02040503050406030204" pitchFamily="18" charset="0"/>
                                </a:rPr>
                                <m:t>𝑖</m:t>
                              </m:r>
                            </m:oMath>
                          </a14:m>
                          <a:r>
                            <a:rPr lang="en-US" sz="2000" dirty="0"/>
                            <a:t> at the end of the day,</a:t>
                          </a:r>
                          <a:r>
                            <a:rPr lang="en-US" sz="2000" baseline="0" dirty="0"/>
                            <a:t> </a:t>
                          </a:r>
                          <a14:m>
                            <m:oMath xmlns:m="http://schemas.openxmlformats.org/officeDocument/2006/math">
                              <m:r>
                                <a:rPr lang="en-US" sz="2000" baseline="0" smtClean="0">
                                  <a:latin typeface="Cambria Math" panose="02040503050406030204" pitchFamily="18" charset="0"/>
                                </a:rPr>
                                <m:t>𝑖</m:t>
                              </m:r>
                              <m:r>
                                <a:rPr lang="en-US" sz="2000" baseline="0" smtClean="0">
                                  <a:latin typeface="Cambria Math" panose="02040503050406030204" pitchFamily="18" charset="0"/>
                                </a:rPr>
                                <m:t>=1,…,5</m:t>
                              </m:r>
                            </m:oMath>
                          </a14:m>
                          <a:endParaRPr lang="en-US" sz="2000" dirty="0"/>
                        </a:p>
                      </a:txBody>
                      <a:tcPr/>
                    </a:tc>
                    <a:extLst>
                      <a:ext uri="{0D108BD9-81ED-4DB2-BD59-A6C34878D82A}">
                        <a16:rowId xmlns:a16="http://schemas.microsoft.com/office/drawing/2014/main" val="845099085"/>
                      </a:ext>
                    </a:extLst>
                  </a:tr>
                </a:tbl>
              </a:graphicData>
            </a:graphic>
          </p:graphicFrame>
        </mc:Choice>
        <mc:Fallback xmlns="">
          <p:graphicFrame>
            <p:nvGraphicFramePr>
              <p:cNvPr id="5" name="Table 4">
                <a:extLst>
                  <a:ext uri="{FF2B5EF4-FFF2-40B4-BE49-F238E27FC236}">
                    <a16:creationId xmlns:a16="http://schemas.microsoft.com/office/drawing/2014/main" id="{E1F250D9-5D3A-4CA5-9CB4-E76199683834}"/>
                  </a:ext>
                </a:extLst>
              </p:cNvPr>
              <p:cNvGraphicFramePr>
                <a:graphicFrameLocks noGrp="1"/>
              </p:cNvGraphicFramePr>
              <p:nvPr>
                <p:extLst>
                  <p:ext uri="{D42A27DB-BD31-4B8C-83A1-F6EECF244321}">
                    <p14:modId xmlns:p14="http://schemas.microsoft.com/office/powerpoint/2010/main" val="896304793"/>
                  </p:ext>
                </p:extLst>
              </p:nvPr>
            </p:nvGraphicFramePr>
            <p:xfrm>
              <a:off x="935394" y="1745631"/>
              <a:ext cx="10321212" cy="821246"/>
            </p:xfrm>
            <a:graphic>
              <a:graphicData uri="http://schemas.openxmlformats.org/drawingml/2006/table">
                <a:tbl>
                  <a:tblPr firstRow="1" bandRow="1">
                    <a:tableStyleId>{2D5ABB26-0587-4C30-8999-92F81FD0307C}</a:tableStyleId>
                  </a:tblPr>
                  <a:tblGrid>
                    <a:gridCol w="599133">
                      <a:extLst>
                        <a:ext uri="{9D8B030D-6E8A-4147-A177-3AD203B41FA5}">
                          <a16:colId xmlns:a16="http://schemas.microsoft.com/office/drawing/2014/main" val="2566931068"/>
                        </a:ext>
                      </a:extLst>
                    </a:gridCol>
                    <a:gridCol w="9722079">
                      <a:extLst>
                        <a:ext uri="{9D8B030D-6E8A-4147-A177-3AD203B41FA5}">
                          <a16:colId xmlns:a16="http://schemas.microsoft.com/office/drawing/2014/main" val="3137319715"/>
                        </a:ext>
                      </a:extLst>
                    </a:gridCol>
                  </a:tblGrid>
                  <a:tr h="425006">
                    <a:tc>
                      <a:txBody>
                        <a:bodyPr/>
                        <a:lstStyle/>
                        <a:p>
                          <a:endParaRPr lang="en-US"/>
                        </a:p>
                      </a:txBody>
                      <a:tcPr>
                        <a:blipFill>
                          <a:blip r:embed="rId3"/>
                          <a:stretch>
                            <a:fillRect t="-7143" r="-1628571" b="-118571"/>
                          </a:stretch>
                        </a:blipFill>
                      </a:tcPr>
                    </a:tc>
                    <a:tc>
                      <a:txBody>
                        <a:bodyPr/>
                        <a:lstStyle/>
                        <a:p>
                          <a:endParaRPr lang="en-US"/>
                        </a:p>
                      </a:txBody>
                      <a:tcPr>
                        <a:blipFill>
                          <a:blip r:embed="rId3"/>
                          <a:stretch>
                            <a:fillRect l="-6140" t="-7143" b="-118571"/>
                          </a:stretch>
                        </a:blipFill>
                      </a:tcPr>
                    </a:tc>
                    <a:extLst>
                      <a:ext uri="{0D108BD9-81ED-4DB2-BD59-A6C34878D82A}">
                        <a16:rowId xmlns:a16="http://schemas.microsoft.com/office/drawing/2014/main" val="2475884656"/>
                      </a:ext>
                    </a:extLst>
                  </a:tr>
                  <a:tr h="396240">
                    <a:tc>
                      <a:txBody>
                        <a:bodyPr/>
                        <a:lstStyle/>
                        <a:p>
                          <a:endParaRPr lang="en-US"/>
                        </a:p>
                      </a:txBody>
                      <a:tcPr>
                        <a:blipFill>
                          <a:blip r:embed="rId3"/>
                          <a:stretch>
                            <a:fillRect t="-113636" r="-1628571" b="-25758"/>
                          </a:stretch>
                        </a:blipFill>
                      </a:tcPr>
                    </a:tc>
                    <a:tc>
                      <a:txBody>
                        <a:bodyPr/>
                        <a:lstStyle/>
                        <a:p>
                          <a:endParaRPr lang="en-US"/>
                        </a:p>
                      </a:txBody>
                      <a:tcPr>
                        <a:blipFill>
                          <a:blip r:embed="rId3"/>
                          <a:stretch>
                            <a:fillRect l="-6140" t="-113636" b="-25758"/>
                          </a:stretch>
                        </a:blipFill>
                      </a:tcPr>
                    </a:tc>
                    <a:extLst>
                      <a:ext uri="{0D108BD9-81ED-4DB2-BD59-A6C34878D82A}">
                        <a16:rowId xmlns:a16="http://schemas.microsoft.com/office/drawing/2014/main" val="845099085"/>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8" name="Table 7">
                <a:extLst>
                  <a:ext uri="{FF2B5EF4-FFF2-40B4-BE49-F238E27FC236}">
                    <a16:creationId xmlns:a16="http://schemas.microsoft.com/office/drawing/2014/main" id="{FC76DA83-C4DF-4FFF-8D77-579B62113356}"/>
                  </a:ext>
                </a:extLst>
              </p:cNvPr>
              <p:cNvGraphicFramePr>
                <a:graphicFrameLocks noGrp="1"/>
              </p:cNvGraphicFramePr>
              <p:nvPr>
                <p:extLst/>
              </p:nvPr>
            </p:nvGraphicFramePr>
            <p:xfrm>
              <a:off x="353007" y="3744225"/>
              <a:ext cx="10881049" cy="2401888"/>
            </p:xfrm>
            <a:graphic>
              <a:graphicData uri="http://schemas.openxmlformats.org/drawingml/2006/table">
                <a:tbl>
                  <a:tblPr firstRow="1" bandRow="1">
                    <a:tableStyleId>{2D5ABB26-0587-4C30-8999-92F81FD0307C}</a:tableStyleId>
                  </a:tblPr>
                  <a:tblGrid>
                    <a:gridCol w="9766659">
                      <a:extLst>
                        <a:ext uri="{9D8B030D-6E8A-4147-A177-3AD203B41FA5}">
                          <a16:colId xmlns:a16="http://schemas.microsoft.com/office/drawing/2014/main" val="2206644011"/>
                        </a:ext>
                      </a:extLst>
                    </a:gridCol>
                    <a:gridCol w="1114390">
                      <a:extLst>
                        <a:ext uri="{9D8B030D-6E8A-4147-A177-3AD203B41FA5}">
                          <a16:colId xmlns:a16="http://schemas.microsoft.com/office/drawing/2014/main" val="3100224540"/>
                        </a:ext>
                      </a:extLst>
                    </a:gridCol>
                  </a:tblGrid>
                  <a:tr h="369231">
                    <a:tc>
                      <a:txBody>
                        <a:bodyPr/>
                        <a:lstStyle/>
                        <a:p>
                          <a:pPr algn="r"/>
                          <a14:m>
                            <m:oMathPara xmlns:m="http://schemas.openxmlformats.org/officeDocument/2006/math">
                              <m:oMathParaPr>
                                <m:jc m:val="right"/>
                              </m:oMathParaPr>
                              <m:oMath xmlns:m="http://schemas.openxmlformats.org/officeDocument/2006/math">
                                <m:sSub>
                                  <m:sSubPr>
                                    <m:ctrlPr>
                                      <a:rPr lang="en-US" sz="2000" b="0" i="1" smtClean="0">
                                        <a:latin typeface="Cambria Math" panose="02040503050406030204" pitchFamily="18" charset="0"/>
                                      </a:rPr>
                                    </m:ctrlPr>
                                  </m:sSubPr>
                                  <m:e>
                                    <m:r>
                                      <a:rPr lang="en-US" sz="2000" i="1" smtClean="0">
                                        <a:latin typeface="Cambria Math" panose="02040503050406030204" pitchFamily="18" charset="0"/>
                                      </a:rPr>
                                      <m:t>𝑥</m:t>
                                    </m:r>
                                  </m:e>
                                  <m:sub>
                                    <m:r>
                                      <a:rPr lang="en-US" sz="2000" b="0" i="1" smtClean="0">
                                        <a:latin typeface="Cambria Math" panose="02040503050406030204" pitchFamily="18" charset="0"/>
                                      </a:rPr>
                                      <m:t>11</m:t>
                                    </m:r>
                                  </m:sub>
                                </m:sSub>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𝑥</m:t>
                                    </m:r>
                                  </m:e>
                                  <m:sub>
                                    <m:r>
                                      <a:rPr lang="en-US" sz="2000" b="0" i="1" smtClean="0">
                                        <a:latin typeface="Cambria Math" panose="02040503050406030204" pitchFamily="18" charset="0"/>
                                      </a:rPr>
                                      <m:t>12</m:t>
                                    </m:r>
                                  </m:sub>
                                </m:sSub>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𝑥</m:t>
                                    </m:r>
                                  </m:e>
                                  <m:sub>
                                    <m:r>
                                      <a:rPr lang="en-US" sz="2000" b="0" i="1" smtClean="0">
                                        <a:latin typeface="Cambria Math" panose="02040503050406030204" pitchFamily="18" charset="0"/>
                                      </a:rPr>
                                      <m:t>13</m:t>
                                    </m:r>
                                  </m:sub>
                                </m:sSub>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𝑥</m:t>
                                    </m:r>
                                  </m:e>
                                  <m:sub>
                                    <m:r>
                                      <a:rPr lang="en-US" sz="2000" b="0" i="1" smtClean="0">
                                        <a:latin typeface="Cambria Math" panose="02040503050406030204" pitchFamily="18" charset="0"/>
                                      </a:rPr>
                                      <m:t>14</m:t>
                                    </m:r>
                                  </m:sub>
                                </m:sSub>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𝑥</m:t>
                                    </m:r>
                                  </m:e>
                                  <m:sub>
                                    <m:r>
                                      <a:rPr lang="en-US" sz="2000" b="0" i="1" smtClean="0">
                                        <a:latin typeface="Cambria Math" panose="02040503050406030204" pitchFamily="18" charset="0"/>
                                      </a:rPr>
                                      <m:t>15</m:t>
                                    </m:r>
                                  </m:sub>
                                </m:sSub>
                                <m:r>
                                  <a:rPr lang="en-US" sz="2000" b="0" i="1" smtClean="0">
                                    <a:latin typeface="Cambria Math" panose="02040503050406030204" pitchFamily="18" charset="0"/>
                                  </a:rPr>
                                  <m:t>−1.4250</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𝑥</m:t>
                                    </m:r>
                                  </m:e>
                                  <m:sub>
                                    <m:r>
                                      <a:rPr lang="en-US" sz="2000" b="0" i="1" smtClean="0">
                                        <a:latin typeface="Cambria Math" panose="02040503050406030204" pitchFamily="18" charset="0"/>
                                      </a:rPr>
                                      <m:t>21</m:t>
                                    </m:r>
                                  </m:sub>
                                </m:sSub>
                                <m:r>
                                  <a:rPr lang="en-US" sz="2000" b="0" i="1" smtClean="0">
                                    <a:latin typeface="Cambria Math" panose="02040503050406030204" pitchFamily="18" charset="0"/>
                                  </a:rPr>
                                  <m:t>−0.12340</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𝑥</m:t>
                                    </m:r>
                                  </m:e>
                                  <m:sub>
                                    <m:r>
                                      <a:rPr lang="en-US" sz="2000" b="0" i="1" smtClean="0">
                                        <a:latin typeface="Cambria Math" panose="02040503050406030204" pitchFamily="18" charset="0"/>
                                      </a:rPr>
                                      <m:t>31</m:t>
                                    </m:r>
                                  </m:sub>
                                </m:sSub>
                                <m:r>
                                  <a:rPr lang="en-US" sz="2000" b="0" i="1" smtClean="0">
                                    <a:latin typeface="Cambria Math" panose="02040503050406030204" pitchFamily="18" charset="0"/>
                                  </a:rPr>
                                  <m:t>−0.3793</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𝑥</m:t>
                                    </m:r>
                                  </m:e>
                                  <m:sub>
                                    <m:r>
                                      <a:rPr lang="en-US" sz="2000" b="0" i="1" smtClean="0">
                                        <a:latin typeface="Cambria Math" panose="02040503050406030204" pitchFamily="18" charset="0"/>
                                      </a:rPr>
                                      <m:t>41</m:t>
                                    </m:r>
                                  </m:sub>
                                </m:sSub>
                                <m:r>
                                  <a:rPr lang="en-US" sz="2000" b="0" i="1" smtClean="0">
                                    <a:latin typeface="Cambria Math" panose="02040503050406030204" pitchFamily="18" charset="0"/>
                                  </a:rPr>
                                  <m:t>−0.00443</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𝑥</m:t>
                                    </m:r>
                                  </m:e>
                                  <m:sub>
                                    <m:r>
                                      <a:rPr lang="en-US" sz="2000" b="0" i="1" smtClean="0">
                                        <a:latin typeface="Cambria Math" panose="02040503050406030204" pitchFamily="18" charset="0"/>
                                      </a:rPr>
                                      <m:t>51</m:t>
                                    </m:r>
                                  </m:sub>
                                </m:sSub>
                              </m:oMath>
                            </m:oMathPara>
                          </a14:m>
                          <a:endParaRPr lang="en-US" sz="2000" dirty="0"/>
                        </a:p>
                      </a:txBody>
                      <a:tcPr/>
                    </a:tc>
                    <a:tc>
                      <a:txBody>
                        <a:bodyPr/>
                        <a:lstStyle/>
                        <a:p>
                          <a:pPr algn="l"/>
                          <a14:m>
                            <m:oMathPara xmlns:m="http://schemas.openxmlformats.org/officeDocument/2006/math">
                              <m:oMathParaPr>
                                <m:jc m:val="left"/>
                              </m:oMathParaPr>
                              <m:oMath xmlns:m="http://schemas.openxmlformats.org/officeDocument/2006/math">
                                <m:r>
                                  <a:rPr lang="en-US" sz="2000" b="0" i="1" smtClean="0">
                                    <a:latin typeface="Cambria Math" panose="02040503050406030204" pitchFamily="18" charset="0"/>
                                  </a:rPr>
                                  <m:t>=2</m:t>
                                </m:r>
                              </m:oMath>
                            </m:oMathPara>
                          </a14:m>
                          <a:endParaRPr lang="en-US" sz="2000" dirty="0"/>
                        </a:p>
                      </a:txBody>
                      <a:tcPr/>
                    </a:tc>
                    <a:extLst>
                      <a:ext uri="{0D108BD9-81ED-4DB2-BD59-A6C34878D82A}">
                        <a16:rowId xmlns:a16="http://schemas.microsoft.com/office/drawing/2014/main" val="295534260"/>
                      </a:ext>
                    </a:extLst>
                  </a:tr>
                  <a:tr h="369231">
                    <a:tc>
                      <a:txBody>
                        <a:bodyPr/>
                        <a:lstStyle/>
                        <a:p>
                          <a:pPr algn="r"/>
                          <a14:m>
                            <m:oMathPara xmlns:m="http://schemas.openxmlformats.org/officeDocument/2006/math">
                              <m:oMathParaPr>
                                <m:jc m:val="right"/>
                              </m:oMathParaPr>
                              <m:oMath xmlns:m="http://schemas.openxmlformats.org/officeDocument/2006/math">
                                <m:sSub>
                                  <m:sSubPr>
                                    <m:ctrlPr>
                                      <a:rPr lang="en-US" sz="2000" b="0" i="1" smtClean="0">
                                        <a:latin typeface="Cambria Math" panose="02040503050406030204" pitchFamily="18" charset="0"/>
                                      </a:rPr>
                                    </m:ctrlPr>
                                  </m:sSubPr>
                                  <m:e>
                                    <m:r>
                                      <a:rPr lang="en-US" sz="2000" i="1" smtClean="0">
                                        <a:latin typeface="Cambria Math" panose="02040503050406030204" pitchFamily="18" charset="0"/>
                                      </a:rPr>
                                      <m:t>𝑥</m:t>
                                    </m:r>
                                  </m:e>
                                  <m:sub>
                                    <m:r>
                                      <a:rPr lang="en-US" sz="2000" b="0" i="1" smtClean="0">
                                        <a:latin typeface="Cambria Math" panose="02040503050406030204" pitchFamily="18" charset="0"/>
                                      </a:rPr>
                                      <m:t>21</m:t>
                                    </m:r>
                                  </m:sub>
                                </m:sSub>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𝑥</m:t>
                                    </m:r>
                                  </m:e>
                                  <m:sub>
                                    <m:r>
                                      <a:rPr lang="en-US" sz="2000" b="0" i="1" smtClean="0">
                                        <a:latin typeface="Cambria Math" panose="02040503050406030204" pitchFamily="18" charset="0"/>
                                      </a:rPr>
                                      <m:t>22</m:t>
                                    </m:r>
                                  </m:sub>
                                </m:sSub>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𝑥</m:t>
                                    </m:r>
                                  </m:e>
                                  <m:sub>
                                    <m:r>
                                      <a:rPr lang="en-US" sz="2000" b="0" i="1" smtClean="0">
                                        <a:latin typeface="Cambria Math" panose="02040503050406030204" pitchFamily="18" charset="0"/>
                                      </a:rPr>
                                      <m:t>23</m:t>
                                    </m:r>
                                  </m:sub>
                                </m:sSub>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𝑥</m:t>
                                    </m:r>
                                  </m:e>
                                  <m:sub>
                                    <m:r>
                                      <a:rPr lang="en-US" sz="2000" b="0" i="1" smtClean="0">
                                        <a:latin typeface="Cambria Math" panose="02040503050406030204" pitchFamily="18" charset="0"/>
                                      </a:rPr>
                                      <m:t>24</m:t>
                                    </m:r>
                                  </m:sub>
                                </m:sSub>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𝑥</m:t>
                                    </m:r>
                                  </m:e>
                                  <m:sub>
                                    <m:r>
                                      <a:rPr lang="en-US" sz="2000" b="0" i="1" smtClean="0">
                                        <a:latin typeface="Cambria Math" panose="02040503050406030204" pitchFamily="18" charset="0"/>
                                      </a:rPr>
                                      <m:t>25</m:t>
                                    </m:r>
                                  </m:sub>
                                </m:sSub>
                                <m:r>
                                  <a:rPr lang="en-US" sz="2000" b="0" i="1" smtClean="0">
                                    <a:latin typeface="Cambria Math" panose="02040503050406030204" pitchFamily="18" charset="0"/>
                                  </a:rPr>
                                  <m:t>−0.6998</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𝑥</m:t>
                                    </m:r>
                                  </m:e>
                                  <m:sub>
                                    <m:r>
                                      <a:rPr lang="en-US" sz="2000" b="0" i="1" smtClean="0">
                                        <a:latin typeface="Cambria Math" panose="02040503050406030204" pitchFamily="18" charset="0"/>
                                      </a:rPr>
                                      <m:t>12</m:t>
                                    </m:r>
                                  </m:sub>
                                </m:sSub>
                                <m:r>
                                  <a:rPr lang="en-US" sz="2000" b="0" i="1" smtClean="0">
                                    <a:latin typeface="Cambria Math" panose="02040503050406030204" pitchFamily="18" charset="0"/>
                                  </a:rPr>
                                  <m:t>−0.08647</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𝑥</m:t>
                                    </m:r>
                                  </m:e>
                                  <m:sub>
                                    <m:r>
                                      <a:rPr lang="en-US" sz="2000" b="0" i="1" smtClean="0">
                                        <a:latin typeface="Cambria Math" panose="02040503050406030204" pitchFamily="18" charset="0"/>
                                      </a:rPr>
                                      <m:t>32</m:t>
                                    </m:r>
                                  </m:sub>
                                </m:sSub>
                                <m:r>
                                  <a:rPr lang="en-US" sz="2000" b="0" i="1" smtClean="0">
                                    <a:latin typeface="Cambria Math" panose="02040503050406030204" pitchFamily="18" charset="0"/>
                                  </a:rPr>
                                  <m:t>−0.2662</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𝑥</m:t>
                                    </m:r>
                                  </m:e>
                                  <m:sub>
                                    <m:r>
                                      <a:rPr lang="en-US" sz="2000" b="0" i="1" smtClean="0">
                                        <a:latin typeface="Cambria Math" panose="02040503050406030204" pitchFamily="18" charset="0"/>
                                      </a:rPr>
                                      <m:t>42</m:t>
                                    </m:r>
                                  </m:sub>
                                </m:sSub>
                                <m:r>
                                  <a:rPr lang="en-US" sz="2000" b="0" i="1" smtClean="0">
                                    <a:latin typeface="Cambria Math" panose="02040503050406030204" pitchFamily="18" charset="0"/>
                                  </a:rPr>
                                  <m:t>−0.00310</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𝑥</m:t>
                                    </m:r>
                                  </m:e>
                                  <m:sub>
                                    <m:r>
                                      <a:rPr lang="en-US" sz="2000" b="0" i="1" smtClean="0">
                                        <a:latin typeface="Cambria Math" panose="02040503050406030204" pitchFamily="18" charset="0"/>
                                      </a:rPr>
                                      <m:t>52</m:t>
                                    </m:r>
                                  </m:sub>
                                </m:sSub>
                              </m:oMath>
                            </m:oMathPara>
                          </a14:m>
                          <a:endParaRPr lang="en-US" sz="2000" dirty="0"/>
                        </a:p>
                      </a:txBody>
                      <a:tcPr/>
                    </a:tc>
                    <a:tc>
                      <a:txBody>
                        <a:bodyPr/>
                        <a:lstStyle/>
                        <a:p>
                          <a:pPr algn="l"/>
                          <a14:m>
                            <m:oMathPara xmlns:m="http://schemas.openxmlformats.org/officeDocument/2006/math">
                              <m:oMathParaPr>
                                <m:jc m:val="left"/>
                              </m:oMathParaPr>
                              <m:oMath xmlns:m="http://schemas.openxmlformats.org/officeDocument/2006/math">
                                <m:r>
                                  <a:rPr lang="en-US" sz="2000" i="1" smtClean="0">
                                    <a:latin typeface="Cambria Math" panose="02040503050406030204" pitchFamily="18" charset="0"/>
                                  </a:rPr>
                                  <m:t>=</m:t>
                                </m:r>
                                <m:r>
                                  <a:rPr lang="en-US" sz="2000" b="0" i="1" smtClean="0">
                                    <a:latin typeface="Cambria Math" panose="02040503050406030204" pitchFamily="18" charset="0"/>
                                  </a:rPr>
                                  <m:t>5</m:t>
                                </m:r>
                              </m:oMath>
                            </m:oMathPara>
                          </a14:m>
                          <a:endParaRPr lang="en-US" sz="2000" dirty="0"/>
                        </a:p>
                      </a:txBody>
                      <a:tcPr/>
                    </a:tc>
                    <a:extLst>
                      <a:ext uri="{0D108BD9-81ED-4DB2-BD59-A6C34878D82A}">
                        <a16:rowId xmlns:a16="http://schemas.microsoft.com/office/drawing/2014/main" val="2719343881"/>
                      </a:ext>
                    </a:extLst>
                  </a:tr>
                  <a:tr h="369231">
                    <a:tc>
                      <a:txBody>
                        <a:bodyPr/>
                        <a:lstStyle/>
                        <a:p>
                          <a:pPr algn="r"/>
                          <a14:m>
                            <m:oMathPara xmlns:m="http://schemas.openxmlformats.org/officeDocument/2006/math">
                              <m:oMathParaPr>
                                <m:jc m:val="right"/>
                              </m:oMathParaPr>
                              <m:oMath xmlns:m="http://schemas.openxmlformats.org/officeDocument/2006/math">
                                <m:sSub>
                                  <m:sSubPr>
                                    <m:ctrlPr>
                                      <a:rPr lang="en-US" sz="2000" b="0" i="1" smtClean="0">
                                        <a:latin typeface="Cambria Math" panose="02040503050406030204" pitchFamily="18" charset="0"/>
                                      </a:rPr>
                                    </m:ctrlPr>
                                  </m:sSubPr>
                                  <m:e>
                                    <m:r>
                                      <a:rPr lang="en-US" sz="2000" i="1" smtClean="0">
                                        <a:latin typeface="Cambria Math" panose="02040503050406030204" pitchFamily="18" charset="0"/>
                                      </a:rPr>
                                      <m:t>𝑥</m:t>
                                    </m:r>
                                  </m:e>
                                  <m:sub>
                                    <m:r>
                                      <a:rPr lang="en-US" sz="2000" b="0" i="1" smtClean="0">
                                        <a:latin typeface="Cambria Math" panose="02040503050406030204" pitchFamily="18" charset="0"/>
                                      </a:rPr>
                                      <m:t>31</m:t>
                                    </m:r>
                                  </m:sub>
                                </m:sSub>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𝑥</m:t>
                                    </m:r>
                                  </m:e>
                                  <m:sub>
                                    <m:r>
                                      <a:rPr lang="en-US" sz="2000" b="0" i="1" smtClean="0">
                                        <a:latin typeface="Cambria Math" panose="02040503050406030204" pitchFamily="18" charset="0"/>
                                      </a:rPr>
                                      <m:t>32</m:t>
                                    </m:r>
                                  </m:sub>
                                </m:sSub>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𝑥</m:t>
                                    </m:r>
                                  </m:e>
                                  <m:sub>
                                    <m:r>
                                      <a:rPr lang="en-US" sz="2000" b="0" i="1" smtClean="0">
                                        <a:latin typeface="Cambria Math" panose="02040503050406030204" pitchFamily="18" charset="0"/>
                                      </a:rPr>
                                      <m:t>33</m:t>
                                    </m:r>
                                  </m:sub>
                                </m:sSub>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𝑥</m:t>
                                    </m:r>
                                  </m:e>
                                  <m:sub>
                                    <m:r>
                                      <a:rPr lang="en-US" sz="2000" b="0" i="1" smtClean="0">
                                        <a:latin typeface="Cambria Math" panose="02040503050406030204" pitchFamily="18" charset="0"/>
                                      </a:rPr>
                                      <m:t>34</m:t>
                                    </m:r>
                                  </m:sub>
                                </m:sSub>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𝑥</m:t>
                                    </m:r>
                                  </m:e>
                                  <m:sub>
                                    <m:r>
                                      <a:rPr lang="en-US" sz="2000" b="0" i="1" smtClean="0">
                                        <a:latin typeface="Cambria Math" panose="02040503050406030204" pitchFamily="18" charset="0"/>
                                      </a:rPr>
                                      <m:t>35</m:t>
                                    </m:r>
                                  </m:sub>
                                </m:sSub>
                                <m:r>
                                  <a:rPr lang="en-US" sz="2000" b="0" i="1" smtClean="0">
                                    <a:latin typeface="Cambria Math" panose="02040503050406030204" pitchFamily="18" charset="0"/>
                                  </a:rPr>
                                  <m:t>−8.0780</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𝑥</m:t>
                                    </m:r>
                                  </m:e>
                                  <m:sub>
                                    <m:r>
                                      <a:rPr lang="en-US" sz="2000" b="0" i="1" smtClean="0">
                                        <a:latin typeface="Cambria Math" panose="02040503050406030204" pitchFamily="18" charset="0"/>
                                      </a:rPr>
                                      <m:t>13</m:t>
                                    </m:r>
                                  </m:sub>
                                </m:sSub>
                                <m:r>
                                  <a:rPr lang="en-US" sz="2000" b="0" i="1" smtClean="0">
                                    <a:latin typeface="Cambria Math" panose="02040503050406030204" pitchFamily="18" charset="0"/>
                                  </a:rPr>
                                  <m:t>−11.5500</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𝑥</m:t>
                                    </m:r>
                                  </m:e>
                                  <m:sub>
                                    <m:r>
                                      <a:rPr lang="en-US" sz="2000" b="0" i="1" smtClean="0">
                                        <a:latin typeface="Cambria Math" panose="02040503050406030204" pitchFamily="18" charset="0"/>
                                      </a:rPr>
                                      <m:t>23</m:t>
                                    </m:r>
                                  </m:sub>
                                </m:sSub>
                                <m:r>
                                  <a:rPr lang="en-US" sz="2000" b="0" i="1" smtClean="0">
                                    <a:latin typeface="Cambria Math" panose="02040503050406030204" pitchFamily="18" charset="0"/>
                                  </a:rPr>
                                  <m:t>−3.0730</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𝑥</m:t>
                                    </m:r>
                                  </m:e>
                                  <m:sub>
                                    <m:r>
                                      <a:rPr lang="en-US" sz="2000" b="0" i="1" smtClean="0">
                                        <a:latin typeface="Cambria Math" panose="02040503050406030204" pitchFamily="18" charset="0"/>
                                      </a:rPr>
                                      <m:t>43</m:t>
                                    </m:r>
                                  </m:sub>
                                </m:sSub>
                                <m:r>
                                  <a:rPr lang="en-US" sz="2000" b="0" i="1" smtClean="0">
                                    <a:latin typeface="Cambria Math" panose="02040503050406030204" pitchFamily="18" charset="0"/>
                                  </a:rPr>
                                  <m:t>−0.03586</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𝑥</m:t>
                                    </m:r>
                                  </m:e>
                                  <m:sub>
                                    <m:r>
                                      <a:rPr lang="en-US" sz="2000" b="0" i="1" smtClean="0">
                                        <a:latin typeface="Cambria Math" panose="02040503050406030204" pitchFamily="18" charset="0"/>
                                      </a:rPr>
                                      <m:t>53</m:t>
                                    </m:r>
                                  </m:sub>
                                </m:sSub>
                              </m:oMath>
                            </m:oMathPara>
                          </a14:m>
                          <a:endParaRPr lang="en-US" sz="2000" dirty="0"/>
                        </a:p>
                      </a:txBody>
                      <a:tcPr/>
                    </a:tc>
                    <a:tc>
                      <a:txBody>
                        <a:bodyPr/>
                        <a:lstStyle/>
                        <a:p>
                          <a:pPr algn="l"/>
                          <a14:m>
                            <m:oMathPara xmlns:m="http://schemas.openxmlformats.org/officeDocument/2006/math">
                              <m:oMathParaPr>
                                <m:jc m:val="left"/>
                              </m:oMathParaPr>
                              <m:oMath xmlns:m="http://schemas.openxmlformats.org/officeDocument/2006/math">
                                <m:r>
                                  <a:rPr lang="en-US" sz="2000" i="1" smtClean="0">
                                    <a:latin typeface="Cambria Math" panose="02040503050406030204" pitchFamily="18" charset="0"/>
                                  </a:rPr>
                                  <m:t>=</m:t>
                                </m:r>
                                <m:r>
                                  <a:rPr lang="en-US" sz="2000" b="0" i="1" smtClean="0">
                                    <a:latin typeface="Cambria Math" panose="02040503050406030204" pitchFamily="18" charset="0"/>
                                  </a:rPr>
                                  <m:t>−8</m:t>
                                </m:r>
                              </m:oMath>
                            </m:oMathPara>
                          </a14:m>
                          <a:endParaRPr lang="en-US" sz="2000" dirty="0"/>
                        </a:p>
                      </a:txBody>
                      <a:tcPr/>
                    </a:tc>
                    <a:extLst>
                      <a:ext uri="{0D108BD9-81ED-4DB2-BD59-A6C34878D82A}">
                        <a16:rowId xmlns:a16="http://schemas.microsoft.com/office/drawing/2014/main" val="3584402613"/>
                      </a:ext>
                    </a:extLst>
                  </a:tr>
                  <a:tr h="369231">
                    <a:tc>
                      <a:txBody>
                        <a:bodyPr/>
                        <a:lstStyle/>
                        <a:p>
                          <a:pPr algn="r"/>
                          <a14:m>
                            <m:oMathPara xmlns:m="http://schemas.openxmlformats.org/officeDocument/2006/math">
                              <m:oMathParaPr>
                                <m:jc m:val="right"/>
                              </m:oMathParaPr>
                              <m:oMath xmlns:m="http://schemas.openxmlformats.org/officeDocument/2006/math">
                                <m:sSub>
                                  <m:sSubPr>
                                    <m:ctrlPr>
                                      <a:rPr lang="en-US" sz="2000" b="0" i="1" smtClean="0">
                                        <a:latin typeface="Cambria Math" panose="02040503050406030204" pitchFamily="18" charset="0"/>
                                      </a:rPr>
                                    </m:ctrlPr>
                                  </m:sSubPr>
                                  <m:e>
                                    <m:r>
                                      <a:rPr lang="en-US" sz="2000" i="1" smtClean="0">
                                        <a:latin typeface="Cambria Math" panose="02040503050406030204" pitchFamily="18" charset="0"/>
                                      </a:rPr>
                                      <m:t>𝑥</m:t>
                                    </m:r>
                                  </m:e>
                                  <m:sub>
                                    <m:r>
                                      <a:rPr lang="en-US" sz="2000" b="0" i="1" smtClean="0">
                                        <a:latin typeface="Cambria Math" panose="02040503050406030204" pitchFamily="18" charset="0"/>
                                      </a:rPr>
                                      <m:t>41</m:t>
                                    </m:r>
                                  </m:sub>
                                </m:sSub>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𝑥</m:t>
                                    </m:r>
                                  </m:e>
                                  <m:sub>
                                    <m:r>
                                      <a:rPr lang="en-US" sz="2000" b="0" i="1" smtClean="0">
                                        <a:latin typeface="Cambria Math" panose="02040503050406030204" pitchFamily="18" charset="0"/>
                                      </a:rPr>
                                      <m:t>42</m:t>
                                    </m:r>
                                  </m:sub>
                                </m:sSub>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𝑥</m:t>
                                    </m:r>
                                  </m:e>
                                  <m:sub>
                                    <m:r>
                                      <a:rPr lang="en-US" sz="2000" b="0" i="1" smtClean="0">
                                        <a:latin typeface="Cambria Math" panose="02040503050406030204" pitchFamily="18" charset="0"/>
                                      </a:rPr>
                                      <m:t>43</m:t>
                                    </m:r>
                                  </m:sub>
                                </m:sSub>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𝑥</m:t>
                                    </m:r>
                                  </m:e>
                                  <m:sub>
                                    <m:r>
                                      <a:rPr lang="en-US" sz="2000" b="0" i="1" smtClean="0">
                                        <a:latin typeface="Cambria Math" panose="02040503050406030204" pitchFamily="18" charset="0"/>
                                      </a:rPr>
                                      <m:t>44</m:t>
                                    </m:r>
                                  </m:sub>
                                </m:sSub>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𝑥</m:t>
                                    </m:r>
                                  </m:e>
                                  <m:sub>
                                    <m:r>
                                      <a:rPr lang="en-US" sz="2000" b="0" i="1" smtClean="0">
                                        <a:latin typeface="Cambria Math" panose="02040503050406030204" pitchFamily="18" charset="0"/>
                                      </a:rPr>
                                      <m:t>45</m:t>
                                    </m:r>
                                  </m:sub>
                                </m:sSub>
                                <m:r>
                                  <a:rPr lang="en-US" sz="2000" b="0" i="1" smtClean="0">
                                    <a:latin typeface="Cambria Math" panose="02040503050406030204" pitchFamily="18" charset="0"/>
                                  </a:rPr>
                                  <m:t>−2.6270</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𝑥</m:t>
                                    </m:r>
                                  </m:e>
                                  <m:sub>
                                    <m:r>
                                      <a:rPr lang="en-US" sz="2000" b="0" i="1" smtClean="0">
                                        <a:latin typeface="Cambria Math" panose="02040503050406030204" pitchFamily="18" charset="0"/>
                                      </a:rPr>
                                      <m:t>14</m:t>
                                    </m:r>
                                  </m:sub>
                                </m:sSub>
                                <m:r>
                                  <a:rPr lang="en-US" sz="2000" b="0" i="1" smtClean="0">
                                    <a:latin typeface="Cambria Math" panose="02040503050406030204" pitchFamily="18" charset="0"/>
                                  </a:rPr>
                                  <m:t>−3.75400</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𝑥</m:t>
                                    </m:r>
                                  </m:e>
                                  <m:sub>
                                    <m:r>
                                      <a:rPr lang="en-US" sz="2000" b="0" i="1" smtClean="0">
                                        <a:latin typeface="Cambria Math" panose="02040503050406030204" pitchFamily="18" charset="0"/>
                                      </a:rPr>
                                      <m:t>24</m:t>
                                    </m:r>
                                  </m:sub>
                                </m:sSub>
                                <m:r>
                                  <a:rPr lang="en-US" sz="2000" b="0" i="1" smtClean="0">
                                    <a:latin typeface="Cambria Math" panose="02040503050406030204" pitchFamily="18" charset="0"/>
                                  </a:rPr>
                                  <m:t>−0.3250</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𝑥</m:t>
                                    </m:r>
                                  </m:e>
                                  <m:sub>
                                    <m:r>
                                      <a:rPr lang="en-US" sz="2000" b="0" i="1" smtClean="0">
                                        <a:latin typeface="Cambria Math" panose="02040503050406030204" pitchFamily="18" charset="0"/>
                                      </a:rPr>
                                      <m:t>34</m:t>
                                    </m:r>
                                  </m:sub>
                                </m:sSub>
                                <m:r>
                                  <a:rPr lang="en-US" sz="2000" b="0" i="1" smtClean="0">
                                    <a:latin typeface="Cambria Math" panose="02040503050406030204" pitchFamily="18" charset="0"/>
                                  </a:rPr>
                                  <m:t>−0.01163</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𝑥</m:t>
                                    </m:r>
                                  </m:e>
                                  <m:sub>
                                    <m:r>
                                      <a:rPr lang="en-US" sz="2000" b="0" i="1" smtClean="0">
                                        <a:latin typeface="Cambria Math" panose="02040503050406030204" pitchFamily="18" charset="0"/>
                                      </a:rPr>
                                      <m:t>54</m:t>
                                    </m:r>
                                  </m:sub>
                                </m:sSub>
                              </m:oMath>
                            </m:oMathPara>
                          </a14:m>
                          <a:endParaRPr lang="en-US" sz="2000" dirty="0"/>
                        </a:p>
                      </a:txBody>
                      <a:tcPr/>
                    </a:tc>
                    <a:tc>
                      <a:txBody>
                        <a:bodyPr/>
                        <a:lstStyle/>
                        <a:p>
                          <a:pPr algn="l"/>
                          <a14:m>
                            <m:oMathPara xmlns:m="http://schemas.openxmlformats.org/officeDocument/2006/math">
                              <m:oMathParaPr>
                                <m:jc m:val="left"/>
                              </m:oMathParaPr>
                              <m:oMath xmlns:m="http://schemas.openxmlformats.org/officeDocument/2006/math">
                                <m:r>
                                  <a:rPr lang="en-US" sz="2000" b="0" i="1" smtClean="0">
                                    <a:latin typeface="Cambria Math" panose="02040503050406030204" pitchFamily="18" charset="0"/>
                                  </a:rPr>
                                  <m:t>=3</m:t>
                                </m:r>
                              </m:oMath>
                            </m:oMathPara>
                          </a14:m>
                          <a:endParaRPr lang="en-US" sz="2000" dirty="0"/>
                        </a:p>
                      </a:txBody>
                      <a:tcPr/>
                    </a:tc>
                    <a:extLst>
                      <a:ext uri="{0D108BD9-81ED-4DB2-BD59-A6C34878D82A}">
                        <a16:rowId xmlns:a16="http://schemas.microsoft.com/office/drawing/2014/main" val="1696620212"/>
                      </a:ext>
                    </a:extLst>
                  </a:tr>
                  <a:tr h="369231">
                    <a:tc>
                      <a:txBody>
                        <a:bodyPr/>
                        <a:lstStyle/>
                        <a:p>
                          <a:pPr algn="r"/>
                          <a14:m>
                            <m:oMathPara xmlns:m="http://schemas.openxmlformats.org/officeDocument/2006/math">
                              <m:oMathParaPr>
                                <m:jc m:val="right"/>
                              </m:oMathParaPr>
                              <m:oMath xmlns:m="http://schemas.openxmlformats.org/officeDocument/2006/math">
                                <m:sSub>
                                  <m:sSubPr>
                                    <m:ctrlPr>
                                      <a:rPr lang="en-US" sz="2000" b="0" i="1" smtClean="0">
                                        <a:latin typeface="Cambria Math" panose="02040503050406030204" pitchFamily="18" charset="0"/>
                                      </a:rPr>
                                    </m:ctrlPr>
                                  </m:sSubPr>
                                  <m:e>
                                    <m:r>
                                      <a:rPr lang="en-US" sz="2000" i="1" smtClean="0">
                                        <a:latin typeface="Cambria Math" panose="02040503050406030204" pitchFamily="18" charset="0"/>
                                      </a:rPr>
                                      <m:t>𝑥</m:t>
                                    </m:r>
                                  </m:e>
                                  <m:sub>
                                    <m:r>
                                      <a:rPr lang="en-US" sz="2000" b="0" i="1" smtClean="0">
                                        <a:latin typeface="Cambria Math" panose="02040503050406030204" pitchFamily="18" charset="0"/>
                                      </a:rPr>
                                      <m:t>51</m:t>
                                    </m:r>
                                  </m:sub>
                                </m:sSub>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𝑥</m:t>
                                    </m:r>
                                  </m:e>
                                  <m:sub>
                                    <m:r>
                                      <a:rPr lang="en-US" sz="2000" b="0" i="1" smtClean="0">
                                        <a:latin typeface="Cambria Math" panose="02040503050406030204" pitchFamily="18" charset="0"/>
                                      </a:rPr>
                                      <m:t>52</m:t>
                                    </m:r>
                                  </m:sub>
                                </m:sSub>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𝑥</m:t>
                                    </m:r>
                                  </m:e>
                                  <m:sub>
                                    <m:r>
                                      <a:rPr lang="en-US" sz="2000" b="0" i="1" smtClean="0">
                                        <a:latin typeface="Cambria Math" panose="02040503050406030204" pitchFamily="18" charset="0"/>
                                      </a:rPr>
                                      <m:t>53</m:t>
                                    </m:r>
                                  </m:sub>
                                </m:sSub>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𝑥</m:t>
                                    </m:r>
                                  </m:e>
                                  <m:sub>
                                    <m:r>
                                      <a:rPr lang="en-US" sz="2000" b="0" i="1" smtClean="0">
                                        <a:latin typeface="Cambria Math" panose="02040503050406030204" pitchFamily="18" charset="0"/>
                                      </a:rPr>
                                      <m:t>54</m:t>
                                    </m:r>
                                  </m:sub>
                                </m:sSub>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𝑥</m:t>
                                    </m:r>
                                  </m:e>
                                  <m:sub>
                                    <m:r>
                                      <a:rPr lang="en-US" sz="2000" b="0" i="1" smtClean="0">
                                        <a:latin typeface="Cambria Math" panose="02040503050406030204" pitchFamily="18" charset="0"/>
                                      </a:rPr>
                                      <m:t>55</m:t>
                                    </m:r>
                                  </m:sub>
                                </m:sSub>
                                <m:r>
                                  <a:rPr lang="en-US" sz="2000" b="0" i="1" smtClean="0">
                                    <a:latin typeface="Cambria Math" panose="02040503050406030204" pitchFamily="18" charset="0"/>
                                  </a:rPr>
                                  <m:t>−224.70</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𝑥</m:t>
                                    </m:r>
                                  </m:e>
                                  <m:sub>
                                    <m:r>
                                      <a:rPr lang="en-US" sz="2000" b="0" i="1" smtClean="0">
                                        <a:latin typeface="Cambria Math" panose="02040503050406030204" pitchFamily="18" charset="0"/>
                                      </a:rPr>
                                      <m:t>15</m:t>
                                    </m:r>
                                  </m:sub>
                                </m:sSub>
                                <m:r>
                                  <a:rPr lang="en-US" sz="2000" b="0" i="1" smtClean="0">
                                    <a:latin typeface="Cambria Math" panose="02040503050406030204" pitchFamily="18" charset="0"/>
                                  </a:rPr>
                                  <m:t>−320.700</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𝑥</m:t>
                                    </m:r>
                                  </m:e>
                                  <m:sub>
                                    <m:r>
                                      <a:rPr lang="en-US" sz="2000" b="0" i="1" smtClean="0">
                                        <a:latin typeface="Cambria Math" panose="02040503050406030204" pitchFamily="18" charset="0"/>
                                      </a:rPr>
                                      <m:t>25</m:t>
                                    </m:r>
                                  </m:sub>
                                </m:sSub>
                                <m:r>
                                  <a:rPr lang="en-US" sz="2000" b="0" i="1" smtClean="0">
                                    <a:latin typeface="Cambria Math" panose="02040503050406030204" pitchFamily="18" charset="0"/>
                                  </a:rPr>
                                  <m:t>−27.760</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𝑥</m:t>
                                    </m:r>
                                  </m:e>
                                  <m:sub>
                                    <m:r>
                                      <a:rPr lang="en-US" sz="2000" b="0" i="1" smtClean="0">
                                        <a:latin typeface="Cambria Math" panose="02040503050406030204" pitchFamily="18" charset="0"/>
                                      </a:rPr>
                                      <m:t>35</m:t>
                                    </m:r>
                                  </m:sub>
                                </m:sSub>
                                <m:r>
                                  <a:rPr lang="en-US" sz="2000" b="0" i="1" smtClean="0">
                                    <a:latin typeface="Cambria Math" panose="02040503050406030204" pitchFamily="18" charset="0"/>
                                  </a:rPr>
                                  <m:t>−85.5100</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𝑥</m:t>
                                    </m:r>
                                  </m:e>
                                  <m:sub>
                                    <m:r>
                                      <a:rPr lang="en-US" sz="2000" b="0" i="1" smtClean="0">
                                        <a:latin typeface="Cambria Math" panose="02040503050406030204" pitchFamily="18" charset="0"/>
                                      </a:rPr>
                                      <m:t>45</m:t>
                                    </m:r>
                                  </m:sub>
                                </m:sSub>
                              </m:oMath>
                            </m:oMathPara>
                          </a14:m>
                          <a:endParaRPr lang="en-US" sz="2000" dirty="0"/>
                        </a:p>
                      </a:txBody>
                      <a:tcPr/>
                    </a:tc>
                    <a:tc>
                      <a:txBody>
                        <a:bodyPr/>
                        <a:lstStyle/>
                        <a:p>
                          <a:pPr algn="l"/>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=−1280</m:t>
                                </m:r>
                              </m:oMath>
                            </m:oMathPara>
                          </a14:m>
                          <a:endParaRPr lang="en-US" sz="2000" dirty="0"/>
                        </a:p>
                      </a:txBody>
                      <a:tcPr/>
                    </a:tc>
                    <a:extLst>
                      <a:ext uri="{0D108BD9-81ED-4DB2-BD59-A6C34878D82A}">
                        <a16:rowId xmlns:a16="http://schemas.microsoft.com/office/drawing/2014/main" val="1897425443"/>
                      </a:ext>
                    </a:extLst>
                  </a:tr>
                  <a:tr h="369231">
                    <a:tc>
                      <a:txBody>
                        <a:bodyPr/>
                        <a:lstStyle/>
                        <a:p>
                          <a:pPr/>
                          <a14:m>
                            <m:oMathPara xmlns:m="http://schemas.openxmlformats.org/officeDocument/2006/math">
                              <m:oMathParaPr>
                                <m:jc m:val="right"/>
                              </m:oMathParaPr>
                              <m:oMath xmlns:m="http://schemas.openxmlformats.org/officeDocument/2006/math">
                                <m:sSub>
                                  <m:sSubPr>
                                    <m:ctrlPr>
                                      <a:rPr lang="en-US" sz="2000" b="0" i="1" smtClean="0">
                                        <a:latin typeface="Cambria Math" panose="02040503050406030204" pitchFamily="18" charset="0"/>
                                      </a:rPr>
                                    </m:ctrlPr>
                                  </m:sSubPr>
                                  <m:e>
                                    <m:r>
                                      <a:rPr lang="en-US" sz="2000" i="1" smtClean="0">
                                        <a:latin typeface="Cambria Math" panose="02040503050406030204" pitchFamily="18" charset="0"/>
                                      </a:rPr>
                                      <m:t>𝑥</m:t>
                                    </m:r>
                                  </m:e>
                                  <m:sub>
                                    <m:r>
                                      <a:rPr lang="en-US" sz="2000" b="0" i="1" smtClean="0">
                                        <a:latin typeface="Cambria Math" panose="02040503050406030204" pitchFamily="18" charset="0"/>
                                      </a:rPr>
                                      <m:t>𝑖𝑗</m:t>
                                    </m:r>
                                  </m:sub>
                                </m:sSub>
                              </m:oMath>
                            </m:oMathPara>
                          </a14:m>
                          <a:endParaRPr lang="en-US" sz="2000" dirty="0"/>
                        </a:p>
                      </a:txBody>
                      <a:tcPr/>
                    </a:tc>
                    <a:tc>
                      <a:txBody>
                        <a:bodyPr/>
                        <a:lstStyle/>
                        <a:p>
                          <a:pPr algn="l"/>
                          <a14:m>
                            <m:oMathPara xmlns:m="http://schemas.openxmlformats.org/officeDocument/2006/math">
                              <m:oMathParaPr>
                                <m:jc m:val="left"/>
                              </m:oMathParaPr>
                              <m:oMath xmlns:m="http://schemas.openxmlformats.org/officeDocument/2006/math">
                                <m:r>
                                  <a:rPr lang="en-US" sz="2000" smtClean="0">
                                    <a:latin typeface="Cambria Math" panose="02040503050406030204" pitchFamily="18" charset="0"/>
                                  </a:rPr>
                                  <m:t>≥0</m:t>
                                </m:r>
                                <m:r>
                                  <a:rPr lang="en-US" sz="2000" b="0" i="0" smtClean="0">
                                    <a:latin typeface="Cambria Math" panose="02040503050406030204" pitchFamily="18" charset="0"/>
                                  </a:rPr>
                                  <m:t> </m:t>
                                </m:r>
                                <m:r>
                                  <a:rPr lang="en-US" sz="2000" b="0" i="1" smtClean="0">
                                    <a:latin typeface="Cambria Math" panose="02040503050406030204" pitchFamily="18" charset="0"/>
                                  </a:rPr>
                                  <m:t>∀</m:t>
                                </m:r>
                                <m:r>
                                  <a:rPr lang="en-US" sz="2000" b="0" i="1" smtClean="0">
                                    <a:latin typeface="Cambria Math" panose="02040503050406030204" pitchFamily="18" charset="0"/>
                                  </a:rPr>
                                  <m:t>𝑖</m:t>
                                </m:r>
                                <m:r>
                                  <a:rPr lang="en-US" sz="2000" b="0" i="1" smtClean="0">
                                    <a:latin typeface="Cambria Math" panose="02040503050406030204" pitchFamily="18" charset="0"/>
                                  </a:rPr>
                                  <m:t>,</m:t>
                                </m:r>
                                <m:r>
                                  <a:rPr lang="en-US" sz="2000" b="0" i="1" smtClean="0">
                                    <a:latin typeface="Cambria Math" panose="02040503050406030204" pitchFamily="18" charset="0"/>
                                  </a:rPr>
                                  <m:t>𝑗</m:t>
                                </m:r>
                              </m:oMath>
                            </m:oMathPara>
                          </a14:m>
                          <a:endParaRPr lang="en-US" sz="2000" dirty="0"/>
                        </a:p>
                      </a:txBody>
                      <a:tcPr/>
                    </a:tc>
                    <a:extLst>
                      <a:ext uri="{0D108BD9-81ED-4DB2-BD59-A6C34878D82A}">
                        <a16:rowId xmlns:a16="http://schemas.microsoft.com/office/drawing/2014/main" val="1124689325"/>
                      </a:ext>
                    </a:extLst>
                  </a:tr>
                </a:tbl>
              </a:graphicData>
            </a:graphic>
          </p:graphicFrame>
        </mc:Choice>
        <mc:Fallback xmlns="">
          <p:graphicFrame>
            <p:nvGraphicFramePr>
              <p:cNvPr id="8" name="Table 7">
                <a:extLst>
                  <a:ext uri="{FF2B5EF4-FFF2-40B4-BE49-F238E27FC236}">
                    <a16:creationId xmlns:a16="http://schemas.microsoft.com/office/drawing/2014/main" id="{FC76DA83-C4DF-4FFF-8D77-579B62113356}"/>
                  </a:ext>
                </a:extLst>
              </p:cNvPr>
              <p:cNvGraphicFramePr>
                <a:graphicFrameLocks noGrp="1"/>
              </p:cNvGraphicFramePr>
              <p:nvPr>
                <p:extLst>
                  <p:ext uri="{D42A27DB-BD31-4B8C-83A1-F6EECF244321}">
                    <p14:modId xmlns:p14="http://schemas.microsoft.com/office/powerpoint/2010/main" val="1655379617"/>
                  </p:ext>
                </p:extLst>
              </p:nvPr>
            </p:nvGraphicFramePr>
            <p:xfrm>
              <a:off x="353007" y="3744225"/>
              <a:ext cx="10881049" cy="2401888"/>
            </p:xfrm>
            <a:graphic>
              <a:graphicData uri="http://schemas.openxmlformats.org/drawingml/2006/table">
                <a:tbl>
                  <a:tblPr firstRow="1" bandRow="1">
                    <a:tableStyleId>{2D5ABB26-0587-4C30-8999-92F81FD0307C}</a:tableStyleId>
                  </a:tblPr>
                  <a:tblGrid>
                    <a:gridCol w="9766659">
                      <a:extLst>
                        <a:ext uri="{9D8B030D-6E8A-4147-A177-3AD203B41FA5}">
                          <a16:colId xmlns:a16="http://schemas.microsoft.com/office/drawing/2014/main" val="2206644011"/>
                        </a:ext>
                      </a:extLst>
                    </a:gridCol>
                    <a:gridCol w="1114390">
                      <a:extLst>
                        <a:ext uri="{9D8B030D-6E8A-4147-A177-3AD203B41FA5}">
                          <a16:colId xmlns:a16="http://schemas.microsoft.com/office/drawing/2014/main" val="3100224540"/>
                        </a:ext>
                      </a:extLst>
                    </a:gridCol>
                  </a:tblGrid>
                  <a:tr h="396240">
                    <a:tc>
                      <a:txBody>
                        <a:bodyPr/>
                        <a:lstStyle/>
                        <a:p>
                          <a:endParaRPr lang="en-US"/>
                        </a:p>
                      </a:txBody>
                      <a:tcPr>
                        <a:blipFill>
                          <a:blip r:embed="rId4"/>
                          <a:stretch>
                            <a:fillRect r="-11416" b="-518462"/>
                          </a:stretch>
                        </a:blipFill>
                      </a:tcPr>
                    </a:tc>
                    <a:tc>
                      <a:txBody>
                        <a:bodyPr/>
                        <a:lstStyle/>
                        <a:p>
                          <a:endParaRPr lang="en-US"/>
                        </a:p>
                      </a:txBody>
                      <a:tcPr>
                        <a:blipFill>
                          <a:blip r:embed="rId4"/>
                          <a:stretch>
                            <a:fillRect l="-875956" b="-518462"/>
                          </a:stretch>
                        </a:blipFill>
                      </a:tcPr>
                    </a:tc>
                    <a:extLst>
                      <a:ext uri="{0D108BD9-81ED-4DB2-BD59-A6C34878D82A}">
                        <a16:rowId xmlns:a16="http://schemas.microsoft.com/office/drawing/2014/main" val="295534260"/>
                      </a:ext>
                    </a:extLst>
                  </a:tr>
                  <a:tr h="396240">
                    <a:tc>
                      <a:txBody>
                        <a:bodyPr/>
                        <a:lstStyle/>
                        <a:p>
                          <a:endParaRPr lang="en-US"/>
                        </a:p>
                      </a:txBody>
                      <a:tcPr>
                        <a:blipFill>
                          <a:blip r:embed="rId4"/>
                          <a:stretch>
                            <a:fillRect t="-100000" r="-11416" b="-418462"/>
                          </a:stretch>
                        </a:blipFill>
                      </a:tcPr>
                    </a:tc>
                    <a:tc>
                      <a:txBody>
                        <a:bodyPr/>
                        <a:lstStyle/>
                        <a:p>
                          <a:endParaRPr lang="en-US"/>
                        </a:p>
                      </a:txBody>
                      <a:tcPr>
                        <a:blipFill>
                          <a:blip r:embed="rId4"/>
                          <a:stretch>
                            <a:fillRect l="-875956" t="-100000" b="-418462"/>
                          </a:stretch>
                        </a:blipFill>
                      </a:tcPr>
                    </a:tc>
                    <a:extLst>
                      <a:ext uri="{0D108BD9-81ED-4DB2-BD59-A6C34878D82A}">
                        <a16:rowId xmlns:a16="http://schemas.microsoft.com/office/drawing/2014/main" val="2719343881"/>
                      </a:ext>
                    </a:extLst>
                  </a:tr>
                  <a:tr h="396240">
                    <a:tc>
                      <a:txBody>
                        <a:bodyPr/>
                        <a:lstStyle/>
                        <a:p>
                          <a:endParaRPr lang="en-US"/>
                        </a:p>
                      </a:txBody>
                      <a:tcPr>
                        <a:blipFill>
                          <a:blip r:embed="rId4"/>
                          <a:stretch>
                            <a:fillRect t="-200000" r="-11416" b="-318462"/>
                          </a:stretch>
                        </a:blipFill>
                      </a:tcPr>
                    </a:tc>
                    <a:tc>
                      <a:txBody>
                        <a:bodyPr/>
                        <a:lstStyle/>
                        <a:p>
                          <a:endParaRPr lang="en-US"/>
                        </a:p>
                      </a:txBody>
                      <a:tcPr>
                        <a:blipFill>
                          <a:blip r:embed="rId4"/>
                          <a:stretch>
                            <a:fillRect l="-875956" t="-200000" b="-318462"/>
                          </a:stretch>
                        </a:blipFill>
                      </a:tcPr>
                    </a:tc>
                    <a:extLst>
                      <a:ext uri="{0D108BD9-81ED-4DB2-BD59-A6C34878D82A}">
                        <a16:rowId xmlns:a16="http://schemas.microsoft.com/office/drawing/2014/main" val="3584402613"/>
                      </a:ext>
                    </a:extLst>
                  </a:tr>
                  <a:tr h="396240">
                    <a:tc>
                      <a:txBody>
                        <a:bodyPr/>
                        <a:lstStyle/>
                        <a:p>
                          <a:endParaRPr lang="en-US"/>
                        </a:p>
                      </a:txBody>
                      <a:tcPr>
                        <a:blipFill>
                          <a:blip r:embed="rId4"/>
                          <a:stretch>
                            <a:fillRect t="-295455" r="-11416" b="-213636"/>
                          </a:stretch>
                        </a:blipFill>
                      </a:tcPr>
                    </a:tc>
                    <a:tc>
                      <a:txBody>
                        <a:bodyPr/>
                        <a:lstStyle/>
                        <a:p>
                          <a:endParaRPr lang="en-US"/>
                        </a:p>
                      </a:txBody>
                      <a:tcPr>
                        <a:blipFill>
                          <a:blip r:embed="rId4"/>
                          <a:stretch>
                            <a:fillRect l="-875956" t="-295455" b="-213636"/>
                          </a:stretch>
                        </a:blipFill>
                      </a:tcPr>
                    </a:tc>
                    <a:extLst>
                      <a:ext uri="{0D108BD9-81ED-4DB2-BD59-A6C34878D82A}">
                        <a16:rowId xmlns:a16="http://schemas.microsoft.com/office/drawing/2014/main" val="1696620212"/>
                      </a:ext>
                    </a:extLst>
                  </a:tr>
                  <a:tr h="396240">
                    <a:tc>
                      <a:txBody>
                        <a:bodyPr/>
                        <a:lstStyle/>
                        <a:p>
                          <a:endParaRPr lang="en-US"/>
                        </a:p>
                      </a:txBody>
                      <a:tcPr>
                        <a:blipFill>
                          <a:blip r:embed="rId4"/>
                          <a:stretch>
                            <a:fillRect t="-401538" r="-11416" b="-116923"/>
                          </a:stretch>
                        </a:blipFill>
                      </a:tcPr>
                    </a:tc>
                    <a:tc>
                      <a:txBody>
                        <a:bodyPr/>
                        <a:lstStyle/>
                        <a:p>
                          <a:endParaRPr lang="en-US"/>
                        </a:p>
                      </a:txBody>
                      <a:tcPr>
                        <a:blipFill>
                          <a:blip r:embed="rId4"/>
                          <a:stretch>
                            <a:fillRect l="-875956" t="-401538" b="-116923"/>
                          </a:stretch>
                        </a:blipFill>
                      </a:tcPr>
                    </a:tc>
                    <a:extLst>
                      <a:ext uri="{0D108BD9-81ED-4DB2-BD59-A6C34878D82A}">
                        <a16:rowId xmlns:a16="http://schemas.microsoft.com/office/drawing/2014/main" val="1897425443"/>
                      </a:ext>
                    </a:extLst>
                  </a:tr>
                  <a:tr h="420688">
                    <a:tc>
                      <a:txBody>
                        <a:bodyPr/>
                        <a:lstStyle/>
                        <a:p>
                          <a:endParaRPr lang="en-US"/>
                        </a:p>
                      </a:txBody>
                      <a:tcPr>
                        <a:blipFill>
                          <a:blip r:embed="rId4"/>
                          <a:stretch>
                            <a:fillRect t="-472464" r="-11416" b="-10145"/>
                          </a:stretch>
                        </a:blipFill>
                      </a:tcPr>
                    </a:tc>
                    <a:tc>
                      <a:txBody>
                        <a:bodyPr/>
                        <a:lstStyle/>
                        <a:p>
                          <a:endParaRPr lang="en-US"/>
                        </a:p>
                      </a:txBody>
                      <a:tcPr>
                        <a:blipFill>
                          <a:blip r:embed="rId4"/>
                          <a:stretch>
                            <a:fillRect l="-875956" t="-472464" b="-10145"/>
                          </a:stretch>
                        </a:blipFill>
                      </a:tcPr>
                    </a:tc>
                    <a:extLst>
                      <a:ext uri="{0D108BD9-81ED-4DB2-BD59-A6C34878D82A}">
                        <a16:rowId xmlns:a16="http://schemas.microsoft.com/office/drawing/2014/main" val="1124689325"/>
                      </a:ext>
                    </a:extLst>
                  </a:tr>
                </a:tbl>
              </a:graphicData>
            </a:graphic>
          </p:graphicFrame>
        </mc:Fallback>
      </mc:AlternateContent>
    </p:spTree>
    <p:extLst>
      <p:ext uri="{BB962C8B-B14F-4D97-AF65-F5344CB8AC3E}">
        <p14:creationId xmlns:p14="http://schemas.microsoft.com/office/powerpoint/2010/main" val="18429318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theme/theme1.xml><?xml version="1.0" encoding="utf-8"?>
<a:theme xmlns:a="http://schemas.openxmlformats.org/drawingml/2006/main" name="ITU Layout">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172</TotalTime>
  <Words>3581</Words>
  <Application>Microsoft Office PowerPoint</Application>
  <PresentationFormat>Widescreen</PresentationFormat>
  <Paragraphs>507</Paragraphs>
  <Slides>48</Slides>
  <Notes>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48</vt:i4>
      </vt:variant>
    </vt:vector>
  </HeadingPairs>
  <TitlesOfParts>
    <vt:vector size="53" baseType="lpstr">
      <vt:lpstr>Arial</vt:lpstr>
      <vt:lpstr>Calibri</vt:lpstr>
      <vt:lpstr>Calibri Light</vt:lpstr>
      <vt:lpstr>Cambria Math</vt:lpstr>
      <vt:lpstr>ITU Layout</vt:lpstr>
      <vt:lpstr>Business Analytics</vt:lpstr>
      <vt:lpstr>Course Overview</vt:lpstr>
      <vt:lpstr>Course Overview</vt:lpstr>
      <vt:lpstr>Course Objective</vt:lpstr>
      <vt:lpstr>Business Analytics</vt:lpstr>
      <vt:lpstr>Visual Perspective of Business Analytics</vt:lpstr>
      <vt:lpstr>Scope of Business Analytics</vt:lpstr>
      <vt:lpstr>Prescriptive Analytics</vt:lpstr>
      <vt:lpstr>Components of a Decision Problem</vt:lpstr>
      <vt:lpstr>Mathematical Modeling</vt:lpstr>
      <vt:lpstr>Mathematical Modeling</vt:lpstr>
      <vt:lpstr>Phases of an Analytics Study</vt:lpstr>
      <vt:lpstr>Linear Programming</vt:lpstr>
      <vt:lpstr>Linear Programming</vt:lpstr>
      <vt:lpstr>Linear Programming Steps</vt:lpstr>
      <vt:lpstr>Example 1</vt:lpstr>
      <vt:lpstr>Identifying Objective</vt:lpstr>
      <vt:lpstr>Decision Variables</vt:lpstr>
      <vt:lpstr>Be a “law abiding citizen”</vt:lpstr>
      <vt:lpstr>Constraints</vt:lpstr>
      <vt:lpstr>Constraints</vt:lpstr>
      <vt:lpstr>Objective Function</vt:lpstr>
      <vt:lpstr>Linear Programming Model</vt:lpstr>
      <vt:lpstr>Example 2</vt:lpstr>
      <vt:lpstr>Example 2</vt:lpstr>
      <vt:lpstr>Decision Variables</vt:lpstr>
      <vt:lpstr>Constraints</vt:lpstr>
      <vt:lpstr>Objective Function</vt:lpstr>
      <vt:lpstr>The Linear Programming Model</vt:lpstr>
      <vt:lpstr>Linear Program General Formulation</vt:lpstr>
      <vt:lpstr>Linear Functions</vt:lpstr>
      <vt:lpstr>Linear Functions</vt:lpstr>
      <vt:lpstr>Linear Constraints</vt:lpstr>
      <vt:lpstr>Linear Programming Assumptions</vt:lpstr>
      <vt:lpstr>Linear Programming Assumptions</vt:lpstr>
      <vt:lpstr>Terminology</vt:lpstr>
      <vt:lpstr>A Linear Program</vt:lpstr>
      <vt:lpstr>LP Formulation Steps</vt:lpstr>
      <vt:lpstr>LP Modeling Examples 3</vt:lpstr>
      <vt:lpstr>LP Modeling Examples 3</vt:lpstr>
      <vt:lpstr>LP Modeling Examples 4</vt:lpstr>
      <vt:lpstr>LP Modeling Examples 4</vt:lpstr>
      <vt:lpstr>LP Modeling Examples: Oil Refinery</vt:lpstr>
      <vt:lpstr>LP Modeling Examples: Oil Refinery</vt:lpstr>
      <vt:lpstr>LP Modeling Examples: Oil Refinery</vt:lpstr>
      <vt:lpstr>LP Modeling Examples: Currency Exchange</vt:lpstr>
      <vt:lpstr>LP Modeling Examples: Currency Exchange</vt:lpstr>
      <vt:lpstr>LP Modeling Examples: Currency Exchange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Business Analytics</dc:title>
  <dc:creator>MEHMET YASİN ULUKUŞ</dc:creator>
  <cp:lastModifiedBy>Mehmet Yasin Ulukus</cp:lastModifiedBy>
  <cp:revision>72</cp:revision>
  <dcterms:created xsi:type="dcterms:W3CDTF">2020-10-15T19:58:41Z</dcterms:created>
  <dcterms:modified xsi:type="dcterms:W3CDTF">2026-01-20T15:52:44Z</dcterms:modified>
</cp:coreProperties>
</file>